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3291840" cy="1920240"/>
          </a:xfrm>
          <a:prstGeom prst="rect">
            <a:avLst>
              <a:gd name="adj" fmla="val 381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2971800"/>
            <a:ext cx="3291840" cy="1920240"/>
          </a:xfrm>
          <a:prstGeom prst="rect">
            <a:avLst>
              <a:gd name="adj" fmla="val 381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074920"/>
            <a:ext cx="3291840" cy="1417320"/>
          </a:xfrm>
          <a:prstGeom prst="rect">
            <a:avLst>
              <a:gd name="adj" fmla="val 5161"/>
            </a:avLst>
          </a:prstGeom>
          <a:solidFill>
            <a:srgbClr val="FFFFFF">
              <a:alpha val="4000"/>
            </a:srgbClr>
          </a:solidFill>
          <a:ln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26  ·  FULL-DAY WORKSHOP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Storyboarding for Impact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clarity: designing, building, and pitching your application's 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0740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279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6-hour session  |  Theory + hands-on Canva workshop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TEAM APPLICATION STORYTELLING SPRINT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6-Hour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1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26517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purpose &amp; why storyboards matter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6552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EF0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801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193212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512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39512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 in Action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26517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studies + how storyboards reduce ambiguity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84464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1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85632" y="18013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391" y="1932127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07424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07424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&amp; Audience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85632" y="265176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hierarchy, flow, visuals &amp; audience fit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82219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EF0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" y="41541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371600" y="4279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+ Build Begins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9808" y="487375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walkthrough, teams start their app story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416552" y="382219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1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1772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479" y="415411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39512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239512" y="4279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Peer Feedback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17720" y="487375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finish storyboards, present for feedback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284464" y="382219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EF0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85632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391" y="4154119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07424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9107424" y="4279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&amp; Reflect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85632" y="4873752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for clarity &amp; impact, wrap-up &amp; takeaways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&amp; Justify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storyboard is and why it drives clarity in product &amp; app storytelling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75564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719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Deconstruct Structure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86600" y="2057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structure, visual hierarchy, flow, and message-to-visual mapping in any storyboard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29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392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in Canva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Canva confidently as a storyboarding tool for a real team application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278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4290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392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Audience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86600" y="373075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a storyboard's tone, depth, and visuals to a specific audience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1023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065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Pitch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371600" y="540410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team storyboard and present it for structured peer feedback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90118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51023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5065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with Purpose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086600" y="540410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storyboard for clarity and impact using an editing checklist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Storyboard?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FFF1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storyboard is a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visual panels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maps out a narrative, experience, or process step-by-step — showing what happens, in what order, and why it matters, before a single line of code, video, or slide is finalized.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554480"/>
            <a:ext cx="4937760" cy="585216"/>
          </a:xfrm>
          <a:prstGeom prst="roundRect">
            <a:avLst>
              <a:gd name="adj" fmla="val 10938"/>
            </a:avLst>
          </a:prstGeom>
          <a:solidFill>
            <a:srgbClr val="EEF0F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6276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117" y="1741749"/>
            <a:ext cx="210678" cy="2106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828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filmmaking (Disney, 1930s) — now core to UX, product &amp; pitch design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2267712"/>
            <a:ext cx="4937760" cy="585216"/>
          </a:xfrm>
          <a:prstGeom prst="roundRect">
            <a:avLst>
              <a:gd name="adj" fmla="val 10938"/>
            </a:avLst>
          </a:prstGeom>
          <a:solidFill>
            <a:srgbClr val="EEF0F9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23408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117" y="2454981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06640" y="25420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frames, or screens arranged in sequence — sketch, digital, or slide-based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720840" y="2980944"/>
            <a:ext cx="4937760" cy="585216"/>
          </a:xfrm>
          <a:prstGeom prst="roundRect">
            <a:avLst>
              <a:gd name="adj" fmla="val 10938"/>
            </a:avLst>
          </a:prstGeom>
          <a:solidFill>
            <a:srgbClr val="EEF0F9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0" y="305409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117" y="3168213"/>
            <a:ext cx="210678" cy="2106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06640" y="3008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wireframe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406640" y="32552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storyboard tells the story; a wireframe shows the layout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IN ONE LINE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232D5C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42062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Storyboards exist to align people — designers, developers, stakeholders, users — around a single shared vision before time and money are spent building the wrong thing.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Storyboards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1EE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9202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Aligns Teams Early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disagreements about flow and priority before build time, not after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EEF0F9"/>
          </a:solidFill>
          <a:ln/>
        </p:spPr>
      </p:sp>
      <p:sp>
        <p:nvSpPr>
          <p:cNvPr id="10" name="Shape 7"/>
          <p:cNvSpPr/>
          <p:nvPr/>
        </p:nvSpPr>
        <p:spPr>
          <a:xfrm>
            <a:off x="4411980" y="19202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0985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Rework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57600" y="3520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gaps in logic or user experience while changes are still cheap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1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292340" y="19202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0985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Sells the Idea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537960" y="3520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abstract concept into something stakeholders can see, feel, and approve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EEF0F9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72700" y="19202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08" y="20985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Guides Execution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418320" y="3520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shared blueprint that designers, writers &amp; developers build from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1–2 · BEYOND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Intelligence &amp; Emotional Storytelling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message get a story understood. Emotion is what gets it remembered and acted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860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intelligence is the ability to read the emotional arc beneath a story's events — recognizing what a character (or user) feels, why it matters, and how that feeling moves the audience to care.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WITH STORY STRUCTURE, EMOTION &amp; CORE MESSAGE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Structure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7724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of events — setup, journey, payoff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4206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544568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44568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feeling the audience experiences at each beat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83296" y="42062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311896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Message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11896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idea the audience should walk away with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1–2 · NARRATIVE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Skills to Build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study case studies and build your own storyboard, practice each of these.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FFF1EE"/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993" y="234196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718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 Emotional Journeys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highs, lows, and turning points a user or character moves through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98064" y="192024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EEF0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57016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17" y="234196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5224" y="29718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Resilience Narratives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5224" y="38862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stories of setback-and-recovery build trust and credibility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47488" y="192024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FFF1EE"/>
          </a:solidFill>
          <a:ln/>
        </p:spPr>
      </p:sp>
      <p:sp>
        <p:nvSpPr>
          <p:cNvPr id="16" name="Shape 12"/>
          <p:cNvSpPr/>
          <p:nvPr/>
        </p:nvSpPr>
        <p:spPr>
          <a:xfrm>
            <a:off x="5806440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234196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29718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Mentor &amp; Support Roles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184648" y="38862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who guides, helps, or unblocks the protagonist along the way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96912" y="192024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EEF0F9"/>
          </a:solidFill>
          <a:ln/>
        </p:spPr>
      </p:sp>
      <p:sp>
        <p:nvSpPr>
          <p:cNvPr id="21" name="Shape 16"/>
          <p:cNvSpPr/>
          <p:nvPr/>
        </p:nvSpPr>
        <p:spPr>
          <a:xfrm>
            <a:off x="8055864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265" y="234196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29718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Meaning-Centered Communication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34072" y="38862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messages around purpose and impact, not just features or facts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546336" y="1920240"/>
            <a:ext cx="2084832" cy="3566160"/>
          </a:xfrm>
          <a:prstGeom prst="roundRect">
            <a:avLst>
              <a:gd name="adj" fmla="val 3947"/>
            </a:avLst>
          </a:prstGeom>
          <a:solidFill>
            <a:srgbClr val="FFF1EE"/>
          </a:solidFill>
          <a:ln/>
        </p:spPr>
      </p:sp>
      <p:sp>
        <p:nvSpPr>
          <p:cNvPr id="26" name="Shape 20"/>
          <p:cNvSpPr/>
          <p:nvPr/>
        </p:nvSpPr>
        <p:spPr>
          <a:xfrm>
            <a:off x="10305288" y="2194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689" y="234196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83496" y="29718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Empathy Through Perspective-Taking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683496" y="388620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seeing the story from the audience's or user's point of view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REAL-LIFE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Pixar's Story 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FFF1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Pixar film is built entirely on storyboards before animation begins — often 20,000+ hand-drawn panels pinned to the walls of a physical "story room."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29352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80720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and writers pitch scenes panel-by-panel to the full team, out loud, before a frame is animated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8039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67588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story beats are caught and reworked on paper — costing hours, not the months a re-animated scene would cost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6725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54456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artists focus purely on story clarity and emotional beats, deliberately ignoring final art quality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26680" y="150876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232D5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830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392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FOR US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001000" y="2331720"/>
            <a:ext cx="3429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storyboard's job is to prove the idea works — not to look finished. Sketch rough, pitch out loud, and let the room find the holes in your logic before you build.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REAL-LIFE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Airbnb's Storyboarding Pivot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2013, Airbnb's growth stalled. Instead of jumping into new features, the design team storyboarded the entire end-to-end guest journey — snapshot by snapshot, from search to stay to checkout — like a comic book.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50876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EEF0F9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737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STORYBOARD REVEALED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176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gaps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23560" y="2450592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where the guest journey felt cold, transactional, or anxious — not the emotional highs Airbnb wanted to be known for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0" y="3337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3456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3560" y="3319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moments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623560" y="3593592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forced the team to visualize steps they'd never mapped, like arrival and first impressions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0" y="4480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4599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4462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north star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623560" y="4736592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exercise directly inspired "Snow White" — Airbnb's now-famous 11-star storyboarding framework for product ideation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CLARITY IN 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Storyboards Enhance Clarity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STORYBOARD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live only in one person's head or a long text doc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063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picture different versions of the same feature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arrives late — after significant build effort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617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approve based on assumptions, not visuals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E9F6E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STORYBOARD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28600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2286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visual sequence everyone can see and react to</a:t>
            </a:r>
            <a:endParaRPr lang="en-US" sz="12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6324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3063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concrete reference for what "done" looks like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8404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944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and confusion surface in minutes, not sprints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6177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4617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are grounded in an actual experience, not guesswork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CORE ELEMENTS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1 —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strong storyboard follows a recognizable narrative arc — even a 5-screen app demo.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3291840"/>
          </a:xfrm>
          <a:prstGeom prst="roundRect">
            <a:avLst>
              <a:gd name="adj" fmla="val 4000"/>
            </a:avLst>
          </a:prstGeom>
          <a:solidFill>
            <a:srgbClr val="FFF1EE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03020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666" y="3050438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6118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39776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user? What's their context or problem?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6032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779776" y="2011680"/>
            <a:ext cx="2057400" cy="3291840"/>
          </a:xfrm>
          <a:prstGeom prst="roundRect">
            <a:avLst>
              <a:gd name="adj" fmla="val 4000"/>
            </a:avLst>
          </a:prstGeom>
          <a:solidFill>
            <a:srgbClr val="EEF0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557016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15" name="Text 12"/>
          <p:cNvSpPr/>
          <p:nvPr/>
        </p:nvSpPr>
        <p:spPr>
          <a:xfrm>
            <a:off x="355701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534156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802" y="3050438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89504" y="36118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2916936" y="39776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moment or need brings them to your app?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791456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010912" y="2011680"/>
            <a:ext cx="2057400" cy="3291840"/>
          </a:xfrm>
          <a:prstGeom prst="roundRect">
            <a:avLst>
              <a:gd name="adj" fmla="val 4000"/>
            </a:avLst>
          </a:prstGeom>
          <a:solidFill>
            <a:srgbClr val="FFF1EE"/>
          </a:solidFill>
          <a:ln/>
        </p:spPr>
      </p:sp>
      <p:sp>
        <p:nvSpPr>
          <p:cNvPr id="22" name="Shape 18"/>
          <p:cNvSpPr/>
          <p:nvPr/>
        </p:nvSpPr>
        <p:spPr>
          <a:xfrm>
            <a:off x="5788152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23" name="Text 19"/>
          <p:cNvSpPr/>
          <p:nvPr/>
        </p:nvSpPr>
        <p:spPr>
          <a:xfrm>
            <a:off x="578815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5765292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938" y="3050438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20640" y="36118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148072" y="39776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steps/screens they move through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022592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7242048" y="2011680"/>
            <a:ext cx="2057400" cy="3291840"/>
          </a:xfrm>
          <a:prstGeom prst="roundRect">
            <a:avLst>
              <a:gd name="adj" fmla="val 4000"/>
            </a:avLst>
          </a:prstGeom>
          <a:solidFill>
            <a:srgbClr val="EEF0F9"/>
          </a:solidFill>
          <a:ln/>
        </p:spPr>
      </p:sp>
      <p:sp>
        <p:nvSpPr>
          <p:cNvPr id="30" name="Shape 25"/>
          <p:cNvSpPr/>
          <p:nvPr/>
        </p:nvSpPr>
        <p:spPr>
          <a:xfrm>
            <a:off x="8019288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31" name="Text 26"/>
          <p:cNvSpPr/>
          <p:nvPr/>
        </p:nvSpPr>
        <p:spPr>
          <a:xfrm>
            <a:off x="801928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996428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074" y="3050438"/>
            <a:ext cx="263347" cy="263347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51776" y="36118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Payoff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379208" y="39776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delivered — the "aha" moment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9253728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37" name="Shape 31"/>
          <p:cNvSpPr/>
          <p:nvPr/>
        </p:nvSpPr>
        <p:spPr>
          <a:xfrm>
            <a:off x="9473184" y="2011680"/>
            <a:ext cx="2057400" cy="3291840"/>
          </a:xfrm>
          <a:prstGeom prst="roundRect">
            <a:avLst>
              <a:gd name="adj" fmla="val 4000"/>
            </a:avLst>
          </a:prstGeom>
          <a:solidFill>
            <a:srgbClr val="FFF1EE"/>
          </a:solidFill>
          <a:ln/>
        </p:spPr>
      </p:sp>
      <p:sp>
        <p:nvSpPr>
          <p:cNvPr id="38" name="Shape 32"/>
          <p:cNvSpPr/>
          <p:nvPr/>
        </p:nvSpPr>
        <p:spPr>
          <a:xfrm>
            <a:off x="10250424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39" name="Text 33"/>
          <p:cNvSpPr/>
          <p:nvPr/>
        </p:nvSpPr>
        <p:spPr>
          <a:xfrm>
            <a:off x="1025042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10227564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210" y="3050438"/>
            <a:ext cx="263347" cy="263347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582912" y="36118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</a:t>
            </a:r>
            <a:endParaRPr lang="en-US" sz="1450" dirty="0"/>
          </a:p>
        </p:txBody>
      </p:sp>
      <p:sp>
        <p:nvSpPr>
          <p:cNvPr id="43" name="Text 36"/>
          <p:cNvSpPr/>
          <p:nvPr/>
        </p:nvSpPr>
        <p:spPr>
          <a:xfrm>
            <a:off x="9610344" y="39776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— retention or action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CORE ELEMENTS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2 — Visual Hierarchy &amp;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343400"/>
          </a:xfrm>
          <a:prstGeom prst="roundRect">
            <a:avLst>
              <a:gd name="adj" fmla="val 2105"/>
            </a:avLst>
          </a:prstGeom>
          <a:solidFill>
            <a:srgbClr val="FFF1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the eye to what matters most, in the right order, on every panel.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&amp; 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962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most important element the biggest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914400" y="35204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&amp; contrast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7398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your boldest color for the key action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5171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top-left or center — where eyes land first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4400" y="507492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94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important elements room to breathe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172200" y="160020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EEF0F9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smoothly the viewer's eye — and the story — moves from panel to panel.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274320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direction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2962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 or top-to-bottom — never mixed mid-story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537960" y="35204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continuity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characters, colors, and framing across panels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537960" y="429768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transitions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0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Arrows, numbering, or connecting lines between panels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537960" y="507492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 per panel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40880" y="5294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cramming multiple beats into a single frame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CORE ELEMENTS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3 — Matching Visuals to Key Messages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should answer: "What's the ONE message here, and does the visual say it instantly?"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393192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  <a:gridCol w="3429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Visual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problem / pain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Facial expression, frustrated body language, red/warning cues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paragraphs of complaint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feature or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Close-up of the UI element being tapped/used, with a motion cue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screenshots with no focal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emotional payoff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shot, smile, warm color palette, celebratory icon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stock imagery unrelated to the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or proof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chart, big number callout, before/after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tables inside a storyboard panel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TOOLS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Storyboarding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tools can build a storyboard — today we standardize on one so the whole team can collaborate live.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1EE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23948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&amp; Sketch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for early rough drafts; zero learning curve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4136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1EE"/>
          </a:solidFill>
          <a:ln/>
        </p:spPr>
      </p:sp>
      <p:sp>
        <p:nvSpPr>
          <p:cNvPr id="11" name="Shape 8"/>
          <p:cNvSpPr/>
          <p:nvPr/>
        </p:nvSpPr>
        <p:spPr>
          <a:xfrm>
            <a:off x="4379976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10" y="23948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 / FigJam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57016" y="35204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teams already in a design system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1EE"/>
          </a:solidFill>
          <a:ln/>
        </p:spPr>
      </p:sp>
      <p:sp>
        <p:nvSpPr>
          <p:cNvPr id="16" name="Shape 12"/>
          <p:cNvSpPr/>
          <p:nvPr/>
        </p:nvSpPr>
        <p:spPr>
          <a:xfrm>
            <a:off x="7205472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06" y="23948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6792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 / Slides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2512" y="35204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Familiar, but weaker templates for visual storytelling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25128" y="196596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232D5C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30968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02" y="239481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08008" y="35204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 of choice — free, visual, built-in templates, real-time group editing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528048" y="4892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6" name="Text 20"/>
          <p:cNvSpPr/>
          <p:nvPr/>
        </p:nvSpPr>
        <p:spPr>
          <a:xfrm>
            <a:off x="9528048" y="4892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TOOLS DEEP 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 for Storyboarding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EF0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1424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46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 templates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"storyboard" — pre-built panel grids ready to fill 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EF0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21424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46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Drag-and-drop elements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08660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Icons, illustrations, and photos to represent screens and emotions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2724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EF0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5387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66948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73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collaboration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5844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group edits the same board simultaneously, with live comments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12724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EF0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5387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366948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273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kit &amp; templates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86600" y="35844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fonts/colors consistent with your team's app branding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EF0F9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506577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519653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resizing &amp; export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371600" y="511149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PDF, PNG, or presentation link for peer review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465429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EEF0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446520" y="506577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79" y="5196535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&amp; version history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086600" y="511149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peer feedback directly on the board without losing prior drafts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FROM STORY TO SPEC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Kiro: Spec-Driven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storyboard doesn't stop at the pitch — it becomes the seed for a written spec your engineers build from.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EF0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2119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KIRO?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is an agentic, spec-driven development approach: instead of jumping straight into code, you first write a structured spec — requirements, design, and tasks — that both humans and AI coding agents can execute against.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PAIRS WITH STORYBOARDING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4805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storyboard already defines the user journey and key moments — Kiro turns that into precise, testable requirements before any code is written.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232D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57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"Spec first, code second." A clear, written spec — grounded in the same clarity principles as a good storyboard — removes ambiguity before implementation begins.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233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31152" y="3995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back-and-forth between design and engineering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9028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31152" y="45628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single source of truth for what's being built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15721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31152" y="51297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equally well for human developers and AI coding agents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FROM STORY TO SPEC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Kiro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carry your storyboard from idea to shippable feature.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EF0F9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77340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986" y="3050438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61188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3977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storyboard panel into a clear, testable user requirement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0896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74136" y="20116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1EE"/>
          </a:solidFill>
          <a:ln/>
        </p:spPr>
      </p:sp>
      <p:sp>
        <p:nvSpPr>
          <p:cNvPr id="14" name="Shape 11"/>
          <p:cNvSpPr/>
          <p:nvPr/>
        </p:nvSpPr>
        <p:spPr>
          <a:xfrm>
            <a:off x="4425696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15" name="Text 12"/>
          <p:cNvSpPr/>
          <p:nvPr/>
        </p:nvSpPr>
        <p:spPr>
          <a:xfrm>
            <a:off x="442569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402836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3050438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83864" y="361188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3511296" y="3977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technical approach, data flow, and system design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934456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199632" y="20116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EF0F9"/>
          </a:solidFill>
          <a:ln/>
        </p:spPr>
      </p:sp>
      <p:sp>
        <p:nvSpPr>
          <p:cNvPr id="22" name="Shape 18"/>
          <p:cNvSpPr/>
          <p:nvPr/>
        </p:nvSpPr>
        <p:spPr>
          <a:xfrm>
            <a:off x="7251192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23" name="Text 19"/>
          <p:cNvSpPr/>
          <p:nvPr/>
        </p:nvSpPr>
        <p:spPr>
          <a:xfrm>
            <a:off x="725119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228332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978" y="3050438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09360" y="361188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6336792" y="3977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design into small, sequenced, trackable implementation tasks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759952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9025128" y="20116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1EE"/>
          </a:solidFill>
          <a:ln/>
        </p:spPr>
      </p:sp>
      <p:sp>
        <p:nvSpPr>
          <p:cNvPr id="30" name="Shape 25"/>
          <p:cNvSpPr/>
          <p:nvPr/>
        </p:nvSpPr>
        <p:spPr>
          <a:xfrm>
            <a:off x="10076688" y="2240280"/>
            <a:ext cx="502920" cy="502920"/>
          </a:xfrm>
          <a:prstGeom prst="ellipse">
            <a:avLst/>
          </a:prstGeom>
          <a:solidFill>
            <a:srgbClr val="232D5C"/>
          </a:solidFill>
          <a:ln/>
        </p:spPr>
      </p:sp>
      <p:sp>
        <p:nvSpPr>
          <p:cNvPr id="31" name="Text 26"/>
          <p:cNvSpPr/>
          <p:nvPr/>
        </p:nvSpPr>
        <p:spPr>
          <a:xfrm>
            <a:off x="1007668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0053828" y="2907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474" y="3050438"/>
            <a:ext cx="263347" cy="263347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34856" y="361188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9162288" y="39776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against the spec — human developer or AI agent, same source of truth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BUILD STANDARDS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 Coding Guidelines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Kiro spec is ready, implementation follows EY's coding standards — so quality and consistency hold no matter who writes the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986" y="25200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reads the same across every team and every project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4136" y="21031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2836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2520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57016" y="35661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defects reach production through consistent practices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031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8332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978" y="25200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6792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82512" y="35661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bake in secure-by-default coding patterns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25128" y="21031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53828" y="2377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474" y="25200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2288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08008" y="35661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developers can understand and extend the code quickly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BUILD STANDARDS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EY Coding Principles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when your group moves from storyboard and spec into any working prototype.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1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3253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293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clear, descriptive, consistent names for variables, functions &amp; files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1EE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23253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9293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86600" y="2240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peer-reviewed before merging — no exceptions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31012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1EE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7216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85236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7673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intent, not just mechanics; keep READMEs current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331012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1EE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37216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385236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86600" y="37673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secure coding practices and data-handling policies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83717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1EE"/>
          </a:solidFill>
          <a:ln/>
        </p:spPr>
      </p:sp>
      <p:sp>
        <p:nvSpPr>
          <p:cNvPr id="26" name="Shape 20"/>
          <p:cNvSpPr/>
          <p:nvPr/>
        </p:nvSpPr>
        <p:spPr>
          <a:xfrm>
            <a:off x="731520" y="52486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5379415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Standards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371600" y="529437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tests accompany every feature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63640" y="483717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1EE"/>
          </a:solidFill>
          <a:ln/>
        </p:spPr>
      </p:sp>
      <p:sp>
        <p:nvSpPr>
          <p:cNvPr id="31" name="Shape 24"/>
          <p:cNvSpPr/>
          <p:nvPr/>
        </p:nvSpPr>
        <p:spPr>
          <a:xfrm>
            <a:off x="6446520" y="52486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79" y="5379415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8660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086600" y="529437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atomic commits with clear messages; trunk-based or agreed branching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AUDIENCE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Aligning Your Storyboard with Audience Needs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idea needs a different storyboard depending on who's in the room.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60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care about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Storyboard should emphasize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Executives / sponsors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ROI, risk, strategic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outcome &amp; impact panel up 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use, relevance to their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pain point and the emotional payoff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Feasibility,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step-by-step flow &amp; system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 / reviewers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Craft, completeness, clarity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structure, polish, and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 · AUDIENCE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Audience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four questions before you draw your first panel.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457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exactly is watching this?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role, not just "the team"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2457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07568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decision do they need to make?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2788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budget? Give feedback? Just understand?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96512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325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46775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97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they already know?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77240" y="50109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context they have; explain what they don't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096512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3251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46775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297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tone fits the room?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37960" y="50109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for peers, precise for executives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1887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860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Build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31520" y="324612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4–6: Hands-On Workshop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168396" y="411480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442716" y="4251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your groups → Build your team's application storyboard in Canva → Present for peer feedback → Edit for clarity &amp; impact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4–5 · WORKSHOP PART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Team's App Storyboard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FF1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3–5, storyboard the core user journey of your team's application — from the moment a user opens it to the moment they get value from it.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290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3401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core flow (not the whole app)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959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9684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panels: setup → trigger → journey → payoff → next step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6285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4535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Canva's storyboard template as your base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297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5102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roles: sketch lead, writer, presenter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263640" y="150876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232D5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830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866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TIMING (90 MIN)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583680" y="23317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9" name="Text 12"/>
          <p:cNvSpPr/>
          <p:nvPr/>
        </p:nvSpPr>
        <p:spPr>
          <a:xfrm>
            <a:off x="658368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27532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groups &amp; pick your app flow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583680" y="304495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22" name="Text 15"/>
          <p:cNvSpPr/>
          <p:nvPr/>
        </p:nvSpPr>
        <p:spPr>
          <a:xfrm>
            <a:off x="6583680" y="3044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0:15–0:35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275320" y="3044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rough sequence on paper first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583680" y="3758184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25" name="Text 18"/>
          <p:cNvSpPr/>
          <p:nvPr/>
        </p:nvSpPr>
        <p:spPr>
          <a:xfrm>
            <a:off x="6583680" y="37581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0:35–1:10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275320" y="3758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final panels together in Canva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583680" y="4471416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28" name="Text 21"/>
          <p:cNvSpPr/>
          <p:nvPr/>
        </p:nvSpPr>
        <p:spPr>
          <a:xfrm>
            <a:off x="6583680" y="4471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1:10–1:30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27532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visuals &amp; prep your pitch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4–5 · WORKSHOP PART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Setup &amp; Working Norms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FF1EE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19019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20564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Lead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rough draft sequence and panel breakdown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1568" y="164592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EEF0F9"/>
          </a:solidFill>
          <a:ln/>
        </p:spPr>
      </p:sp>
      <p:sp>
        <p:nvSpPr>
          <p:cNvPr id="10" name="Shape 7"/>
          <p:cNvSpPr/>
          <p:nvPr/>
        </p:nvSpPr>
        <p:spPr>
          <a:xfrm>
            <a:off x="4430268" y="19019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02" y="205648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 Builder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shared board, adds visuals &amp; text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64592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FF1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283196" y="19019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0" y="205648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Writer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7376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captions tight and message-focused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07424" y="164592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EEF0F9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36124" y="190195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658" y="205648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4584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90304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Pitches the storyboard during peer review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232D5C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887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Canva link per group — everyone edits live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14400" y="51389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188720" y="51389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sketch before final visuals — don't polish too early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4400" y="55229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188720" y="552297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needs a one-line caption stating its key message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 · WORKSHOP PART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for Peer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their Canva storyboard live (4 min) followed by structured feedback (3 min).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0F9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98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panels in order, no skipping ahead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08960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74136" y="1965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0F9"/>
          </a:solidFill>
          <a:ln/>
        </p:spPr>
      </p:sp>
      <p:sp>
        <p:nvSpPr>
          <p:cNvPr id="12" name="Shape 9"/>
          <p:cNvSpPr/>
          <p:nvPr/>
        </p:nvSpPr>
        <p:spPr>
          <a:xfrm>
            <a:off x="4402836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23372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57016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who the audience is and what decision you want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34456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199632" y="1965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0F9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8332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978" y="233720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82512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give feedback — presenters stay quiet &amp; take notes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759952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025128" y="1965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EF0F9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53828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474" y="233720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6228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08008" y="32918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of clarifying questions only, not a redesign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52628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FFF1EE"/>
          </a:solidFill>
          <a:ln/>
        </p:spPr>
      </p:sp>
      <p:sp>
        <p:nvSpPr>
          <p:cNvPr id="29" name="Shape 23"/>
          <p:cNvSpPr/>
          <p:nvPr/>
        </p:nvSpPr>
        <p:spPr>
          <a:xfrm>
            <a:off x="822960" y="47914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4922215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47914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6 groups × 7 min = ~45 min total, plus a 10-min buffer for transitions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5 · FEEDBACK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Feedback: Glow &amp; Grow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feedback names something that's working, then one thing to strengthen.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E9F6E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GLOW — what's working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trigger panel made the user's problem instantly clear"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visual hierarchy pulls my eye right to the CTA"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45262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"Flow between panels 3 and 4 felt seamless"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1EE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33720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— one thing to strengthen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29400" y="28803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"Panel 2 has two messages — consider splitting it"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7033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payoff moment could use a stronger visual cue"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45262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"Caption on panel 5 is longer than needed — tighten it"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6 · WORKSHOP PART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for Clarity &amp;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groups: use the feedback you received to revise your Canva storyboard for 30 minutes.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EEF0F9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2219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237652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panel or line that doesn't drive the story forward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01568" y="196596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1E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0268" y="22219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02" y="237652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84448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captions so each states one message in plain language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254496" y="196596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EEF0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283196" y="22219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0" y="2376526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Sharpen visuals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37376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contrast/size on the single most important element per panel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107424" y="196596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1EE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36124" y="222199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658" y="237652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4584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Re-check flow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0304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panels start to finish — does it flow without narration?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548640" y="484632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232D5C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Canva boards are due at the end of Hour 6 — share the link in your team channel.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6 · EDITING CHECKLIST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Quality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this before you call your storyboard done.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767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has exactly one clear message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4767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084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follows setup → trigger → journey → payoff → next step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5786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 directs the eye to the right element first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060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20840" y="25786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 consistent in direction, style, and framing panel to panel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6440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236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match and reinforce each panel's key message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64408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720840" y="3236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tone fit the intended audience</a:t>
            </a:r>
            <a:endParaRPr lang="en-US" sz="13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22776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60120" y="38953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are short, plain, and free of jargon</a:t>
            </a:r>
            <a:endParaRPr lang="en-US" sz="13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922776"/>
            <a:ext cx="292608" cy="29260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720840" y="38953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round of peer feedback has been incorporated</a:t>
            </a:r>
            <a:endParaRPr lang="en-US" sz="1300" dirty="0"/>
          </a:p>
        </p:txBody>
      </p:sp>
      <p:sp>
        <p:nvSpPr>
          <p:cNvPr id="21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22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6-Hour Schedule</a:t>
            </a:r>
            <a:endParaRPr lang="en-US" sz="3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66344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5897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&amp; purpose of storyboards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 in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studies (Pixar, Airbnb) &amp; before/after clarity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Anatomy &amp; Audience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Structure, hierarchy, flow, message-to-visual mapping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+ Build Begins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 walkthrough; groups start their app storyboard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&amp; Peer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storyboards; present for structured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 &amp; Reflect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for clarity &amp; impact; final checklist &amp; wrap-up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 for Impact — Day 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96596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1463040" y="292608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2"/>
          <p:cNvSpPr/>
          <p:nvPr/>
        </p:nvSpPr>
        <p:spPr>
          <a:xfrm>
            <a:off x="1783080" y="27706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storyboard aligns people around one shared vision before you build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1463040" y="3584448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4"/>
          <p:cNvSpPr/>
          <p:nvPr/>
        </p:nvSpPr>
        <p:spPr>
          <a:xfrm>
            <a:off x="1783080" y="34290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hierarchy, flow &amp; message-matching are what separate a clear storyboard from a confusing one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63040" y="4242816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6"/>
          <p:cNvSpPr/>
          <p:nvPr/>
        </p:nvSpPr>
        <p:spPr>
          <a:xfrm>
            <a:off x="1783080" y="408736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makes it fast for the whole team to build, and rebuild, together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463040" y="4901184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8"/>
          <p:cNvSpPr/>
          <p:nvPr/>
        </p:nvSpPr>
        <p:spPr>
          <a:xfrm>
            <a:off x="1783080" y="4745736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storyboards are edited — the first draft is a starting point, not the deliverable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now go tell your app's story.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Storyboarding for Impact — Day 26</dc:title>
  <dc:subject>PptxGenJS Presentation</dc:subject>
  <dc:creator>Training Team</dc:creator>
  <cp:lastModifiedBy>Training Team</cp:lastModifiedBy>
  <cp:revision>1</cp:revision>
  <dcterms:created xsi:type="dcterms:W3CDTF">2026-07-03T03:48:20Z</dcterms:created>
  <dcterms:modified xsi:type="dcterms:W3CDTF">2026-07-03T03:48:20Z</dcterms:modified>
</cp:coreProperties>
</file>
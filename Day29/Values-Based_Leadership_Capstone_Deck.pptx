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64008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LEADERSHIP DEVELOPMENT PROGRAM  ·  FINAL CAPSTONE SESSION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Values-Based Leadership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with Clarity, Composure, and Character Under Uncertainty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668219" cy="420624"/>
          </a:xfrm>
          <a:prstGeom prst="roundRect">
            <a:avLst>
              <a:gd name="adj" fmla="val 13043"/>
            </a:avLst>
          </a:prstGeom>
          <a:solidFill>
            <a:srgbClr val="141B49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26682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Facilitated Session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19779" y="4160520"/>
            <a:ext cx="2328062" cy="420624"/>
          </a:xfrm>
          <a:prstGeom prst="roundRect">
            <a:avLst>
              <a:gd name="adj" fmla="val 13043"/>
            </a:avLst>
          </a:prstGeom>
          <a:solidFill>
            <a:srgbClr val="141B49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9779" y="4160520"/>
            <a:ext cx="23280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Resilience Practices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6442" y="4160520"/>
            <a:ext cx="2583180" cy="420624"/>
          </a:xfrm>
          <a:prstGeom prst="roundRect">
            <a:avLst>
              <a:gd name="adj" fmla="val 13043"/>
            </a:avLst>
          </a:prstGeom>
          <a:solidFill>
            <a:srgbClr val="141B49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6442" y="4160520"/>
            <a:ext cx="25831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Leadership Competencies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Leadership Cohort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Session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30 days, this cohort practiced seven resilience disciplines. Today we integrate them into a single leadership identity capable of steady, values-driven decisions when the pressure is real and the answers are not obvious.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006" y="2701686"/>
            <a:ext cx="284196" cy="2841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6517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practiced in isolation fades under real pressure — today builds integration.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6" y="3387486"/>
            <a:ext cx="284196" cy="2841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3375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Values-Based Leadership converts inner discipline into observable, assessable behavior.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6" y="4073286"/>
            <a:ext cx="284196" cy="2841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0233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leader in this room will face uncertainty, setbacks, and competing interests again.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680960" y="1234440"/>
            <a:ext cx="3886200" cy="4754880"/>
          </a:xfrm>
          <a:prstGeom prst="roundRect">
            <a:avLst>
              <a:gd name="adj" fmla="val 188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00100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THIS PROGRAM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01000" y="2084832"/>
            <a:ext cx="146304" cy="14630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074152" y="2231136"/>
            <a:ext cx="0" cy="713232"/>
          </a:xfrm>
          <a:prstGeom prst="line">
            <a:avLst/>
          </a:prstGeom>
          <a:noFill/>
          <a:ln w="19050">
            <a:solidFill>
              <a:srgbClr val="44506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21040" y="1947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1-10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21040" y="22037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individual resilience habits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01000" y="2999232"/>
            <a:ext cx="146304" cy="14630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74152" y="3145536"/>
            <a:ext cx="0" cy="713232"/>
          </a:xfrm>
          <a:prstGeom prst="line">
            <a:avLst/>
          </a:prstGeom>
          <a:noFill/>
          <a:ln w="19050">
            <a:solidFill>
              <a:srgbClr val="44506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2104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11-20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21040" y="3118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practices under real work pressure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001000" y="3913632"/>
            <a:ext cx="146304" cy="14630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74152" y="4059936"/>
            <a:ext cx="0" cy="713232"/>
          </a:xfrm>
          <a:prstGeom prst="line">
            <a:avLst/>
          </a:prstGeom>
          <a:noFill/>
          <a:ln w="19050">
            <a:solidFill>
              <a:srgbClr val="44506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21040" y="3776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21-29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321040" y="40325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habits to leadership judgment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001000" y="4828032"/>
            <a:ext cx="146304" cy="14630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321040" y="4690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(Today)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321040" y="4946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Values-Based Leadership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Values-Based Leadership · Capstone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hours, five movements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EEF3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00784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606" y="1750710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63240" y="160020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Framing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46520" y="1600200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session matters; learning objectives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EEF3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14016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6" y="2463942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3134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0:55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63240" y="231343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Practices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46520" y="2313432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+ case studies across the 30-day disciplines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026664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EEF3FC"/>
          </a:solidFill>
          <a:ln w="15875">
            <a:solidFill>
              <a:srgbClr val="EEF3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06" y="3177174"/>
            <a:ext cx="284196" cy="2841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02666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 – 1:05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063240" y="302666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46520" y="30266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3739896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EEF3F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3840480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06" y="3890406"/>
            <a:ext cx="284196" cy="2841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373989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 – 1:40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063240" y="373989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Values-Based Leadership Framework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46520" y="3739896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competencies, each with a leadership case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4453128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EEF3F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8680" y="4553712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606" y="4603638"/>
            <a:ext cx="284196" cy="2841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17320" y="445312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 – 1:55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063240" y="445312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Scenario Practice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6446520" y="4453128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Small-group live scenario across all five competencies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40080" y="5166360"/>
            <a:ext cx="108813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EEF3F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68680" y="5266944"/>
            <a:ext cx="384048" cy="384048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606" y="5316870"/>
            <a:ext cx="284196" cy="2841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17320" y="516636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 – 2:00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3063240" y="516636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&amp; Close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6446520" y="5166360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commitments and closing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Values-Based Leadership · Capstone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should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0744" y="2194560"/>
            <a:ext cx="603504" cy="603504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200" y="2273016"/>
            <a:ext cx="446593" cy="446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9718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under uncertainty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" y="397764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decisively without waiting for complete information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98648" y="187452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9312" y="2194560"/>
            <a:ext cx="603504" cy="603504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768" y="2273016"/>
            <a:ext cx="446593" cy="446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44952" y="29718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individual and collective interests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044952" y="397764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personal stakes against team and organizational good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57216" y="187452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97880" y="2194560"/>
            <a:ext cx="603504" cy="603504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336" y="2273016"/>
            <a:ext cx="446593" cy="4465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9718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emotional composure during setbacks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03520" y="397764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regulated and clear-headed when plans fail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15784" y="187452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56448" y="2194560"/>
            <a:ext cx="603504" cy="603504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904" y="2273016"/>
            <a:ext cx="446593" cy="4465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2088" y="29718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ethical reasoning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62088" y="397764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consistent values under real pressure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674352" y="1874520"/>
            <a:ext cx="2084832" cy="3749040"/>
          </a:xfrm>
          <a:prstGeom prst="roundRect">
            <a:avLst>
              <a:gd name="adj" fmla="val 3509"/>
            </a:avLst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415016" y="2194560"/>
            <a:ext cx="603504" cy="603504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472" y="2273016"/>
            <a:ext cx="446593" cy="4465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29718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 resilience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820656" y="3977640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strengthen others' capacity to recover and adapt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Values-Based Leadership · Capstone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A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Resilience Practices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the disciplines built across 30 days, with case studies drawn from real leadership settings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Practices, One Discipline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was practiced daily; today we connect them to leadership judgment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0136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61" y="1863181"/>
            <a:ext cx="351861" cy="3518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3774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Reframing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8620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Reinterpreting setbacks to change their emotional and strategic meaning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19856" y="1600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21024" y="180136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837" y="1863181"/>
            <a:ext cx="351861" cy="3518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23774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Regulation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21024" y="28620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physiological and emotional arousal to keep judgment intact under pressure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9632" y="1600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180136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613" y="1863181"/>
            <a:ext cx="351861" cy="3518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3774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28620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ability and outcomes as developable rather than fixed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79408" y="160020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80576" y="180136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389" y="1863181"/>
            <a:ext cx="351861" cy="3518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23774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and Adaptability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80576" y="28620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what cannot be changed while actively adjusting what can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74904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" y="395020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061" y="4012021"/>
            <a:ext cx="351861" cy="3518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" y="4526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Purpose-Driven Work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41248" y="501091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daily decisions to a larger sense of meaning and contribution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419856" y="374904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21024" y="395020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837" y="4012021"/>
            <a:ext cx="351861" cy="3518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21024" y="4526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621024" y="501091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reviewing experience to extract lessons before moving to the next challenge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99632" y="374904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00800" y="395020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613" y="4012021"/>
            <a:ext cx="351861" cy="35186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0800" y="4526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Systems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00800" y="501091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relationships that provide perspective, accountability, and shared load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Reframing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Reinterpreting setbacks to change their emotional and strategic meaning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057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facts from the story we attach to them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9923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else could this mean?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77647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threat-framing with challenge-framing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0" y="173736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49240" y="201168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207111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49240" y="2606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Hospital Network — Staffing Crisis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349240" y="315468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nurse-staffing shortfall left a floor director short six shifts a week. Rather than framing it as failure, she reframed it as a design problem: current scheduling assumed abundance that no longer existed. She rebuilt the roster around a cross-training model.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49240" y="5166360"/>
            <a:ext cx="5852160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492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34924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stabilized in 3 weeks; the model was adopted hospital-wide.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Regulation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physiological and emotional arousal to keep judgment intact under pressure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IN ACTION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2505456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23317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early physical signals of escalation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0120" y="3163824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29900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brief resets: breath, pause, reframe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60120" y="382219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364845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before you communicate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5120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Ask 2-3 volunteers to share where they used this practice in the last 30 days.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Mindset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ability and outcomes as developable rather than fixed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057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setbacks as data, not verdicts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9923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effort and iteration, not just results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77647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visible learning from your own mistakes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0" y="173736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49240" y="201168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207111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49240" y="2606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Manufacturer — Product Recall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349240" y="315468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costly product recall, a plant manager resisted the instinct to assign blame. Instead he ran a structured retrospective treating the failure as a systems-learning opportunity, publishing what the team learned company-wide.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49240" y="5166360"/>
            <a:ext cx="5852160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492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34924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 fell 40% over two quarters; the retrospective format became standard practice.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and Adaptability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what cannot be changed while actively adjusting what can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IN ACTION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2505456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23317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fixed from the flexible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0120" y="3163824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29900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energy spent resisting reality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60120" y="382219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364845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that energy into the next best action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5120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Ask 2-3 volunteers to share where they used this practice in the last 30 days.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Purpose-Driven Work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daily decisions to a larger sense of meaning and contribution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057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tasks to mission, not just metrics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9923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purpose explicitly during hard stretches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77647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others see their role in the larger outcome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0" y="173736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49240" y="201168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207111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49240" y="2606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Relief Agency — Funding Cliff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349240" y="315468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a 30% budget cut mid-year, a program director reconnected her team to the mission before discussing cuts, then involved them in deciding which programs to protect based on impact rather than politics.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49240" y="5166360"/>
            <a:ext cx="5852160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492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34924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retention stayed at 95% through the transition, well above the sector norm during cutbacks.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Reflective Practice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reviewing experience to extract lessons before moving to the next challenge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IN ACTION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2505456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23317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regular after-action reviews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0120" y="3163824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29900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worked, what didn't, and why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60120" y="3822192"/>
            <a:ext cx="109728" cy="10972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364845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 into a concrete behavior change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5120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Ask 2-3 volunteers to share where they used this practice in the last 30 days.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Support Systems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relationships that provide perspective, accountability, and shared load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057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asking for help before crisis hits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9923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peer check-ins, not just informal ones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776472"/>
            <a:ext cx="100584" cy="100584"/>
          </a:xfrm>
          <a:prstGeom prst="ellipse">
            <a:avLst/>
          </a:prstGeom>
          <a:solidFill>
            <a:srgbClr val="C9A2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support proactively, not only when asked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0" y="173736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49240" y="201168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207111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49240" y="2606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Scale-Up — Leadership Burnout Wave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349240" y="315468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three senior managers burned out in one quarter, the VP of Engineering instituted mandatory peer 'resilience pods' of four leaders who met biweekly for structured, confidential problem-sharing — no reporting relationships in the same pod.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49240" y="5166360"/>
            <a:ext cx="5852160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492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34924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leadership attrition dropped by half within two quarters.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92400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8686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Which Practice Challenged You Most?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minutes in pairs before the break.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23774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seven practices, which was hardest to sustain over 30 days — and why?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34290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51560" y="34290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91640" y="34290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a peer support you in a way you didn't expect?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44805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51560" y="44805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91640" y="448056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practice you want to intentionally strengthen going forward?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Seven Resilience Practices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463040"/>
            <a:ext cx="1005840" cy="100584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93799"/>
            <a:ext cx="744322" cy="744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979676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resume at the top of the hour with the Values-Based Leadership framework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A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Values-Based Leadership Framework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competencies that translate resilience into leadership judgment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Practice to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practices are the fuel; Values-Based Leadership is the engine they power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Reframing + Growth Mindset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23560" y="17373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73736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7373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Under Uncertainty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7860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Purpose-Driven Work + Acceptance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23560" y="257860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7960" y="2578608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57860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Individual &amp; Collective Interests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1985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Regulation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23560" y="341985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37960" y="3419856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41985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Composure Under Setbacks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61104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6110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23560" y="426110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7960" y="4261104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26110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02352"/>
            <a:ext cx="4846320" cy="713232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102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Systems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23560" y="51023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37960" y="5102352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510235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Resilience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Values-Based Leadership Framework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Values-Based Leadership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competencies, assessed together — no single one substitutes for another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198424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666" y="2067458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70632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Under Uncertainty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1810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decisively on incomplete information without waiting for false certainty.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89504" y="169164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880" y="198424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090" y="2067458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6664" y="2770632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Individual &amp; Collective Interests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26664" y="3657600"/>
            <a:ext cx="1810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personal and team stakes against organizational and stakeholder good.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38928" y="169164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61304" y="198424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514" y="2067458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6088" y="2770632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Composure Under Setbacks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76088" y="3657600"/>
            <a:ext cx="1810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regulated and clear-headed when plans fail or pressure spikes.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88352" y="169164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10728" y="198424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938" y="2067458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25512" y="2770632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Reasoning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525512" y="3657600"/>
            <a:ext cx="1810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consistent values-based judgment even when it costs something.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637776" y="169164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60152" y="198424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3362" y="2067458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74936" y="2770632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Resilience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74936" y="3657600"/>
            <a:ext cx="1810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strengthen the team's collective capacity to recover and adapt.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Values-Based Leadership Framework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1 OF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Under Uncertainty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91640" y="1371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decisively on incomplete information without waiting for false certainty.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37744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43687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60120" y="30632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logistics director rerouted an entire supply chain within 48 hours of a port closure, using a documented 70%-confidence threshold rather than waiting for complete data.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012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What would you have done differently in this leader's position?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Values-Based Leadership Framework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2 OF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Individual &amp; Collective Interests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91640" y="1371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personal and team stakes against organizational and stakeholder good.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37744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43687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60120" y="30632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VP declined a lucrative deal that would have overloaded delivery teams for two quarters, protecting collective capacity over an individual bonus outcome.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012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What would you have done differently in this leader's position?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Values-Based Leadership Framework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3 OF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Composure Under Setbacks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91640" y="1371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regulated and clear-headed when plans fail or pressure spikes.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37744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43687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60120" y="30632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lead absorbed a public client complaint calmly in the room, then addressed the emotional impact with her team privately before problem-solving.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012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What would you have done differently in this leader's position?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Values-Based Leadership Framework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4 OF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Reasoning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91640" y="1371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consistent values-based judgment even when it costs something.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37744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43687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60120" y="30632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manager flagged a revenue-recognition shortcut that would have hit quarterly targets, escalating it despite pressure to stay quiet.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012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What would you have done differently in this leader's position?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Values-Based Leadership Framework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5 OF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691640" y="868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Resilience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691640" y="1371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strengthen the team's collective capacity to recover and adapt.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37744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43687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60120" y="30632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failed product launch, a team lead ran a blameless retrospective and redistributed workload before burnout set in, rebuilding morale within a month.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6012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prompt: What would you have done differently in this leader's position?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Values-Based Leadership Framework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A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Scenario Practice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apply all five competencies to a single live scenario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in groups of 4-5 · Choose a spokesperson to report back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largest client just informed you, with no warning, that they're cutting their contract by 50% effective next quarter. Two team members will likely need to be reassigned or let go. Your team is already stretched, and morale is fragile after a difficult year. You have one week to respond to the client and to your team.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A GROUP: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06" y="4256166"/>
            <a:ext cx="284196" cy="2841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do you make this week, with incomplete information?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42062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126" y="4256166"/>
            <a:ext cx="284196" cy="2841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balance the affected individuals against the team's collective future?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864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6" y="4914534"/>
            <a:ext cx="284196" cy="2841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48188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stay composed while delivering hard news?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172200" y="4864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126" y="4914534"/>
            <a:ext cx="284196" cy="2841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75120" y="48188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ethical lines matter most here, even under pressure?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40080" y="552297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006" y="5572902"/>
            <a:ext cx="284196" cy="2841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0" y="54772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in the first month to rebuild team resilience?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Applied Scenario Practice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Debrief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spokesperson shares one decision their group made and the values behind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9796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20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language of trade-offs, not just solutions — good leadership judgment names what it sacrifices.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93979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803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which groups led with the people impact versus the business impact first — both are valid; awareness is the goal.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899916"/>
            <a:ext cx="338328" cy="338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840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group that avoided the emotional composure question entirely — that avoidance is itself instructive.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Applied Scenario Practice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Personal Commitment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3 minutes to write your answers — you'll keep this for yourself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1116" y="2057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326" y="21406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practice will you strengthen deliberately over the next 90 days?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4663440"/>
            <a:ext cx="2953512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914400" y="4983480"/>
            <a:ext cx="2953512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325112" y="178308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56148" y="2057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58" y="214061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88036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competency will you focus on developing as a leader?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99432" y="4663440"/>
            <a:ext cx="2953512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4599432" y="4983480"/>
            <a:ext cx="2953512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8010144" y="178308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EEF3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41180" y="20574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390" y="214061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2880360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one peer you will check in with regularly for support?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284464" y="4663440"/>
            <a:ext cx="2953512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8284464" y="4983480"/>
            <a:ext cx="2953512" cy="0"/>
          </a:xfrm>
          <a:prstGeom prst="line">
            <a:avLst/>
          </a:prstGeom>
          <a:noFill/>
          <a:ln w="9525">
            <a:solidFill>
              <a:srgbClr val="44506B"/>
            </a:solidFill>
            <a:prstDash val="dash"/>
          </a:ln>
        </p:spPr>
      </p:sp>
      <p:sp>
        <p:nvSpPr>
          <p:cNvPr id="22" name="Text 17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206240"/>
            <a:ext cx="6400800" cy="64008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2743200"/>
            <a:ext cx="5486400" cy="54864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1556" y="1188720"/>
            <a:ext cx="1005840" cy="100584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31947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5146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522476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built in practice becomes leadership shown in character.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Leadership Development Program  ·  Values-Based Leadership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Values-Based Leadership — Final Capstone</dc:title>
  <dc:subject>PptxGenJS Presentation</dc:subject>
  <dc:creator>Leadership Development Program</dc:creator>
  <cp:lastModifiedBy>Leadership Development Program</cp:lastModifiedBy>
  <cp:revision>1</cp:revision>
  <dcterms:created xsi:type="dcterms:W3CDTF">2026-07-08T05:19:14Z</dcterms:created>
  <dcterms:modified xsi:type="dcterms:W3CDTF">2026-07-08T05:19:14Z</dcterms:modified>
</cp:coreProperties>
</file>
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is fully hands-on: by 5pm everyone will have built and run a multi-agent system that delegates tasks across specialised agents. Set expectations: AutoGen Studio for no-code prototyping, AgentChat for code, Semantic Kernel for the enterprise view, and a frank look at how all three are converging into the Microsoft Agent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lone freelancer vs a small team. The researcher doesn't need to know how to format HTML; it only needs to find facts. Distributing complexity lowers the cognitive load on each LLM call and tends to raise quality on each sub-task.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memorise APIs — memorise this taxonomy. Every framework is a different spelling of these five ideas. We go deep on each in Block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as of 2026 both AutoGen and Semantic Kernel are in maintenance mode (bug/security fixes, no new features) and Microsoft Agent Framework 1.0 is GA. We still learn on AutoGen Studio because it's the best low-friction way to internalise orchestration, and skills port directly to MAF.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round-robin (or a graph flow) — the order is fixed and known, so you don't need an LLM selector or handoffs. This previews the decision matrix in Block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screen. The critic's stop word ('APPROVE') plus the max-message cap together form the termination condition — emphasise that the cap is what saves you from infinite loops and runaway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punchline of Block 2: no-code and code are the same artifact. Studio is for fast iteration and demos; the moment you need tests, CI, or custom tools, you drop to the framework with the exact same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photograph this. In practice you also nest patterns — a GraphFlow node can itself be a SelectorGroupChat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SK as the 'grown-up' sibling of Studio. Same orchestration ideas, but wired for services, governance and polyglot teams. Note up front that SK is in maintenance mode now — the patterns are what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block back to AutoGen so learners see the 1:1 correspondence: Kernel ~ runtime/model client, ChatCompletionAgent ~ AssistantAgent, plugins ~ function tools, AgentGroupChat ~ a Team. Same concepts, enterprise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honesty slide. Both AutoGen and SK are in maintenance mode; Microsoft is converging them into the Agent Framework (MAF), GA in 2026. Reassure learners: nothing today is wasted — the patterns are identical and MAF is largely a repackaging plus graph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the final answer is the least interesting artefact. The trace — who did what, with which tool, at what cost — is what you debug and optimise against. Both frameworks export OpenTelemetry; Studio visualises it in the Playground.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learners pick their own topic to keep it fun. Stretch goals: add a human approval gate before 'publish', swap the writer to a cheaper model, or rebuild the same team in AgentChat code and export the Studio JSON. Circulate and help teams whose runs don't terminate — that's the most common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exact install commands and doc layouts shift over time — point learners at the official Microsoft/AutoGen docs as the source of truth, and emphasise MAF as the place new projects should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image" Target="../media/image-41-7.png"/><Relationship Id="rId8" Type="http://schemas.openxmlformats.org/officeDocument/2006/relationships/image" Target="../media/image-41-8.png"/><Relationship Id="rId9" Type="http://schemas.openxmlformats.org/officeDocument/2006/relationships/image" Target="../media/image-41-9.png"/><Relationship Id="rId10" Type="http://schemas.openxmlformats.org/officeDocument/2006/relationships/image" Target="../media/image-41-10.png"/><Relationship Id="rId11" Type="http://schemas.openxmlformats.org/officeDocument/2006/relationships/image" Target="../media/image-41-11.png"/><Relationship Id="rId12" Type="http://schemas.openxmlformats.org/officeDocument/2006/relationships/image" Target="../media/image-4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7.png"/><Relationship Id="rId8" Type="http://schemas.openxmlformats.org/officeDocument/2006/relationships/image" Target="../media/image-45-8.png"/><Relationship Id="rId9" Type="http://schemas.openxmlformats.org/officeDocument/2006/relationships/image" Target="../media/image-45-9.png"/><Relationship Id="rId10" Type="http://schemas.openxmlformats.org/officeDocument/2006/relationships/image" Target="../media/image-4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7.png"/><Relationship Id="rId8" Type="http://schemas.openxmlformats.org/officeDocument/2006/relationships/image" Target="../media/image-48-8.png"/><Relationship Id="rId9" Type="http://schemas.openxmlformats.org/officeDocument/2006/relationships/image" Target="../media/image-48-9.png"/><Relationship Id="rId10" Type="http://schemas.openxmlformats.org/officeDocument/2006/relationships/image" Target="../media/image-48-10.png"/><Relationship Id="rId11" Type="http://schemas.openxmlformats.org/officeDocument/2006/relationships/image" Target="../media/image-4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150315"/>
            <a:ext cx="1186891" cy="-647395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150315"/>
            <a:ext cx="1348740" cy="80924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2171" y="502920"/>
            <a:ext cx="1402690" cy="80924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04020" y="1959559"/>
            <a:ext cx="1240841" cy="-647395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04020" y="1959559"/>
            <a:ext cx="1025042" cy="75529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44861" y="1312164"/>
            <a:ext cx="1132942" cy="917143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29062" y="2714854"/>
            <a:ext cx="1348740" cy="-48554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150315"/>
            <a:ext cx="377647" cy="14026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32927" y="2553005"/>
            <a:ext cx="1996135" cy="161849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47381" y="1042416"/>
            <a:ext cx="215798" cy="21579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9061247" y="421996"/>
            <a:ext cx="161849" cy="16184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217701" y="1873240"/>
            <a:ext cx="172639" cy="17263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6172" y="1193475"/>
            <a:ext cx="237378" cy="23737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53533" y="2639324"/>
            <a:ext cx="151059" cy="15105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80693" y="2132198"/>
            <a:ext cx="194219" cy="19421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262793" y="2482870"/>
            <a:ext cx="140269" cy="14026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HANDS-ON WORKSHOP  ·  DAY 19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187452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Orchestration with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AutoGen Studio &amp; Semantic Kernel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agent workflows and task delegation — from no-code prototyping to production-grade multi-agent systems.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5120640"/>
            <a:ext cx="3043123" cy="548640"/>
          </a:xfrm>
          <a:prstGeom prst="roundRect">
            <a:avLst>
              <a:gd name="adj" fmla="val 50000"/>
            </a:avLst>
          </a:prstGeom>
          <a:solidFill>
            <a:srgbClr val="241B57"/>
          </a:solidFill>
          <a:ln w="12700">
            <a:solidFill>
              <a:srgbClr val="3A2F7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5266944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07592" y="5120640"/>
            <a:ext cx="24944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team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048963" y="5120640"/>
            <a:ext cx="3397910" cy="548640"/>
          </a:xfrm>
          <a:prstGeom prst="roundRect">
            <a:avLst>
              <a:gd name="adj" fmla="val 50000"/>
            </a:avLst>
          </a:prstGeom>
          <a:solidFill>
            <a:srgbClr val="241B57"/>
          </a:solidFill>
          <a:ln w="12700">
            <a:solidFill>
              <a:srgbClr val="3A2F73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131" y="5266944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579315" y="5120640"/>
            <a:ext cx="2849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&amp; orchestrate tasks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7675474" y="5120640"/>
            <a:ext cx="2599639" cy="548640"/>
          </a:xfrm>
          <a:prstGeom prst="roundRect">
            <a:avLst>
              <a:gd name="adj" fmla="val 50000"/>
            </a:avLst>
          </a:prstGeom>
          <a:solidFill>
            <a:srgbClr val="241B57"/>
          </a:solidFill>
          <a:ln w="12700">
            <a:solidFill>
              <a:srgbClr val="3A2F73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642" y="5266944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205826" y="5120640"/>
            <a:ext cx="2050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Colabs + capstone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7772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Agents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DAY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hours, four build-up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2421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1305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09:15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multi-agent? Core vocabulary, delegation, the 2026 ecosystem map.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075688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021" y="224210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07408" y="21305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11:00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3657600" y="28803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57600" y="3566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team building, the four interfaces, your first orchestrated team.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2075688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1" y="2242109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42048" y="21305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13:15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6492240" y="28803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492240" y="3566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RoundRobin, Selector, Swarm, GraphFlow, Magentic — in code.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70048" cy="32004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26880" y="2075688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301" y="2242109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76688" y="213055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15:00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9326880" y="28803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326880" y="3566160"/>
            <a:ext cx="212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orchestration, the Agent Framework convergence, going to production.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257800"/>
            <a:ext cx="1477670" cy="502920"/>
          </a:xfrm>
          <a:prstGeom prst="roundRect">
            <a:avLst>
              <a:gd name="adj" fmla="val 49091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13232" y="544525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0" name="Text 24"/>
          <p:cNvSpPr/>
          <p:nvPr/>
        </p:nvSpPr>
        <p:spPr>
          <a:xfrm>
            <a:off x="914400" y="5257800"/>
            <a:ext cx="11119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09:00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2209190" y="5257800"/>
            <a:ext cx="1730045" cy="502920"/>
          </a:xfrm>
          <a:prstGeom prst="roundRect">
            <a:avLst>
              <a:gd name="adj" fmla="val 49091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373782" y="544525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27"/>
          <p:cNvSpPr/>
          <p:nvPr/>
        </p:nvSpPr>
        <p:spPr>
          <a:xfrm>
            <a:off x="2574950" y="5257800"/>
            <a:ext cx="13642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1 after B2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122115" y="5257800"/>
            <a:ext cx="1309421" cy="502920"/>
          </a:xfrm>
          <a:prstGeom prst="roundRect">
            <a:avLst>
              <a:gd name="adj" fmla="val 49091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286707" y="544525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6" name="Text 30"/>
          <p:cNvSpPr/>
          <p:nvPr/>
        </p:nvSpPr>
        <p:spPr>
          <a:xfrm>
            <a:off x="4487875" y="5257800"/>
            <a:ext cx="9436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12:30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5614416" y="5257800"/>
            <a:ext cx="1730045" cy="502920"/>
          </a:xfrm>
          <a:prstGeom prst="roundRect">
            <a:avLst>
              <a:gd name="adj" fmla="val 49091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779008" y="5445252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3"/>
          <p:cNvSpPr/>
          <p:nvPr/>
        </p:nvSpPr>
        <p:spPr>
          <a:xfrm>
            <a:off x="5980176" y="5257800"/>
            <a:ext cx="13642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2 after B3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7527341" y="5257800"/>
            <a:ext cx="2150669" cy="502920"/>
          </a:xfrm>
          <a:prstGeom prst="roundRect">
            <a:avLst>
              <a:gd name="adj" fmla="val 49091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691933" y="5445252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36"/>
          <p:cNvSpPr/>
          <p:nvPr/>
        </p:nvSpPr>
        <p:spPr>
          <a:xfrm>
            <a:off x="7893101" y="5257800"/>
            <a:ext cx="1784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+ Quiz 16:30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WALK AWAY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2598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2733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9842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multi-agent design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27632" y="23682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multiple agents beat one, and decompose a task into well-scoped roles.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1259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353" y="22733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19842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AutoGen Studio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296912" y="23682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agents, tools and teams in the no-code GUI and run them in the Playground.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54330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369070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401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orchestration patterns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27632" y="37856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RoundRobin, Selector, Swarm, GraphFlow and Magentic for a given problem.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2004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3543300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369070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96912" y="34015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task delegation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296912" y="37856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handoffs, selector prompts and termination conditions to route work reliably.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606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510802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27632" y="48188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 in the ecosystem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627632" y="520293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Studio, Semantic Kernel and the Microsoft Agent Framework — and migrate between them.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17920" y="461772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3952" y="496062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353" y="510802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96912" y="48188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responsibly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7296912" y="520293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observability, human-in-the-loop, sandboxing and cost controls before production.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16152"/>
            <a:ext cx="1056132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216152"/>
            <a:ext cx="1200150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5732" y="640080"/>
            <a:ext cx="1248156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29750" y="1936242"/>
            <a:ext cx="1104138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29750" y="1936242"/>
            <a:ext cx="912114" cy="67208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3888" y="1360170"/>
            <a:ext cx="1008126" cy="81610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41864" y="2608326"/>
            <a:ext cx="1200150" cy="-43205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216152"/>
            <a:ext cx="336042" cy="124815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65642" y="2464308"/>
            <a:ext cx="1776222" cy="144018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3588" y="1120140"/>
            <a:ext cx="192024" cy="19202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9213723" y="568071"/>
            <a:ext cx="144018" cy="14401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2940" y="1859432"/>
            <a:ext cx="153619" cy="15361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8275" y="1254557"/>
            <a:ext cx="211226" cy="21122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74656" y="2541118"/>
            <a:ext cx="134417" cy="134417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5603" y="2089861"/>
            <a:ext cx="172822" cy="17282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234" y="2401900"/>
            <a:ext cx="124816" cy="1248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systems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orchestration matters, the shared vocabulary, and where the tools sit in 2026.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114300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35697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single agent hits a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DECE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03504" cy="603504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" y="226003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396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agent, every job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62656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86968" y="2926080"/>
            <a:ext cx="301752" cy="30175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980944"/>
            <a:ext cx="192024" cy="1920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2880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overflow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research and drafts all compete for one window.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12464"/>
            <a:ext cx="237744" cy="2377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86968" y="3675888"/>
            <a:ext cx="301752" cy="30175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730752"/>
            <a:ext cx="192024" cy="19202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36301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confusion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generalist prompt blurs research, writing and critique.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62272"/>
            <a:ext cx="237744" cy="237744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86968" y="4425696"/>
            <a:ext cx="301752" cy="30175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480560"/>
            <a:ext cx="192024" cy="19202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325880" y="43799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 of concerns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anywhere can corrupt the whole response.</a:t>
            </a:r>
            <a:endParaRPr lang="en-US" sz="12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212080"/>
            <a:ext cx="237744" cy="237744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886968" y="5175504"/>
            <a:ext cx="301752" cy="30175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230368"/>
            <a:ext cx="192024" cy="192024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325880" y="51297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steer &amp; debug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opaque chain — little insight into why it failed.</a:t>
            </a:r>
            <a:endParaRPr lang="en-US" sz="1250" dirty="0"/>
          </a:p>
        </p:txBody>
      </p:sp>
      <p:sp>
        <p:nvSpPr>
          <p:cNvPr id="24" name="Shape 13"/>
          <p:cNvSpPr/>
          <p:nvPr/>
        </p:nvSpPr>
        <p:spPr>
          <a:xfrm>
            <a:off x="6199632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4"/>
          <p:cNvSpPr/>
          <p:nvPr/>
        </p:nvSpPr>
        <p:spPr>
          <a:xfrm>
            <a:off x="6519672" y="2103120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6583" y="2260031"/>
            <a:ext cx="289682" cy="28968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251192" y="21396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team of specialists</a:t>
            </a:r>
            <a:endParaRPr lang="en-US" sz="1800" dirty="0"/>
          </a:p>
        </p:txBody>
      </p:sp>
      <p:sp>
        <p:nvSpPr>
          <p:cNvPr id="28" name="Shape 16"/>
          <p:cNvSpPr/>
          <p:nvPr/>
        </p:nvSpPr>
        <p:spPr>
          <a:xfrm>
            <a:off x="6537960" y="2926080"/>
            <a:ext cx="301752" cy="3017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2824" y="2980944"/>
            <a:ext cx="192024" cy="19202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976872" y="2880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a narrow, well-prompted scope.</a:t>
            </a:r>
            <a:endParaRPr lang="en-US" sz="1250" dirty="0"/>
          </a:p>
        </p:txBody>
      </p:sp>
      <p:sp>
        <p:nvSpPr>
          <p:cNvPr id="31" name="Shape 18"/>
          <p:cNvSpPr/>
          <p:nvPr/>
        </p:nvSpPr>
        <p:spPr>
          <a:xfrm>
            <a:off x="6537960" y="3675888"/>
            <a:ext cx="301752" cy="3017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824" y="3730752"/>
            <a:ext cx="192024" cy="192024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976872" y="36301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isolated and locally recoverable.</a:t>
            </a:r>
            <a:endParaRPr lang="en-US" sz="1250" dirty="0"/>
          </a:p>
        </p:txBody>
      </p:sp>
      <p:sp>
        <p:nvSpPr>
          <p:cNvPr id="34" name="Shape 20"/>
          <p:cNvSpPr/>
          <p:nvPr/>
        </p:nvSpPr>
        <p:spPr>
          <a:xfrm>
            <a:off x="6537960" y="4425696"/>
            <a:ext cx="301752" cy="3017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2824" y="4480560"/>
            <a:ext cx="192024" cy="192024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976872" y="43799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&amp; reuse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Swap, add or version agents independently.</a:t>
            </a:r>
            <a:endParaRPr lang="en-US" sz="1250" dirty="0"/>
          </a:p>
        </p:txBody>
      </p:sp>
      <p:sp>
        <p:nvSpPr>
          <p:cNvPr id="37" name="Shape 22"/>
          <p:cNvSpPr/>
          <p:nvPr/>
        </p:nvSpPr>
        <p:spPr>
          <a:xfrm>
            <a:off x="6537960" y="5175504"/>
            <a:ext cx="301752" cy="3017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2824" y="5230368"/>
            <a:ext cx="192024" cy="192024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976872" y="51297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dialogue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itself is an auditable trace.</a:t>
            </a:r>
            <a:endParaRPr lang="en-US" sz="1250" dirty="0"/>
          </a:p>
        </p:txBody>
      </p:sp>
      <p:sp>
        <p:nvSpPr>
          <p:cNvPr id="40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1" name="Text 25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multi-agent system?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LLM-backed agents, each with a role and tools, that exchange messages to solve a task no single agent would handle well alone.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6583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307348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926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Conversable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331012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 can send and receive messages to start or continue a conversation.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767328"/>
            <a:ext cx="6583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950208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4097609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9502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00200" y="4334256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 LLM, instructions, tools and humans into one actor.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791456"/>
            <a:ext cx="65836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97433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5121737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9743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topology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00200" y="535838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graph can adapt to the conversation, or follow a fixed plan.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360920" y="1691640"/>
            <a:ext cx="4279392" cy="4251960"/>
          </a:xfrm>
          <a:prstGeom prst="roundRect">
            <a:avLst>
              <a:gd name="adj" fmla="val 1935"/>
            </a:avLst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63524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 model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63524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an independent actor with private state, communicating only by async messages.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458200" y="3611880"/>
            <a:ext cx="1508760" cy="-182880"/>
          </a:xfrm>
          <a:prstGeom prst="line">
            <a:avLst/>
          </a:prstGeom>
          <a:noFill/>
          <a:ln w="19050">
            <a:solidFill>
              <a:srgbClr val="FCD34D">
                <a:alpha val="80000"/>
              </a:srgbClr>
            </a:solidFill>
            <a:prstDash val="solid"/>
            <a:headEnd type="triangle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10241280" y="3657600"/>
            <a:ext cx="-914400" cy="1188720"/>
          </a:xfrm>
          <a:prstGeom prst="line">
            <a:avLst/>
          </a:prstGeom>
          <a:noFill/>
          <a:ln w="19050">
            <a:solidFill>
              <a:srgbClr val="FCD34D">
                <a:alpha val="80000"/>
              </a:srgbClr>
            </a:solidFill>
            <a:prstDash val="solid"/>
            <a:headEnd type="triangle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321040" y="3703320"/>
            <a:ext cx="868680" cy="1143000"/>
          </a:xfrm>
          <a:prstGeom prst="line">
            <a:avLst/>
          </a:prstGeom>
          <a:noFill/>
          <a:ln w="19050">
            <a:solidFill>
              <a:srgbClr val="FCD34D">
                <a:alpha val="80000"/>
              </a:srgbClr>
            </a:solidFill>
            <a:prstDash val="solid"/>
            <a:headEnd type="triangle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7909560" y="324612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755" y="3436315"/>
            <a:ext cx="351130" cy="35113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966960" y="310896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7155" y="3299155"/>
            <a:ext cx="351130" cy="35113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915400" y="47548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595" y="4945075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35240" y="5532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messages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SAME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words you'll use all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2039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" y="21817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" y="3026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+ instructions + optional tools + memory that acts on messages.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55264" y="178308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1296" y="203911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42" y="21817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11296" y="3026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specialisation: planner, researcher, writer, critic, coder…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0488" y="178308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203911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166" y="218175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3026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exchange — text, tool calls, results, or a handoff.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25712" y="178308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81744" y="203911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390" y="218175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81744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81744" y="3026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function an agent may call to act on the world.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787652" y="374904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043684" y="4005072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330" y="414771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43684" y="4645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043684" y="4992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deciding who acts next and when the team stops.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722876" y="374904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78908" y="400507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1554" y="4147718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978908" y="4645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978908" y="4992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 sub-task to the agent best suited to it.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7658100" y="374904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914132" y="40050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6778" y="4147718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14132" y="4645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7914132" y="4992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that ends a run — a keyword, turn cap or timeout.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0" y="2103120"/>
            <a:ext cx="3044952" cy="3200400"/>
          </a:xfrm>
          <a:prstGeom prst="roundRect">
            <a:avLst>
              <a:gd name="adj" fmla="val 2703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33288" y="237744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3483" y="25676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315468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0" y="356616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"researcher"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397764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description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delegation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4963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3865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68680" y="2898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(e.g. GPT-4.1) that reasons and writes.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383280" y="2834640"/>
            <a:ext cx="4114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640080" y="3794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1422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0325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68680" y="4544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that fixes the role and behaviour.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383280" y="4480560"/>
            <a:ext cx="4114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8778240" y="214884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06840" y="23774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249631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55480" y="23865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006840" y="28986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/ MCP servers the agent may invoke.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160520" y="2834640"/>
            <a:ext cx="4114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8778240" y="379476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006840" y="402336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414223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555480" y="40325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9006840" y="4544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and any saved context.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160520" y="4480560"/>
            <a:ext cx="411480" cy="0"/>
          </a:xfrm>
          <a:prstGeom prst="line">
            <a:avLst/>
          </a:prstGeom>
          <a:noFill/>
          <a:ln w="19050">
            <a:solidFill>
              <a:srgbClr val="A5B4FC"/>
            </a:solidFill>
            <a:prstDash val="dash"/>
          </a:ln>
        </p:spPr>
      </p:sp>
      <p:sp>
        <p:nvSpPr>
          <p:cNvPr id="34" name="Text 2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AutoGen this is an AssistantAgent; the same shape appears in Semantic Kernel and the Agent Framework.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delegation in one picture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task is decomposed, routed to specialists, and recombined. Orchestration is simply the policy that drives this 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" y="246888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0996" y="2724912"/>
            <a:ext cx="603504" cy="603504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907" y="2881823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3776" y="380390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briefing on X"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59736" y="3383280"/>
            <a:ext cx="246888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24912" y="246888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1860" y="2724912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771" y="2881823"/>
            <a:ext cx="289682" cy="2896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16352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route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834640" y="380390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splits the work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00600" y="3383280"/>
            <a:ext cx="246888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065776" y="246888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92724" y="2724912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635" y="2881823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7216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act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175504" y="380390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→ Writer → Critic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141464" y="3383280"/>
            <a:ext cx="246888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406640" y="246888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33588" y="2724912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499" y="2881823"/>
            <a:ext cx="289682" cy="2896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98080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516368" y="380390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merges &amp; terminates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482328" y="3383280"/>
            <a:ext cx="246888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747504" y="2468880"/>
            <a:ext cx="2057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474452" y="2724912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1363" y="2881823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38944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out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857232" y="3803904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deliverable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" y="475488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1248" y="502920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649" y="5176601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00200" y="489204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delegation = good role design.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scopes, clear descriptions and a sensible stop condition do more for reliability than a bigger model.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YOU'LL KEEP RETURNING 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orchestration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1772" y="182880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5276" y="210312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1A133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" y="31546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Round-robin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6364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turn order over a shared context.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4652" y="4645152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" y="464515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pipelines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7772" y="182880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51276" y="210312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1A133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234086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4932" y="31546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2912364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picks the next speaker each turn.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930652" y="4645152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17" name="Text 13"/>
          <p:cNvSpPr/>
          <p:nvPr/>
        </p:nvSpPr>
        <p:spPr>
          <a:xfrm>
            <a:off x="2930652" y="464515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collaboration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33772" y="182880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A133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34086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70932" y="31546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 / handoff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5198364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work to each other directly.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216652" y="4645152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24" name="Text 19"/>
          <p:cNvSpPr/>
          <p:nvPr/>
        </p:nvSpPr>
        <p:spPr>
          <a:xfrm>
            <a:off x="5216652" y="464515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delegation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319772" y="182880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23276" y="2103120"/>
            <a:ext cx="914400" cy="91440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5400000">
              <a:srgbClr val="1A1330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234086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56932" y="31546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flow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7484364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directed graph of execution.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502652" y="4645152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31" name="Text 25"/>
          <p:cNvSpPr/>
          <p:nvPr/>
        </p:nvSpPr>
        <p:spPr>
          <a:xfrm>
            <a:off x="7502652" y="464515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workflows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9605772" y="1828800"/>
            <a:ext cx="2121408" cy="338328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09276" y="2103120"/>
            <a:ext cx="914400" cy="914400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76200" dist="25400" dir="5400000">
              <a:srgbClr val="1A1330">
                <a:alpha val="18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7020" y="2340864"/>
            <a:ext cx="438912" cy="4389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42932" y="31546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Magentic</a:t>
            </a:r>
            <a:endParaRPr lang="en-US" sz="1550" dirty="0"/>
          </a:p>
        </p:txBody>
      </p:sp>
      <p:sp>
        <p:nvSpPr>
          <p:cNvPr id="36" name="Text 29"/>
          <p:cNvSpPr/>
          <p:nvPr/>
        </p:nvSpPr>
        <p:spPr>
          <a:xfrm>
            <a:off x="9770364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generalist orchestrator plans &amp; drives.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9788652" y="4645152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38" name="Text 31"/>
          <p:cNvSpPr/>
          <p:nvPr/>
        </p:nvSpPr>
        <p:spPr>
          <a:xfrm>
            <a:off x="9788652" y="464515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open tasks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exist in AutoGen AgentChat today; Semantic Kernel and the Agent Framework expose the same family of patterns.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YOU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Microsoft agent ecosystem in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AutoGen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691640" y="26974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1691640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prototyping playground (v0.7.x). AutoGen Studio's engine. Still ideal for learning orchestration — what we build on today.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8536" y="182880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08576" y="214884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71" y="233903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22976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Kernel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522976" y="26974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5522976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08576" y="3383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SDK across C# / Python / Java. Plugins, telemetry, type safety. Pioneered the production-grade orchestration patterns.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19872" y="1828800"/>
            <a:ext cx="3611880" cy="3520440"/>
          </a:xfrm>
          <a:prstGeom prst="roundRect">
            <a:avLst>
              <a:gd name="adj" fmla="val 2597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39912" y="214884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107" y="233903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54312" y="2194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Framework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354312" y="26974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3" name="Text 18"/>
          <p:cNvSpPr/>
          <p:nvPr/>
        </p:nvSpPr>
        <p:spPr>
          <a:xfrm>
            <a:off x="9354312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· v1.0 (2026)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439912" y="3383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successor that merges both. Same teams, unified SDK, graph-based workflows. Where new production projects should start.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023360" y="34061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into  ▶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854696" y="34061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succeeds  ▶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teach the older tools? The concepts are identical and transfer 1:1 — and the exercise targets AutoGen Studio. We'll flag every migration path as we go.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PRIMARY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AutoGen Studio 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208080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Studio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240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GUI: compose, run, debug and share teams in the browser.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97880" y="1929384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5897880" y="19293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0779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77" y="3040929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AgentChat API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17320" y="3200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Python: AssistantAgent + team presets. Studio is a GUI over this.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70332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867912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7" y="400104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822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41732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runtime: message routing, subscriptions, distributed actors.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663440"/>
            <a:ext cx="67665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828032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77" y="4961169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417320" y="5120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clients (OpenAI, Azure), code executors, MCP servers, memory.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498080" y="1783080"/>
            <a:ext cx="4142232" cy="3749040"/>
          </a:xfrm>
          <a:prstGeom prst="roundRect">
            <a:avLst>
              <a:gd name="adj" fmla="val 2195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0" y="205740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9801" y="2204801"/>
            <a:ext cx="272125" cy="27212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58200" y="2084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prototyping tool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7818120" y="2862072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4"/>
          <p:cNvSpPr/>
          <p:nvPr/>
        </p:nvSpPr>
        <p:spPr>
          <a:xfrm>
            <a:off x="8092440" y="276148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rapid prototyping &amp; demos — not a production app.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818120" y="352044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26"/>
          <p:cNvSpPr/>
          <p:nvPr/>
        </p:nvSpPr>
        <p:spPr>
          <a:xfrm>
            <a:off x="8092440" y="341985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auth, permissions or jailbreak hardening.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818120" y="417880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28"/>
          <p:cNvSpPr/>
          <p:nvPr/>
        </p:nvSpPr>
        <p:spPr>
          <a:xfrm>
            <a:off x="8092440" y="407822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Docker code-execution environment for safety.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818120" y="4837176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0"/>
          <p:cNvSpPr/>
          <p:nvPr/>
        </p:nvSpPr>
        <p:spPr>
          <a:xfrm>
            <a:off x="8092440" y="473659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real workloads to the framework / Agent Framework.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it in before we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5681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756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specialised agents beat one generalist on complex, multi-step work.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6949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7797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986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5176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model + instructions + tools + memory; teams add orchestration.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6949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49808" y="360273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2160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47472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patterns: round-robin, selector, swarm, graph flow, magentic.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297680"/>
            <a:ext cx="6949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44256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4456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29768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quality comes from role design and termination, not model size.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48640" y="5120640"/>
            <a:ext cx="694944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" y="524865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6752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512064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&amp; SK are in maintenance mode; MAF 1.0 is the GA successor.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7680960" y="1828800"/>
            <a:ext cx="3959352" cy="3657600"/>
          </a:xfrm>
          <a:prstGeom prst="roundRect">
            <a:avLst>
              <a:gd name="adj" fmla="val 2250"/>
            </a:avLst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955280" y="21031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926" y="224576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41080" y="2121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7955280" y="28346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must research a topic, then write, then fact-check the draft in that exact order, every time.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7955280" y="3977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orchestration pattern fits best — and why?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955280" y="49834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neighbour · 2 min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Foundations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16152"/>
            <a:ext cx="1056132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216152"/>
            <a:ext cx="1200150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5732" y="640080"/>
            <a:ext cx="1248156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29750" y="1936242"/>
            <a:ext cx="1104138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29750" y="1936242"/>
            <a:ext cx="912114" cy="67208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3888" y="1360170"/>
            <a:ext cx="1008126" cy="81610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41864" y="2608326"/>
            <a:ext cx="1200150" cy="-43205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216152"/>
            <a:ext cx="336042" cy="124815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65642" y="2464308"/>
            <a:ext cx="1776222" cy="144018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3588" y="1120140"/>
            <a:ext cx="192024" cy="19202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9213723" y="568071"/>
            <a:ext cx="144018" cy="14401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2940" y="1859432"/>
            <a:ext cx="153619" cy="15361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8275" y="1254557"/>
            <a:ext cx="211226" cy="21122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74656" y="2541118"/>
            <a:ext cx="134417" cy="134417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5603" y="2089861"/>
            <a:ext cx="172822" cy="17282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234" y="2401900"/>
            <a:ext cx="124816" cy="1248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AutoGen Studio,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it, learn the four interfaces, and build your first orchestrated team — no code yet.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114300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35697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TO A RUNNING GUI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launch AutoGen 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2423160"/>
          </a:xfrm>
          <a:prstGeom prst="roundRect">
            <a:avLst>
              <a:gd name="adj" fmla="val 2642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8424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842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01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852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3.10+ in a fresh venv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-U autogenstudio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launch the web UI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autogenstudio ui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--port 8080 --appdir ./my-app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 http://localhost:8080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783080"/>
            <a:ext cx="44622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60920" y="193852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205740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74152" y="1929384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model key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74152" y="2313432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OPENAI_API_KEY=… (or configure Azure OpenAI in the GUI).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2642616"/>
            <a:ext cx="44622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60920" y="27980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91693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74152" y="278892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--appdir persists work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074152" y="3172968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sessions and the gallery are stored in that folder's database.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178040" y="3502152"/>
            <a:ext cx="44622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60920" y="36576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792" y="377647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74152" y="3648456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Docker exec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074152" y="4032504"/>
            <a:ext cx="3401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code-running agent, point it at a Docker executor — not the host.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41248" y="47548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4902281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5262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package, same models you'll use in code. 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is a thin GUI over AgentChat, so anything you build here exports to a Python-loadable config — and vice-versa.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WORKSPACE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interfaces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76200" dist="25400" dir="5400000">
              <a:srgbClr val="1A13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40864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4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920240" y="2148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Builder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assemble agents, tools, models and termination into a team. Drag, connect, configure.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93976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1A13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40864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6307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4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571232" y="2148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Playground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19672" y="292608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team on a task, watch the live message stream, and revisit saved sessions.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7490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" y="4059936"/>
            <a:ext cx="868680" cy="8686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1A133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4306824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4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1920240" y="4114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68680" y="4892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of reusable components — models, agents, tools, terminations, whole teams — to remix.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99632" y="37490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059936"/>
            <a:ext cx="868680" cy="86868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5400000">
              <a:srgbClr val="1A13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306824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63072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4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7571232" y="4114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519672" y="489204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team as JSON, serve it as an API, or load it from Python with one call.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Studio is a component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mirrors AgentChat exactly: a Team contains Agents, which reference a Model and Tools, governed by a Termination condition. Each block is declarative JSON.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7315200" cy="329184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SelectorGroupChat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C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31546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3273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00200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"researcher"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51560" y="388620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950208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72184" y="3849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51560" y="4416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48056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72184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051560" y="4946904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010912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72184" y="4910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160520" y="29718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C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343400" y="31546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327355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920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4892040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"writer"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343400" y="388620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8" y="3950208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64024" y="3849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client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343400" y="441655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4480560"/>
            <a:ext cx="182880" cy="1828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764024" y="4379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4343400" y="4946904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8" y="5010912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764024" y="4910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8028432" y="242316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275320" y="265176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6079" y="2782519"/>
            <a:ext cx="241402" cy="24140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87968" y="26791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8275320" y="32461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 "TERMINATE", a turn cap, a handoff or a timeout — combine with &amp; / |.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8028432" y="416052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8275320" y="4389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6079" y="4519879"/>
            <a:ext cx="241402" cy="24140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8887968" y="44165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</a:t>
            </a:r>
            <a:endParaRPr lang="en-US" sz="1500" dirty="0"/>
          </a:p>
        </p:txBody>
      </p:sp>
      <p:sp>
        <p:nvSpPr>
          <p:cNvPr id="45" name="Text 33"/>
          <p:cNvSpPr/>
          <p:nvPr/>
        </p:nvSpPr>
        <p:spPr>
          <a:xfrm>
            <a:off x="8275320" y="4983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takes a task string and streams messages until a termination condition fires.</a:t>
            </a:r>
            <a:endParaRPr lang="en-US" sz="1150" dirty="0"/>
          </a:p>
        </p:txBody>
      </p:sp>
      <p:sp>
        <p:nvSpPr>
          <p:cNvPr id="46" name="Text 3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WALK-THROUGH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first team in Studio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two-agent writing team with a fixed turn order — the “hello world” of orchestration.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450592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4505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36192" y="241401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model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98094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Gallery, create a model client (gpt-4.1 / Azure). It becomes reusable across agents.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219456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2450592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24505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12664" y="241401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agents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99432" y="298094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"writer" (drafts) and a "critic" (reviews, says APPROVE when satisfied).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219456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450592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4505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89136" y="241401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Round-Robin team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75904" y="298094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both agents into a RoundRobinGroupChat so they alternate turns.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6384" y="4005072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005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36192" y="396849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termination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960" y="453542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 TextMention("APPROVE") OR a max of 8 messages — a safety cap.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74904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62856" y="4005072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4562856" y="4005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12664" y="396849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save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99432" y="453542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team a description; it lands in your Gallery to reuse and export.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374904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9328" y="4005072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40050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089136" y="396849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Playground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75904" y="4535424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task and watch writer ⇄ critic iterate to an approved draft.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delegation happen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385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· session stream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0487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25880" y="2569464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3-line product blurb for a smart water bottle.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3054096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127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325880" y="329184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hydrated, effortlessly. The HydroSync tracks every sip and glows when it's time to drink…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37764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84962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758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325880" y="4014216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hook. Tighten line 3 and add the battery life. Not yet — revise.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2960" y="4498848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57200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325880" y="4736592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…7-day battery, syncs to your phone. Drink smarter, not harder.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22960" y="522122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2943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5202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1325880" y="5458968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benefit-led, on length. APPROVE.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498080" y="1783080"/>
            <a:ext cx="41422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699248" y="20436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162556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412480" y="196596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order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8412480" y="2350008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alternates writer ⇄ critic every message.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7498080" y="2852928"/>
            <a:ext cx="41422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699248" y="31135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3232404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12480" y="303580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in action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8412480" y="3419856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only does its job; the critic never writes copy.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7498080" y="3922776"/>
            <a:ext cx="41422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7699248" y="418338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4302252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412480" y="4105656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8412480" y="4489704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"APPROVE" trips the stop condition — the run ends cleanly.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7498080" y="4992624"/>
            <a:ext cx="414223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7699248" y="525322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5372100"/>
            <a:ext cx="219456" cy="21945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412480" y="517550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350" dirty="0"/>
          </a:p>
        </p:txBody>
      </p:sp>
      <p:sp>
        <p:nvSpPr>
          <p:cNvPr id="45" name="Text 34"/>
          <p:cNvSpPr/>
          <p:nvPr/>
        </p:nvSpPr>
        <p:spPr>
          <a:xfrm>
            <a:off x="8412480" y="5559552"/>
            <a:ext cx="3035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any message for tokens, tool calls and timing.</a:t>
            </a:r>
            <a:endParaRPr lang="en-US" sz="1150" dirty="0"/>
          </a:p>
        </p:txBody>
      </p:sp>
      <p:sp>
        <p:nvSpPr>
          <p:cNvPr id="46" name="Text 3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TO BLOCK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 is just a config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Studio team serialises to a declarative component spec. Export it, version it in git, and load it straight into Python — no rebuild.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035040" cy="3474720"/>
          </a:xfrm>
          <a:prstGeom prst="roundRect">
            <a:avLst>
              <a:gd name="adj" fmla="val 1842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3288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" y="253288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253288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450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team.json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"provider": "...RoundRobinGroupChat",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"config":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"participants": [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"provider": "...AssistantAgent",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"config": { "name": "writer" }},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"provider": "...AssistantAgent",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"config": { "name": "critic" }}],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"termination_condition":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"provider": "...TextMention" } }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12280" y="2331720"/>
            <a:ext cx="4828032" cy="3474720"/>
          </a:xfrm>
          <a:prstGeom prst="roundRect">
            <a:avLst>
              <a:gd name="adj" fmla="val 1842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040880" y="253288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7278624" y="253288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7516368" y="253288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245059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load_team.py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86600" y="2880360"/>
            <a:ext cx="42793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asyncio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autogen_agentchat.teams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RoundRobinGroupChat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 = json.load(open(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"team.json"))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RoundRobinGroupChat\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.load_component(cfg)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team.run(task=...)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515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127741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COLAB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828800" y="144475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orchestrated team, in code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2514600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642616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82" y="2751978"/>
            <a:ext cx="201900" cy="2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2514600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AgentChat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autogen-agentchat + the OpenAI extension; wire a model client.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7240" y="3264408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60120" y="3392424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82" y="3501786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6192" y="3264408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specialists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writer &amp; critic AssistantAgents with crisp instructions.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4014216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60120" y="414223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82" y="4251594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6192" y="4014216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Round-Robin team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the conversation with Console; watch turn-based delegation.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77240" y="4764024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60120" y="489204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482" y="5001402"/>
            <a:ext cx="201900" cy="201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36192" y="4764024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termination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TextMention + MaxMessage to stop safely.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77240" y="5513832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60120" y="5641848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482" y="5751210"/>
            <a:ext cx="201900" cy="201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36192" y="5513832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Studio (optional)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same team to JSON and open it in the GUI.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8732520" y="2514600"/>
            <a:ext cx="2907792" cy="3703320"/>
          </a:xfrm>
          <a:prstGeom prst="roundRect">
            <a:avLst>
              <a:gd name="adj" fmla="val 3145"/>
            </a:avLst>
          </a:prstGeom>
          <a:solidFill>
            <a:srgbClr val="D97706"/>
          </a:solidFill>
          <a:ln/>
        </p:spPr>
      </p:sp>
      <p:sp>
        <p:nvSpPr>
          <p:cNvPr id="27" name="Shape 19"/>
          <p:cNvSpPr/>
          <p:nvPr/>
        </p:nvSpPr>
        <p:spPr>
          <a:xfrm>
            <a:off x="9006840" y="278892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9486" y="2931566"/>
            <a:ext cx="263347" cy="26334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00684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tasks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9006840" y="393192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'editor' agent.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one agent to a cheaper model.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writer a word-count tool.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45 min  ·  notebook provided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build &amp; run a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222272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launch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7004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autogenstudio · autogenstudio ui.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084832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36" y="222272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interfaces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67004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Builder, Playground, Gallery, Deploy.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084832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508" y="222272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5904" y="2670048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⊃ Agents ⊃ Model + Tools, plus Termination.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47288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703320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4" y="3841212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7216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4288536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Fixed-order delegation with a safe stop condition.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47288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703320"/>
            <a:ext cx="530352" cy="53035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036" y="3841212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37216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= code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4288536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export to JSON and load straight into Python.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47288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370332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508" y="3841212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37216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patterns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75904" y="4288536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is one of five. Block 3 unlocks the rest — in code.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AutoGen Studio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16152"/>
            <a:ext cx="1056132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216152"/>
            <a:ext cx="1200150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5732" y="640080"/>
            <a:ext cx="1248156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29750" y="1936242"/>
            <a:ext cx="1104138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29750" y="1936242"/>
            <a:ext cx="912114" cy="67208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3888" y="1360170"/>
            <a:ext cx="1008126" cy="81610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41864" y="2608326"/>
            <a:ext cx="1200150" cy="-43205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216152"/>
            <a:ext cx="336042" cy="124815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65642" y="2464308"/>
            <a:ext cx="1776222" cy="144018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3588" y="1120140"/>
            <a:ext cx="192024" cy="19202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9213723" y="568071"/>
            <a:ext cx="144018" cy="14401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2940" y="1859432"/>
            <a:ext cx="153619" cy="15361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8275" y="1254557"/>
            <a:ext cx="211226" cy="21122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74656" y="2541118"/>
            <a:ext cx="134417" cy="134417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5603" y="2089861"/>
            <a:ext cx="172822" cy="17282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234" y="2401900"/>
            <a:ext cx="124816" cy="1248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in depth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decide who acts next — with the AgentChat code for each and a rule for choosing.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114300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35697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GUI TO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AgentChat in five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766560" cy="4160520"/>
          </a:xfrm>
          <a:prstGeom prst="roundRect">
            <a:avLst>
              <a:gd name="adj" fmla="val 1538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8424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842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019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essentials.py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autogen_agentchat.agents import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AssistantAgent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autogen_agentchat.teams import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RoundRobinGroupChat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autogen_ext.models.openai import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OpenAIChatCompletionClient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OpenAIChatCompletionClient(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model="gpt-4.1")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AssistantAgent("assistant",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model_client=model)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agent.run(task="Summarise X")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43800" y="1783080"/>
            <a:ext cx="40965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44968" y="20436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62556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58200" y="196596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AssistantAgent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458200" y="2350008"/>
            <a:ext cx="2990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agent with a name, a system_message and optional tools.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543800" y="2852928"/>
            <a:ext cx="40965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44968" y="31135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232404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58200" y="3035808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wraps agents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458200" y="3419856"/>
            <a:ext cx="2990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RoundRobin / Selector / Swarm / GraphFlow add the orchestration.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543800" y="3922776"/>
            <a:ext cx="40965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44968" y="41833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0225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4105656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vs run_stream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458200" y="4489704"/>
            <a:ext cx="2990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returns a TaskResult; run_stream() yields messages live.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543800" y="4992624"/>
            <a:ext cx="40965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44968" y="525322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372100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458200" y="517550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Console(...)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8458200" y="5559552"/>
            <a:ext cx="2990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that pretty-prints a stream — what Studio shows visually.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RoundRobinGroupChat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126480" cy="4160520"/>
          </a:xfrm>
          <a:prstGeom prst="roundRect">
            <a:avLst>
              <a:gd name="adj" fmla="val 1538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8424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842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019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round_robin.py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RoundRobinGroupChat(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[writer, critic],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termination_condition=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TextMentionTermination(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"APPROVE"),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Console(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team.run_stream(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task="Write a blurb…"))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78308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2093976"/>
            <a:ext cx="603504" cy="60350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231" y="2250887"/>
            <a:ext cx="289682" cy="2896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take turns in the order listed, all sharing one conversation. Simplest, most predictable orchestration.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320040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0" y="351129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66" y="3653942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6384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863840" y="37124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pipelines and review loops where the sequence is known up front.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903720" y="461772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0" y="4928616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966" y="5071262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63840" y="4782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863840" y="5129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routing intelligence — every agent speaks every round, even when it has nothing to add.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SelectorGroupChat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126480" cy="4160520"/>
          </a:xfrm>
          <a:prstGeom prst="roundRect">
            <a:avLst>
              <a:gd name="adj" fmla="val 1538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8424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842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019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SelectorGroupChat(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[planner, researcher, coder],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model_client=model,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allow_repeated_speaker=False,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termination_condition=term,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 LLM reads each agent's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description, then picks who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E6A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speaks next every turn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78308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2093976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231" y="2250887"/>
            <a:ext cx="289682" cy="2896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(or your own function) chooses the next speaker each turn from the agents' descriptions.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320040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0" y="351129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66" y="3653942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6384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863840" y="37124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collaboration where the next best contributor depends on the state.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903720" y="461772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0" y="4928616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966" y="5071262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63840" y="4782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863840" y="5129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sharp agent descriptions — the selector routes on them. Costs an extra LLM call per turn.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Swarm — handoff delegation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126480" cy="4160520"/>
          </a:xfrm>
          <a:prstGeom prst="roundRect">
            <a:avLst>
              <a:gd name="adj" fmla="val 1538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8424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842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019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= AssistantAgent("triage",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model_client=model,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handoffs=["refunds",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"support"])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Swarm(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[triage, refunds, support],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termination_condition=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HandoffTermination(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target="user"))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78308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1EAFB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2093976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231" y="2250887"/>
            <a:ext cx="289682" cy="2896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can hand off to named peers via a HandoffMessage. Control passes directly — no central manager.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320040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0" y="351129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66" y="3653942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6384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863840" y="37124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delegation: triage / dispatch flows where agents know who to call next.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903720" y="461772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0" y="4928616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966" y="5071262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63840" y="4782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863840" y="5129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paths can loop. Always pair with a handoff or message-count termination.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GraphFlow — explicit workflows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126480" cy="4160520"/>
          </a:xfrm>
          <a:prstGeom prst="roundRect">
            <a:avLst>
              <a:gd name="adj" fmla="val 1538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8424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842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019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graph_flow.py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DiGraphBuilder()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b.add_node(researcher)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.add_node(writer)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.add_node(reviewer)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b.add_edge(researcher, writer)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b.add_edge(writer, reviewer)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GraphFlow(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participants=b.get_participants(),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graph=b.build())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78308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0" y="2093976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9231" y="2250887"/>
            <a:ext cx="289682" cy="2896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graph fixes the execution path. Edges can be conditional, parallel (fan-out) or joined (fan-in).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320040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0" y="351129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66" y="3653942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63840" y="3364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863840" y="371246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business workflows that must run the same way every time.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903720" y="4617720"/>
            <a:ext cx="473659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0" y="4928616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966" y="5071262"/>
            <a:ext cx="263347" cy="26334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63840" y="4782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863840" y="51297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scaffolding to author. You trade flexibility for repeatability and control.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MagenticOne — the generalist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0" cy="3017520"/>
          </a:xfrm>
          <a:prstGeom prst="roundRect">
            <a:avLst>
              <a:gd name="adj" fmla="val 2121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8424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Shape 5"/>
          <p:cNvSpPr/>
          <p:nvPr/>
        </p:nvSpPr>
        <p:spPr>
          <a:xfrm>
            <a:off x="1252728" y="198424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9019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magentic.py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autogen_agentchat.teams \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MagenticOneGroupChat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MagenticOneGroupChat(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[web_surfer, coder, file_agent],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model_client=model)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Console(team.run_stream(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task="Research X and chart it"))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783080"/>
            <a:ext cx="4919472" cy="3017520"/>
          </a:xfrm>
          <a:prstGeom prst="roundRect">
            <a:avLst>
              <a:gd name="adj" fmla="val 2727"/>
            </a:avLst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orchestrator that plans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2377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agent maintains a task ledger, assigns sub-tasks to specialist agents (web, code, files), tracks progress and re-plans on failure.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40880" y="346557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33741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delegate → verify → re-plan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387705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3785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open web/file tasks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428853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4197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autonomous preset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521208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5354726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5074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power, most caution.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 agents browse and execute code — run them sandboxed (Docker), with strict tool scopes and a turn cap. Greatest cost and least predictability of the five.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STOP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Termination conditions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runs until a termination condition fires. Combine them with &amp; (all) and | (any) — every team needs at least one safety cap.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8444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78608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271174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505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TextMention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17320" y="281635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appears, e.g. "TERMINATE".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2286000"/>
            <a:ext cx="358444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578608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849" y="271174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24505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MaxMessage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193792" y="281635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cap on total messages.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01584" y="2286000"/>
            <a:ext cx="358444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0184" y="2578608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321" y="2711745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0264" y="245059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970264" y="281635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is handed to a named target.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566160"/>
            <a:ext cx="358444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858768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77" y="3991905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37307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417320" y="409651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seconds elapse.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25112" y="3566160"/>
            <a:ext cx="358444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53712" y="3858768"/>
            <a:ext cx="512064" cy="512064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849" y="3991905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93792" y="37307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TokenUsage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193792" y="409651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budget is exhausted.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01584" y="3566160"/>
            <a:ext cx="358444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0184" y="3858768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321" y="3991905"/>
            <a:ext cx="245791" cy="24579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70264" y="37307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970264" y="4096512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stops the run on demand.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48640" y="5074920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6" name="Text 28"/>
          <p:cNvSpPr/>
          <p:nvPr/>
        </p:nvSpPr>
        <p:spPr>
          <a:xfrm>
            <a:off x="868680" y="5074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 = TextMentionTermination("DONE") | MaxMessageTermination(15)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8503920" y="5074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keyword OR after 15 turns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SLIDE TO SCREENSHOT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13232"/>
          </a:xfrm>
          <a:prstGeom prst="rect">
            <a:avLst/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need is…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for…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91672" cy="713232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9631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known sequence of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69748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24963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RoundRobinGroupChat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0" y="2496312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predictable — no routing brain needed.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11091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954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“Whoever is best, next” at each turn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410712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320954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SelectorGroupChat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63840" y="3209544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routes on agent descriptions dynamically.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48640" y="3922776"/>
            <a:ext cx="11091672" cy="713232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2277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delegate to each other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4123944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3922776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Swarm (handoffs)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63840" y="3922776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control via HandoffMessage.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548640" y="4636008"/>
            <a:ext cx="110916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360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workflow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4837176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46360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GraphFlow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63840" y="4636008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graph guarantees the same path.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1091672" cy="713232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3492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task: browse, code, files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5550408"/>
            <a:ext cx="310896" cy="31089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53492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MagenticOneGroupChat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863840" y="5349240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orchestrates generalist specialists.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NOT LUCK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Delegation that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84832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2322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14400" y="276148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07208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6883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per agent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keeps each prompt focused and cheap.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4400" y="338328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2900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3310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real descriptions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and swarms route on them — be specific.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14400" y="400507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50792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98448" y="39319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model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for grunt agents, strong model for the hard one.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914400" y="462686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72584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98448" y="455371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cap the run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 word plus a max-turn / token limit, every time.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914400" y="524865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294376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98448" y="517550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shared context lean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only what the next agent needs.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199632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DECE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519672" y="2084832"/>
            <a:ext cx="566928" cy="56692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073" y="2232233"/>
            <a:ext cx="272125" cy="27212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51192" y="21031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900" dirty="0"/>
          </a:p>
        </p:txBody>
      </p:sp>
      <p:sp>
        <p:nvSpPr>
          <p:cNvPr id="27" name="Shape 18"/>
          <p:cNvSpPr/>
          <p:nvPr/>
        </p:nvSpPr>
        <p:spPr>
          <a:xfrm>
            <a:off x="6565392" y="2761488"/>
            <a:ext cx="256032" cy="25603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2807208"/>
            <a:ext cx="164592" cy="16459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49440" y="26883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“do-everything” agent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Re-creates the single-agent problem inside a team.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6565392" y="3383280"/>
            <a:ext cx="256032" cy="25603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3429000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49440" y="3310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names like agent1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can't tell who should act.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6565392" y="4005072"/>
            <a:ext cx="256032" cy="25603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4050792"/>
            <a:ext cx="164592" cy="16459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49440" y="39319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termination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loops and runaway token bills.</a:t>
            </a:r>
            <a:endParaRPr lang="en-US" sz="1250" dirty="0"/>
          </a:p>
        </p:txBody>
      </p:sp>
      <p:sp>
        <p:nvSpPr>
          <p:cNvPr id="36" name="Shape 24"/>
          <p:cNvSpPr/>
          <p:nvPr/>
        </p:nvSpPr>
        <p:spPr>
          <a:xfrm>
            <a:off x="6565392" y="4626864"/>
            <a:ext cx="256032" cy="25603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4672584"/>
            <a:ext cx="164592" cy="16459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949440" y="455371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Dumping full history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 slows agents and degrades answers.</a:t>
            </a:r>
            <a:endParaRPr lang="en-US" sz="1250" dirty="0"/>
          </a:p>
        </p:txBody>
      </p:sp>
      <p:sp>
        <p:nvSpPr>
          <p:cNvPr id="39" name="Shape 26"/>
          <p:cNvSpPr/>
          <p:nvPr/>
        </p:nvSpPr>
        <p:spPr>
          <a:xfrm>
            <a:off x="6565392" y="5248656"/>
            <a:ext cx="256032" cy="25603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1112" y="5294376"/>
            <a:ext cx="164592" cy="16459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49440" y="517550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 broad scope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limits blast radius if an agent misfires.</a:t>
            </a:r>
            <a:endParaRPr lang="en-US" sz="1250" dirty="0"/>
          </a:p>
        </p:txBody>
      </p:sp>
      <p:sp>
        <p:nvSpPr>
          <p:cNvPr id="42" name="Text 2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5156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097" y="127741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COLAB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828800" y="1444752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patterns, one research team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77240" y="2514600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64261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482" y="2751978"/>
            <a:ext cx="201900" cy="2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2514600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team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researcher + writer; let an LLM route each turn.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77240" y="3264408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60120" y="3392424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82" y="3501786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6192" y="3264408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with handoffs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 agent delegates to specialists and back to the user.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4014216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60120" y="4142232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82" y="4251594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6192" y="4014216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GraphFlow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deterministic researcher → writer → reviewer graph.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77240" y="4764024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60120" y="4892040"/>
            <a:ext cx="420624" cy="42062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482" y="5001402"/>
            <a:ext cx="201900" cy="201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36192" y="4764024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tool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researcher a function tool and watch delegated calls.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777240" y="5513832"/>
            <a:ext cx="7680960" cy="676656"/>
          </a:xfrm>
          <a:prstGeom prst="roundRect">
            <a:avLst>
              <a:gd name="adj" fmla="val 10811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60120" y="5641848"/>
            <a:ext cx="420624" cy="420624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482" y="5751210"/>
            <a:ext cx="201900" cy="2019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36192" y="5513832"/>
            <a:ext cx="6812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at Semantic Kernel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idea with SK's sequential orchestration.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8732520" y="2514600"/>
            <a:ext cx="2907792" cy="3703320"/>
          </a:xfrm>
          <a:prstGeom prst="roundRect">
            <a:avLst>
              <a:gd name="adj" fmla="val 3145"/>
            </a:avLst>
          </a:prstGeom>
          <a:solidFill>
            <a:srgbClr val="7C3AED"/>
          </a:solidFill>
          <a:ln/>
        </p:spPr>
      </p:sp>
      <p:sp>
        <p:nvSpPr>
          <p:cNvPr id="27" name="Shape 19"/>
          <p:cNvSpPr/>
          <p:nvPr/>
        </p:nvSpPr>
        <p:spPr>
          <a:xfrm>
            <a:off x="9006840" y="2788920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9486" y="2931566"/>
            <a:ext cx="263347" cy="263347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00684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tasks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9006840" y="393192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custom selector function.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conditional GraphFlow edge.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a team inside a graph node.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60 min  ·  notebook provided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route work five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222272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700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order, shared context, zero routing logic.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084832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36" y="222272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6700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picks the next speaker from descriptions.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084832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508" y="222272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5904" y="26700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handoffs between named peers.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01568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657600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4" y="3795492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675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GraphFlow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42428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graph for deterministic workflows.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01568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657600"/>
            <a:ext cx="530352" cy="53035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036" y="3795492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3675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42428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Planner-driven generalist team for open tasks.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01568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3657600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508" y="3795492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3675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75904" y="42428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combine a stop word with a hard cap.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Orchestration patterns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16152"/>
            <a:ext cx="1056132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216152"/>
            <a:ext cx="1200150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5732" y="640080"/>
            <a:ext cx="1248156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29750" y="1936242"/>
            <a:ext cx="1104138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29750" y="1936242"/>
            <a:ext cx="912114" cy="67208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3888" y="1360170"/>
            <a:ext cx="1008126" cy="81610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41864" y="2608326"/>
            <a:ext cx="1200150" cy="-43205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216152"/>
            <a:ext cx="336042" cy="124815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65642" y="2464308"/>
            <a:ext cx="1776222" cy="144018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3588" y="1120140"/>
            <a:ext cx="192024" cy="19202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9213723" y="568071"/>
            <a:ext cx="144018" cy="14401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2940" y="1859432"/>
            <a:ext cx="153619" cy="15361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8275" y="1254557"/>
            <a:ext cx="211226" cy="21122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74656" y="2541118"/>
            <a:ext cx="134417" cy="134417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5603" y="2089861"/>
            <a:ext cx="172822" cy="17282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234" y="2401900"/>
            <a:ext cx="124816" cy="1248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Kernel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going to production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view, the convergence into the Agent Framework, and what shipping safely requires.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114300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35697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SDK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Semantic Kernel brings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22742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969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Production-first by design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is Microsoft's enterprise agent SDK: a thin, model-agnostic orchestration layer you embed in real applications. Where Studio optimises for fast prototyping, SK optimises for the things shipping teams worry about.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0965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9410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languages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C#, Python and Java from one mental model.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45994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71830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56285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OpenAI, Azure, local — same kernel.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522122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34009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1846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 —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filters, auth and governance hooks.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263640" y="1783080"/>
            <a:ext cx="5376672" cy="4160520"/>
          </a:xfrm>
          <a:prstGeom prst="roundRect">
            <a:avLst>
              <a:gd name="adj" fmla="val 1978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583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team reaches for SK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583680" y="2734056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2775204"/>
            <a:ext cx="155448" cy="1554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0" y="26517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must live inside an existing C# or Java service.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583680" y="3392424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3433572"/>
            <a:ext cx="155448" cy="1554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49440" y="3310128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needs audit trails, content filters and identity.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583680" y="4050792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828" y="4091940"/>
            <a:ext cx="155448" cy="15544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9440" y="3968496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fine-grained control over prompts, memory and plugins.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583680" y="4709160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4828" y="4750308"/>
            <a:ext cx="155448" cy="15544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49440" y="462686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must run identically across model providers.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6583680" y="5440680"/>
            <a:ext cx="4736592" cy="384048"/>
          </a:xfrm>
          <a:prstGeom prst="roundRect">
            <a:avLst>
              <a:gd name="adj" fmla="val 50000"/>
            </a:avLst>
          </a:prstGeom>
          <a:solidFill>
            <a:srgbClr val="FBE7C6"/>
          </a:solidFill>
          <a:ln/>
        </p:spPr>
      </p:sp>
      <p:sp>
        <p:nvSpPr>
          <p:cNvPr id="33" name="Text 23"/>
          <p:cNvSpPr/>
          <p:nvPr/>
        </p:nvSpPr>
        <p:spPr>
          <a:xfrm>
            <a:off x="6720840" y="5440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AutoGen, SK is now in maintenance mode — see the next slides.</a:t>
            </a:r>
            <a:endParaRPr lang="en-US" sz="1100" dirty="0"/>
          </a:p>
        </p:txBody>
      </p:sp>
      <p:sp>
        <p:nvSpPr>
          <p:cNvPr id="34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Agents, plugins &amp; the kernel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2265152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536" y="2880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dependency-injection container. It holds your model connectors, plugins and services, and every agent is created from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783080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93976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416" y="2265152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13055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ChatCompletionAgent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510528" y="28803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backed by a chat model and a set of instructions. The SK analogue of an AutoGen AssistantAgent.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04488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215384"/>
            <a:ext cx="658368" cy="65836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4386560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519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(functions)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9536" y="50017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C#/Python functions or prompt functions the agent can call. The kernel auto-advertises them as tools.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9632" y="3904488"/>
            <a:ext cx="5440680" cy="193852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15384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16" y="4386560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2519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AgentGroupChat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510528" y="50017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conversing under a selection + termination strategy — SK's multi-agent container.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IDEAS, SK NAMES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SK orchestration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2996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17261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391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69464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each agent feeds the next, in a fixed pipeline.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261104" y="1783080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20299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782" y="21726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75504" y="20391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35424" y="2569464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the same task to many agents in parallel, then gather.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7973568" y="1783080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02996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246" y="217261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87968" y="2039112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47888" y="2569464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transfer control to a better-suited peer at runtime.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2404872" y="3282696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660904" y="3529584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550" y="36722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19272" y="35387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679192" y="4069080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strategy picks who speaks until a stop condition.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6117336" y="3282696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73368" y="3529584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014" y="367223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31736" y="353872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391656" y="4069080"/>
            <a:ext cx="3026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decomposes an open goal and drives specialists.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F1EAFB"/>
          </a:solidFill>
          <a:ln/>
        </p:spPr>
      </p:sp>
      <p:sp>
        <p:nvSpPr>
          <p:cNvPr id="30" name="Shape 23"/>
          <p:cNvSpPr/>
          <p:nvPr/>
        </p:nvSpPr>
        <p:spPr>
          <a:xfrm>
            <a:off x="713232" y="5522976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5627583"/>
            <a:ext cx="193121" cy="1931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80160" y="54406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overlap.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≈ RoundRobin, Group chat ≈ Selector, Handoff ≈ Swarm, Magentic ≈ MagenticOne. Learn the idea once; the SDK is a detail.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ONE FAMILY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AutoGen vs Semantic Kernel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676656"/>
          </a:xfrm>
          <a:prstGeom prst="rect">
            <a:avLst/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3736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950208" y="1737360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(+ Studio)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8019288" y="1737360"/>
            <a:ext cx="3502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11091672" cy="676656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4140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50208" y="2414016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prototyping &amp; research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8019288" y="2414016"/>
            <a:ext cx="3502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agents in production apps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9067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50208" y="3090672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no-code Studio GUI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8019288" y="3090672"/>
            <a:ext cx="3502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Python / Java SDK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11091672" cy="676656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6732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50208" y="3767328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agent behaviour quickly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8019288" y="3767328"/>
            <a:ext cx="3502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telemetry, polyglot teams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44398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50208" y="4443984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Teams: RoundRobin … Magentic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8019288" y="4443984"/>
            <a:ext cx="3502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AgentGroupChat + orchestrations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91672" cy="676656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1206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 2026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50208" y="5120640"/>
            <a:ext cx="3794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8019288" y="5120640"/>
            <a:ext cx="3502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mode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548640" y="5943600"/>
            <a:ext cx="11091672" cy="457200"/>
          </a:xfrm>
          <a:prstGeom prst="roundRect">
            <a:avLst>
              <a:gd name="adj" fmla="val 20000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teams sit at Microsoft and are merging their best ideas into one successor → </a:t>
            </a:r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Microsoft Agent Framework.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50976"/>
            <a:ext cx="905256" cy="-49377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950976"/>
            <a:ext cx="1028700" cy="61722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83496" y="457200"/>
            <a:ext cx="1069848" cy="61722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940" y="1568196"/>
            <a:ext cx="946404" cy="-49377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06940" y="1568196"/>
            <a:ext cx="781812" cy="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53344" y="1074420"/>
            <a:ext cx="864108" cy="69951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88752" y="2144268"/>
            <a:ext cx="1028700" cy="-37033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950976"/>
            <a:ext cx="288036" cy="1069848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66276" y="2020824"/>
            <a:ext cx="1522476" cy="12344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95944" y="868680"/>
            <a:ext cx="164592" cy="164592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9621774" y="395478"/>
            <a:ext cx="123444" cy="1234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741103" y="1502359"/>
            <a:ext cx="131674" cy="13167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2818" y="983894"/>
            <a:ext cx="181051" cy="181051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31145" y="2086661"/>
            <a:ext cx="115214" cy="11521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543386" y="1699870"/>
            <a:ext cx="148133" cy="148133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2784" y="1967332"/>
            <a:ext cx="106985" cy="106985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CONVERGENCE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10241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roads merge: the Microsoft Agent Framework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777240" y="2286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542032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977" y="2675169"/>
            <a:ext cx="245791" cy="24579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4592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AutoGen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005840" y="30723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multi-agent runtime &amp; patterns.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77240" y="38862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211948"/>
          </a:solidFill>
          <a:ln w="12700">
            <a:solidFill>
              <a:srgbClr val="352B6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05840" y="4142232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977" y="4275369"/>
            <a:ext cx="245791" cy="24579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645920" y="4142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Kernel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05840" y="46725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SDK: governance, telemetry, connectors.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4160520" y="2971800"/>
            <a:ext cx="1280160" cy="914400"/>
          </a:xfrm>
          <a:prstGeom prst="line">
            <a:avLst/>
          </a:prstGeom>
          <a:noFill/>
          <a:ln w="317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4160520" y="4572000"/>
            <a:ext cx="1280160" cy="-914400"/>
          </a:xfrm>
          <a:prstGeom prst="line">
            <a:avLst/>
          </a:prstGeom>
          <a:noFill/>
          <a:ln w="317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5577840" y="2423160"/>
            <a:ext cx="5760720" cy="2697480"/>
          </a:xfrm>
          <a:prstGeom prst="roundRect">
            <a:avLst>
              <a:gd name="adj" fmla="val 406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52400" dist="50800" dir="5400000">
              <a:srgbClr val="1A1330">
                <a:alpha val="3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897880" y="2743200"/>
            <a:ext cx="713232" cy="713232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20" y="2928640"/>
            <a:ext cx="342351" cy="342351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812280" y="276148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Agent Framework</a:t>
            </a:r>
            <a:endParaRPr lang="en-US" sz="1900" dirty="0"/>
          </a:p>
        </p:txBody>
      </p:sp>
      <p:sp>
        <p:nvSpPr>
          <p:cNvPr id="36" name="Text 31"/>
          <p:cNvSpPr/>
          <p:nvPr/>
        </p:nvSpPr>
        <p:spPr>
          <a:xfrm>
            <a:off x="681228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1.0 · GA in 2026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5943600" y="37947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AutoGen's orchestration + AgentChat ergonomics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SK's enterprise hardening &amp; connectors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graph-based Workflows for durable, typed pipelines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teams, same concepts — one supported path forward. We teach the ideas on AutoGen today because they map directly onto MAF tomorrow.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WHERE SHOULD YOU START?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convergence means for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93976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67" y="226990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Prototyping today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77824" y="382219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5876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739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using AutoGen Studio + AgentChat to explore.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77824" y="446227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98848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43799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from idea to a running team.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77824" y="5102352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38928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07008" y="50200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learn transfers directly.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306824" y="178308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617720" y="2093976"/>
            <a:ext cx="676656" cy="67665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651" y="2269907"/>
            <a:ext cx="324795" cy="3247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1772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production project</a:t>
            </a:r>
            <a:endParaRPr lang="en-US" sz="1650" dirty="0"/>
          </a:p>
        </p:txBody>
      </p:sp>
      <p:sp>
        <p:nvSpPr>
          <p:cNvPr id="21" name="Shape 14"/>
          <p:cNvSpPr/>
          <p:nvPr/>
        </p:nvSpPr>
        <p:spPr>
          <a:xfrm>
            <a:off x="4636008" y="3822192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3858768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65192" y="3739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the Microsoft Agent Framework (MAF 1.0).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636008" y="4462272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498848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965192" y="43799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agent-framework — one supported SDK.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636008" y="5102352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2584" y="5138928"/>
            <a:ext cx="146304" cy="1463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965192" y="50200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Workflows for durable, typed orchestration.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8065008" y="178308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8375904" y="2093976"/>
            <a:ext cx="676656" cy="67665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1835" y="2269907"/>
            <a:ext cx="324795" cy="32479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375904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AutoGen / SK code</a:t>
            </a:r>
            <a:endParaRPr lang="en-US" sz="1650" dirty="0"/>
          </a:p>
        </p:txBody>
      </p:sp>
      <p:sp>
        <p:nvSpPr>
          <p:cNvPr id="34" name="Shape 23"/>
          <p:cNvSpPr/>
          <p:nvPr/>
        </p:nvSpPr>
        <p:spPr>
          <a:xfrm>
            <a:off x="8394192" y="3822192"/>
            <a:ext cx="219456" cy="21945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0768" y="3858768"/>
            <a:ext cx="146304" cy="14630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8723376" y="3739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fire drill — maintenance mode still gets fixes.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8394192" y="4462272"/>
            <a:ext cx="219456" cy="21945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0768" y="4498848"/>
            <a:ext cx="146304" cy="14630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723376" y="437997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incrementally; concepts map 1:1.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8394192" y="5102352"/>
            <a:ext cx="219456" cy="21945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0768" y="5138928"/>
            <a:ext cx="146304" cy="146304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723376" y="50200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move, don't panic-rewrite.</a:t>
            </a:r>
            <a:endParaRPr lang="en-US" sz="1200" dirty="0"/>
          </a:p>
        </p:txBody>
      </p:sp>
      <p:sp>
        <p:nvSpPr>
          <p:cNvPr id="43" name="Text 2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NOBODY DEMOS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working demo to production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runs once in a notebook is not a system you can operate. Four pillars turn a prototype into something you can ship, watch and pay for.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04288"/>
            <a:ext cx="676656" cy="67665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179" y="2480219"/>
            <a:ext cx="324795" cy="324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34086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9536" y="30358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turn, tool call and token. If you can't see it, you can't debug or improve it.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9632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04288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171" y="2480219"/>
            <a:ext cx="324795" cy="3247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51776" y="234086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10528" y="30358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approval gates on risky actions. Agents propose; a person disposes.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DECE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270248"/>
            <a:ext cx="676656" cy="676656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79" y="4446179"/>
            <a:ext cx="324795" cy="3247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00784" y="430682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sandboxing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9536" y="50017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generated code in containers, scope tools to least privilege, never trust raw input.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99632" y="397764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70248"/>
            <a:ext cx="676656" cy="67665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171" y="4446179"/>
            <a:ext cx="324795" cy="32479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51776" y="430682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tokens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510528" y="50017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turns, right-size models and cache. Multi-agent chatter multiplies the bill fast.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THE AGENTS DID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tracing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761" y="197620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whole run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1762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message, who spoke, each tool call and its result — not just the final answer.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852928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61" y="300032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numbers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25880" y="32004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tokens, latency and cost per agent so you can spot the expensive or chatty one.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387705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1" y="402445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OpenTelemetry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25880" y="42245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and SK emit standard traces — view them in any OTel backend or AgentOps.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4360" y="4901184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61" y="504858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882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shows it live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25880" y="524865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Playground renders the full message flow; export the session for later inspection.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355080" y="1828800"/>
            <a:ext cx="5285232" cy="4114800"/>
          </a:xfrm>
          <a:prstGeom prst="roundRect">
            <a:avLst>
              <a:gd name="adj" fmla="val 1556"/>
            </a:avLst>
          </a:prstGeom>
          <a:solidFill>
            <a:srgbClr val="12102B"/>
          </a:solidFill>
          <a:ln w="12700">
            <a:solidFill>
              <a:srgbClr val="2A2350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83680" y="2029968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2" name="Shape 16"/>
          <p:cNvSpPr/>
          <p:nvPr/>
        </p:nvSpPr>
        <p:spPr>
          <a:xfrm>
            <a:off x="6821424" y="2029968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Shape 17"/>
          <p:cNvSpPr/>
          <p:nvPr/>
        </p:nvSpPr>
        <p:spPr>
          <a:xfrm>
            <a:off x="7059168" y="2029968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19476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8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agent_run.trace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629400" y="2377440"/>
            <a:ext cx="4736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[team] task started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planner      → 412 tok  1.2s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tool: web_search("…")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researcher   → 980 tok  3.4s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tool: fetch_url("…")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writer       → 1.5k tok 4.1s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9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critic       → 220 tok  0.9s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  ✓  turns=4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3,112 tok  ·  $0.018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AGENT OUTPUT AS UNTRUSTED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sandboxing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ECEF"/>
          </a:solidFill>
          <a:ln w="12700">
            <a:solidFill>
              <a:srgbClr val="F6CA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2356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Studio is a prototyping tool, not a hardened product.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built-in auth or jailbreak defences — never expose it raw to untrusted users or the open internet.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3081528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73" y="3228929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90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code execution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08760" y="34107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agent-generated code in a Docker container, never on the host.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99632" y="27889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55664" y="3081528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065" y="3228929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9752" y="29900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159752" y="34107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agent only the tools and scopes it truly needs.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3891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681728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829129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5902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 &amp; outputs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508760" y="50109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against prompt injection; filter tool arguments before they run.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199632" y="43891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55664" y="468172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65" y="4829129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9752" y="45902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identity &amp; limits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7159752" y="501091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auth, rate limits and content filters in front of any deployment.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AFFORDABLE &amp; ACCOUNTABLE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control &amp; human-in-the-loop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84832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91" y="224174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Tame the token bill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852928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2894076"/>
            <a:ext cx="155448" cy="155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77063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every run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Max-message and token-usage terminations are your budget guardrails.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4400" y="3602736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3643884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52044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models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model for routine agents; the strong one only where it earns its keep.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14400" y="4352544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4393692"/>
            <a:ext cx="155448" cy="1554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27024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shared context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per turn across many agents compounds into real savings.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914400" y="5102352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5143500"/>
            <a:ext cx="155448" cy="1554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5020056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reuse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tool results and stable prompts to avoid paying twice.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199632" y="178308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519672" y="2084832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6583" y="2241743"/>
            <a:ext cx="289682" cy="28968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96912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human in the loop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6565392" y="285292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2894076"/>
            <a:ext cx="155448" cy="1554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31152" y="277063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irreversible actions — payments, emails, deletes.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565392" y="3602736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6540" y="3643884"/>
            <a:ext cx="155448" cy="15544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931152" y="352044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UserProxyAgent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can route a turn back to a person for input or sign-off.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6565392" y="4352544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6540" y="4393692"/>
            <a:ext cx="155448" cy="15544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931152" y="427024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Playground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 mid-conversation while prototyping to steer the team.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6565392" y="5102352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6540" y="5143500"/>
            <a:ext cx="155448" cy="15544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31152" y="5020056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 low confidence  —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disagree or stall, hand the decision to a person.</a:t>
            </a:r>
            <a:endParaRPr lang="en-US" sz="1250" dirty="0"/>
          </a:p>
        </p:txBody>
      </p:sp>
      <p:sp>
        <p:nvSpPr>
          <p:cNvPr id="36" name="Text 2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&amp; production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530352" cy="53035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222272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700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SDK; same orchestration ideas, governed wrapper.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084832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36" y="222272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patterns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6700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Concurrent, Handoff, Group chat, Magentic.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084832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508" y="222272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15984" y="210312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5904" y="2670048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+ SK converge into MAF 1.0 — start new prod here.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01568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657600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4" y="3795492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675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42428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turn, tool and token via OpenTelemetry.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01568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657600"/>
            <a:ext cx="530352" cy="530352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036" y="3795492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3675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42428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code, least-privilege tools, never expose Studio raw.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01568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3657600"/>
            <a:ext cx="530352" cy="530352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5508" y="3795492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15984" y="3675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humans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75904" y="424281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runs, right-size models, gate risky actions on a person.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Semantic Kernel &amp;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16152"/>
            <a:ext cx="1056132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216152"/>
            <a:ext cx="1200150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5732" y="640080"/>
            <a:ext cx="1248156" cy="7200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29750" y="1936242"/>
            <a:ext cx="1104138" cy="-57607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29750" y="1936242"/>
            <a:ext cx="912114" cy="67208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33888" y="1360170"/>
            <a:ext cx="1008126" cy="816102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41864" y="2608326"/>
            <a:ext cx="1200150" cy="-43205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216152"/>
            <a:ext cx="336042" cy="124815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65642" y="2464308"/>
            <a:ext cx="1776222" cy="144018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3588" y="1120140"/>
            <a:ext cx="192024" cy="192024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213723" y="568071"/>
            <a:ext cx="144018" cy="14401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3" name="Shape 11"/>
          <p:cNvSpPr/>
          <p:nvPr/>
        </p:nvSpPr>
        <p:spPr>
          <a:xfrm>
            <a:off x="9352940" y="1859432"/>
            <a:ext cx="153619" cy="153619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8275" y="1254557"/>
            <a:ext cx="211226" cy="211226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74656" y="2541118"/>
            <a:ext cx="134417" cy="134417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55603" y="2089861"/>
            <a:ext cx="172822" cy="17282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234" y="2401900"/>
            <a:ext cx="124816" cy="124816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148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 ·  16:30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orchestrate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agent team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777240" y="4343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today, in one deliverable: a multi-agent system in AutoGen Studio that delegates a real task across specialised agents.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240" y="1143000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356970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 (~45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Capstone: a content-pipeline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978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933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AutoGen Studio, build a team that takes a topic and produces a short, fact-checked article — with work clearly delegated across roles.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36499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3227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scopes the brief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97280" y="3703320"/>
            <a:ext cx="0" cy="73152"/>
          </a:xfrm>
          <a:prstGeom prst="line">
            <a:avLst/>
          </a:prstGeom>
          <a:noFill/>
          <a:ln w="19050">
            <a:solidFill>
              <a:srgbClr val="C7CB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89534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4752" y="37581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gathers facts (tool)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097280" y="4233672"/>
            <a:ext cx="0" cy="73152"/>
          </a:xfrm>
          <a:prstGeom prst="line">
            <a:avLst/>
          </a:prstGeom>
          <a:noFill/>
          <a:ln w="19050">
            <a:solidFill>
              <a:srgbClr val="C7CB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30682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2569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42885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drafts the piece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097280" y="4764024"/>
            <a:ext cx="0" cy="73152"/>
          </a:xfrm>
          <a:prstGeom prst="line">
            <a:avLst/>
          </a:prstGeom>
          <a:noFill/>
          <a:ln w="19050">
            <a:solidFill>
              <a:srgbClr val="C7CBD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4837176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956048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44752" y="4818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flags weak claims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1097280" y="5294376"/>
            <a:ext cx="0" cy="73152"/>
          </a:xfrm>
          <a:prstGeom prst="line">
            <a:avLst/>
          </a:prstGeom>
          <a:noFill/>
          <a:ln w="19050">
            <a:solidFill>
              <a:srgbClr val="C7CBD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68680" y="536752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48640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44752" y="5349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finalises + TERMINATE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656832" y="1783080"/>
            <a:ext cx="4983480" cy="4160520"/>
          </a:xfrm>
          <a:prstGeom prst="roundRect">
            <a:avLst>
              <a:gd name="adj" fmla="val 1978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949440" y="2048256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086" y="2190902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680960" y="2066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demonstrate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6967728" y="2724912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8876" y="2766060"/>
            <a:ext cx="155448" cy="1554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315200" y="26517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agents with distinct, well-written descriptions.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967728" y="3364992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8876" y="3406140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315200" y="32918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orchestration pattern (RoundRobin, Selector, Swarm or Graph).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967728" y="4005072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8876" y="4046220"/>
            <a:ext cx="155448" cy="15544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315200" y="39319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tool call that delegates real work (e.g. search).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967728" y="4645152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8876" y="4686300"/>
            <a:ext cx="155448" cy="15544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7315200" y="457200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termination condition: a stop word AND a max-turn cap.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6967728" y="5285232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8876" y="5326380"/>
            <a:ext cx="155448" cy="15544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315200" y="521208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one-paragraph note: which pattern, and why you chose it.</a:t>
            </a:r>
            <a:endParaRPr lang="en-US" sz="1200" dirty="0"/>
          </a:p>
        </p:txBody>
      </p:sp>
      <p:sp>
        <p:nvSpPr>
          <p:cNvPr id="45" name="Text 3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46" name="Text 33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MISBEHAVES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&amp; how to debug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solidFill>
            <a:srgbClr val="17123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33088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90688" y="178308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16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78608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33472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" y="2331720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never stops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33088" y="233172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(or too loose) termination.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90688" y="2331720"/>
            <a:ext cx="3730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stop word AND a max-message cap; combine with |.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11091672" cy="786384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364992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419856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52144" y="3118104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agent keeps talking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133088" y="311810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 overlapping descriptions.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790688" y="3118104"/>
            <a:ext cx="3730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descriptions; tune the selector prompt.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904488"/>
            <a:ext cx="110916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4151376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06240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52144" y="390448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 past each other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133088" y="390448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/ too little shared context.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790688" y="3904488"/>
            <a:ext cx="3730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only what the next agent needs to act.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4690872"/>
            <a:ext cx="11091672" cy="786384"/>
          </a:xfrm>
          <a:prstGeom prst="rect">
            <a:avLst/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937760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992624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52144" y="4690872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fail silently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133088" y="469087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schema or unscoped permissions.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790688" y="4690872"/>
            <a:ext cx="3730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trace; validate args; least-privilege scope.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48640" y="5477256"/>
            <a:ext cx="110916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49808" y="5724144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779008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52144" y="547725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blow up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4133088" y="54772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model everywhere, long loops.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790688" y="5477256"/>
            <a:ext cx="37307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models; cap turns and token usage.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FIVE THINGS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867" y="2043867"/>
            <a:ext cx="228234" cy="22823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0" y="1947672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837944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Decompose, then delegate 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wins come from well-scoped roles — one clear job per agent.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642616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779776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67" y="2903403"/>
            <a:ext cx="228234" cy="22823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972800" y="280720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17320" y="2697480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pattern to fit the problem 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order → RoundRobin · dynamic → Selector · peer handoff → Swarm · deterministic → Graph · open-ended → Magentic.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502152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639312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67" y="3762939"/>
            <a:ext cx="228234" cy="22823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0972800" y="3666744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97280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17320" y="3557016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 Studio, graduate to code 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and AgentChat are the same engine; teams serialise to JSON you can run anywhere.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361688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4F5FA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498848"/>
            <a:ext cx="475488" cy="47548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67" y="4622475"/>
            <a:ext cx="228234" cy="22823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972800" y="4526280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097280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417320" y="4416552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cap the run 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 word plus a hard turn/token limit prevents loops and runaway bills.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5221224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5358384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867" y="5482011"/>
            <a:ext cx="228234" cy="22823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972800" y="5385816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972800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417320" y="5276088"/>
            <a:ext cx="9418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concepts outlast the SDK   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and SK converge into the Agent Framework — what you learned transfers directly.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 AFTER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EF0FE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93976"/>
            <a:ext cx="676656" cy="67665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467" y="2269907"/>
            <a:ext cx="324795" cy="3247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824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docs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77824" y="3346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AgentChat &amp; Studio guides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77824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docs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77824" y="42611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orchestration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77824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77824" y="51755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1.0 — the path forward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06824" y="17830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6F5F2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2093976"/>
            <a:ext cx="676656" cy="676656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51" y="2269907"/>
            <a:ext cx="324795" cy="32479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9824" y="213055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636008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-U autogenstudio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636008" y="3346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GUI locally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636008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autogen-agentchat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636008" y="42611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Colabs from today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636008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agent-framework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636008" y="51755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MAF on a fresh project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65008" y="178308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DF3E3"/>
          </a:solidFill>
          <a:ln w="12700">
            <a:solidFill>
              <a:srgbClr val="E6E8F2"/>
            </a:solidFill>
            <a:prstDash val="solid"/>
          </a:ln>
          <a:effectLst>
            <a:outerShdw sx="100000" sy="100000" kx="0" ky="0" algn="bl" rotWithShape="0" blurRad="88900" dist="25400" dir="5400000">
              <a:srgbClr val="1A133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375904" y="2093976"/>
            <a:ext cx="676656" cy="67665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35" y="2269907"/>
            <a:ext cx="324795" cy="32479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208008" y="213055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8394192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capstone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8394192" y="33467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HITL + a cheaper model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8394192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in AgentChat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8394192" y="42611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Studio JSON export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8394192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20-question quiz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8394192" y="51755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· Day 19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400800" y="6437376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7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150315"/>
            <a:ext cx="1186891" cy="-647395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150315"/>
            <a:ext cx="1348740" cy="80924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0731" y="502920"/>
            <a:ext cx="1402690" cy="80924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12580" y="1959559"/>
            <a:ext cx="1240841" cy="-647395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2580" y="1959559"/>
            <a:ext cx="1025042" cy="755294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53421" y="1312164"/>
            <a:ext cx="1132942" cy="917143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37622" y="2714854"/>
            <a:ext cx="1348740" cy="-485546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150315"/>
            <a:ext cx="377647" cy="1402690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1487" y="2553005"/>
            <a:ext cx="1996135" cy="161849"/>
          </a:xfrm>
          <a:prstGeom prst="line">
            <a:avLst/>
          </a:prstGeom>
          <a:noFill/>
          <a:ln w="15875">
            <a:solidFill>
              <a:srgbClr val="A5B4F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55941" y="1042416"/>
            <a:ext cx="215798" cy="21579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9807" y="421996"/>
            <a:ext cx="161849" cy="16184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Shape 11"/>
          <p:cNvSpPr/>
          <p:nvPr/>
        </p:nvSpPr>
        <p:spPr>
          <a:xfrm>
            <a:off x="9126261" y="1873240"/>
            <a:ext cx="172639" cy="17263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34732" y="1193475"/>
            <a:ext cx="237378" cy="237378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2093" y="2639324"/>
            <a:ext cx="151059" cy="15105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89253" y="2132198"/>
            <a:ext cx="194219" cy="19421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71353" y="2482870"/>
            <a:ext cx="140269" cy="140269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1417320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631290"/>
            <a:ext cx="395021" cy="39502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7724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MULTI-AGENT SYSTEM TODAY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1520" y="290779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B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Nice work — now go orchestrate.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777240" y="39776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reason about agent design, build and run teams in AutoGen Studio, apply five orchestration patterns, and ship them responsibly. Two things left: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77240" y="4983480"/>
            <a:ext cx="3664001" cy="548640"/>
          </a:xfrm>
          <a:prstGeom prst="roundRect">
            <a:avLst>
              <a:gd name="adj" fmla="val 50000"/>
            </a:avLst>
          </a:prstGeom>
          <a:solidFill>
            <a:srgbClr val="241B57"/>
          </a:solidFill>
          <a:ln w="12700">
            <a:solidFill>
              <a:srgbClr val="3A2F7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5129784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07592" y="4983480"/>
            <a:ext cx="31153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both Colabs + extensions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669841" y="4983480"/>
            <a:ext cx="3131820" cy="548640"/>
          </a:xfrm>
          <a:prstGeom prst="roundRect">
            <a:avLst>
              <a:gd name="adj" fmla="val 50000"/>
            </a:avLst>
          </a:prstGeom>
          <a:solidFill>
            <a:srgbClr val="241B57"/>
          </a:solidFill>
          <a:ln w="12700">
            <a:solidFill>
              <a:srgbClr val="3A2F7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009" y="5129784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00193" y="4983480"/>
            <a:ext cx="2583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20-question quiz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8030261" y="4983480"/>
            <a:ext cx="3397910" cy="548640"/>
          </a:xfrm>
          <a:prstGeom prst="roundRect">
            <a:avLst>
              <a:gd name="adj" fmla="val 50000"/>
            </a:avLst>
          </a:prstGeom>
          <a:solidFill>
            <a:srgbClr val="241B57"/>
          </a:solidFill>
          <a:ln w="12700">
            <a:solidFill>
              <a:srgbClr val="3A2F7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429" y="5129784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560613" y="4983480"/>
            <a:ext cx="2849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next build on MAF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5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Day 19 · Microsoft AI Agents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Orchestration with AutoGen Studio &amp; Semantic Kernel</dc:title>
  <dc:subject>PptxGenJS Presentation</dc:subject>
  <dc:creator>Workshop Facilitator</dc:creator>
  <cp:lastModifiedBy>Workshop Facilitator</cp:lastModifiedBy>
  <cp:revision>1</cp:revision>
  <dcterms:created xsi:type="dcterms:W3CDTF">2026-06-21T22:56:16Z</dcterms:created>
  <dcterms:modified xsi:type="dcterms:W3CDTF">2026-06-21T22:56:16Z</dcterms:modified>
</cp:coreProperties>
</file>
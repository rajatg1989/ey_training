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Arimo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5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7.xml"/><Relationship Id="rId44" Type="http://schemas.openxmlformats.org/officeDocument/2006/relationships/font" Target="fonts/RobotoMono-bold.fntdata"/><Relationship Id="rId21" Type="http://schemas.openxmlformats.org/officeDocument/2006/relationships/slide" Target="slides/slide16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im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mo-italic.fntdata"/><Relationship Id="rId14" Type="http://schemas.openxmlformats.org/officeDocument/2006/relationships/slide" Target="slides/slide9.xml"/><Relationship Id="rId36" Type="http://schemas.openxmlformats.org/officeDocument/2006/relationships/font" Target="fonts/Arimo-bold.fntdata"/><Relationship Id="rId17" Type="http://schemas.openxmlformats.org/officeDocument/2006/relationships/slide" Target="slides/slide12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38" Type="http://schemas.openxmlformats.org/officeDocument/2006/relationships/font" Target="fonts/Arim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9fdef15d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e49fdef15d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9fdef15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9fdef1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49fdef15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49fdef15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49fdef15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49fdef15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9fdef15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9fdef15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1df21a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1df21a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1df21a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1df21a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1df21ac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1df21ac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1df21a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1df21a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8b2658a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8b2658a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b2658a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b2658a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b2658a2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b2658a2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8b2658a2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8b2658a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b2658a2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b2658a2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b2658a2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8b2658a2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8b2658a2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8b2658a2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b2658a2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8b2658a2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8b2658a2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8b2658a2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8b2658a2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8b2658a2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566e78a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566e78a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566e78ac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566e78ac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cfdcd02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cfdcd02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cfdcd02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cfdcd02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fdcd02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cfdcd02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cfdcd02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cfdcd02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cfdcd02f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cfdcd02f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cfdcd02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cfdcd02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fdcd02f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ecfdcd02f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TITLE_AND_BODY_1">
    <p:bg>
      <p:bgPr>
        <a:gradFill>
          <a:gsLst>
            <a:gs pos="0">
              <a:srgbClr val="F6F5D7"/>
            </a:gs>
            <a:gs pos="50000">
              <a:srgbClr val="F6F5D7"/>
            </a:gs>
            <a:gs pos="100000">
              <a:srgbClr val="E8E9AF"/>
            </a:gs>
          </a:gsLst>
          <a:lin ang="13500032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41603" y="4806271"/>
            <a:ext cx="245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00" lIns="41900" spcFirstLastPara="1" rIns="41900" wrap="square" tIns="419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00"/>
              <a:buFont typeface="Calibri"/>
              <a:buNone/>
              <a:defRPr sz="1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4294967295" type="title"/>
          </p:nvPr>
        </p:nvSpPr>
        <p:spPr>
          <a:xfrm>
            <a:off x="685799" y="117487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600"/>
              <a:buFont typeface="Arimo"/>
              <a:buNone/>
            </a:pPr>
            <a:r>
              <a:rPr lang="en" sz="2600">
                <a:solidFill>
                  <a:srgbClr val="953735"/>
                </a:solidFill>
                <a:latin typeface="Arimo"/>
                <a:ea typeface="Arimo"/>
                <a:cs typeface="Arimo"/>
                <a:sym typeface="Arimo"/>
              </a:rPr>
              <a:t>Azure Data Engineering &amp; Agentic AI</a:t>
            </a:r>
            <a:endParaRPr sz="2600">
              <a:solidFill>
                <a:srgbClr val="953735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3735"/>
              </a:buClr>
              <a:buSzPts val="2600"/>
              <a:buFont typeface="Arimo"/>
              <a:buNone/>
            </a:pPr>
            <a:r>
              <a:rPr lang="en" sz="2600">
                <a:solidFill>
                  <a:srgbClr val="953735"/>
                </a:solidFill>
                <a:latin typeface="Arimo"/>
                <a:ea typeface="Arimo"/>
                <a:cs typeface="Arimo"/>
                <a:sym typeface="Arimo"/>
              </a:rPr>
              <a:t>(Ernst &amp; Young Consultants)</a:t>
            </a:r>
            <a:endParaRPr sz="2600">
              <a:solidFill>
                <a:srgbClr val="95373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7" name="Google Shape;57;p14"/>
          <p:cNvSpPr txBox="1"/>
          <p:nvPr>
            <p:ph idx="4294967295" type="body"/>
          </p:nvPr>
        </p:nvSpPr>
        <p:spPr>
          <a:xfrm>
            <a:off x="1317750" y="2277375"/>
            <a:ext cx="67647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Rajat Garg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 Tech. (IIT Roorkee), </a:t>
            </a:r>
            <a:endParaRPr b="1" sz="1700">
              <a:solidFill>
                <a:srgbClr val="89898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Masters of Science (University of Minnesota)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Helvetica Neue"/>
              <a:buNone/>
            </a:pPr>
            <a:r>
              <a:rPr b="1" lang="en" sz="17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Software Engineer</a:t>
            </a:r>
            <a:br>
              <a:rPr b="1" lang="en" sz="17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700">
              <a:solidFill>
                <a:srgbClr val="89898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898989"/>
              </a:buClr>
              <a:buSzPts val="1700"/>
              <a:buFont typeface="Helvetica Neue"/>
              <a:buNone/>
            </a:pPr>
            <a:r>
              <a:t/>
            </a:r>
            <a:endParaRPr b="1" sz="1700">
              <a:solidFill>
                <a:srgbClr val="89898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2450" y="179850"/>
            <a:ext cx="9887138" cy="49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80975"/>
            <a:ext cx="7512986" cy="49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6225" y="78200"/>
            <a:ext cx="9425425" cy="49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525" y="161850"/>
            <a:ext cx="9843475" cy="39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700"/>
            <a:ext cx="9398703" cy="50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</a:t>
            </a:r>
            <a:endParaRPr/>
          </a:p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Git</a:t>
            </a:r>
            <a:endParaRPr/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Azure</a:t>
            </a:r>
            <a:endParaRPr/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ML Fundamentals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388" y="200025"/>
            <a:ext cx="59912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74" y="158225"/>
            <a:ext cx="6629850" cy="446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875" y="365775"/>
            <a:ext cx="7026400" cy="46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2" y="954828"/>
            <a:ext cx="8985828" cy="253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19050"/>
            <a:ext cx="60579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3 exercise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282" y="0"/>
            <a:ext cx="50774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build -t portal-web-app:v1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9"/>
          <p:cNvPicPr preferRelativeResize="0"/>
          <p:nvPr/>
        </p:nvPicPr>
        <p:blipFill rotWithShape="1">
          <a:blip r:embed="rId3">
            <a:alphaModFix/>
          </a:blip>
          <a:srcRect b="60476" l="0" r="0" t="0"/>
          <a:stretch/>
        </p:blipFill>
        <p:spPr>
          <a:xfrm>
            <a:off x="401375" y="370975"/>
            <a:ext cx="8194074" cy="301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0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az acr build --registry mylearnerreg987 --image portal-web-app:v1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What happens behind the scenes?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Zips the code:</a:t>
            </a:r>
            <a:r>
              <a:rPr lang="en" sz="1100">
                <a:solidFill>
                  <a:schemeClr val="dk1"/>
                </a:solidFill>
              </a:rPr>
              <a:t> Cloud Shell bundles your current directory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1100">
                <a:solidFill>
                  <a:schemeClr val="dk1"/>
                </a:solidFill>
              </a:rPr>
              <a:t>) into a temporary file.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Sends to Azure:</a:t>
            </a:r>
            <a:r>
              <a:rPr lang="en" sz="1100">
                <a:solidFill>
                  <a:schemeClr val="dk1"/>
                </a:solidFill>
              </a:rPr>
              <a:t> It uploads the bundle to your Azure Container Registry.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Remote Build:</a:t>
            </a:r>
            <a:r>
              <a:rPr lang="en" sz="1100">
                <a:solidFill>
                  <a:schemeClr val="dk1"/>
                </a:solidFill>
              </a:rPr>
              <a:t> Azure spins up an ephemeral, fully-managed environment to execute your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lang="en" sz="1100">
                <a:solidFill>
                  <a:schemeClr val="dk1"/>
                </a:solidFill>
              </a:rPr>
              <a:t> instructions.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Auto-Push:</a:t>
            </a:r>
            <a:r>
              <a:rPr lang="en" sz="1100">
                <a:solidFill>
                  <a:schemeClr val="dk1"/>
                </a:solidFill>
              </a:rPr>
              <a:t> The finished image is automatically saved straight into your registry repositories.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350" y="116100"/>
            <a:ext cx="71600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"/>
            <a:ext cx="8117425" cy="330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4 exercise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Since the first part requires designing an Entity-Relationship Diagram (ERD) and implementing it in PostgreSQL, we will spin up an </a:t>
            </a:r>
            <a:r>
              <a:rPr b="1" lang="en">
                <a:solidFill>
                  <a:schemeClr val="dk1"/>
                </a:solidFill>
              </a:rPr>
              <a:t>Azure Database for PostgreSQL flexible server</a:t>
            </a:r>
            <a:r>
              <a:rPr lang="en">
                <a:solidFill>
                  <a:schemeClr val="dk1"/>
                </a:solidFill>
              </a:rPr>
              <a:t>, followed by an </a:t>
            </a:r>
            <a:r>
              <a:rPr b="1" lang="en">
                <a:solidFill>
                  <a:schemeClr val="dk1"/>
                </a:solidFill>
              </a:rPr>
              <a:t>Azure Data Factory (ADF)</a:t>
            </a:r>
            <a:r>
              <a:rPr lang="en">
                <a:solidFill>
                  <a:schemeClr val="dk1"/>
                </a:solidFill>
              </a:rPr>
              <a:t> pipeline to handle the data processing into </a:t>
            </a:r>
            <a:r>
              <a:rPr b="1" lang="en">
                <a:solidFill>
                  <a:schemeClr val="dk1"/>
                </a:solidFill>
              </a:rPr>
              <a:t>Azure SQL</a:t>
            </a:r>
            <a:r>
              <a:rPr lang="en">
                <a:solidFill>
                  <a:schemeClr val="dk1"/>
                </a:solidFill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272" y="454536"/>
            <a:ext cx="7065400" cy="423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25" y="126550"/>
            <a:ext cx="8332374" cy="48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8</a:t>
            </a:r>
            <a:endParaRPr/>
          </a:p>
        </p:txBody>
      </p:sp>
      <p:sp>
        <p:nvSpPr>
          <p:cNvPr id="205" name="Google Shape;20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787" y="214749"/>
            <a:ext cx="8800425" cy="47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274" y="108051"/>
            <a:ext cx="7996025" cy="45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43" y="445030"/>
            <a:ext cx="8665557" cy="330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275" y="-46425"/>
            <a:ext cx="7028301" cy="465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638" y="57150"/>
            <a:ext cx="5800725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286" y="0"/>
            <a:ext cx="6190765" cy="49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
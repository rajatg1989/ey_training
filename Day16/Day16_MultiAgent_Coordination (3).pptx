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Day 16. 8-hour deep-dive into multi-agent coordination. Open with the GlobalFlow industry scenario to anchor all concepts. Timebox: 2h foundations, 2h frameworks, 2h CrewAI deep-dive, 2h labs + debrief.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day arc. Morning = conceptual scaffolding. Afternoon = hands-on. The GlobalFlow scenario thread runs through all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10 min on the scenario. Ask: which agents would you create? Where are the handoffs? This primes learners for framework comparison. The 14M EUR figure grounds ROI conversations.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insight: multi-agent systems trade cost for capability and resilience. Single agents are fine for a defined task. Use multi-agent when tasks are parallelisable, specialised, or too large for one context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30 min on MCP. Demo: run a local MCP server, show Claude Desktop connecting to it. Key point: MCP decouples tool definition from LLM choice - write once, use with any agent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Interactive: ask learners to map GlobalFlow's 6 departments to the best topology. Most will pick Hierarchical with Blackboard for shared disruption state. Explore tradeoffs.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Foundry positions AI agents as a managed service -- similar to how Azure Functions abstracts compute. Spend 25 min. Show the portal if possible. Key differentiator: compliance and governance tooling.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differentiators vs LangChain: simpler mental model, native OpenAI model support, official SDK means API changes won't break it. Limitation: currently OpenAI-model-centric.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CrewAI's role metaphor maps naturally to enterprise org charts -- easy to explain to non-technical stakeholders. This is its biggest adoption advantage.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class debate: LangGraph wins on flexibility; AI Foundry on enterprise; CrewAI on approachability; OpenAI SDK on official support. No single winner -- context determines the right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teaching: a well-written backstory dramatically improves output quality. Have learners write backstories for 2 GlobalFlow agents and compare actual LLM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Hierarchical process is most powerful but uses more tokens (manager LLM overhead). For GlobalFlow: Hierarchical works well -- a 'Logistics Director' manager delegates to Monitor, Router, Comms, Compliance, Reporter.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of thumb: if a business analyst can describe the workflow, use CrewAI. If a software engineer needs to model it as a state machine with complex branching, use LangGraph.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Colab 1 is the main practical. Target Part 1+2 in 70 min, Part 3 in 30 min. Provide skeleton code with cell-level instructions. Extension tasks are homework.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groups: one per framework, reconvene to present the scorecard. Extension teaches observability -- increasingly non-optional in production agent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as Kahoot or Google Forms. 90 seconds per question. Pause after Q10 for a 2-minute discussion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wrong answers as a group. Questions 3, 12, and 17 are most commonly missed.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each participant to name the one thing that changed their thinking today. Takeaway 6 (design for failure) is most often overlooked by new practitioners.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ReAct paper is essential reading. The CrewAI examples repo has a production supply-chain example very close to our GlobalFlow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energy. Every framework discussed is production-ready and being used at scale today. The supply-chain scenario built today is within reach of a real deployment with a few weeks of hardening.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47472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474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DAY  16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Multi-Agent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Coordination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Patterns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35204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D8EA"/>
                </a:solidFill>
              </a:rPr>
              <a:t>MCP · AI Foundry · OpenAI Agents SDK · CrewAI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4160520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0F2D4A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1605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CD4"/>
                </a:solidFill>
              </a:rPr>
              <a:t>8 HRS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4160520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164E63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1605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CD4"/>
                </a:solidFill>
              </a:rPr>
              <a:t>4 LABS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4160520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0F4C75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41605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CD4"/>
                </a:solidFill>
              </a:rPr>
              <a:t>20 MCQs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1097280"/>
            <a:ext cx="1645920" cy="-457200"/>
          </a:xfrm>
          <a:prstGeom prst="line">
            <a:avLst/>
          </a:prstGeom>
          <a:noFill/>
          <a:ln w="15240">
            <a:solidFill>
              <a:srgbClr val="0A7EA4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640080"/>
            <a:ext cx="731520" cy="1280160"/>
          </a:xfrm>
          <a:prstGeom prst="line">
            <a:avLst/>
          </a:prstGeom>
          <a:noFill/>
          <a:ln w="15240">
            <a:solidFill>
              <a:srgbClr val="0A7EA4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0" y="1920240"/>
            <a:ext cx="-1005840" cy="822960"/>
          </a:xfrm>
          <a:prstGeom prst="line">
            <a:avLst/>
          </a:prstGeom>
          <a:noFill/>
          <a:ln w="15240">
            <a:solidFill>
              <a:srgbClr val="0A7EA4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0" y="2743200"/>
            <a:ext cx="-1188720" cy="182880"/>
          </a:xfrm>
          <a:prstGeom prst="line">
            <a:avLst/>
          </a:prstGeom>
          <a:noFill/>
          <a:ln w="15240">
            <a:solidFill>
              <a:srgbClr val="0A7EA4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2926080"/>
            <a:ext cx="-640080" cy="-1097280"/>
          </a:xfrm>
          <a:prstGeom prst="line">
            <a:avLst/>
          </a:prstGeom>
          <a:noFill/>
          <a:ln w="15240">
            <a:solidFill>
              <a:srgbClr val="0A7EA4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1828800"/>
            <a:ext cx="457200" cy="-731520"/>
          </a:xfrm>
          <a:prstGeom prst="line">
            <a:avLst/>
          </a:prstGeom>
          <a:noFill/>
          <a:ln w="15240">
            <a:solidFill>
              <a:srgbClr val="0A7EA4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1097280"/>
            <a:ext cx="1371600" cy="1645920"/>
          </a:xfrm>
          <a:prstGeom prst="line">
            <a:avLst/>
          </a:prstGeom>
          <a:noFill/>
          <a:ln w="15240">
            <a:solidFill>
              <a:srgbClr val="0A7EA4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640080"/>
            <a:ext cx="-1463040" cy="2286000"/>
          </a:xfrm>
          <a:prstGeom prst="line">
            <a:avLst/>
          </a:prstGeom>
          <a:noFill/>
          <a:ln w="15240">
            <a:solidFill>
              <a:srgbClr val="0A7EA4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54496" y="950976"/>
            <a:ext cx="292608" cy="29260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00416" y="493776"/>
            <a:ext cx="292608" cy="292608"/>
          </a:xfrm>
          <a:prstGeom prst="ellipse">
            <a:avLst/>
          </a:prstGeom>
          <a:solidFill>
            <a:srgbClr val="0A7E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31936" y="1773936"/>
            <a:ext cx="292608" cy="292608"/>
          </a:xfrm>
          <a:prstGeom prst="ellipse">
            <a:avLst/>
          </a:prstGeom>
          <a:solidFill>
            <a:srgbClr val="0A7E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26096" y="2596896"/>
            <a:ext cx="292608" cy="292608"/>
          </a:xfrm>
          <a:prstGeom prst="ellipse">
            <a:avLst/>
          </a:prstGeom>
          <a:solidFill>
            <a:srgbClr val="0A7E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37376" y="2779776"/>
            <a:ext cx="292608" cy="292608"/>
          </a:xfrm>
          <a:prstGeom prst="ellipse">
            <a:avLst/>
          </a:prstGeom>
          <a:solidFill>
            <a:srgbClr val="0A7E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97296" y="1682496"/>
            <a:ext cx="292608" cy="292608"/>
          </a:xfrm>
          <a:prstGeom prst="ellipse">
            <a:avLst/>
          </a:prstGeom>
          <a:solidFill>
            <a:srgbClr val="0A7E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4526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EB7"/>
                </a:solidFill>
              </a:rPr>
              <a:t>Enterprise AI Engineering Bootcamp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D4A"/>
                </a:solidFill>
              </a:rPr>
              <a:t>Day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7EA4"/>
                </a:solidFill>
              </a:rPr>
              <a:t>8 hours · 4 modules · 2 collaborative labs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566928"/>
          </a:xfrm>
          <a:prstGeom prst="roundRect">
            <a:avLst>
              <a:gd name="adj" fmla="val 11290"/>
            </a:avLst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1556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C542"/>
                </a:solidFill>
              </a:rPr>
              <a:t>09:00–11:00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0" y="1207008"/>
            <a:ext cx="0" cy="384048"/>
          </a:xfrm>
          <a:prstGeom prst="line">
            <a:avLst/>
          </a:prstGeom>
          <a:noFill/>
          <a:ln w="762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76272" y="1161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Module 1: Foundations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76272" y="141732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Agent primitives · MCP protocol · Coordination topologies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764792"/>
            <a:ext cx="8321040" cy="566928"/>
          </a:xfrm>
          <a:prstGeom prst="roundRect">
            <a:avLst>
              <a:gd name="adj" fmla="val 11290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76479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C542"/>
                </a:solidFill>
              </a:rPr>
              <a:t>11:00–13:00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0" y="1856232"/>
            <a:ext cx="0" cy="384048"/>
          </a:xfrm>
          <a:prstGeom prst="line">
            <a:avLst/>
          </a:prstGeom>
          <a:noFill/>
          <a:ln w="762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76272" y="1810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Module 2: Framework Survey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76272" y="2066544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AI Foundry · OpenAI Agents SDK · CrewAI overview · LangGraph contrast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414016"/>
            <a:ext cx="8321040" cy="566928"/>
          </a:xfrm>
          <a:prstGeom prst="roundRect">
            <a:avLst>
              <a:gd name="adj" fmla="val 11290"/>
            </a:avLst>
          </a:prstGeom>
          <a:solidFill>
            <a:srgbClr val="364F6B"/>
          </a:solidFill>
          <a:ln w="12700">
            <a:solidFill>
              <a:srgbClr val="364F6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241401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C542"/>
                </a:solidFill>
              </a:rPr>
              <a:t>13:00–14:00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2505456"/>
            <a:ext cx="0" cy="384048"/>
          </a:xfrm>
          <a:prstGeom prst="line">
            <a:avLst/>
          </a:prstGeom>
          <a:noFill/>
          <a:ln w="762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76272" y="2459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Lunch + Industry Scenario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76272" y="271576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Supply-chain command-centre briefing · team assignments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063240"/>
            <a:ext cx="8321040" cy="566928"/>
          </a:xfrm>
          <a:prstGeom prst="roundRect">
            <a:avLst>
              <a:gd name="adj" fmla="val 11290"/>
            </a:avLst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0632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C542"/>
                </a:solidFill>
              </a:rPr>
              <a:t>14:00–16:00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11680" y="3154680"/>
            <a:ext cx="0" cy="384048"/>
          </a:xfrm>
          <a:prstGeom prst="line">
            <a:avLst/>
          </a:prstGeom>
          <a:noFill/>
          <a:ln w="762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76272" y="3108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Module 3: CrewAI Deep Dive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176272" y="336499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Roles · Tasks · Tools · Processes · Memory · Human-in-the-Loop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712464"/>
            <a:ext cx="8321040" cy="566928"/>
          </a:xfrm>
          <a:prstGeom prst="roundRect">
            <a:avLst>
              <a:gd name="adj" fmla="val 11290"/>
            </a:avLst>
          </a:prstGeom>
          <a:solidFill>
            <a:srgbClr val="5C3494"/>
          </a:solidFill>
          <a:ln w="12700">
            <a:solidFill>
              <a:srgbClr val="5C349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371246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C542"/>
                </a:solidFill>
              </a:rPr>
              <a:t>16:00–17:30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11680" y="3803904"/>
            <a:ext cx="0" cy="384048"/>
          </a:xfrm>
          <a:prstGeom prst="line">
            <a:avLst/>
          </a:prstGeom>
          <a:noFill/>
          <a:ln w="762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76272" y="37581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Module 4: Lab Sessions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176272" y="4014216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Colab 1 (CrewAI pipeline) · Colab 2 (framework comparison)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4361688"/>
            <a:ext cx="8321040" cy="566928"/>
          </a:xfrm>
          <a:prstGeom prst="roundRect">
            <a:avLst>
              <a:gd name="adj" fmla="val 11290"/>
            </a:avLst>
          </a:prstGeom>
          <a:solidFill>
            <a:srgbClr val="8B3A2A"/>
          </a:solidFill>
          <a:ln w="12700">
            <a:solidFill>
              <a:srgbClr val="8B3A2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436168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C542"/>
                </a:solidFill>
              </a:rPr>
              <a:t>17:30–18:00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011680" y="4453128"/>
            <a:ext cx="0" cy="384048"/>
          </a:xfrm>
          <a:prstGeom prst="line">
            <a:avLst/>
          </a:prstGeom>
          <a:noFill/>
          <a:ln w="762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76272" y="4407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Quiz + Debrief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176272" y="46634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20 MCQs · framework scorecard ·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BCD4"/>
                </a:solidFill>
              </a:rPr>
              <a:t>BACKBONE INDUSTRY SCENARIO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GlobalFlow Logistics — AI Supply-Chain Command Centre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743200" cy="3337560"/>
          </a:xfrm>
          <a:prstGeom prst="roundRect">
            <a:avLst>
              <a:gd name="adj" fmla="val 3333"/>
            </a:avLst>
          </a:prstGeom>
          <a:solidFill>
            <a:srgbClr val="1E3A4C"/>
          </a:solidFill>
          <a:ln w="10160">
            <a:solidFill>
              <a:srgbClr val="0A7EA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6420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0BCD4"/>
                </a:solidFill>
              </a:rPr>
              <a:t>THE COMPANY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048256"/>
            <a:ext cx="2377440" cy="0"/>
          </a:xfrm>
          <a:prstGeom prst="line">
            <a:avLst/>
          </a:prstGeom>
          <a:noFill/>
          <a:ln w="7620">
            <a:solidFill>
              <a:srgbClr val="0A7EA4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2176272"/>
            <a:ext cx="2414016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GlobalFlow moves 4M parcels/day across 38 countries. A 2-hour port delay cascades into a 14M EUR loss. Legacy systems cannot respond faster than humans.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508760"/>
            <a:ext cx="2743200" cy="3337560"/>
          </a:xfrm>
          <a:prstGeom prst="roundRect">
            <a:avLst>
              <a:gd name="adj" fmla="val 3333"/>
            </a:avLst>
          </a:prstGeom>
          <a:solidFill>
            <a:srgbClr val="1E3A4C"/>
          </a:solidFill>
          <a:ln w="10160">
            <a:solidFill>
              <a:srgbClr val="0A7EA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66420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0BCD4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29000" y="2048256"/>
            <a:ext cx="2377440" cy="0"/>
          </a:xfrm>
          <a:prstGeom prst="line">
            <a:avLst/>
          </a:prstGeom>
          <a:noFill/>
          <a:ln w="7620">
            <a:solidFill>
              <a:srgbClr val="0A7EA4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2176272"/>
            <a:ext cx="2414016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Disruption events (weather, customs, supplier failure) require coordinating 6 departments simultaneously. Current mean-time-to-resolution: 4.7 hours.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508760"/>
            <a:ext cx="2743200" cy="3337560"/>
          </a:xfrm>
          <a:prstGeom prst="roundRect">
            <a:avLst>
              <a:gd name="adj" fmla="val 3333"/>
            </a:avLst>
          </a:prstGeom>
          <a:solidFill>
            <a:srgbClr val="1E3A4C"/>
          </a:solidFill>
          <a:ln w="10160">
            <a:solidFill>
              <a:srgbClr val="0A7EA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66420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0BCD4"/>
                </a:solidFill>
              </a:rPr>
              <a:t>THE SOLUTION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55080" y="2048256"/>
            <a:ext cx="2377440" cy="0"/>
          </a:xfrm>
          <a:prstGeom prst="line">
            <a:avLst/>
          </a:prstGeom>
          <a:noFill/>
          <a:ln w="7620">
            <a:solidFill>
              <a:srgbClr val="0A7EA4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2176272"/>
            <a:ext cx="2414016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A multi-agent AI system: monitoring agents, routing agents, supplier-comms agents, compliance agents, and a supervisor — all orchestrated via CrewAI.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484632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4C542"/>
                </a:solidFill>
              </a:rPr>
              <a:t>This scenario is the red thread through ALL exercises today.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D4A"/>
                </a:solidFill>
              </a:rPr>
              <a:t>What Is a Multi-Agent System?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4206240" cy="4023360"/>
          </a:xfrm>
          <a:prstGeom prst="roundRect">
            <a:avLst>
              <a:gd name="adj" fmla="val 2273"/>
            </a:avLst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6012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A collection of autonomous AI agents that perceive their environment, reason independently, and collaborate through structured communication to accomplish goals no single agent could achieve alone.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2843784"/>
            <a:ext cx="201168" cy="20116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7889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</a:rPr>
              <a:t>Autonomy: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27889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Each agent acts on its own reasoning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3282696"/>
            <a:ext cx="201168" cy="20116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22783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</a:rPr>
              <a:t>Specialisation: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32278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Agents have bounded, task-specific roles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3721608"/>
            <a:ext cx="201168" cy="20116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6667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</a:rPr>
              <a:t>Communication: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366674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Structured message passing (MCP)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4160520"/>
            <a:ext cx="201168" cy="20116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10565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</a:rPr>
              <a:t>Coordination: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41056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A supervisor or protocol governs order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822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D4A"/>
                </a:solidFill>
              </a:rPr>
              <a:t>Single Agent vs Multi-Agent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92040" y="1234440"/>
            <a:ext cx="3840480" cy="47548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30759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130759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Single Agent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52360" y="130759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Multi-Agent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17647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837944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D4A"/>
                </a:solidFill>
              </a:rPr>
              <a:t>Context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72200" y="1837944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7EA4"/>
                </a:solidFill>
              </a:rPr>
              <a:t>Full ctx in one prompt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452360" y="1837944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2D4A"/>
                </a:solidFill>
              </a:rPr>
              <a:t>Distributed context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92040" y="2295144"/>
            <a:ext cx="3840480" cy="475488"/>
          </a:xfrm>
          <a:prstGeom prst="rect">
            <a:avLst/>
          </a:prstGeom>
          <a:solidFill>
            <a:srgbClr val="F0F8FC"/>
          </a:solidFill>
          <a:ln w="12700">
            <a:solidFill>
              <a:srgbClr val="D8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368296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D4A"/>
                </a:solidFill>
              </a:rPr>
              <a:t>Parallelism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72200" y="2368296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7EA4"/>
                </a:solidFill>
              </a:rPr>
              <a:t>Sequential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452360" y="2368296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2D4A"/>
                </a:solidFill>
              </a:rPr>
              <a:t>Parallel streams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92040" y="282549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898648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D4A"/>
                </a:solidFill>
              </a:rPr>
              <a:t>Fault isolation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72200" y="2898648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7EA4"/>
                </a:solidFill>
              </a:rPr>
              <a:t>Total failure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452360" y="2898648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2D4A"/>
                </a:solidFill>
              </a:rPr>
              <a:t>Graceful degradation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92040" y="3355848"/>
            <a:ext cx="3840480" cy="475488"/>
          </a:xfrm>
          <a:prstGeom prst="rect">
            <a:avLst/>
          </a:prstGeom>
          <a:solidFill>
            <a:srgbClr val="F0F8FC"/>
          </a:solidFill>
          <a:ln w="12700">
            <a:solidFill>
              <a:srgbClr val="D8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42900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D4A"/>
                </a:solidFill>
              </a:rPr>
              <a:t>Specialisation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72200" y="342900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7EA4"/>
                </a:solidFill>
              </a:rPr>
              <a:t>Generalised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452360" y="342900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2D4A"/>
                </a:solidFill>
              </a:rPr>
              <a:t>Role-optimised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92040" y="388620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95935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D4A"/>
                </a:solidFill>
              </a:rPr>
              <a:t>Cost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172200" y="395935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7EA4"/>
                </a:solidFill>
              </a:rPr>
              <a:t>Low (1 call)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452360" y="395935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2D4A"/>
                </a:solidFill>
              </a:rPr>
              <a:t>Higher (n calls)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CD4"/>
                </a:solidFill>
              </a:rPr>
              <a:t>MCP  -  Model Context Protocol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EB7"/>
                </a:solidFill>
              </a:rPr>
              <a:t>The USB-C of AI agent interoperability  -  Anthropic, 2024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743200" cy="3520440"/>
          </a:xfrm>
          <a:prstGeom prst="roundRect">
            <a:avLst>
              <a:gd name="adj" fmla="val 3333"/>
            </a:avLst>
          </a:prstGeom>
          <a:solidFill>
            <a:srgbClr val="0A7EA4"/>
          </a:solidFill>
          <a:ln w="889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25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</a:rPr>
              <a:t>What MCP Solves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  N x M integration problem becomes N+M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  Standardised tool/resource/prompt schema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  Works across all MCP-compatible hosts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  Open spec (MIT licence)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234440"/>
            <a:ext cx="2743200" cy="3520440"/>
          </a:xfrm>
          <a:prstGeom prst="roundRect">
            <a:avLst>
              <a:gd name="adj" fmla="val 3333"/>
            </a:avLst>
          </a:prstGeom>
          <a:solidFill>
            <a:srgbClr val="164E63"/>
          </a:solidFill>
          <a:ln w="889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1325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</a:rPr>
              <a:t>MCP Architecture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78308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  Host (Claude, VS Code, custom app)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37744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  Client -- one per server, protocol handler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97180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  Server -- exposes Tools / Resources / Prompts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356616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  Transport: stdio  -  SSE  -  WebSocket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1234440"/>
            <a:ext cx="2743200" cy="3520440"/>
          </a:xfrm>
          <a:prstGeom prst="roundRect">
            <a:avLst>
              <a:gd name="adj" fmla="val 3333"/>
            </a:avLst>
          </a:prstGeom>
          <a:solidFill>
            <a:srgbClr val="1A3A5C"/>
          </a:solidFill>
          <a:ln w="889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09360" y="1325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</a:rPr>
              <a:t>Key Primitives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178308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  Tools -- functions agents can call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37744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  Resources -- files/DBs agents can read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297180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  Prompts -- reusable instruction templates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356616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  Sampling -- server-initiated model calls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4809744"/>
            <a:ext cx="8321040" cy="274320"/>
          </a:xfrm>
          <a:prstGeom prst="roundRect">
            <a:avLst>
              <a:gd name="adj" fmla="val 16667"/>
            </a:avLst>
          </a:prstGeom>
          <a:solidFill>
            <a:srgbClr val="1E3A4C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8188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C542"/>
                </a:solidFill>
              </a:rPr>
              <a:t>GlobalFlow: MCP servers expose warehouse APIs, carrier APIs, and customs microservices to all agents uniformly.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D4A"/>
                </a:solidFill>
              </a:rPr>
              <a:t>Coordination Topologies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7EA4"/>
                </a:solidFill>
              </a:rPr>
              <a:t>How agents find each other and decide who does what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2103120" cy="3813048"/>
          </a:xfrm>
          <a:prstGeom prst="roundRect">
            <a:avLst>
              <a:gd name="adj" fmla="val 4348"/>
            </a:avLst>
          </a:prstGeom>
          <a:solidFill>
            <a:srgbClr val="0F2D4A"/>
          </a:solidFill>
          <a:ln w="7620">
            <a:solidFill>
              <a:srgbClr val="0A7E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Hierarchical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(Supervisor)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43000" y="1874520"/>
            <a:ext cx="457200" cy="365760"/>
          </a:xfrm>
          <a:prstGeom prst="ellipse">
            <a:avLst/>
          </a:prstGeom>
          <a:solidFill>
            <a:srgbClr val="F4C5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468880"/>
            <a:ext cx="457200" cy="320040"/>
          </a:xfrm>
          <a:prstGeom prst="ellipse">
            <a:avLst/>
          </a:prstGeom>
          <a:solidFill>
            <a:srgbClr val="00BCD4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2240280"/>
            <a:ext cx="-548640" cy="228600"/>
          </a:xfrm>
          <a:prstGeom prst="line">
            <a:avLst/>
          </a:prstGeom>
          <a:noFill/>
          <a:ln w="12700">
            <a:solidFill>
              <a:srgbClr val="00BCD4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2468880"/>
            <a:ext cx="457200" cy="320040"/>
          </a:xfrm>
          <a:prstGeom prst="ellipse">
            <a:avLst/>
          </a:prstGeom>
          <a:solidFill>
            <a:srgbClr val="00BCD4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240280"/>
            <a:ext cx="0" cy="228600"/>
          </a:xfrm>
          <a:prstGeom prst="line">
            <a:avLst/>
          </a:prstGeom>
          <a:noFill/>
          <a:ln w="12700">
            <a:solidFill>
              <a:srgbClr val="00BCD4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91640" y="2468880"/>
            <a:ext cx="457200" cy="320040"/>
          </a:xfrm>
          <a:prstGeom prst="ellipse">
            <a:avLst/>
          </a:prstGeom>
          <a:solidFill>
            <a:srgbClr val="00BCD4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2240280"/>
            <a:ext cx="548640" cy="228600"/>
          </a:xfrm>
          <a:prstGeom prst="line">
            <a:avLst/>
          </a:prstGeom>
          <a:noFill/>
          <a:ln w="12700">
            <a:solidFill>
              <a:srgbClr val="00BCD4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3456432"/>
            <a:ext cx="19019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A8D8EA"/>
                </a:solidFill>
              </a:rPr>
              <a:t>One orchestrator delegates to specialised sub-agents. Clear authority.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A8D8EA"/>
                </a:solidFill>
              </a:rPr>
              <a:t>Best for: deterministic pipelines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32888" y="1078992"/>
            <a:ext cx="2103120" cy="3813048"/>
          </a:xfrm>
          <a:prstGeom prst="roundRect">
            <a:avLst>
              <a:gd name="adj" fmla="val 4348"/>
            </a:avLst>
          </a:prstGeom>
          <a:solidFill>
            <a:srgbClr val="2E4057"/>
          </a:solidFill>
          <a:ln w="7620">
            <a:solidFill>
              <a:srgbClr val="0A7E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24328" y="114300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Peer-to-Peer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(Flat)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18688" y="2084832"/>
            <a:ext cx="914400" cy="0"/>
          </a:xfrm>
          <a:prstGeom prst="line">
            <a:avLst/>
          </a:prstGeom>
          <a:noFill/>
          <a:ln w="12700">
            <a:solidFill>
              <a:srgbClr val="00BCD4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18688" y="2084832"/>
            <a:ext cx="0" cy="731520"/>
          </a:xfrm>
          <a:prstGeom prst="line">
            <a:avLst/>
          </a:prstGeom>
          <a:noFill/>
          <a:ln w="12700">
            <a:solidFill>
              <a:srgbClr val="00BCD4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18688" y="2084832"/>
            <a:ext cx="914400" cy="731520"/>
          </a:xfrm>
          <a:prstGeom prst="line">
            <a:avLst/>
          </a:prstGeom>
          <a:noFill/>
          <a:ln w="12700">
            <a:solidFill>
              <a:srgbClr val="00BCD4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33088" y="2084832"/>
            <a:ext cx="-914400" cy="731520"/>
          </a:xfrm>
          <a:prstGeom prst="line">
            <a:avLst/>
          </a:prstGeom>
          <a:noFill/>
          <a:ln w="12700">
            <a:solidFill>
              <a:srgbClr val="00BCD4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33088" y="2084832"/>
            <a:ext cx="0" cy="731520"/>
          </a:xfrm>
          <a:prstGeom prst="line">
            <a:avLst/>
          </a:prstGeom>
          <a:noFill/>
          <a:ln w="12700">
            <a:solidFill>
              <a:srgbClr val="00BCD4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18688" y="2816352"/>
            <a:ext cx="914400" cy="0"/>
          </a:xfrm>
          <a:prstGeom prst="line">
            <a:avLst/>
          </a:prstGeom>
          <a:noFill/>
          <a:ln w="12700">
            <a:solidFill>
              <a:srgbClr val="00BCD4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90088" y="1920240"/>
            <a:ext cx="457200" cy="329184"/>
          </a:xfrm>
          <a:prstGeom prst="ellipse">
            <a:avLst/>
          </a:prstGeom>
          <a:solidFill>
            <a:srgbClr val="0A7EA4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04488" y="1920240"/>
            <a:ext cx="457200" cy="329184"/>
          </a:xfrm>
          <a:prstGeom prst="ellipse">
            <a:avLst/>
          </a:prstGeom>
          <a:solidFill>
            <a:srgbClr val="0A7EA4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90088" y="2651760"/>
            <a:ext cx="457200" cy="329184"/>
          </a:xfrm>
          <a:prstGeom prst="ellipse">
            <a:avLst/>
          </a:prstGeom>
          <a:solidFill>
            <a:srgbClr val="0A7EA4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04488" y="2651760"/>
            <a:ext cx="457200" cy="329184"/>
          </a:xfrm>
          <a:prstGeom prst="ellipse">
            <a:avLst/>
          </a:prstGeom>
          <a:solidFill>
            <a:srgbClr val="0A7EA4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42616" y="3456432"/>
            <a:ext cx="19019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A8D8EA"/>
                </a:solidFill>
              </a:rPr>
              <a:t>Agents communicate directly, negotiate tasks.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A8D8EA"/>
                </a:solidFill>
              </a:rPr>
              <a:t>Best for: exploratory research tasks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45736" y="1078992"/>
            <a:ext cx="2103120" cy="3813048"/>
          </a:xfrm>
          <a:prstGeom prst="roundRect">
            <a:avLst>
              <a:gd name="adj" fmla="val 4348"/>
            </a:avLst>
          </a:prstGeom>
          <a:solidFill>
            <a:srgbClr val="164E63"/>
          </a:solidFill>
          <a:ln w="7620">
            <a:solidFill>
              <a:srgbClr val="0A7E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37176" y="114300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Pipeline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(Sequential)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82896" y="2286000"/>
            <a:ext cx="493776" cy="329184"/>
          </a:xfrm>
          <a:prstGeom prst="ellipse">
            <a:avLst/>
          </a:prstGeom>
          <a:solidFill>
            <a:srgbClr val="00BCD4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76672" y="2450592"/>
            <a:ext cx="310896" cy="0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50408" y="2286000"/>
            <a:ext cx="493776" cy="329184"/>
          </a:xfrm>
          <a:prstGeom prst="ellipse">
            <a:avLst/>
          </a:prstGeom>
          <a:solidFill>
            <a:srgbClr val="00BCD4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44184" y="2450592"/>
            <a:ext cx="310896" cy="0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2286000"/>
            <a:ext cx="493776" cy="329184"/>
          </a:xfrm>
          <a:prstGeom prst="ellipse">
            <a:avLst/>
          </a:prstGeom>
          <a:solidFill>
            <a:srgbClr val="00BCD4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55464" y="3456432"/>
            <a:ext cx="19019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A8D8EA"/>
                </a:solidFill>
              </a:rPr>
              <a:t>Output A feeds B feeds C. Predictable, testable.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A8D8EA"/>
                </a:solidFill>
              </a:rPr>
              <a:t>Best for: ETL-style transformation chains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58584" y="1078992"/>
            <a:ext cx="2103120" cy="3813048"/>
          </a:xfrm>
          <a:prstGeom prst="roundRect">
            <a:avLst>
              <a:gd name="adj" fmla="val 4348"/>
            </a:avLst>
          </a:prstGeom>
          <a:solidFill>
            <a:srgbClr val="0A4C6A"/>
          </a:solidFill>
          <a:ln w="7620">
            <a:solidFill>
              <a:srgbClr val="0A7EA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50024" y="114300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Blackboard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(Shared State)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507224" y="2176272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F4C5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95744" y="1828800"/>
            <a:ext cx="457200" cy="329184"/>
          </a:xfrm>
          <a:prstGeom prst="ellipse">
            <a:avLst/>
          </a:prstGeom>
          <a:solidFill>
            <a:srgbClr val="0A7EA4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24344" y="1993392"/>
            <a:ext cx="685800" cy="457200"/>
          </a:xfrm>
          <a:prstGeom prst="line">
            <a:avLst/>
          </a:prstGeom>
          <a:noFill/>
          <a:ln w="10160">
            <a:solidFill>
              <a:srgbClr val="00BCD4">
                <a:alpha val="6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75904" y="1828800"/>
            <a:ext cx="457200" cy="329184"/>
          </a:xfrm>
          <a:prstGeom prst="ellipse">
            <a:avLst/>
          </a:prstGeom>
          <a:solidFill>
            <a:srgbClr val="0A7EA4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04504" y="1993392"/>
            <a:ext cx="-594360" cy="457200"/>
          </a:xfrm>
          <a:prstGeom prst="line">
            <a:avLst/>
          </a:prstGeom>
          <a:noFill/>
          <a:ln w="10160">
            <a:solidFill>
              <a:srgbClr val="00BCD4">
                <a:alpha val="6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95744" y="2880360"/>
            <a:ext cx="457200" cy="329184"/>
          </a:xfrm>
          <a:prstGeom prst="ellipse">
            <a:avLst/>
          </a:prstGeom>
          <a:solidFill>
            <a:srgbClr val="0A7EA4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24344" y="3044952"/>
            <a:ext cx="685800" cy="-594360"/>
          </a:xfrm>
          <a:prstGeom prst="line">
            <a:avLst/>
          </a:prstGeom>
          <a:noFill/>
          <a:ln w="10160">
            <a:solidFill>
              <a:srgbClr val="00BCD4">
                <a:alpha val="6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75904" y="2880360"/>
            <a:ext cx="457200" cy="329184"/>
          </a:xfrm>
          <a:prstGeom prst="ellipse">
            <a:avLst/>
          </a:prstGeom>
          <a:solidFill>
            <a:srgbClr val="0A7EA4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04504" y="3044952"/>
            <a:ext cx="-594360" cy="-594360"/>
          </a:xfrm>
          <a:prstGeom prst="line">
            <a:avLst/>
          </a:prstGeom>
          <a:noFill/>
          <a:ln w="10160">
            <a:solidFill>
              <a:srgbClr val="00BCD4">
                <a:alpha val="6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68312" y="3456432"/>
            <a:ext cx="19019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A8D8EA"/>
                </a:solidFill>
              </a:rPr>
              <a:t>Agents read/write a central knowledge store.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A8D8EA"/>
                </a:solidFill>
              </a:rPr>
              <a:t>Best for: collaborative document assembly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C3F7"/>
                </a:solidFill>
              </a:rPr>
              <a:t>Microsoft AI Foundry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EB7"/>
                </a:solidFill>
              </a:rPr>
              <a:t>Agent as a Service  -  Enterprise-grade orchestration on Azure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1E3A4C"/>
          </a:solidFill>
          <a:ln w="7620">
            <a:solidFill>
              <a:srgbClr val="4FC3F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41732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Agent Service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728216"/>
            <a:ext cx="20665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Fully managed runtime. Deploy agents without infra management or container orchestration.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88920" y="132588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1E3A4C"/>
          </a:solidFill>
          <a:ln w="7620">
            <a:solidFill>
              <a:srgbClr val="4FC3F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98648" y="141732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400+ Connectors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98648" y="1728216"/>
            <a:ext cx="20665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SharePoint, Dynamics, SAP, Salesforce out of the box via Power Platform integration.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532888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1E3A4C"/>
          </a:solidFill>
          <a:ln w="7620">
            <a:solidFill>
              <a:srgbClr val="4FC3F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" y="2624328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Enterprise Security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2935224"/>
            <a:ext cx="20665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Entra ID, RBAC, private endpoints, full audit logging. SOC2, ISO27001, FedRAMP.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88920" y="2532888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1E3A4C"/>
          </a:solidFill>
          <a:ln w="7620">
            <a:solidFill>
              <a:srgbClr val="4FC3F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98648" y="2624328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Observability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98648" y="2935224"/>
            <a:ext cx="20665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Built-in tracing, evaluation dashboards, and A/B testing in Azure AI Studio.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739896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1E3A4C"/>
          </a:solidFill>
          <a:ln w="7620">
            <a:solidFill>
              <a:srgbClr val="4FC3F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" y="3831336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Semantic Kernel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4142232"/>
            <a:ext cx="20665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C# and Python SDK for memory, planning, and function calling. Production-hardened.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88920" y="3739896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1E3A4C"/>
          </a:solidFill>
          <a:ln w="7620">
            <a:solidFill>
              <a:srgbClr val="4FC3F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898648" y="3831336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Multi-model Support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98648" y="4142232"/>
            <a:ext cx="20665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GPT-4o, Phi-3, Mistral, Llama -- model-agnostic orchestration layer.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74920" y="1325880"/>
            <a:ext cx="3749040" cy="3712464"/>
          </a:xfrm>
          <a:prstGeom prst="roundRect">
            <a:avLst>
              <a:gd name="adj" fmla="val 2463"/>
            </a:avLst>
          </a:prstGeom>
          <a:solidFill>
            <a:srgbClr val="0B2447"/>
          </a:solidFill>
          <a:ln w="10160">
            <a:solidFill>
              <a:srgbClr val="4FC3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0368" y="1444752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When to Choose AI Foundry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30368" y="1901952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</a:rPr>
              <a:t>[YES]  Azure-first enterprise stack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30368" y="2340864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</a:rPr>
              <a:t>[YES]  Compliance (HIPAA, FedRAMP, ISO 27001)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30368" y="2779776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</a:rPr>
              <a:t>[YES]  Power Platform + M365 integrations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30368" y="3218688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</a:rPr>
              <a:t>[YES]  Large team needing low-code tooling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30368" y="3657600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C542"/>
                </a:solidFill>
              </a:rPr>
              <a:t>[MAYBE]  Vendor lock-in is acceptable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30368" y="4096512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</a:rPr>
              <a:t>[NO]  Tight budget or startup greenfield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30368" y="4535424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</a:rPr>
              <a:t>[NO]  Non-Azure cloud primary infrastructure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</a:rPr>
              <a:t>OpenAI Agents SDK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EB7"/>
                </a:solidFill>
              </a:rPr>
              <a:t>Official Python SDK for production agent systems  -  Released Feb 2025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103120" cy="3639312"/>
          </a:xfrm>
          <a:prstGeom prst="roundRect">
            <a:avLst>
              <a:gd name="adj" fmla="val 3913"/>
            </a:avLst>
          </a:prstGeom>
          <a:solidFill>
            <a:srgbClr val="111827"/>
          </a:solidFill>
          <a:ln w="889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41732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Agent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" y="1783080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LLM + instructions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+ tools + handoffs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The atomic unit.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2523744"/>
            <a:ext cx="1920240" cy="2304288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2596896"/>
            <a:ext cx="177393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Agent(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name='Router',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model='gpt-4o',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instructions='...',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tools=[search]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32888" y="1325880"/>
            <a:ext cx="2103120" cy="3639312"/>
          </a:xfrm>
          <a:prstGeom prst="roundRect">
            <a:avLst>
              <a:gd name="adj" fmla="val 3913"/>
            </a:avLst>
          </a:prstGeom>
          <a:solidFill>
            <a:srgbClr val="111827"/>
          </a:solidFill>
          <a:ln w="889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42616" y="141732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Handoffs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42616" y="1783080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Transfer execution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to another agent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on condition.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24328" y="2523744"/>
            <a:ext cx="1920240" cy="2304288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2596896"/>
            <a:ext cx="177393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Agent(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handoffs=[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billing_agent,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tech_agent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45736" y="1325880"/>
            <a:ext cx="2103120" cy="3639312"/>
          </a:xfrm>
          <a:prstGeom prst="roundRect">
            <a:avLst>
              <a:gd name="adj" fmla="val 3913"/>
            </a:avLst>
          </a:prstGeom>
          <a:solidFill>
            <a:srgbClr val="111827"/>
          </a:solidFill>
          <a:ln w="889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55464" y="141732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Guardrails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55464" y="1783080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Input/output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validation before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the LLM call.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37176" y="2523744"/>
            <a:ext cx="1920240" cy="2304288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2596896"/>
            <a:ext cx="177393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@input_guardrail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check(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ctx, agent, inp):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Result(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tripwire=False)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958584" y="1325880"/>
            <a:ext cx="2103120" cy="3639312"/>
          </a:xfrm>
          <a:prstGeom prst="roundRect">
            <a:avLst>
              <a:gd name="adj" fmla="val 3913"/>
            </a:avLst>
          </a:prstGeom>
          <a:solidFill>
            <a:srgbClr val="111827"/>
          </a:solidFill>
          <a:ln w="889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68312" y="141732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Tracing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68312" y="1783080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Built-in structured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tracing with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OpenTelemetry.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050024" y="2523744"/>
            <a:ext cx="1920240" cy="2304288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23176" y="2596896"/>
            <a:ext cx="177393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trace('pipe'):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result = await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Runner.run(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agent, inp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CrewAI  -  Framework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C4FF"/>
                </a:solidFill>
              </a:rPr>
              <a:t>Open-source  -  Role-based  -  LLM-agnostic  -  30k+ GitHub stars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298448"/>
            <a:ext cx="1572768" cy="3566160"/>
          </a:xfrm>
          <a:prstGeom prst="roundRect">
            <a:avLst>
              <a:gd name="adj" fmla="val 5233"/>
            </a:avLst>
          </a:prstGeom>
          <a:solidFill>
            <a:srgbClr val="7B2D8B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0624" y="1389888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Agent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632" y="1828800"/>
            <a:ext cx="1298448" cy="0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920240"/>
            <a:ext cx="138988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0E6FF"/>
                </a:solidFill>
              </a:rPr>
              <a:t>Has a role, goal, and backstory. Maps 1:1 with a business function. Injects personality via system prompt.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084832" y="1298448"/>
            <a:ext cx="1572768" cy="3566160"/>
          </a:xfrm>
          <a:prstGeom prst="roundRect">
            <a:avLst>
              <a:gd name="adj" fmla="val 5233"/>
            </a:avLst>
          </a:prstGeom>
          <a:solidFill>
            <a:srgbClr val="0077B6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57984" y="1389888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Task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21992" y="1828800"/>
            <a:ext cx="1298448" cy="0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76272" y="1920240"/>
            <a:ext cx="138988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0E6FF"/>
                </a:solidFill>
              </a:rPr>
              <a:t>Atomic unit of work. Has description, expected_output, assigned agent, and optional context dependencies.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22192" y="1298448"/>
            <a:ext cx="1572768" cy="3566160"/>
          </a:xfrm>
          <a:prstGeom prst="roundRect">
            <a:avLst>
              <a:gd name="adj" fmla="val 5233"/>
            </a:avLst>
          </a:prstGeom>
          <a:solidFill>
            <a:srgbClr val="0A7EA4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95344" y="1389888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Tool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959352" y="1828800"/>
            <a:ext cx="1298448" cy="0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13632" y="1920240"/>
            <a:ext cx="138988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0E6FF"/>
                </a:solidFill>
              </a:rPr>
              <a:t>Any callable (API, search, code executor). Can be registered at agent level or overridden at task level.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59552" y="1298448"/>
            <a:ext cx="1572768" cy="3566160"/>
          </a:xfrm>
          <a:prstGeom prst="roundRect">
            <a:avLst>
              <a:gd name="adj" fmla="val 5233"/>
            </a:avLst>
          </a:prstGeom>
          <a:solidFill>
            <a:srgbClr val="164E63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32704" y="1389888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Crew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96712" y="1828800"/>
            <a:ext cx="1298448" cy="0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920240"/>
            <a:ext cx="138988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0E6FF"/>
                </a:solidFill>
              </a:rPr>
              <a:t>Collection of agents + tasks + process type. The deployable unit. Supports kickoff() and kickoff_async().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96912" y="1298448"/>
            <a:ext cx="1572768" cy="3566160"/>
          </a:xfrm>
          <a:prstGeom prst="roundRect">
            <a:avLst>
              <a:gd name="adj" fmla="val 5233"/>
            </a:avLst>
          </a:prstGeom>
          <a:solidFill>
            <a:srgbClr val="1B4332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70064" y="1389888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Process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34072" y="1828800"/>
            <a:ext cx="1298448" cy="0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88352" y="1920240"/>
            <a:ext cx="138988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0E6FF"/>
                </a:solidFill>
              </a:rPr>
              <a:t>Sequential: in order. Hierarchical: manager LLM delegates. Consensual: agents vote. Controls execution flow.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48280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2D8B"/>
                </a:solidFill>
              </a:rPr>
              <a:t>Agent + Task + Tool  -&gt;  Crew  -&gt;  Process  -&gt;  Output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Framework Comparison Scorecard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7EA4"/>
                </a:solidFill>
              </a:rPr>
              <a:t>CrewAI vs LangGraph vs AI Foundry vs OpenAI Agents SDK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2011680" cy="4114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19385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Criterion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31720" y="1078992"/>
            <a:ext cx="1554480" cy="4114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1097280"/>
            <a:ext cx="14813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CrewAI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86200" y="1078992"/>
            <a:ext cx="1554480" cy="4114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1097280"/>
            <a:ext cx="14813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LangGraph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40680" y="1078992"/>
            <a:ext cx="1691640" cy="4114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1097280"/>
            <a:ext cx="16184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Foundry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0" y="1078992"/>
            <a:ext cx="1691640" cy="4114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8040" y="1097280"/>
            <a:ext cx="16184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OpenAI SDK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1490472"/>
            <a:ext cx="2011680" cy="420624"/>
          </a:xfrm>
          <a:prstGeom prst="rect">
            <a:avLst/>
          </a:prstGeom>
          <a:solidFill>
            <a:srgbClr val="1E3A4C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" y="15087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Learning Curve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331720" y="1490472"/>
            <a:ext cx="1554480" cy="420624"/>
          </a:xfrm>
          <a:prstGeom prst="rect">
            <a:avLst/>
          </a:prstGeom>
          <a:solidFill>
            <a:srgbClr val="1E3A4C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86584" y="15087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High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86200" y="1490472"/>
            <a:ext cx="1554480" cy="420624"/>
          </a:xfrm>
          <a:prstGeom prst="rect">
            <a:avLst/>
          </a:prstGeom>
          <a:solidFill>
            <a:srgbClr val="1E3A4C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41064" y="15087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4C3C"/>
                </a:solidFill>
              </a:rPr>
              <a:t>Low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40680" y="1490472"/>
            <a:ext cx="1691640" cy="420624"/>
          </a:xfrm>
          <a:prstGeom prst="rect">
            <a:avLst/>
          </a:prstGeom>
          <a:solidFill>
            <a:srgbClr val="1E3A4C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95544" y="15087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EB7"/>
                </a:solidFill>
              </a:rPr>
              <a:t>Medium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0" y="1490472"/>
            <a:ext cx="1691640" cy="420624"/>
          </a:xfrm>
          <a:prstGeom prst="rect">
            <a:avLst/>
          </a:prstGeom>
          <a:solidFill>
            <a:srgbClr val="1E3A4C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87184" y="15087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High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1929384"/>
            <a:ext cx="2011680" cy="420624"/>
          </a:xfrm>
          <a:prstGeom prst="rect">
            <a:avLst/>
          </a:prstGeom>
          <a:solidFill>
            <a:srgbClr val="1A2535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" y="19476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Flexibility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331720" y="1929384"/>
            <a:ext cx="1554480" cy="420624"/>
          </a:xfrm>
          <a:prstGeom prst="rect">
            <a:avLst/>
          </a:prstGeom>
          <a:solidFill>
            <a:srgbClr val="1A2535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86584" y="19476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High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886200" y="1929384"/>
            <a:ext cx="1554480" cy="420624"/>
          </a:xfrm>
          <a:prstGeom prst="rect">
            <a:avLst/>
          </a:prstGeom>
          <a:solidFill>
            <a:srgbClr val="1A2535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41064" y="19476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D700"/>
                </a:solidFill>
              </a:rPr>
              <a:t>Very High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40680" y="1929384"/>
            <a:ext cx="1691640" cy="420624"/>
          </a:xfrm>
          <a:prstGeom prst="rect">
            <a:avLst/>
          </a:prstGeom>
          <a:solidFill>
            <a:srgbClr val="1A2535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95544" y="19476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EB7"/>
                </a:solidFill>
              </a:rPr>
              <a:t>Medium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132320" y="1929384"/>
            <a:ext cx="1691640" cy="420624"/>
          </a:xfrm>
          <a:prstGeom prst="rect">
            <a:avLst/>
          </a:prstGeom>
          <a:solidFill>
            <a:srgbClr val="1A2535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87184" y="19476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EB7"/>
                </a:solidFill>
              </a:rPr>
              <a:t>Medium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2368296"/>
            <a:ext cx="2011680" cy="420624"/>
          </a:xfrm>
          <a:prstGeom prst="rect">
            <a:avLst/>
          </a:prstGeom>
          <a:solidFill>
            <a:srgbClr val="1E3A4C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4904" y="23865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Enterprise Ready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331720" y="2368296"/>
            <a:ext cx="1554480" cy="420624"/>
          </a:xfrm>
          <a:prstGeom prst="rect">
            <a:avLst/>
          </a:prstGeom>
          <a:solidFill>
            <a:srgbClr val="1E3A4C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86584" y="23865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EB7"/>
                </a:solidFill>
              </a:rPr>
              <a:t>Medium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886200" y="2368296"/>
            <a:ext cx="1554480" cy="420624"/>
          </a:xfrm>
          <a:prstGeom prst="rect">
            <a:avLst/>
          </a:prstGeom>
          <a:solidFill>
            <a:srgbClr val="1E3A4C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41064" y="23865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EB7"/>
                </a:solidFill>
              </a:rPr>
              <a:t>Medium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40680" y="2368296"/>
            <a:ext cx="1691640" cy="420624"/>
          </a:xfrm>
          <a:prstGeom prst="rect">
            <a:avLst/>
          </a:prstGeom>
          <a:solidFill>
            <a:srgbClr val="1E3A4C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95544" y="238658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D700"/>
                </a:solidFill>
              </a:rPr>
              <a:t>Very High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132320" y="2368296"/>
            <a:ext cx="1691640" cy="420624"/>
          </a:xfrm>
          <a:prstGeom prst="rect">
            <a:avLst/>
          </a:prstGeom>
          <a:solidFill>
            <a:srgbClr val="1E3A4C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7184" y="238658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High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20040" y="2807208"/>
            <a:ext cx="2011680" cy="420624"/>
          </a:xfrm>
          <a:prstGeom prst="rect">
            <a:avLst/>
          </a:prstGeom>
          <a:solidFill>
            <a:srgbClr val="1A2535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4904" y="28254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LLM Agnosticism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331720" y="2807208"/>
            <a:ext cx="1554480" cy="420624"/>
          </a:xfrm>
          <a:prstGeom prst="rect">
            <a:avLst/>
          </a:prstGeom>
          <a:solidFill>
            <a:srgbClr val="1A2535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86584" y="28254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D700"/>
                </a:solidFill>
              </a:rPr>
              <a:t>Very High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886200" y="2807208"/>
            <a:ext cx="1554480" cy="420624"/>
          </a:xfrm>
          <a:prstGeom prst="rect">
            <a:avLst/>
          </a:prstGeom>
          <a:solidFill>
            <a:srgbClr val="1A2535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41064" y="28254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D700"/>
                </a:solidFill>
              </a:rPr>
              <a:t>Very High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440680" y="2807208"/>
            <a:ext cx="1691640" cy="420624"/>
          </a:xfrm>
          <a:prstGeom prst="rect">
            <a:avLst/>
          </a:prstGeom>
          <a:solidFill>
            <a:srgbClr val="1A2535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95544" y="282549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High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132320" y="2807208"/>
            <a:ext cx="1691640" cy="420624"/>
          </a:xfrm>
          <a:prstGeom prst="rect">
            <a:avLst/>
          </a:prstGeom>
          <a:solidFill>
            <a:srgbClr val="1A2535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87184" y="282549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4C3C"/>
                </a:solidFill>
              </a:rPr>
              <a:t>Low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20040" y="3246120"/>
            <a:ext cx="2011680" cy="420624"/>
          </a:xfrm>
          <a:prstGeom prst="rect">
            <a:avLst/>
          </a:prstGeom>
          <a:solidFill>
            <a:srgbClr val="1E3A4C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4904" y="32644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Built-in Memory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331720" y="3246120"/>
            <a:ext cx="1554480" cy="420624"/>
          </a:xfrm>
          <a:prstGeom prst="rect">
            <a:avLst/>
          </a:prstGeom>
          <a:solidFill>
            <a:srgbClr val="1E3A4C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86584" y="32644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High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3886200" y="3246120"/>
            <a:ext cx="1554480" cy="420624"/>
          </a:xfrm>
          <a:prstGeom prst="rect">
            <a:avLst/>
          </a:prstGeom>
          <a:solidFill>
            <a:srgbClr val="1E3A4C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41064" y="32644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High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440680" y="3246120"/>
            <a:ext cx="1691640" cy="420624"/>
          </a:xfrm>
          <a:prstGeom prst="rect">
            <a:avLst/>
          </a:prstGeom>
          <a:solidFill>
            <a:srgbClr val="1E3A4C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95544" y="326440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High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132320" y="3246120"/>
            <a:ext cx="1691640" cy="420624"/>
          </a:xfrm>
          <a:prstGeom prst="rect">
            <a:avLst/>
          </a:prstGeom>
          <a:solidFill>
            <a:srgbClr val="1E3A4C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87184" y="326440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EB7"/>
                </a:solidFill>
              </a:rPr>
              <a:t>Medium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320040" y="3685032"/>
            <a:ext cx="2011680" cy="420624"/>
          </a:xfrm>
          <a:prstGeom prst="rect">
            <a:avLst/>
          </a:prstGeom>
          <a:solidFill>
            <a:srgbClr val="1A2535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74904" y="3703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Debug + Trace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2331720" y="3685032"/>
            <a:ext cx="1554480" cy="420624"/>
          </a:xfrm>
          <a:prstGeom prst="rect">
            <a:avLst/>
          </a:prstGeom>
          <a:solidFill>
            <a:srgbClr val="1A2535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386584" y="37033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EB7"/>
                </a:solidFill>
              </a:rPr>
              <a:t>Medium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3886200" y="3685032"/>
            <a:ext cx="1554480" cy="420624"/>
          </a:xfrm>
          <a:prstGeom prst="rect">
            <a:avLst/>
          </a:prstGeom>
          <a:solidFill>
            <a:srgbClr val="1A2535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941064" y="37033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D700"/>
                </a:solidFill>
              </a:rPr>
              <a:t>Very High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5440680" y="3685032"/>
            <a:ext cx="1691640" cy="420624"/>
          </a:xfrm>
          <a:prstGeom prst="rect">
            <a:avLst/>
          </a:prstGeom>
          <a:solidFill>
            <a:srgbClr val="1A2535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495544" y="37033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D700"/>
                </a:solidFill>
              </a:rPr>
              <a:t>Very High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7132320" y="3685032"/>
            <a:ext cx="1691640" cy="420624"/>
          </a:xfrm>
          <a:prstGeom prst="rect">
            <a:avLst/>
          </a:prstGeom>
          <a:solidFill>
            <a:srgbClr val="1A2535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87184" y="37033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D700"/>
                </a:solidFill>
              </a:rPr>
              <a:t>Very High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320040" y="4123944"/>
            <a:ext cx="2011680" cy="420624"/>
          </a:xfrm>
          <a:prstGeom prst="rect">
            <a:avLst/>
          </a:prstGeom>
          <a:solidFill>
            <a:srgbClr val="1E3A4C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74904" y="41422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Community Size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2331720" y="4123944"/>
            <a:ext cx="1554480" cy="420624"/>
          </a:xfrm>
          <a:prstGeom prst="rect">
            <a:avLst/>
          </a:prstGeom>
          <a:solidFill>
            <a:srgbClr val="1E3A4C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386584" y="41422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D700"/>
                </a:solidFill>
              </a:rPr>
              <a:t>Very High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3886200" y="4123944"/>
            <a:ext cx="1554480" cy="420624"/>
          </a:xfrm>
          <a:prstGeom prst="rect">
            <a:avLst/>
          </a:prstGeom>
          <a:solidFill>
            <a:srgbClr val="1E3A4C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941064" y="41422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High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5440680" y="4123944"/>
            <a:ext cx="1691640" cy="420624"/>
          </a:xfrm>
          <a:prstGeom prst="rect">
            <a:avLst/>
          </a:prstGeom>
          <a:solidFill>
            <a:srgbClr val="1E3A4C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495544" y="414223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EB7"/>
                </a:solidFill>
              </a:rPr>
              <a:t>Medium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7132320" y="4123944"/>
            <a:ext cx="1691640" cy="420624"/>
          </a:xfrm>
          <a:prstGeom prst="rect">
            <a:avLst/>
          </a:prstGeom>
          <a:solidFill>
            <a:srgbClr val="1E3A4C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87184" y="414223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High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320040" y="4562856"/>
            <a:ext cx="2011680" cy="420624"/>
          </a:xfrm>
          <a:prstGeom prst="rect">
            <a:avLst/>
          </a:prstGeom>
          <a:solidFill>
            <a:srgbClr val="1A2535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74904" y="45811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Licensing Cost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2331720" y="4562856"/>
            <a:ext cx="1554480" cy="420624"/>
          </a:xfrm>
          <a:prstGeom prst="rect">
            <a:avLst/>
          </a:prstGeom>
          <a:solidFill>
            <a:srgbClr val="1A2535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386584" y="45811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4C3C"/>
                </a:solidFill>
              </a:rPr>
              <a:t>Free / OSS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3886200" y="4562856"/>
            <a:ext cx="1554480" cy="420624"/>
          </a:xfrm>
          <a:prstGeom prst="rect">
            <a:avLst/>
          </a:prstGeom>
          <a:solidFill>
            <a:srgbClr val="1A2535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941064" y="45811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4C3C"/>
                </a:solidFill>
              </a:rPr>
              <a:t>Free / OSS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5440680" y="4562856"/>
            <a:ext cx="1691640" cy="420624"/>
          </a:xfrm>
          <a:prstGeom prst="rect">
            <a:avLst/>
          </a:prstGeom>
          <a:solidFill>
            <a:srgbClr val="1A2535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495544" y="458114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4C3C"/>
                </a:solidFill>
              </a:rPr>
              <a:t>Azure pricing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7132320" y="4562856"/>
            <a:ext cx="1691640" cy="420624"/>
          </a:xfrm>
          <a:prstGeom prst="rect">
            <a:avLst/>
          </a:prstGeom>
          <a:solidFill>
            <a:srgbClr val="1A2535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187184" y="458114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4C3C"/>
                </a:solidFill>
              </a:rPr>
              <a:t>Free / OSS</a:t>
            </a:r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320040" y="4864608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EB7"/>
                </a:solidFill>
              </a:rPr>
              <a:t>Ratings are directional. Context matters. Full comparison in Colab 2.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CrewAI Deep Dive  -  Agents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C4FF"/>
                </a:solidFill>
              </a:rPr>
              <a:t>Module 3  -  Designing role-first agents that map to business functions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2D8B"/>
                </a:solidFill>
              </a:rPr>
              <a:t>Agent Anatomy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1627632"/>
            <a:ext cx="4114800" cy="384048"/>
          </a:xfrm>
          <a:prstGeom prst="rect">
            <a:avLst/>
          </a:prstGeom>
          <a:solidFill>
            <a:srgbClr val="F3E8FF"/>
          </a:solidFill>
          <a:ln w="12700">
            <a:solidFill>
              <a:srgbClr val="D4B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8249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2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417320" y="168249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7E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'Supply Chain Monitor'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606040" y="16824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D4A"/>
                </a:solidFill>
              </a:rPr>
              <a:t>The job title - shapes all LLM reasoning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048256"/>
            <a:ext cx="4114800" cy="384048"/>
          </a:xfrm>
          <a:prstGeom prst="rect">
            <a:avLst/>
          </a:prstGeom>
          <a:solidFill>
            <a:srgbClr val="EDE0F5"/>
          </a:solidFill>
          <a:ln w="12700">
            <a:solidFill>
              <a:srgbClr val="D4B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031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2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17320" y="21031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7E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'Detect disruptions'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0604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D4A"/>
                </a:solidFill>
              </a:rPr>
              <a:t>What success looks like for this agent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2468880"/>
            <a:ext cx="4114800" cy="384048"/>
          </a:xfrm>
          <a:prstGeom prst="rect">
            <a:avLst/>
          </a:prstGeom>
          <a:solidFill>
            <a:srgbClr val="F3E8FF"/>
          </a:solidFill>
          <a:ln w="12700">
            <a:solidFill>
              <a:srgbClr val="D4B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2374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2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backstory: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417320" y="252374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7E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'10yr logistics expert'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06040" y="25237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D4A"/>
                </a:solidFill>
              </a:rPr>
              <a:t>Personality context as system prompt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2889504"/>
            <a:ext cx="4114800" cy="384048"/>
          </a:xfrm>
          <a:prstGeom prst="rect">
            <a:avLst/>
          </a:prstGeom>
          <a:solidFill>
            <a:srgbClr val="EDE0F5"/>
          </a:solidFill>
          <a:ln w="12700">
            <a:solidFill>
              <a:srgbClr val="D4B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443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2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417320" y="29443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7E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[search, db_query]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06040" y="2944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D4A"/>
                </a:solidFill>
              </a:rPr>
              <a:t>Callables the agent can invoke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3310128"/>
            <a:ext cx="4114800" cy="384048"/>
          </a:xfrm>
          <a:prstGeom prst="rect">
            <a:avLst/>
          </a:prstGeom>
          <a:solidFill>
            <a:srgbClr val="F3E8FF"/>
          </a:solidFill>
          <a:ln w="12700">
            <a:solidFill>
              <a:srgbClr val="D4B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3649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2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417320" y="33649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7E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ChatOpenAI / Anthropic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606040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D4A"/>
                </a:solidFill>
              </a:rPr>
              <a:t>Any LangChain-compatible LLM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3730752"/>
            <a:ext cx="4114800" cy="384048"/>
          </a:xfrm>
          <a:prstGeom prst="rect">
            <a:avLst/>
          </a:prstGeom>
          <a:solidFill>
            <a:srgbClr val="EDE0F5"/>
          </a:solidFill>
          <a:ln w="12700">
            <a:solidFill>
              <a:srgbClr val="D4B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7856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2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417320" y="3785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7E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/ False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606040" y="37856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D4A"/>
                </a:solidFill>
              </a:rPr>
              <a:t>Enable episodic + long-term memory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4151376"/>
            <a:ext cx="4114800" cy="384048"/>
          </a:xfrm>
          <a:prstGeom prst="rect">
            <a:avLst/>
          </a:prstGeom>
          <a:solidFill>
            <a:srgbClr val="F3E8FF"/>
          </a:solidFill>
          <a:ln w="12700">
            <a:solidFill>
              <a:srgbClr val="D4B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206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2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max_iter: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417320" y="42062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7E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60604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D4A"/>
                </a:solidFill>
              </a:rPr>
              <a:t>Guardrail: max reasoning loops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1480" y="4572000"/>
            <a:ext cx="4114800" cy="384048"/>
          </a:xfrm>
          <a:prstGeom prst="rect">
            <a:avLst/>
          </a:prstGeom>
          <a:solidFill>
            <a:srgbClr val="EDE0F5"/>
          </a:solidFill>
          <a:ln w="12700">
            <a:solidFill>
              <a:srgbClr val="D4B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6268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2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verbose: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417320" y="462686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7E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606040" y="46268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D4A"/>
                </a:solidFill>
              </a:rPr>
              <a:t>Log every thought + action step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09160" y="1234440"/>
            <a:ext cx="4069080" cy="3877056"/>
          </a:xfrm>
          <a:prstGeom prst="roundRect">
            <a:avLst>
              <a:gd name="adj" fmla="val 2358"/>
            </a:avLst>
          </a:prstGeom>
          <a:solidFill>
            <a:srgbClr val="2D1B3D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13258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C4FF"/>
                </a:solidFill>
              </a:rPr>
              <a:t>GlobalFlow Agent Examples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800600" y="1783080"/>
            <a:ext cx="3886200" cy="530352"/>
          </a:xfrm>
          <a:prstGeom prst="roundRect">
            <a:avLst>
              <a:gd name="adj" fmla="val 10345"/>
            </a:avLst>
          </a:prstGeom>
          <a:solidFill>
            <a:srgbClr val="3D1F52"/>
          </a:solidFill>
          <a:ln w="6350">
            <a:solidFill>
              <a:srgbClr val="7B2D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18196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FF"/>
                </a:solidFill>
              </a:rPr>
              <a:t>Disruption Monitor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19472" y="203911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</a:rPr>
              <a:t>Goal: Detect port/weather disruptions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919472" y="203911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4C542"/>
                </a:solidFill>
              </a:rPr>
              <a:t>Tools: web_search, weather_api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00600" y="2368296"/>
            <a:ext cx="3886200" cy="530352"/>
          </a:xfrm>
          <a:prstGeom prst="roundRect">
            <a:avLst>
              <a:gd name="adj" fmla="val 10345"/>
            </a:avLst>
          </a:prstGeom>
          <a:solidFill>
            <a:srgbClr val="3D1F52"/>
          </a:solidFill>
          <a:ln w="6350">
            <a:solidFill>
              <a:srgbClr val="7B2D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9472" y="24048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FF"/>
                </a:solidFill>
              </a:rPr>
              <a:t>Route Optimiser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919472" y="262432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</a:rPr>
              <a:t>Goal: Re-route shipments: min cost+delay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919472" y="262432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4C542"/>
                </a:solidFill>
              </a:rPr>
              <a:t>Tools: maps_api, pricing_db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00600" y="2953512"/>
            <a:ext cx="3886200" cy="530352"/>
          </a:xfrm>
          <a:prstGeom prst="roundRect">
            <a:avLst>
              <a:gd name="adj" fmla="val 10345"/>
            </a:avLst>
          </a:prstGeom>
          <a:solidFill>
            <a:srgbClr val="3D1F52"/>
          </a:solidFill>
          <a:ln w="6350">
            <a:solidFill>
              <a:srgbClr val="7B2D8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19472" y="29900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FF"/>
                </a:solidFill>
              </a:rPr>
              <a:t>Supplier Comms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919472" y="320954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</a:rPr>
              <a:t>Goal: Draft re-negotiation emails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919472" y="320954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4C542"/>
                </a:solidFill>
              </a:rPr>
              <a:t>Tools: email_send, crm_read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800600" y="3538728"/>
            <a:ext cx="3886200" cy="530352"/>
          </a:xfrm>
          <a:prstGeom prst="roundRect">
            <a:avLst>
              <a:gd name="adj" fmla="val 10345"/>
            </a:avLst>
          </a:prstGeom>
          <a:solidFill>
            <a:srgbClr val="3D1F52"/>
          </a:solidFill>
          <a:ln w="6350">
            <a:solidFill>
              <a:srgbClr val="7B2D8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19472" y="35753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FF"/>
                </a:solidFill>
              </a:rPr>
              <a:t>Compliance Officer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919472" y="379476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</a:rPr>
              <a:t>Goal: Verify customs for rerouted ships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919472" y="379476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4C542"/>
                </a:solidFill>
              </a:rPr>
              <a:t>Tools: customs_api, reg_db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800600" y="4123944"/>
            <a:ext cx="3886200" cy="530352"/>
          </a:xfrm>
          <a:prstGeom prst="roundRect">
            <a:avLst>
              <a:gd name="adj" fmla="val 10345"/>
            </a:avLst>
          </a:prstGeom>
          <a:solidFill>
            <a:srgbClr val="3D1F52"/>
          </a:solidFill>
          <a:ln w="6350">
            <a:solidFill>
              <a:srgbClr val="7B2D8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19472" y="41605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FF"/>
                </a:solidFill>
              </a:rPr>
              <a:t>Report Writer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919472" y="437997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</a:rPr>
              <a:t>Goal: Produce executive summary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919472" y="4379976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4C542"/>
                </a:solidFill>
              </a:rPr>
              <a:t>Tools: file_write, template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4A1070"/>
          </a:solidFill>
          <a:ln w="12700">
            <a:solidFill>
              <a:srgbClr val="4A10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CrewAI Deep Dive  -  Tasks, Processes, Memory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FF"/>
                </a:solidFill>
              </a:rPr>
              <a:t>Tasks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1627632"/>
            <a:ext cx="4114800" cy="365760"/>
          </a:xfrm>
          <a:prstGeom prst="rect">
            <a:avLst/>
          </a:prstGeom>
          <a:solidFill>
            <a:srgbClr val="2D1B3D"/>
          </a:solidFill>
          <a:ln w="12700">
            <a:solidFill>
              <a:srgbClr val="5A20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824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011680" y="16824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Natural language work specification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2029968"/>
            <a:ext cx="4114800" cy="365760"/>
          </a:xfrm>
          <a:prstGeom prst="rect">
            <a:avLst/>
          </a:prstGeom>
          <a:solidFill>
            <a:srgbClr val="3D1F52"/>
          </a:solidFill>
          <a:ln w="12700">
            <a:solidFill>
              <a:srgbClr val="5A2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848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expected_output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11680" y="20848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What done looks like for this task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432304"/>
            <a:ext cx="4114800" cy="365760"/>
          </a:xfrm>
          <a:prstGeom prst="rect">
            <a:avLst/>
          </a:prstGeom>
          <a:solidFill>
            <a:srgbClr val="2D1B3D"/>
          </a:solidFill>
          <a:ln w="12700">
            <a:solidFill>
              <a:srgbClr val="5A2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87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011680" y="24871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Assigned agent (or auto-assigned)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834640"/>
            <a:ext cx="4114800" cy="365760"/>
          </a:xfrm>
          <a:prstGeom prst="rect">
            <a:avLst/>
          </a:prstGeom>
          <a:solidFill>
            <a:srgbClr val="3D1F52"/>
          </a:solidFill>
          <a:ln w="12700">
            <a:solidFill>
              <a:srgbClr val="5A20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895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11680" y="2889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[task_a] -- injects prior task outputs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236976"/>
            <a:ext cx="4114800" cy="365760"/>
          </a:xfrm>
          <a:prstGeom prst="rect">
            <a:avLst/>
          </a:prstGeom>
          <a:solidFill>
            <a:srgbClr val="2D1B3D"/>
          </a:solidFill>
          <a:ln w="12700">
            <a:solidFill>
              <a:srgbClr val="5A2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918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async_execution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011680" y="32918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True = run task in parallel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639312"/>
            <a:ext cx="4114800" cy="365760"/>
          </a:xfrm>
          <a:prstGeom prst="rect">
            <a:avLst/>
          </a:prstGeom>
          <a:solidFill>
            <a:srgbClr val="3D1F52"/>
          </a:solidFill>
          <a:ln w="12700">
            <a:solidFill>
              <a:srgbClr val="5A20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941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human_input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011680" y="369417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True = pause and await review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4041648"/>
            <a:ext cx="4114800" cy="365760"/>
          </a:xfrm>
          <a:prstGeom prst="rect">
            <a:avLst/>
          </a:prstGeom>
          <a:solidFill>
            <a:srgbClr val="2D1B3D"/>
          </a:solidFill>
          <a:ln w="12700">
            <a:solidFill>
              <a:srgbClr val="5A2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0965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output_file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011680" y="40965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Persist result to disk path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4443984"/>
            <a:ext cx="4114800" cy="365760"/>
          </a:xfrm>
          <a:prstGeom prst="rect">
            <a:avLst/>
          </a:prstGeom>
          <a:solidFill>
            <a:srgbClr val="3D1F52"/>
          </a:solidFill>
          <a:ln w="12700">
            <a:solidFill>
              <a:srgbClr val="5A2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4988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callback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011680" y="44988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Function called on completion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0916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FF"/>
                </a:solidFill>
              </a:rPr>
              <a:t>Processes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709160" y="1627632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0077B6"/>
          </a:solidFill>
          <a:ln w="6350">
            <a:solidFill>
              <a:srgbClr val="E9C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17007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Sequential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28032" y="197510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E6FF"/>
                </a:solidFill>
              </a:rPr>
              <a:t>Tasks run in definition order. Simplest, most predictable. Task 1 -&gt; Task 2 -&gt; Task 3 -&gt; Output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09160" y="2542032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7B2D8B"/>
          </a:solidFill>
          <a:ln w="6350">
            <a:solidFill>
              <a:srgbClr val="E9C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26151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Hierarchical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28032" y="288950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E6FF"/>
                </a:solidFill>
              </a:rPr>
              <a:t>Manager LLM auto-decomposes goal, delegates to agents, validates each result before proceeding.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09160" y="3456432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1B4332"/>
          </a:solidFill>
          <a:ln w="6350">
            <a:solidFill>
              <a:srgbClr val="E9C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35295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Consensual*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28032" y="380390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E6FF"/>
                </a:solidFill>
              </a:rPr>
              <a:t>Agents vote on each output. Experimental in current releases -- use with caution.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09160" y="44988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FF"/>
                </a:solidFill>
              </a:rPr>
              <a:t>Memory Types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709160" y="482803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8D8EA"/>
                </a:solidFill>
              </a:rPr>
              <a:t>Short-term: current run context (RAG-based)   |   Long-term: SQLite across runs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8D8EA"/>
                </a:solidFill>
              </a:rPr>
              <a:t>Entity: tracks people/places/things   |   Contextual: task output chain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CD4"/>
                </a:solidFill>
              </a:rPr>
              <a:t>LangGraph  -  Contrast &amp; When to Use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EB7"/>
                </a:solidFill>
              </a:rPr>
              <a:t>Stateful, graph-based agent orchestration  -  Part of LangChain ecosystem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2103120" cy="1627632"/>
          </a:xfrm>
          <a:prstGeom prst="roundRect">
            <a:avLst>
              <a:gd name="adj" fmla="val 5056"/>
            </a:avLst>
          </a:prstGeom>
          <a:solidFill>
            <a:srgbClr val="0F2D4A"/>
          </a:solidFill>
          <a:ln w="8890">
            <a:solidFill>
              <a:srgbClr val="0A7E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353312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Graph = State Machine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737360"/>
            <a:ext cx="18836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Nodes are agent steps. Edges are conditional transitions. You control EVERY decision point explicitly -- nothing is implicit or magic.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32888" y="1261872"/>
            <a:ext cx="2103120" cy="1627632"/>
          </a:xfrm>
          <a:prstGeom prst="roundRect">
            <a:avLst>
              <a:gd name="adj" fmla="val 5056"/>
            </a:avLst>
          </a:prstGeom>
          <a:solidFill>
            <a:srgbClr val="0F3460"/>
          </a:solidFill>
          <a:ln w="8890">
            <a:solidFill>
              <a:srgbClr val="0A7E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42616" y="1353312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Persistent State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42616" y="1737360"/>
            <a:ext cx="18836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StateGraph checkpoints to Redis, Postgres, or SQLite. Long-running workflows survive restarts. Perfect for multi-day processes.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999232"/>
            <a:ext cx="2103120" cy="1627632"/>
          </a:xfrm>
          <a:prstGeom prst="roundRect">
            <a:avLst>
              <a:gd name="adj" fmla="val 5056"/>
            </a:avLst>
          </a:prstGeom>
          <a:solidFill>
            <a:srgbClr val="0A4C6A"/>
          </a:solidFill>
          <a:ln w="8890">
            <a:solidFill>
              <a:srgbClr val="0A7E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3090672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Human-in-the-Loop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" y="3474720"/>
            <a:ext cx="18836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interrupt_before and interrupt_after hooks pause the graph, await human approval, then resume from exact checkpoint. Production-grade.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32888" y="2999232"/>
            <a:ext cx="2103120" cy="1627632"/>
          </a:xfrm>
          <a:prstGeom prst="roundRect">
            <a:avLst>
              <a:gd name="adj" fmla="val 5056"/>
            </a:avLst>
          </a:prstGeom>
          <a:solidFill>
            <a:srgbClr val="164E63"/>
          </a:solidFill>
          <a:ln w="8890">
            <a:solidFill>
              <a:srgbClr val="0A7E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42616" y="3090672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Streaming Tokens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42616" y="3474720"/>
            <a:ext cx="18836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Every node can stream partial tokens to the user. Critical UX for slow research pipelines. Built-in LangSmith observability.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1261872"/>
            <a:ext cx="4069080" cy="3639312"/>
          </a:xfrm>
          <a:prstGeom prst="roundRect">
            <a:avLst>
              <a:gd name="adj" fmla="val 2513"/>
            </a:avLst>
          </a:prstGeom>
          <a:solidFill>
            <a:srgbClr val="0F2D4A"/>
          </a:solidFill>
          <a:ln w="1016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37160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</a:rPr>
              <a:t>CrewAI vs LangGraph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09160" y="1755648"/>
            <a:ext cx="4069080" cy="402336"/>
          </a:xfrm>
          <a:prstGeom prst="rect">
            <a:avLst/>
          </a:prstGeom>
          <a:solidFill>
            <a:srgbClr val="0A7EA4"/>
          </a:solidFill>
          <a:ln w="12700">
            <a:solidFill>
              <a:srgbClr val="2A4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81051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62472" y="181051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CrewAI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15784" y="181051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LangGraph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194560"/>
            <a:ext cx="4069080" cy="402336"/>
          </a:xfrm>
          <a:prstGeom prst="rect">
            <a:avLst/>
          </a:prstGeom>
          <a:solidFill>
            <a:srgbClr val="253A50"/>
          </a:solidFill>
          <a:ln w="12700">
            <a:solidFill>
              <a:srgbClr val="2A4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24942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Abstraction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62472" y="224942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84FC"/>
                </a:solidFill>
              </a:rPr>
              <a:t>High (roles)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15784" y="224942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CD4"/>
                </a:solidFill>
              </a:rPr>
              <a:t>Low (graph)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2633472"/>
            <a:ext cx="4069080" cy="402336"/>
          </a:xfrm>
          <a:prstGeom prst="rect">
            <a:avLst/>
          </a:prstGeom>
          <a:solidFill>
            <a:srgbClr val="1E3A4C"/>
          </a:solidFill>
          <a:ln w="12700">
            <a:solidFill>
              <a:srgbClr val="2A4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68833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Control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62472" y="268833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84FC"/>
                </a:solidFill>
              </a:rPr>
              <a:t>Convention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15784" y="268833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CD4"/>
                </a:solidFill>
              </a:rPr>
              <a:t>Total control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072384"/>
            <a:ext cx="4069080" cy="402336"/>
          </a:xfrm>
          <a:prstGeom prst="rect">
            <a:avLst/>
          </a:prstGeom>
          <a:solidFill>
            <a:srgbClr val="253A50"/>
          </a:solidFill>
          <a:ln w="12700">
            <a:solidFill>
              <a:srgbClr val="2A4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12724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State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62472" y="312724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84FC"/>
                </a:solidFill>
              </a:rPr>
              <a:t>Context pass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15784" y="312724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CD4"/>
                </a:solidFill>
              </a:rPr>
              <a:t>Rich StateGraph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3511296"/>
            <a:ext cx="4069080" cy="402336"/>
          </a:xfrm>
          <a:prstGeom prst="rect">
            <a:avLst/>
          </a:prstGeom>
          <a:solidFill>
            <a:srgbClr val="1E3A4C"/>
          </a:solidFill>
          <a:ln w="12700">
            <a:solidFill>
              <a:srgbClr val="2A4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5661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Complexity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62472" y="35661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84FC"/>
                </a:solidFill>
              </a:rPr>
              <a:t>Low (fast start)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15784" y="35661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CD4"/>
                </a:solidFill>
              </a:rPr>
              <a:t>Higher (config)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3950208"/>
            <a:ext cx="4069080" cy="402336"/>
          </a:xfrm>
          <a:prstGeom prst="rect">
            <a:avLst/>
          </a:prstGeom>
          <a:solidFill>
            <a:srgbClr val="253A50"/>
          </a:solidFill>
          <a:ln w="12700">
            <a:solidFill>
              <a:srgbClr val="2A4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40050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Best for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62472" y="40050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84FC"/>
                </a:solidFill>
              </a:rPr>
              <a:t>Biz workflows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415784" y="40050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CD4"/>
                </a:solidFill>
              </a:rPr>
              <a:t>Conditional flows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09160" y="4389120"/>
            <a:ext cx="4069080" cy="402336"/>
          </a:xfrm>
          <a:prstGeom prst="rect">
            <a:avLst/>
          </a:prstGeom>
          <a:solidFill>
            <a:srgbClr val="1E3A4C"/>
          </a:solidFill>
          <a:ln w="12700">
            <a:solidFill>
              <a:srgbClr val="2A4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444398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Debug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062472" y="444398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84FC"/>
                </a:solidFill>
              </a:rPr>
              <a:t>Moderate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415784" y="444398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CD4"/>
                </a:solidFill>
              </a:rPr>
              <a:t>Excellent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ound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Colab 1  -  CrewAI Supply-Chain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</a:rPr>
              <a:t>Build the GlobalFlow multi-agent disruption response system end-to-end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4251960" cy="1691640"/>
          </a:xfrm>
          <a:prstGeom prst="roundRect">
            <a:avLst>
              <a:gd name="adj" fmla="val 4865"/>
            </a:avLst>
          </a:prstGeom>
          <a:solidFill>
            <a:srgbClr val="1B4332"/>
          </a:solidFill>
          <a:ln w="1016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371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Part 1  -  Environment Setup  (15 min)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84632" y="173736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  pip install crewai crewai-tools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4632" y="20116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  Configure LLM keys (OpenAI / Anthropic)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4632" y="228600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  Verify MCP server connectivity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" y="25603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  Hello World single-agent smoke test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4251960" cy="1691640"/>
          </a:xfrm>
          <a:prstGeom prst="roundRect">
            <a:avLst>
              <a:gd name="adj" fmla="val 4865"/>
            </a:avLst>
          </a:prstGeom>
          <a:solidFill>
            <a:srgbClr val="0F3460"/>
          </a:solidFill>
          <a:ln w="1016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371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Part 2  -  Build the 5-Agent Crew  (40 min)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19472" y="173736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  Define 5 GlobalFlow agents with backstories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19472" y="20116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  Create 6 tasks with context dependencies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19472" y="228600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  Register MCP tools (weather_api, maps, email)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19472" y="25603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  Wire hierarchical process with manager LLM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090672"/>
            <a:ext cx="4251960" cy="1691640"/>
          </a:xfrm>
          <a:prstGeom prst="roundRect">
            <a:avLst>
              <a:gd name="adj" fmla="val 4865"/>
            </a:avLst>
          </a:prstGeom>
          <a:solidFill>
            <a:srgbClr val="164E63"/>
          </a:solidFill>
          <a:ln w="1016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1821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Part 3  -  Run &amp; Observe  (30 min)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" y="35478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  Trigger with simulated Rotterdam port closure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" y="382219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  Watch agent Thought -&gt; Action -&gt; Observation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" y="409651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  Inspect memory across task boundaries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" y="43708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  Export final executive report to PDF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3090672"/>
            <a:ext cx="4251960" cy="1691640"/>
          </a:xfrm>
          <a:prstGeom prst="roundRect">
            <a:avLst>
              <a:gd name="adj" fmla="val 4865"/>
            </a:avLst>
          </a:prstGeom>
          <a:solidFill>
            <a:srgbClr val="4A1070"/>
          </a:solidFill>
          <a:ln w="10160">
            <a:solidFill>
              <a:srgbClr val="C084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31821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Extension  -  Extension Tasks  (homework)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919472" y="35478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C4FF"/>
                </a:solidFill>
              </a:rPr>
              <a:t>  Add a 6th Financial Analyst agent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19472" y="382219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C4FF"/>
                </a:solidFill>
              </a:rPr>
              <a:t>  Implement async execution for Monitor+Router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19472" y="409651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C4FF"/>
                </a:solidFill>
              </a:rPr>
              <a:t>  Replace one tool with a live MCP server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19472" y="43708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C4FF"/>
                </a:solidFill>
              </a:rPr>
              <a:t>  Add human_input gate before final report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Colab 2  -  Framework Comparison Lab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</a:rPr>
              <a:t>Implement the same 3-agent pipeline in CrewAI, LangGraph, and AI Foundry -- then score each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743200" cy="2487168"/>
          </a:xfrm>
          <a:prstGeom prst="roundRect">
            <a:avLst>
              <a:gd name="adj" fmla="val 3309"/>
            </a:avLst>
          </a:prstGeom>
          <a:solidFill>
            <a:srgbClr val="7B2D8B"/>
          </a:solidFill>
          <a:ln w="889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37160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CrewAI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D8EA"/>
                </a:solidFill>
              </a:rPr>
              <a:t>  Define 3 agents (Monitor, Router, Reporter)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30428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D8EA"/>
                </a:solidFill>
              </a:rPr>
              <a:t>  Sequential process execution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77977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D8EA"/>
                </a:solidFill>
              </a:rPr>
              <a:t>  Measure: lines of code + time-to-run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25526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D8EA"/>
                </a:solidFill>
              </a:rPr>
              <a:t>  Inspect token usage per agent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280160"/>
            <a:ext cx="2743200" cy="2487168"/>
          </a:xfrm>
          <a:prstGeom prst="roundRect">
            <a:avLst>
              <a:gd name="adj" fmla="val 3309"/>
            </a:avLst>
          </a:prstGeom>
          <a:solidFill>
            <a:srgbClr val="0F3460"/>
          </a:solidFill>
          <a:ln w="889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37160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LangGraph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18288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D8EA"/>
                </a:solidFill>
              </a:rPr>
              <a:t>  Build StateGraph: 3 nodes + conditional edges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83280" y="230428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D8EA"/>
                </a:solidFill>
              </a:rPr>
              <a:t>  Add routing on disruption severity level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83280" y="277977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D8EA"/>
                </a:solidFill>
              </a:rPr>
              <a:t>  Implement interrupt_before for human gate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83280" y="325526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D8EA"/>
                </a:solidFill>
              </a:rPr>
              <a:t>  Compare state management complexity vs CrewAI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1280160"/>
            <a:ext cx="2743200" cy="2487168"/>
          </a:xfrm>
          <a:prstGeom prst="roundRect">
            <a:avLst>
              <a:gd name="adj" fmla="val 3309"/>
            </a:avLst>
          </a:prstGeom>
          <a:solidFill>
            <a:srgbClr val="0B2447"/>
          </a:solidFill>
          <a:ln w="889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928" y="137160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AI Foundry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18288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D8EA"/>
                </a:solidFill>
              </a:rPr>
              <a:t>  Deploy agents via Azure AI Studio portal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09360" y="230428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D8EA"/>
                </a:solidFill>
              </a:rPr>
              <a:t>  Connect Azure Logic Apps as tools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09360" y="277977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D8EA"/>
                </a:solidFill>
              </a:rPr>
              <a:t>  Measure deployment time + cold-start latency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09360" y="325526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D8EA"/>
                </a:solidFill>
              </a:rPr>
              <a:t>  Export evaluation metrics to Excel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858768"/>
            <a:ext cx="8503920" cy="1133856"/>
          </a:xfrm>
          <a:prstGeom prst="roundRect">
            <a:avLst>
              <a:gd name="adj" fmla="val 7258"/>
            </a:avLst>
          </a:prstGeom>
          <a:solidFill>
            <a:srgbClr val="1E3A4C"/>
          </a:solidFill>
          <a:ln w="10160">
            <a:solidFill>
              <a:srgbClr val="0A7E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319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Scoring Rubric -- fill in for each framework: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" y="42245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C542"/>
                </a:solidFill>
              </a:rPr>
              <a:t>Code LOC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8912" y="4517136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2A3545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66544" y="42245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C542"/>
                </a:solidFill>
              </a:rPr>
              <a:t>Time-to-first-run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066544" y="4517136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2A3545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94176" y="42245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C542"/>
                </a:solidFill>
              </a:rPr>
              <a:t>Token cost/run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94176" y="4517136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2A3545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21808" y="42245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C542"/>
                </a:solidFill>
              </a:rPr>
              <a:t>Debug effort (1-5)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321808" y="4517136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2A3545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42245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C542"/>
                </a:solidFill>
              </a:rPr>
              <a:t>Use in prod?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949440" y="4517136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2A3545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9103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084FC"/>
                </a:solidFill>
              </a:rPr>
              <a:t>Extension: add OpenAI Agents SDK as a 4th row. Add LangSmith + OpenTelemetry tracing to all three.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C542"/>
                </a:solidFill>
              </a:rPr>
              <a:t>20 MCQ Quiz  -  Day 16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EB7"/>
                </a:solidFill>
              </a:rPr>
              <a:t>Multi-Agent Coordination Patterns  -  30 minutes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1.  MCP stands for __?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53619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2.  Which topology suits complex branching?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90195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3.  CrewAI field injecting prior task outputs?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26771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4.  AI Foundry is hosted on which cloud?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63347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5.  Atomic unit in OpenAI Agents SDK?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99923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6.  Hierarchical process uses __ to delegate?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36499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7.  Which CrewAI memory persists across runs?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73075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8.  MCP transport options include stdio, SSE, __?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409651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9.  LangGraph checkpointing supports which stores?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446227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10. Human-in-the-loop hook in LangGraph?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117043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11. Which frameworks score highest on LLM agnosticism?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153619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12. CrewAI max_iter controls what?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190195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13. Blackboard topology uses what central pattern?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226771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14. OpenAI SDK Guardrails run at which stage?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263347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15. Which CrewAI process is marked experimental?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299923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16. AI Foundry SDK for memory + planning?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336499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17. MCP Resources allow agents to do what?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373075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18. In LangGraph, nodes are connected by __?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409651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19. CrewAI tool can be registered on agent or __?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446227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20. GlobalFlow metric that justifies AI investment?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C71"/>
                </a:solidFill>
              </a:rPr>
              <a:t>MCQ Answers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297680" cy="365760"/>
          </a:xfrm>
          <a:prstGeom prst="roundRect">
            <a:avLst>
              <a:gd name="adj" fmla="val 12500"/>
            </a:avLst>
          </a:prstGeom>
          <a:solidFill>
            <a:srgbClr val="1B3A2D"/>
          </a:solidFill>
          <a:ln w="5080">
            <a:solidFill>
              <a:srgbClr val="2ECC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" y="1060704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C71"/>
                </a:solidFill>
              </a:rPr>
              <a:t>1. Model Context Protocol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408176"/>
            <a:ext cx="4297680" cy="365760"/>
          </a:xfrm>
          <a:prstGeom prst="roundRect">
            <a:avLst>
              <a:gd name="adj" fmla="val 12500"/>
            </a:avLst>
          </a:prstGeom>
          <a:solidFill>
            <a:srgbClr val="1B3A2D"/>
          </a:solidFill>
          <a:ln w="508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463040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C71"/>
                </a:solidFill>
              </a:rPr>
              <a:t>2. LangGraph (graph topology)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1810512"/>
            <a:ext cx="4297680" cy="365760"/>
          </a:xfrm>
          <a:prstGeom prst="roundRect">
            <a:avLst>
              <a:gd name="adj" fmla="val 12500"/>
            </a:avLst>
          </a:prstGeom>
          <a:solidFill>
            <a:srgbClr val="1B3A2D"/>
          </a:solidFill>
          <a:ln w="508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865376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C71"/>
                </a:solidFill>
              </a:rPr>
              <a:t>3. context = [prior_task]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212848"/>
            <a:ext cx="4297680" cy="365760"/>
          </a:xfrm>
          <a:prstGeom prst="roundRect">
            <a:avLst>
              <a:gd name="adj" fmla="val 12500"/>
            </a:avLst>
          </a:prstGeom>
          <a:solidFill>
            <a:srgbClr val="1B3A2D"/>
          </a:solidFill>
          <a:ln w="508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267712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C71"/>
                </a:solidFill>
              </a:rPr>
              <a:t>4. Microsoft Azure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615184"/>
            <a:ext cx="4297680" cy="365760"/>
          </a:xfrm>
          <a:prstGeom prst="roundRect">
            <a:avLst>
              <a:gd name="adj" fmla="val 12500"/>
            </a:avLst>
          </a:prstGeom>
          <a:solidFill>
            <a:srgbClr val="1B3A2D"/>
          </a:solidFill>
          <a:ln w="508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670048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C71"/>
                </a:solidFill>
              </a:rPr>
              <a:t>5. Agent class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017520"/>
            <a:ext cx="4297680" cy="365760"/>
          </a:xfrm>
          <a:prstGeom prst="roundRect">
            <a:avLst>
              <a:gd name="adj" fmla="val 12500"/>
            </a:avLst>
          </a:prstGeom>
          <a:solidFill>
            <a:srgbClr val="1B3A2D"/>
          </a:solidFill>
          <a:ln w="508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3072384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C71"/>
                </a:solidFill>
              </a:rPr>
              <a:t>6. A Manager LLM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419856"/>
            <a:ext cx="4297680" cy="365760"/>
          </a:xfrm>
          <a:prstGeom prst="roundRect">
            <a:avLst>
              <a:gd name="adj" fmla="val 12500"/>
            </a:avLst>
          </a:prstGeom>
          <a:solidFill>
            <a:srgbClr val="1B3A2D"/>
          </a:solidFill>
          <a:ln w="508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3474720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C71"/>
                </a:solidFill>
              </a:rPr>
              <a:t>7. Long-term memory (SQLite)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3822192"/>
            <a:ext cx="4297680" cy="365760"/>
          </a:xfrm>
          <a:prstGeom prst="roundRect">
            <a:avLst>
              <a:gd name="adj" fmla="val 12500"/>
            </a:avLst>
          </a:prstGeom>
          <a:solidFill>
            <a:srgbClr val="1B3A2D"/>
          </a:solidFill>
          <a:ln w="5080">
            <a:solidFill>
              <a:srgbClr val="2ECC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3877056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C71"/>
                </a:solidFill>
              </a:rPr>
              <a:t>8. WebSocket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4224528"/>
            <a:ext cx="4297680" cy="365760"/>
          </a:xfrm>
          <a:prstGeom prst="roundRect">
            <a:avLst>
              <a:gd name="adj" fmla="val 12500"/>
            </a:avLst>
          </a:prstGeom>
          <a:solidFill>
            <a:srgbClr val="1B3A2D"/>
          </a:solidFill>
          <a:ln w="5080">
            <a:solidFill>
              <a:srgbClr val="2ECC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4279392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C71"/>
                </a:solidFill>
              </a:rPr>
              <a:t>9. Redis, Postgres, SQLite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4626864"/>
            <a:ext cx="4297680" cy="365760"/>
          </a:xfrm>
          <a:prstGeom prst="roundRect">
            <a:avLst>
              <a:gd name="adj" fmla="val 12500"/>
            </a:avLst>
          </a:prstGeom>
          <a:solidFill>
            <a:srgbClr val="1B3A2D"/>
          </a:solidFill>
          <a:ln w="5080">
            <a:solidFill>
              <a:srgbClr val="2ECC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4681728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C71"/>
                </a:solidFill>
              </a:rPr>
              <a:t>10. interrupt_before / interrupt_after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83480" y="1005840"/>
            <a:ext cx="4297680" cy="365760"/>
          </a:xfrm>
          <a:prstGeom prst="roundRect">
            <a:avLst>
              <a:gd name="adj" fmla="val 12500"/>
            </a:avLst>
          </a:prstGeom>
          <a:solidFill>
            <a:srgbClr val="1B3A2D"/>
          </a:solidFill>
          <a:ln w="5080">
            <a:solidFill>
              <a:srgbClr val="2ECC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93208" y="1060704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C71"/>
                </a:solidFill>
              </a:rPr>
              <a:t>11. CrewAI and LangGraph (both)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83480" y="1408176"/>
            <a:ext cx="4297680" cy="365760"/>
          </a:xfrm>
          <a:prstGeom prst="roundRect">
            <a:avLst>
              <a:gd name="adj" fmla="val 12500"/>
            </a:avLst>
          </a:prstGeom>
          <a:solidFill>
            <a:srgbClr val="1B3A2D"/>
          </a:solidFill>
          <a:ln w="5080">
            <a:solidFill>
              <a:srgbClr val="2ECC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93208" y="1463040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C71"/>
                </a:solidFill>
              </a:rPr>
              <a:t>12. Maximum reasoning iterations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83480" y="1810512"/>
            <a:ext cx="4297680" cy="365760"/>
          </a:xfrm>
          <a:prstGeom prst="roundRect">
            <a:avLst>
              <a:gd name="adj" fmla="val 12500"/>
            </a:avLst>
          </a:prstGeom>
          <a:solidFill>
            <a:srgbClr val="1B3A2D"/>
          </a:solidFill>
          <a:ln w="5080">
            <a:solidFill>
              <a:srgbClr val="2ECC7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93208" y="1865376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C71"/>
                </a:solidFill>
              </a:rPr>
              <a:t>13. Shared state / knowledge store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83480" y="2212848"/>
            <a:ext cx="4297680" cy="365760"/>
          </a:xfrm>
          <a:prstGeom prst="roundRect">
            <a:avLst>
              <a:gd name="adj" fmla="val 12500"/>
            </a:avLst>
          </a:prstGeom>
          <a:solidFill>
            <a:srgbClr val="1B3A2D"/>
          </a:solidFill>
          <a:ln w="5080">
            <a:solidFill>
              <a:srgbClr val="2ECC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93208" y="2267712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C71"/>
                </a:solidFill>
              </a:rPr>
              <a:t>14. Input and Output validation stages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83480" y="2615184"/>
            <a:ext cx="4297680" cy="365760"/>
          </a:xfrm>
          <a:prstGeom prst="roundRect">
            <a:avLst>
              <a:gd name="adj" fmla="val 12500"/>
            </a:avLst>
          </a:prstGeom>
          <a:solidFill>
            <a:srgbClr val="1B3A2D"/>
          </a:solidFill>
          <a:ln w="5080">
            <a:solidFill>
              <a:srgbClr val="2ECC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93208" y="2670048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C71"/>
                </a:solidFill>
              </a:rPr>
              <a:t>15. Consensual process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983480" y="3017520"/>
            <a:ext cx="4297680" cy="365760"/>
          </a:xfrm>
          <a:prstGeom prst="roundRect">
            <a:avLst>
              <a:gd name="adj" fmla="val 12500"/>
            </a:avLst>
          </a:prstGeom>
          <a:solidFill>
            <a:srgbClr val="1B3A2D"/>
          </a:solidFill>
          <a:ln w="5080">
            <a:solidFill>
              <a:srgbClr val="2ECC7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93208" y="3072384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C71"/>
                </a:solidFill>
              </a:rPr>
              <a:t>16. Semantic Kernel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983480" y="3419856"/>
            <a:ext cx="4297680" cy="365760"/>
          </a:xfrm>
          <a:prstGeom prst="roundRect">
            <a:avLst>
              <a:gd name="adj" fmla="val 12500"/>
            </a:avLst>
          </a:prstGeom>
          <a:solidFill>
            <a:srgbClr val="1B3A2D"/>
          </a:solidFill>
          <a:ln w="5080">
            <a:solidFill>
              <a:srgbClr val="2ECC7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93208" y="3474720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C71"/>
                </a:solidFill>
              </a:rPr>
              <a:t>17. Read files and databases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983480" y="3822192"/>
            <a:ext cx="4297680" cy="365760"/>
          </a:xfrm>
          <a:prstGeom prst="roundRect">
            <a:avLst>
              <a:gd name="adj" fmla="val 12500"/>
            </a:avLst>
          </a:prstGeom>
          <a:solidFill>
            <a:srgbClr val="1B3A2D"/>
          </a:solidFill>
          <a:ln w="5080">
            <a:solidFill>
              <a:srgbClr val="2ECC7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93208" y="3877056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C71"/>
                </a:solidFill>
              </a:rPr>
              <a:t>18. Edges (conditional or direct)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983480" y="4224528"/>
            <a:ext cx="4297680" cy="365760"/>
          </a:xfrm>
          <a:prstGeom prst="roundRect">
            <a:avLst>
              <a:gd name="adj" fmla="val 12500"/>
            </a:avLst>
          </a:prstGeom>
          <a:solidFill>
            <a:srgbClr val="1B3A2D"/>
          </a:solidFill>
          <a:ln w="5080">
            <a:solidFill>
              <a:srgbClr val="2ECC7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93208" y="4279392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C71"/>
                </a:solidFill>
              </a:rPr>
              <a:t>19. On a Task object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983480" y="4626864"/>
            <a:ext cx="4297680" cy="365760"/>
          </a:xfrm>
          <a:prstGeom prst="roundRect">
            <a:avLst>
              <a:gd name="adj" fmla="val 12500"/>
            </a:avLst>
          </a:prstGeom>
          <a:solidFill>
            <a:srgbClr val="1B3A2D"/>
          </a:solidFill>
          <a:ln w="5080">
            <a:solidFill>
              <a:srgbClr val="2ECC7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93208" y="4681728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C71"/>
                </a:solidFill>
              </a:rPr>
              <a:t>20. EUR 14M loss per 2-hour delay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Takeaways  -  Day 16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EB7"/>
                </a:solidFill>
              </a:rPr>
              <a:t>What every participant should leave knowing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2788920" cy="1627632"/>
          </a:xfrm>
          <a:prstGeom prst="roundRect">
            <a:avLst>
              <a:gd name="adj" fmla="val 5618"/>
            </a:avLst>
          </a:prstGeom>
          <a:solidFill>
            <a:srgbClr val="0A7EA4"/>
          </a:solidFill>
          <a:ln w="508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0817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C542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792224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MCP is the standard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21408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D8EA"/>
                </a:solidFill>
              </a:rPr>
              <a:t>One spec to connect any agent to any tool. Build MCP servers for your enterprise APIs once, reuse everywhere.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298448"/>
            <a:ext cx="2788920" cy="1627632"/>
          </a:xfrm>
          <a:prstGeom prst="roundRect">
            <a:avLst>
              <a:gd name="adj" fmla="val 5618"/>
            </a:avLst>
          </a:prstGeom>
          <a:solidFill>
            <a:srgbClr val="0077B6"/>
          </a:solidFill>
          <a:ln w="508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40817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C542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0" y="1792224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Topology determines cost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2121408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D8EA"/>
                </a:solidFill>
              </a:rPr>
              <a:t>Hierarchical is flexible; Sequential is predictable; Blackboard is decoupled. Match topology to workflow uncertainty.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1298448"/>
            <a:ext cx="2788920" cy="1627632"/>
          </a:xfrm>
          <a:prstGeom prst="roundRect">
            <a:avLst>
              <a:gd name="adj" fmla="val 5618"/>
            </a:avLst>
          </a:prstGeom>
          <a:solidFill>
            <a:srgbClr val="7B2D8B"/>
          </a:solidFill>
          <a:ln w="508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40817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C542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1792224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CrewAI = fastest to prod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121408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D8EA"/>
                </a:solidFill>
              </a:rPr>
              <a:t>Role metaphor maps to org chart. Hierarchical process handles delegation. Start here for business workflows.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035808"/>
            <a:ext cx="2788920" cy="1627632"/>
          </a:xfrm>
          <a:prstGeom prst="roundRect">
            <a:avLst>
              <a:gd name="adj" fmla="val 5618"/>
            </a:avLst>
          </a:prstGeom>
          <a:solidFill>
            <a:srgbClr val="164E63"/>
          </a:solidFill>
          <a:ln w="508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14553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C542"/>
                </a:solidFill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3529584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LangGraph = most control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858768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D8EA"/>
                </a:solidFill>
              </a:rPr>
              <a:t>Stateful, conditional, debuggable flows with checkpointing. Accept the learning curve for complex systems.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46120" y="3035808"/>
            <a:ext cx="2788920" cy="1627632"/>
          </a:xfrm>
          <a:prstGeom prst="roundRect">
            <a:avLst>
              <a:gd name="adj" fmla="val 5618"/>
            </a:avLst>
          </a:prstGeom>
          <a:solidFill>
            <a:srgbClr val="0B2447"/>
          </a:solidFill>
          <a:ln w="508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83280" y="314553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C542"/>
                </a:solidFill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383280" y="3529584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Foundry = enterprise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3858768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D8EA"/>
                </a:solidFill>
              </a:rPr>
              <a:t>Azure integration, compliance, 400+ connectors. Wins on TCO for Azure-first organisations needing governance.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72200" y="3035808"/>
            <a:ext cx="2788920" cy="1627632"/>
          </a:xfrm>
          <a:prstGeom prst="roundRect">
            <a:avLst>
              <a:gd name="adj" fmla="val 5618"/>
            </a:avLst>
          </a:prstGeom>
          <a:solidFill>
            <a:srgbClr val="8B3A2A"/>
          </a:solidFill>
          <a:ln w="508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09360" y="314553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C542"/>
                </a:solidFill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09360" y="3529584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Design for failure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3858768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D8EA"/>
                </a:solidFill>
              </a:rPr>
              <a:t>Add max_iter limits, guardrails, human_input gates, and circuit-breakers. Observability is not optional.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F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D4A"/>
                </a:solidFill>
              </a:rPr>
              <a:t>Further Reading &amp; Resources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2743200" cy="4160520"/>
          </a:xfrm>
          <a:prstGeom prst="roundRect">
            <a:avLst>
              <a:gd name="adj" fmla="val 3000"/>
            </a:avLst>
          </a:prstGeom>
          <a:solidFill>
            <a:srgbClr val="0F2D4A"/>
          </a:solidFill>
          <a:ln w="8890">
            <a:solidFill>
              <a:srgbClr val="0A7E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9768" y="896112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</a:rPr>
              <a:t>Official Docs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  modelcontextprotocol.io -- MCP spec &amp; servers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  docs.crewai.com -- full CrewAI documentation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523744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  python.langchain.com/langgraph -- LangGraph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127248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  ai.azure.com -- Azure AI Foundry portal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730752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  platform.openai.com/docs/agents -- OpenAI SDK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804672"/>
            <a:ext cx="2743200" cy="4160520"/>
          </a:xfrm>
          <a:prstGeom prst="roundRect">
            <a:avLst>
              <a:gd name="adj" fmla="val 3000"/>
            </a:avLst>
          </a:prstGeom>
          <a:solidFill>
            <a:srgbClr val="0F2D4A"/>
          </a:solidFill>
          <a:ln w="8890">
            <a:solidFill>
              <a:srgbClr val="0A7E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896112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</a:rPr>
              <a:t>Papers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1316736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  ReAct: Reasoning + Acting (Yao et al., 2023)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192024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  Generative Agents (Park et al., Stanford 2023)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2523744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  AgentBench: LLMs as Agents (Liu et al., 2023)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3127248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  HuggingGPT / JARVIS (Shen et al., 2023)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3730752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  Voyager: Lifelong Learning (Wang et al., 2023)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804672"/>
            <a:ext cx="2743200" cy="4160520"/>
          </a:xfrm>
          <a:prstGeom prst="roundRect">
            <a:avLst>
              <a:gd name="adj" fmla="val 3000"/>
            </a:avLst>
          </a:prstGeom>
          <a:solidFill>
            <a:srgbClr val="0F2D4A"/>
          </a:solidFill>
          <a:ln w="8890">
            <a:solidFill>
              <a:srgbClr val="0A7E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928" y="896112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</a:rPr>
              <a:t>Hands-on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1316736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  github.com/crewAIInc/crewAI-examples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192024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  github.com/langchain-ai/langgraph examples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2523744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  Awesome-AI-Agents list (GitHub curated)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3127248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  modelcontextprotocol.io/quickstart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3730752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  github.com/Azure-Samples/azureai-samples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" y="4864608"/>
            <a:ext cx="8503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A7EA4"/>
                </a:solidFill>
              </a:rPr>
              <a:t>Day 17 Preview: Fine-tuning and RAG in production agentic systems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BCD4"/>
                </a:solidFill>
              </a:rPr>
              <a:t>DAY  16  COMPLETE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You can now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build multi-agent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systems.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8D8EA"/>
                </a:solidFill>
              </a:rPr>
              <a:t>Apply it to GlobalFlow -- or your own enterprise challenge -- this week.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4041648"/>
            <a:ext cx="2011680" cy="402336"/>
          </a:xfrm>
          <a:prstGeom prst="roundRect">
            <a:avLst>
              <a:gd name="adj" fmla="val 15909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0416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 Colab 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4041648"/>
            <a:ext cx="2011680" cy="402336"/>
          </a:xfrm>
          <a:prstGeom prst="roundRect">
            <a:avLst>
              <a:gd name="adj" fmla="val 15909"/>
            </a:avLst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40416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Take the Quiz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914400"/>
            <a:ext cx="1554480" cy="-182880"/>
          </a:xfrm>
          <a:prstGeom prst="line">
            <a:avLst/>
          </a:prstGeom>
          <a:noFill/>
          <a:ln w="12700">
            <a:solidFill>
              <a:srgbClr val="0A7EA4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0" y="731520"/>
            <a:ext cx="548640" cy="1280160"/>
          </a:xfrm>
          <a:prstGeom prst="line">
            <a:avLst/>
          </a:prstGeom>
          <a:noFill/>
          <a:ln w="12700">
            <a:solidFill>
              <a:srgbClr val="0A7EA4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0" y="2011680"/>
            <a:ext cx="-1097280" cy="822960"/>
          </a:xfrm>
          <a:prstGeom prst="line">
            <a:avLst/>
          </a:prstGeom>
          <a:noFill/>
          <a:ln w="12700">
            <a:solidFill>
              <a:srgbClr val="0A7EA4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2834640"/>
            <a:ext cx="-1188720" cy="-274320"/>
          </a:xfrm>
          <a:prstGeom prst="line">
            <a:avLst/>
          </a:prstGeom>
          <a:noFill/>
          <a:ln w="12700">
            <a:solidFill>
              <a:srgbClr val="0A7EA4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2560320"/>
            <a:ext cx="-457200" cy="-914400"/>
          </a:xfrm>
          <a:prstGeom prst="line">
            <a:avLst/>
          </a:prstGeom>
          <a:noFill/>
          <a:ln w="12700">
            <a:solidFill>
              <a:srgbClr val="0A7EA4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645920"/>
            <a:ext cx="640080" cy="-731520"/>
          </a:xfrm>
          <a:prstGeom prst="line">
            <a:avLst/>
          </a:prstGeom>
          <a:noFill/>
          <a:ln w="12700">
            <a:solidFill>
              <a:srgbClr val="0A7EA4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1828800"/>
            <a:ext cx="-548640" cy="-914400"/>
          </a:xfrm>
          <a:prstGeom prst="line">
            <a:avLst/>
          </a:prstGeom>
          <a:noFill/>
          <a:ln w="12700">
            <a:solidFill>
              <a:srgbClr val="0A7EA4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1828800"/>
            <a:ext cx="1554480" cy="182880"/>
          </a:xfrm>
          <a:prstGeom prst="line">
            <a:avLst/>
          </a:prstGeom>
          <a:noFill/>
          <a:ln w="12700">
            <a:solidFill>
              <a:srgbClr val="0A7EA4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0" y="1828800"/>
            <a:ext cx="457200" cy="1005840"/>
          </a:xfrm>
          <a:prstGeom prst="line">
            <a:avLst/>
          </a:prstGeom>
          <a:noFill/>
          <a:ln w="12700">
            <a:solidFill>
              <a:srgbClr val="0A7EA4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0" y="1828800"/>
            <a:ext cx="-731520" cy="731520"/>
          </a:xfrm>
          <a:prstGeom prst="line">
            <a:avLst/>
          </a:prstGeom>
          <a:noFill/>
          <a:ln w="12700">
            <a:solidFill>
              <a:srgbClr val="0A7EA4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93408" y="749808"/>
            <a:ext cx="329184" cy="329184"/>
          </a:xfrm>
          <a:prstGeom prst="ellipse">
            <a:avLst/>
          </a:prstGeom>
          <a:solidFill>
            <a:srgbClr val="0A7E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47888" y="566928"/>
            <a:ext cx="329184" cy="329184"/>
          </a:xfrm>
          <a:prstGeom prst="ellipse">
            <a:avLst/>
          </a:prstGeom>
          <a:solidFill>
            <a:srgbClr val="0A7E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96528" y="1847088"/>
            <a:ext cx="329184" cy="329184"/>
          </a:xfrm>
          <a:prstGeom prst="ellipse">
            <a:avLst/>
          </a:prstGeom>
          <a:solidFill>
            <a:srgbClr val="0A7E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99248" y="2670048"/>
            <a:ext cx="329184" cy="329184"/>
          </a:xfrm>
          <a:prstGeom prst="ellipse">
            <a:avLst/>
          </a:prstGeom>
          <a:solidFill>
            <a:srgbClr val="0A7E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10528" y="2395728"/>
            <a:ext cx="329184" cy="329184"/>
          </a:xfrm>
          <a:prstGeom prst="ellipse">
            <a:avLst/>
          </a:prstGeom>
          <a:solidFill>
            <a:srgbClr val="0A7E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53328" y="1481328"/>
            <a:ext cx="329184" cy="329184"/>
          </a:xfrm>
          <a:prstGeom prst="ellipse">
            <a:avLst/>
          </a:prstGeom>
          <a:solidFill>
            <a:srgbClr val="0A7E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42048" y="1664208"/>
            <a:ext cx="329184" cy="329184"/>
          </a:xfrm>
          <a:prstGeom prst="ellipse">
            <a:avLst/>
          </a:prstGeom>
          <a:solidFill>
            <a:srgbClr val="F4C5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47548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EB7"/>
                </a:solidFill>
              </a:rPr>
              <a:t>Enterprise AI Engineering Bootcamp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16: Multi-Agent Coordination Patterns</dc:title>
  <dc:subject>PptxGenJS Presentation</dc:subject>
  <dc:creator>AI Engineering Bootcamp</dc:creator>
  <cp:lastModifiedBy>AI Engineering Bootcamp</cp:lastModifiedBy>
  <cp:revision>1</cp:revision>
  <dcterms:created xsi:type="dcterms:W3CDTF">2026-06-18T11:37:42Z</dcterms:created>
  <dcterms:modified xsi:type="dcterms:W3CDTF">2026-06-18T11:37:42Z</dcterms:modified>
</cp:coreProperties>
</file>
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114800" cy="41148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2926080" cy="29260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DAY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Backend &amp; AI Integration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C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a RAG-powered backend — FastAPI, LLM APIs and vector search wired into one retrieval pipeline.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899770" cy="384048"/>
          </a:xfrm>
          <a:prstGeom prst="roundRect">
            <a:avLst>
              <a:gd name="adj" fmla="val 50000"/>
            </a:avLst>
          </a:prstGeom>
          <a:solidFill>
            <a:srgbClr val="12343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94760"/>
            <a:ext cx="899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04442" y="379476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2343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4442" y="37947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Claude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41802" y="3794760"/>
            <a:ext cx="1656893" cy="384048"/>
          </a:xfrm>
          <a:prstGeom prst="roundRect">
            <a:avLst>
              <a:gd name="adj" fmla="val 50000"/>
            </a:avLst>
          </a:prstGeom>
          <a:solidFill>
            <a:srgbClr val="12343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1802" y="3794760"/>
            <a:ext cx="16568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· Pinecone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63286" y="3794760"/>
            <a:ext cx="2161642" cy="384048"/>
          </a:xfrm>
          <a:prstGeom prst="roundRect">
            <a:avLst>
              <a:gd name="adj" fmla="val 50000"/>
            </a:avLst>
          </a:prstGeom>
          <a:solidFill>
            <a:srgbClr val="12343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3286" y="3794760"/>
            <a:ext cx="21616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Retrieval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20 days of foundations  ·  Goal: validate the retrieval pipeline end-to-end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Today's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days built the fundamentals. Day 1 framed the capstone. Today we stand up the backend brain that makes it intelligent.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09397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769" y="2241377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0" y="20208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6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26609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backend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2889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 FastAPI service with typed routes and auto docs.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87452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84448" y="2093976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849" y="2241377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20208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6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584448" y="26609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LLM APIs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584448" y="2889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in OpenAI chat completions with safe key handling.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309360" y="187452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10528" y="209397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29" y="2241377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20208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6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510528" y="26609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vector DB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510528" y="2889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FAISS or Pinecone and store your embeddings.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329184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8368" y="3511296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69" y="3658697"/>
            <a:ext cx="272125" cy="2721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377440" y="34381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6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58368" y="4078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retrieve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658368" y="43068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Chunk, embed, index, and pull top-k relevant context.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383280" y="329184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584448" y="351129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1849" y="3658697"/>
            <a:ext cx="272125" cy="27212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03520" y="34381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6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26"/>
          <p:cNvSpPr/>
          <p:nvPr/>
        </p:nvSpPr>
        <p:spPr>
          <a:xfrm>
            <a:off x="3584448" y="4078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endpoints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3584448" y="43068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route and the full retrieval pipeline.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309360" y="329184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510528" y="3511296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929" y="3658697"/>
            <a:ext cx="272125" cy="27212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29600" y="34381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6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2200" dirty="0"/>
          </a:p>
        </p:txBody>
      </p:sp>
      <p:sp>
        <p:nvSpPr>
          <p:cNvPr id="39" name="Text 31"/>
          <p:cNvSpPr/>
          <p:nvPr/>
        </p:nvSpPr>
        <p:spPr>
          <a:xfrm>
            <a:off x="6510528" y="4078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6510528" y="43068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route across Claude &amp; OpenAI by cost &amp; latency.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Day 2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795528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 architecture — a RAG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flows through the same path: receive, embed, retrieve relevant context, then generate a grounded answer.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481328" cy="17830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41448"/>
            <a:ext cx="603504" cy="603504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23" y="2598359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1546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344728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from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app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956816" y="27432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2221992" y="2240280"/>
            <a:ext cx="1481328" cy="17830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60904" y="2441448"/>
            <a:ext cx="603504" cy="603504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815" y="2598359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67712" y="31546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267712" y="344728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&amp;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request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721608" y="27432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3986784" y="2240280"/>
            <a:ext cx="1481328" cy="17830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425696" y="2441448"/>
            <a:ext cx="603504" cy="603504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607" y="2598359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32504" y="31546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Retrieve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032504" y="344728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returns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context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486400" y="27432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›</a:t>
            </a:r>
            <a:endParaRPr lang="en-US" sz="3000" dirty="0"/>
          </a:p>
        </p:txBody>
      </p:sp>
      <p:sp>
        <p:nvSpPr>
          <p:cNvPr id="23" name="Shape 18"/>
          <p:cNvSpPr/>
          <p:nvPr/>
        </p:nvSpPr>
        <p:spPr>
          <a:xfrm>
            <a:off x="5751576" y="2240280"/>
            <a:ext cx="1481328" cy="17830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190488" y="2441448"/>
            <a:ext cx="603504" cy="603504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399" y="2598359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97296" y="31546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797296" y="344728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Claude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251192" y="2743200"/>
            <a:ext cx="283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›</a:t>
            </a:r>
            <a:endParaRPr lang="en-US" sz="3000" dirty="0"/>
          </a:p>
        </p:txBody>
      </p:sp>
      <p:sp>
        <p:nvSpPr>
          <p:cNvPr id="29" name="Shape 23"/>
          <p:cNvSpPr/>
          <p:nvPr/>
        </p:nvSpPr>
        <p:spPr>
          <a:xfrm>
            <a:off x="7516368" y="2240280"/>
            <a:ext cx="1481328" cy="17830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955280" y="2441448"/>
            <a:ext cx="603504" cy="603504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191" y="2598359"/>
            <a:ext cx="289682" cy="28968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562088" y="31546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7562088" y="344728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back to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457200" y="42976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2343B"/>
          </a:solidFill>
          <a:ln/>
        </p:spPr>
      </p:sp>
      <p:sp>
        <p:nvSpPr>
          <p:cNvPr id="35" name="Text 28"/>
          <p:cNvSpPr/>
          <p:nvPr/>
        </p:nvSpPr>
        <p:spPr>
          <a:xfrm>
            <a:off x="731520" y="42976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RAG?  </a:t>
            </a:r>
            <a:pPr indent="0" marL="0">
              <a:buNone/>
            </a:pPr>
            <a:r>
              <a:rPr lang="en-US" sz="12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the model in your retrieved documents cuts hallucination and lets answers cite real, up-to-date sources.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Day 2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795528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Set up the FastAPI backend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gives async performance, Pydantic validation, and interactive docs for free — ideal for an AI service.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384048" cy="38404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772" y="2312700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by default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24128" y="243230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slow LLM &amp; DB calls without blocking.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02920" y="3054096"/>
            <a:ext cx="384048" cy="38404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72" y="315394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4128" y="2990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request models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024128" y="32735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 input before it hits your logic.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502920" y="3895344"/>
            <a:ext cx="384048" cy="38404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72" y="3995196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3831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docs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024128" y="41148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at /docs the moment you run it.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5074920" y="1280160"/>
            <a:ext cx="3611880" cy="3383280"/>
          </a:xfrm>
          <a:prstGeom prst="roundRect">
            <a:avLst>
              <a:gd name="adj" fmla="val 1892"/>
            </a:avLst>
          </a:prstGeom>
          <a:solidFill>
            <a:srgbClr val="0E2A33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276088" y="14630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Shape 14"/>
          <p:cNvSpPr/>
          <p:nvPr/>
        </p:nvSpPr>
        <p:spPr>
          <a:xfrm>
            <a:off x="5477256" y="1463040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0" name="Shape 15"/>
          <p:cNvSpPr/>
          <p:nvPr/>
        </p:nvSpPr>
        <p:spPr>
          <a:xfrm>
            <a:off x="5678424" y="146304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6"/>
          <p:cNvSpPr/>
          <p:nvPr/>
        </p:nvSpPr>
        <p:spPr>
          <a:xfrm>
            <a:off x="5989320" y="1399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303520" y="1783080"/>
            <a:ext cx="3200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FastAPI(title="RAG API")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Query(BaseModel):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question: str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top_k: int = 4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@app.post("/ask")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ask(q: Query):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ctx = retrieve(q.question, q.top_k)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 = generate(q.question, ctx)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{"answer": ans,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"sources": ctx}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uvicorn main:app --reload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Day 2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95528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Integrate the LLM API (OpenAI)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keys in environment variables, never in code. Tune the model, temperature, and token budget per route.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384048" cy="38404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772" y="2312700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key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24128" y="243230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from .env — never commit secrets to git.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02920" y="3054096"/>
            <a:ext cx="384048" cy="38404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72" y="315394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4128" y="2990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model &amp; params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024128" y="32735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temperature, max_tokens shape cost &amp; tone.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502920" y="3895344"/>
            <a:ext cx="384048" cy="38404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72" y="3995196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3831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failures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024128" y="41148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calls with retries &amp; timeouts for reliability.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5074920" y="1280160"/>
            <a:ext cx="3611880" cy="3383280"/>
          </a:xfrm>
          <a:prstGeom prst="roundRect">
            <a:avLst>
              <a:gd name="adj" fmla="val 1892"/>
            </a:avLst>
          </a:prstGeom>
          <a:solidFill>
            <a:srgbClr val="0E2A33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276088" y="14630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Shape 14"/>
          <p:cNvSpPr/>
          <p:nvPr/>
        </p:nvSpPr>
        <p:spPr>
          <a:xfrm>
            <a:off x="5477256" y="1463040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0" name="Shape 15"/>
          <p:cNvSpPr/>
          <p:nvPr/>
        </p:nvSpPr>
        <p:spPr>
          <a:xfrm>
            <a:off x="5678424" y="146304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6"/>
          <p:cNvSpPr/>
          <p:nvPr/>
        </p:nvSpPr>
        <p:spPr>
          <a:xfrm>
            <a:off x="5989320" y="1399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llm.py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303520" y="1783080"/>
            <a:ext cx="3200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api_key=os.environ["OPENAI_API_KEY"])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generate(question, context):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f"Context:\n{context}\n\nQ: {question}"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client.chat.completions.create(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model="gpt-4o-mini",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temperature=0.2,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"content": msg}],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r.choices[0].message.content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Day 2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95528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Stand up a vector DB — FAISS vs Pinecone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store embeddings for similarity search. Choose by where you are in the project, not by hype.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776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029968"/>
            <a:ext cx="603504" cy="603504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143" y="2186879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FAISS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44752" y="2404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open-source · free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8529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where?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process / on disk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2095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&amp; small–mid datasets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566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memory &amp; persistence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9227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Free; just compute you already have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1828800"/>
            <a:ext cx="39776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65192" y="2029968"/>
            <a:ext cx="603504" cy="603504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103" y="2186879"/>
            <a:ext cx="289682" cy="2896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96712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Pinecone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5696712" y="2404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· cloud · scalable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983480" y="28529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where?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hosted, accessed via API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983480" y="32095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large, growing data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983480" y="3566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Auto-scales, low-latency at volume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983480" y="39227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subscription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7200" y="4407408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2343B"/>
          </a:solidFill>
          <a:ln/>
        </p:spPr>
      </p:sp>
      <p:sp>
        <p:nvSpPr>
          <p:cNvPr id="24" name="Text 20"/>
          <p:cNvSpPr/>
          <p:nvPr/>
        </p:nvSpPr>
        <p:spPr>
          <a:xfrm>
            <a:off x="731520" y="44074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buNone/>
            </a:pPr>
            <a:r>
              <a:rPr lang="en-US" sz="11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FAISS today to iterate fast, then graduate to Pinecone when data and traffic grow.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Day 2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795528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Embedding &amp; retrieval logic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text into vectors once, store them, then find the closest matches to each new question.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384048" cy="38404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772" y="2312700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docs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24128" y="243230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overlapping passages the model can use.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02920" y="3054096"/>
            <a:ext cx="384048" cy="38404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72" y="315394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4128" y="2990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once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024128" y="32735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chunks to vectors and index them.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502920" y="3895344"/>
            <a:ext cx="384048" cy="38404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72" y="3995196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3831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top-k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024128" y="41148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question, return nearest neighbours.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5074920" y="1280160"/>
            <a:ext cx="3611880" cy="3383280"/>
          </a:xfrm>
          <a:prstGeom prst="roundRect">
            <a:avLst>
              <a:gd name="adj" fmla="val 1892"/>
            </a:avLst>
          </a:prstGeom>
          <a:solidFill>
            <a:srgbClr val="0E2A33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276088" y="14630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Shape 14"/>
          <p:cNvSpPr/>
          <p:nvPr/>
        </p:nvSpPr>
        <p:spPr>
          <a:xfrm>
            <a:off x="5477256" y="1463040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0" name="Shape 15"/>
          <p:cNvSpPr/>
          <p:nvPr/>
        </p:nvSpPr>
        <p:spPr>
          <a:xfrm>
            <a:off x="5678424" y="146304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6"/>
          <p:cNvSpPr/>
          <p:nvPr/>
        </p:nvSpPr>
        <p:spPr>
          <a:xfrm>
            <a:off x="5989320" y="1399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retrieve.py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303520" y="1783080"/>
            <a:ext cx="3200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embed(texts):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client.embeddings.create(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model="text-embedding-3-small",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input=texts)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[d.embedding for d in r.data]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 built once at startup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index.add(embed(chunks))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retrieve(question, k=4):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qv = embed([question])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scores, ids = index.search(qv, k)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9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[chunks[i] for i in ids[0]]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Day 2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95528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Anatomy of a single /ask request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one question through the stack so you know exactly where to look when something breaks.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0432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&amp; validate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70432" y="217627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parses JSON into a Pydantic Query model and rejects bad input.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852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70432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70432" y="31089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string is converted to a vector with the embedding model.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8561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785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70432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70432" y="404164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DB returns the top-k most similar document chunks.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76672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prompt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76672" y="217627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are stitched into the LLM prompt as grounding context.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85292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2852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76672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answer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76672" y="31089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(or Claude) returns a grounded completion.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785616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3785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76672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JSON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76672" y="404164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plus its source chunks are sent back to the frontend.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Day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 the API endpoints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each route in isolation, then prove the whole retrieval pipeline returns grounded answers.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1284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2360249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121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/docs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44752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every endpoint interactively the moment the server is up.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663440" y="19202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2212848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873" y="236024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50992" y="2121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httpx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650992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for status codes, schemas, and edge cases.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457200" y="32461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3232" y="3538728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3686129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44752" y="3447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/ Postman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444752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manual checks and shareable request collections.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4663440" y="32461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19472" y="3538728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873" y="3686129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50992" y="3447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check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650992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known question — confirm correct, cited context returns.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57200" y="459028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2343B"/>
          </a:solidFill>
          <a:ln/>
        </p:spPr>
      </p:sp>
      <p:sp>
        <p:nvSpPr>
          <p:cNvPr id="26" name="Text 20"/>
          <p:cNvSpPr/>
          <p:nvPr/>
        </p:nvSpPr>
        <p:spPr>
          <a:xfrm>
            <a:off x="731520" y="45902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first:  </a:t>
            </a:r>
            <a:pPr indent="0" marL="0">
              <a:buNone/>
            </a:pPr>
            <a:r>
              <a:rPr lang="en-US" sz="11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200s on valid input, 422 on bad input, non-empty sources, and answers that match the retrieved context.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Day 2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95528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ADVANCED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Claude alongside OpenAI — model selection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marry one model. Route each request to the best fit across three axes: cost, latency, and reasoning depth.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46120" y="178308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0" y="178308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993392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2136038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Cost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13232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high-volume calls → small / mini models. Reserve premium models for hard queries.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3502152" y="1993392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798" y="2136038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78808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Latency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502152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&amp; real-time → fastest model. Background jobs can tolerate slower, deeper ones.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6291072" y="1993392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718" y="2136038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67728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Reasoning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291072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logic, long context or nuance → route to the strongest reasoning model.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457200" y="3703320"/>
            <a:ext cx="8229600" cy="1097280"/>
          </a:xfrm>
          <a:prstGeom prst="roundRect">
            <a:avLst>
              <a:gd name="adj" fmla="val 7500"/>
            </a:avLst>
          </a:prstGeom>
          <a:solidFill>
            <a:srgbClr val="12343B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3232" y="40690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" y="421172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382219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routing strategy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417320" y="411480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request → cheap/fast model for simple FAQs, strong reasoning model for complex or high-stakes answers. </a:t>
            </a:r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9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cost &amp; latency per model so the routing rules improve with real data.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Day 2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795528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Today's lab &amp; definition of done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7766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13232" y="2331720"/>
            <a:ext cx="3703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 FastAPI app with /ask + /health routes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in the OpenAI client with keys from .env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 small document set into FAISS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embed → retrieve → generate logic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answers with their source chunks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417320"/>
            <a:ext cx="3931920" cy="3291840"/>
          </a:xfrm>
          <a:prstGeom prst="roundRect">
            <a:avLst>
              <a:gd name="adj" fmla="val 2500"/>
            </a:avLst>
          </a:prstGeom>
          <a:solidFill>
            <a:srgbClr val="12343B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645920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239" y="17766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Definition of done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10912" y="23317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runs and /docs loads cleanly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pass status &amp; schema tests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returns relevant, non-empty context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question returns a grounded answer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stay out of source control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Day 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955280" y="47594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108960"/>
            <a:ext cx="3840480" cy="384048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1280160"/>
            <a:ext cx="3291840" cy="329184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WRAP 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0241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 shipped the backend brain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215908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993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53312" y="2286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async, self-documenting.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011680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81" y="21590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993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68112" y="2286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wired in securely.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97180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311920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3312" y="2953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353312" y="3246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Pinecone returning context.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2971800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281" y="3119201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68112" y="2953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468112" y="3246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&amp; pipeline tested.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40080" y="4160520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12343B"/>
          </a:solidFill>
          <a:ln/>
        </p:spPr>
      </p:sp>
      <p:sp>
        <p:nvSpPr>
          <p:cNvPr id="23" name="Shape 17"/>
          <p:cNvSpPr/>
          <p:nvPr/>
        </p:nvSpPr>
        <p:spPr>
          <a:xfrm>
            <a:off x="841248" y="4261104"/>
            <a:ext cx="438912" cy="438912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B2027">
                <a:alpha val="16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65" y="4375221"/>
            <a:ext cx="210678" cy="21067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4160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Day 3:  </a:t>
            </a:r>
            <a:pPr indent="0" marL="0">
              <a:buNone/>
            </a:pPr>
            <a:r>
              <a:rPr lang="en-US" sz="125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this backend to the frontend and harden the pipeline for real users.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Day 2 — Backend &amp; AI Integration</dc:title>
  <dc:subject>PptxGenJS Presentation</dc:subject>
  <dc:creator>Capstone Training</dc:creator>
  <cp:lastModifiedBy>Capstone Training</cp:lastModifiedBy>
  <cp:revision>1</cp:revision>
  <dcterms:created xsi:type="dcterms:W3CDTF">2026-06-29T03:13:12Z</dcterms:created>
  <dcterms:modified xsi:type="dcterms:W3CDTF">2026-06-29T03:13:12Z</dcterms:modified>
</cp:coreProperties>
</file>
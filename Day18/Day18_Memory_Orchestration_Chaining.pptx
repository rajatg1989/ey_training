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Day 18. Today we move from 'an LLM that answers' to 'an agent that remembers, acts through tools, and chains steps across a real backend.' Frame the day: by 5pm they will have wired a Claude agent to a FastAPI backend with Redis memory and an event queue, in two runnable Colabs.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single most useful distinction of the day: for client tools you MUST run the loop yourself; for server tools the loop happens inside Anthropic and you only handle pause_turn for long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line by line. Key points: append the assistant content verbatim; tool_use_id must match; tool_result goes in a user-role message; the break is on stop_reason. This is the same shape whether the tool hits Redis, a DB, or FastAPI.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back to the Hour-1 taxonomy: lists = episodic thread, hashes/vectors = semantic, TTL = the 'forget' operation. Redis is single-process fast, which is why it sits on the hot path for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image" Target="../media/image-4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image" Target="../media/image-44-7.png"/><Relationship Id="rId8" Type="http://schemas.openxmlformats.org/officeDocument/2006/relationships/image" Target="../media/image-4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46304" cy="146304"/>
          </a:xfrm>
          <a:prstGeom prst="ellipse">
            <a:avLst/>
          </a:prstGeom>
          <a:solidFill>
            <a:srgbClr val="0E7C8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822960"/>
            <a:ext cx="146304" cy="146304"/>
          </a:xfrm>
          <a:prstGeom prst="ellipse">
            <a:avLst/>
          </a:prstGeom>
          <a:solidFill>
            <a:srgbClr val="0E7C86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548640"/>
            <a:ext cx="146304" cy="146304"/>
          </a:xfrm>
          <a:prstGeom prst="ellipse">
            <a:avLst/>
          </a:prstGeom>
          <a:solidFill>
            <a:srgbClr val="0E7C86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554480"/>
            <a:ext cx="146304" cy="146304"/>
          </a:xfrm>
          <a:prstGeom prst="ellipse">
            <a:avLst/>
          </a:prstGeom>
          <a:solidFill>
            <a:srgbClr val="0E7C86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1280160"/>
            <a:ext cx="146304" cy="146304"/>
          </a:xfrm>
          <a:prstGeom prst="ellipse">
            <a:avLst/>
          </a:prstGeom>
          <a:solidFill>
            <a:srgbClr val="0E7C86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" cy="91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9601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DB9A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960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/ 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Memory, Tool Orchestration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&amp; Agent Chaining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Claude-based agents to APIs, databases and external tools — with Redis, FastAPI and event-queue middleware.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369" y="5239329"/>
            <a:ext cx="238110" cy="2381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5074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66160" y="5074920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569" y="5239329"/>
            <a:ext cx="238110" cy="2381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51960" y="5074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309360" y="5074920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769" y="5239329"/>
            <a:ext cx="238110" cy="2381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5074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9052560" y="5074920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969" y="5239329"/>
            <a:ext cx="238110" cy="2381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38360" y="5074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instructor-led workshop  ·  2 hands-on Colabs  ·  20-question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you'll be able to do by 5pm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02536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217" y="2166945"/>
            <a:ext cx="238110" cy="2381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8424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memory layer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6243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short-term (working) from long-term memory and back it with Redis + a vector store.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002536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689" y="2166945"/>
            <a:ext cx="238110" cy="2381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98424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&amp; chain agents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44568" y="26243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chaining, routing, parallelisation and orchestrator-worker patterns deliberately.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2002536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161" y="2166945"/>
            <a:ext cx="238110" cy="2381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15984" y="198424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Claude's tool-use loop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21040" y="26243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tool_use → execute → tool_result loop for client tools and use server tools.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6118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3831336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17" y="3995745"/>
            <a:ext cx="238110" cy="2381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381304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approaches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68096" y="4453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Claude tool use against classic function calling and MCP, and pick the right one.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25112" y="36118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6280" y="3831336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689" y="3995745"/>
            <a:ext cx="238110" cy="2381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39512" y="381304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middleware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44568" y="4453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tools behind FastAPI, persist state in Redis, decouple slow work with an event queue.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01584" y="36118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02752" y="3831336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161" y="3995745"/>
            <a:ext cx="238110" cy="23811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15984" y="381304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responsibly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321040" y="4453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retries, idempotency, observability, least-privilege and prompt caching.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Eight hours, eight building blocks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751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context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 forget; a taxonomy of memory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21808" y="1984248"/>
            <a:ext cx="457200" cy="457200"/>
          </a:xfrm>
          <a:prstGeom prst="ellipse">
            <a:avLst/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2116836"/>
            <a:ext cx="192024" cy="19202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09360" y="1691640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19751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8660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orchestration &amp; chaining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86600" y="2258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 → multi-step workflows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1082528" y="1984248"/>
            <a:ext cx="457200" cy="457200"/>
          </a:xfrm>
          <a:prstGeom prst="ellipse">
            <a:avLst/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116" y="2116836"/>
            <a:ext cx="192024" cy="19202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8640" y="2862072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" y="31455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325880" y="30266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tool-use patterns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32588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vs server tools; the agentic loop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321808" y="3154680"/>
            <a:ext cx="457200" cy="457200"/>
          </a:xfrm>
          <a:prstGeom prst="ellipse">
            <a:avLst/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96" y="3287268"/>
            <a:ext cx="192024" cy="19202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309360" y="2862072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92240" y="31455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Text 24"/>
          <p:cNvSpPr/>
          <p:nvPr/>
        </p:nvSpPr>
        <p:spPr>
          <a:xfrm>
            <a:off x="64922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086600" y="30266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 comparison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08660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vs OpenAI vs MCP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11082528" y="3154680"/>
            <a:ext cx="457200" cy="457200"/>
          </a:xfrm>
          <a:prstGeom prst="ellipse">
            <a:avLst/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5116" y="3287268"/>
            <a:ext cx="192024" cy="192024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48640" y="4032504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31520" y="43159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6" name="Text 30"/>
          <p:cNvSpPr/>
          <p:nvPr/>
        </p:nvSpPr>
        <p:spPr>
          <a:xfrm>
            <a:off x="7315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1325880" y="41970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FastAPI · Redis · queues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1325880" y="4599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architecture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321808" y="4325112"/>
            <a:ext cx="457200" cy="457200"/>
          </a:xfrm>
          <a:prstGeom prst="ellipse">
            <a:avLst/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396" y="4457700"/>
            <a:ext cx="192024" cy="192024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6309360" y="4032504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492240" y="4315968"/>
            <a:ext cx="457200" cy="457200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43" name="Text 36"/>
          <p:cNvSpPr/>
          <p:nvPr/>
        </p:nvSpPr>
        <p:spPr>
          <a:xfrm>
            <a:off x="649224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7086600" y="41970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Agent + API + Redis memory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7086600" y="4599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Colab 1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11082528" y="4325112"/>
            <a:ext cx="457200" cy="457200"/>
          </a:xfrm>
          <a:prstGeom prst="ellipse">
            <a:avLst/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5116" y="4457700"/>
            <a:ext cx="192024" cy="192024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548640" y="5202936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50" name="Text 42"/>
          <p:cNvSpPr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1325880" y="5367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external tools + Lab 2</a:t>
            </a:r>
            <a:endParaRPr lang="en-US" sz="1400" dirty="0"/>
          </a:p>
        </p:txBody>
      </p:sp>
      <p:sp>
        <p:nvSpPr>
          <p:cNvPr id="52" name="Text 44"/>
          <p:cNvSpPr/>
          <p:nvPr/>
        </p:nvSpPr>
        <p:spPr>
          <a:xfrm>
            <a:off x="1325880" y="57698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integration; chaining + queue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5321808" y="5495544"/>
            <a:ext cx="457200" cy="457200"/>
          </a:xfrm>
          <a:prstGeom prst="ellipse">
            <a:avLst/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4396" y="5628132"/>
            <a:ext cx="192024" cy="192024"/>
          </a:xfrm>
          <a:prstGeom prst="rect">
            <a:avLst/>
          </a:prstGeom>
        </p:spPr>
      </p:pic>
      <p:sp>
        <p:nvSpPr>
          <p:cNvPr id="55" name="Shape 46"/>
          <p:cNvSpPr/>
          <p:nvPr/>
        </p:nvSpPr>
        <p:spPr>
          <a:xfrm>
            <a:off x="6309360" y="5202936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6492240" y="5486400"/>
            <a:ext cx="457200" cy="457200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57" name="Text 48"/>
          <p:cNvSpPr/>
          <p:nvPr/>
        </p:nvSpPr>
        <p:spPr>
          <a:xfrm>
            <a:off x="64922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1300" dirty="0"/>
          </a:p>
        </p:txBody>
      </p:sp>
      <p:sp>
        <p:nvSpPr>
          <p:cNvPr id="58" name="Text 49"/>
          <p:cNvSpPr/>
          <p:nvPr/>
        </p:nvSpPr>
        <p:spPr>
          <a:xfrm>
            <a:off x="7086600" y="5367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 &amp; capstone</a:t>
            </a:r>
            <a:endParaRPr lang="en-US" sz="1400" dirty="0"/>
          </a:p>
        </p:txBody>
      </p:sp>
      <p:sp>
        <p:nvSpPr>
          <p:cNvPr id="59" name="Text 50"/>
          <p:cNvSpPr/>
          <p:nvPr/>
        </p:nvSpPr>
        <p:spPr>
          <a:xfrm>
            <a:off x="7086600" y="57698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cost, security, quiz</a:t>
            </a:r>
            <a:endParaRPr lang="en-US" sz="1100" dirty="0"/>
          </a:p>
        </p:txBody>
      </p:sp>
      <p:sp>
        <p:nvSpPr>
          <p:cNvPr id="60" name="Shape 51"/>
          <p:cNvSpPr/>
          <p:nvPr/>
        </p:nvSpPr>
        <p:spPr>
          <a:xfrm>
            <a:off x="11082528" y="5495544"/>
            <a:ext cx="457200" cy="457200"/>
          </a:xfrm>
          <a:prstGeom prst="ellipse">
            <a:avLst/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5116" y="5628132"/>
            <a:ext cx="192024" cy="192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94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3931920"/>
            <a:ext cx="2743200" cy="27432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Memory &amp; Context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are stateless. Everything an agent 'knows' across turns is something you chose to carry. We make those choices explicit.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1280160" cy="12801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66" y="27029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THE CORE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LLM call has no memory of its 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independent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only the tokens you send in this request and produces output.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retain anything between API calls.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is an illusion you create by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re-sending prior turns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messages array each time.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works until the conversation outgrows the context window — then you must decide what to keep, summarise, or store externally.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85232" cy="4114800"/>
          </a:xfrm>
          <a:prstGeom prst="roundRect">
            <a:avLst>
              <a:gd name="adj" fmla="val 2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stateless loop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42316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094E56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4231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1  =  [ system + turn 1 ]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313639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094E56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1363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2  =  [ system + turn 1 + turn 2 ]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3849624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094E56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8496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3  =  [ system + turn 1 + 2 + 3 ]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 grow with every turn you resend → this is why we need a memory strategy, not just a longer prompt.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TAXONOMY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working taxonomy of agent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975104"/>
            <a:ext cx="603504" cy="603504"/>
          </a:xfrm>
          <a:prstGeom prst="ellipse">
            <a:avLst/>
          </a:prstGeom>
          <a:solidFill>
            <a:srgbClr val="F4A93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12" y="2150120"/>
            <a:ext cx="253472" cy="253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7510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/ working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2651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task context: the live message thread, recent tool results, the scratchpad. Lives in the context window.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786384" y="31089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· per-session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539496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37376" y="1975104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392" y="2150120"/>
            <a:ext cx="253472" cy="253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97510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— semantic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55664" y="2651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facts &amp; preferences: 'user prefers metric units', product catalog facts. Retrieved on demand.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6455664" y="31089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19" name="Text 15"/>
          <p:cNvSpPr/>
          <p:nvPr/>
        </p:nvSpPr>
        <p:spPr>
          <a:xfrm>
            <a:off x="6455664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· key-value / vector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785616"/>
            <a:ext cx="539496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68096" y="4023360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12" y="4198376"/>
            <a:ext cx="253472" cy="253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02336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— episodic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86384" y="47000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before: past conversations, prior orders, event history. Summarised and recalled.</a:t>
            </a:r>
            <a:endParaRPr lang="en-US" sz="1180" dirty="0"/>
          </a:p>
        </p:txBody>
      </p:sp>
      <p:sp>
        <p:nvSpPr>
          <p:cNvPr id="25" name="Shape 20"/>
          <p:cNvSpPr/>
          <p:nvPr/>
        </p:nvSpPr>
        <p:spPr>
          <a:xfrm>
            <a:off x="786384" y="515721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26" name="Text 21"/>
          <p:cNvSpPr/>
          <p:nvPr/>
        </p:nvSpPr>
        <p:spPr>
          <a:xfrm>
            <a:off x="786384" y="51572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· logs / streams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17920" y="3785616"/>
            <a:ext cx="539496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37376" y="4023360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392" y="4198376"/>
            <a:ext cx="253472" cy="253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78040" y="402336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455664" y="47000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things: prompts, tool definitions, routing rules, few-shot examples the agent reuses.</a:t>
            </a:r>
            <a:endParaRPr lang="en-US" sz="1180" dirty="0"/>
          </a:p>
        </p:txBody>
      </p:sp>
      <p:sp>
        <p:nvSpPr>
          <p:cNvPr id="32" name="Shape 26"/>
          <p:cNvSpPr/>
          <p:nvPr/>
        </p:nvSpPr>
        <p:spPr>
          <a:xfrm>
            <a:off x="6455664" y="515721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33" name="Text 27"/>
          <p:cNvSpPr/>
          <p:nvPr/>
        </p:nvSpPr>
        <p:spPr>
          <a:xfrm>
            <a:off x="6455664" y="51572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· config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operations every memory layer needs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70048" cy="36576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7904" y="2075688"/>
            <a:ext cx="731520" cy="731520"/>
          </a:xfrm>
          <a:prstGeom prst="ellipse">
            <a:avLst/>
          </a:prstGeom>
          <a:solidFill>
            <a:srgbClr val="1DB9A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045" y="2287829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926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Write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" y="347472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 turn, a fact, or a tool result. Choose a key scheme and a TTL.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" y="4837176"/>
            <a:ext cx="2267712" cy="420624"/>
          </a:xfrm>
          <a:prstGeom prst="roundRect">
            <a:avLst>
              <a:gd name="adj" fmla="val 13043"/>
            </a:avLst>
          </a:prstGeom>
          <a:solidFill>
            <a:srgbClr val="E9F3F4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4837176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session:{id} · XADD events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19856" y="1783080"/>
            <a:ext cx="2670048" cy="36576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2075688"/>
            <a:ext cx="731520" cy="73152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61" y="228782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9856" y="2926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Read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21024" y="347472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what's relevant for this step — recent turns plus retrieved long-term facts.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621024" y="4837176"/>
            <a:ext cx="2267712" cy="420624"/>
          </a:xfrm>
          <a:prstGeom prst="roundRect">
            <a:avLst>
              <a:gd name="adj" fmla="val 13043"/>
            </a:avLst>
          </a:prstGeom>
          <a:solidFill>
            <a:srgbClr val="E9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3621024" y="4837176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· LRANGE · vector search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91072" y="1783080"/>
            <a:ext cx="2670048" cy="36576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60336" y="2075688"/>
            <a:ext cx="731520" cy="731520"/>
          </a:xfrm>
          <a:prstGeom prst="ellipse">
            <a:avLst/>
          </a:prstGeom>
          <a:solidFill>
            <a:srgbClr val="1DB9A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477" y="2287829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91072" y="2926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Summarise / compact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92240" y="347472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context grows, replace old turns with a rolling summary to stay under the window.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92240" y="4837176"/>
            <a:ext cx="2267712" cy="420624"/>
          </a:xfrm>
          <a:prstGeom prst="roundRect">
            <a:avLst>
              <a:gd name="adj" fmla="val 13043"/>
            </a:avLst>
          </a:prstGeom>
          <a:solidFill>
            <a:srgbClr val="E9F3F4"/>
          </a:solidFill>
          <a:ln/>
        </p:spPr>
      </p:sp>
      <p:sp>
        <p:nvSpPr>
          <p:cNvPr id="26" name="Text 21"/>
          <p:cNvSpPr/>
          <p:nvPr/>
        </p:nvSpPr>
        <p:spPr>
          <a:xfrm>
            <a:off x="6492240" y="4837176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compaction · rolling summary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162288" y="1783080"/>
            <a:ext cx="2670048" cy="36576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131552" y="2075688"/>
            <a:ext cx="731520" cy="73152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3693" y="2287829"/>
            <a:ext cx="307238" cy="30723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62288" y="2926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Expire / forget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363456" y="347472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storage and respect privacy with TTLs and explicit deletion.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363456" y="4837176"/>
            <a:ext cx="2267712" cy="420624"/>
          </a:xfrm>
          <a:prstGeom prst="roundRect">
            <a:avLst>
              <a:gd name="adj" fmla="val 13043"/>
            </a:avLst>
          </a:prstGeom>
          <a:solidFill>
            <a:srgbClr val="E9F3F4"/>
          </a:solidFill>
          <a:ln/>
        </p:spPr>
      </p:sp>
      <p:sp>
        <p:nvSpPr>
          <p:cNvPr id="33" name="Text 27"/>
          <p:cNvSpPr/>
          <p:nvPr/>
        </p:nvSpPr>
        <p:spPr>
          <a:xfrm>
            <a:off x="9363456" y="4837176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 · DEL · retention policy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94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3931920"/>
            <a:ext cx="2743200" cy="27432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 Orchestration &amp; Agent Chaining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turns a token-predictor into something that can act. Orchestration is how we sequence, route and parallelise those actions deliberately.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1280160" cy="12801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66" y="27029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tool, really?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contract, not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a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capability with a JSON-schema for its inputs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model never runs your code — it reads the schema, decides when the tool fits, and emits a structured call.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executes the operation (DB query, HTTP call, file write) and returns the result.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tools read like good API endpoints: clear name, tight schema, one job.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85232" cy="4114800"/>
          </a:xfrm>
          <a:prstGeom prst="roundRect">
            <a:avLst>
              <a:gd name="adj" fmla="val 2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get_order — tool definition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"get_order",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"Look up an order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by its id. Use when the user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asks about order status.",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"order_id": {"type": "string"}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"required": ["order_id"]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PATTERNS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orchestration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56816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115922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568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2578608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 task into ordered steps; each step's output feeds the next. Predictable, debuggable.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768096" y="3063240"/>
            <a:ext cx="3090672" cy="347472"/>
          </a:xfrm>
          <a:prstGeom prst="roundRect">
            <a:avLst>
              <a:gd name="adj" fmla="val 13158"/>
            </a:avLst>
          </a:prstGeom>
          <a:solidFill>
            <a:srgbClr val="E9F3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06324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 → 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25112" y="173736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1956816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2115922"/>
            <a:ext cx="230429" cy="23042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19568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44568" y="2578608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step sends the request to the specialised handler / prompt / model best suited to it.</a:t>
            </a:r>
            <a:endParaRPr lang="en-US" sz="1130" dirty="0"/>
          </a:p>
        </p:txBody>
      </p:sp>
      <p:sp>
        <p:nvSpPr>
          <p:cNvPr id="18" name="Shape 14"/>
          <p:cNvSpPr/>
          <p:nvPr/>
        </p:nvSpPr>
        <p:spPr>
          <a:xfrm>
            <a:off x="4544568" y="3063240"/>
            <a:ext cx="3090672" cy="347472"/>
          </a:xfrm>
          <a:prstGeom prst="roundRect">
            <a:avLst>
              <a:gd name="adj" fmla="val 13158"/>
            </a:avLst>
          </a:prstGeom>
          <a:solidFill>
            <a:srgbClr val="E9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4544568" y="306324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→ router → {A|B|C}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01584" y="173736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02752" y="1956816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2115922"/>
            <a:ext cx="230429" cy="23042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70264" y="19568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Parallelisation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321040" y="2578608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independent sub-tasks at once (or vote on N answers), then aggregate the results.</a:t>
            </a:r>
            <a:endParaRPr lang="en-US" sz="1130" dirty="0"/>
          </a:p>
        </p:txBody>
      </p:sp>
      <p:sp>
        <p:nvSpPr>
          <p:cNvPr id="25" name="Shape 20"/>
          <p:cNvSpPr/>
          <p:nvPr/>
        </p:nvSpPr>
        <p:spPr>
          <a:xfrm>
            <a:off x="8321040" y="3063240"/>
            <a:ext cx="3090672" cy="347472"/>
          </a:xfrm>
          <a:prstGeom prst="roundRect">
            <a:avLst>
              <a:gd name="adj" fmla="val 13158"/>
            </a:avLst>
          </a:prstGeom>
          <a:solidFill>
            <a:srgbClr val="E9F3F4"/>
          </a:solidFill>
          <a:ln/>
        </p:spPr>
      </p:sp>
      <p:sp>
        <p:nvSpPr>
          <p:cNvPr id="26" name="Text 21"/>
          <p:cNvSpPr/>
          <p:nvPr/>
        </p:nvSpPr>
        <p:spPr>
          <a:xfrm>
            <a:off x="8321040" y="306324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fan-out → fan-in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37490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49808" y="3968496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127602"/>
            <a:ext cx="230429" cy="23042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17320" y="396849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Orchestrator–worker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68096" y="4590288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agent plans and delegates dynamic sub-tasks to workers, then synthesises their output.</a:t>
            </a:r>
            <a:endParaRPr lang="en-US" sz="1130" dirty="0"/>
          </a:p>
        </p:txBody>
      </p:sp>
      <p:sp>
        <p:nvSpPr>
          <p:cNvPr id="32" name="Shape 26"/>
          <p:cNvSpPr/>
          <p:nvPr/>
        </p:nvSpPr>
        <p:spPr>
          <a:xfrm>
            <a:off x="768096" y="5074920"/>
            <a:ext cx="3090672" cy="347472"/>
          </a:xfrm>
          <a:prstGeom prst="roundRect">
            <a:avLst>
              <a:gd name="adj" fmla="val 13158"/>
            </a:avLst>
          </a:prstGeom>
          <a:solidFill>
            <a:srgbClr val="E9F3F4"/>
          </a:solidFill>
          <a:ln/>
        </p:spPr>
      </p:sp>
      <p:sp>
        <p:nvSpPr>
          <p:cNvPr id="33" name="Text 27"/>
          <p:cNvSpPr/>
          <p:nvPr/>
        </p:nvSpPr>
        <p:spPr>
          <a:xfrm>
            <a:off x="768096" y="50749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 ⇄ workers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325112" y="37490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526280" y="3968496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6" y="4127602"/>
            <a:ext cx="230429" cy="230429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93792" y="396849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Evaluator–optimiser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544568" y="4590288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generates, another critiques; loop until a quality bar is met.</a:t>
            </a:r>
            <a:endParaRPr lang="en-US" sz="1130" dirty="0"/>
          </a:p>
        </p:txBody>
      </p:sp>
      <p:sp>
        <p:nvSpPr>
          <p:cNvPr id="39" name="Shape 32"/>
          <p:cNvSpPr/>
          <p:nvPr/>
        </p:nvSpPr>
        <p:spPr>
          <a:xfrm>
            <a:off x="4544568" y="5074920"/>
            <a:ext cx="3090672" cy="347472"/>
          </a:xfrm>
          <a:prstGeom prst="roundRect">
            <a:avLst>
              <a:gd name="adj" fmla="val 13158"/>
            </a:avLst>
          </a:prstGeom>
          <a:solidFill>
            <a:srgbClr val="E9F3F4"/>
          </a:solidFill>
          <a:ln/>
        </p:spPr>
      </p:sp>
      <p:sp>
        <p:nvSpPr>
          <p:cNvPr id="40" name="Text 33"/>
          <p:cNvSpPr/>
          <p:nvPr/>
        </p:nvSpPr>
        <p:spPr>
          <a:xfrm>
            <a:off x="4544568" y="50749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→ grade → refine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8101584" y="37490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8321040" y="39319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8321040" y="431596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single model call with tools first. Add orchestration only when measured complexity demands it — every hop adds latency, cost and failure modes.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SINGLE AGENT VS CHAIN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When to chain — and when not 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EAF6F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 single agent when…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420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fits in one tool-use loop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552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1821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few and independent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6849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953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 is tight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8172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6085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yet measure a quality gap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199632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428232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/ orchestrate when…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542032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85432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sub-tasks need distinct prompts/models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25526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85432" y="31821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have clear, checkable hand-offs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968496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85432" y="38953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work is slow and should run async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681728"/>
            <a:ext cx="310896" cy="31089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85432" y="46085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isolation for safety or cost control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94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3931920"/>
            <a:ext cx="2743200" cy="27432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Claude Tool-Use Patterns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exposes two execution models: client tools your app runs, and server tools Anthropic runs. The loop differs — and so does your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1280160" cy="12801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66" y="27029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MENTAL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 tools vs server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5994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where?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your 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Anthropic's infrastructure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stop_reason: "tool_use"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already in the 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job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+ return tool_result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the tool, read the 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drive a while-loop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loop; may pause_turn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get_order, query_db; also bash, text_editor, computer, 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web_search, web_fetch, code_execution, tool_search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THE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client-tool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07592" y="2167128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001" y="2331537"/>
            <a:ext cx="238110" cy="2381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0720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0998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tools array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0" y="269290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70632" y="196596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29584" y="2167128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993" y="2331537"/>
            <a:ext cx="238110" cy="2381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70632" y="280720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Decide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862072" y="30998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returns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block(s)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269290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992624" y="196596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751576" y="2167128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985" y="2331537"/>
            <a:ext cx="238110" cy="2381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92624" y="280720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Execute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084064" y="30998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164" y="2692908"/>
            <a:ext cx="237744" cy="2377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214616" y="196596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7973568" y="2167128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977" y="2331537"/>
            <a:ext cx="238110" cy="23811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14616" y="280720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Return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7306056" y="30998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tool_result block</a:t>
            </a:r>
            <a:endParaRPr lang="en-US" sz="10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9156" y="2692908"/>
            <a:ext cx="237744" cy="23774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436608" y="196596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AF6F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10195560" y="2167128"/>
            <a:ext cx="566928" cy="566928"/>
          </a:xfrm>
          <a:prstGeom prst="ellipse">
            <a:avLst/>
          </a:prstGeom>
          <a:solidFill>
            <a:srgbClr val="F4A93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9969" y="2331537"/>
            <a:ext cx="238110" cy="23811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436608" y="280720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Continue</a:t>
            </a:r>
            <a:endParaRPr lang="en-US" sz="1300" dirty="0"/>
          </a:p>
        </p:txBody>
      </p:sp>
      <p:sp>
        <p:nvSpPr>
          <p:cNvPr id="34" name="Text 23"/>
          <p:cNvSpPr/>
          <p:nvPr/>
        </p:nvSpPr>
        <p:spPr>
          <a:xfrm>
            <a:off x="9528048" y="30998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uses result;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or ends_turn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548640" y="4069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E2A33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261104"/>
            <a:ext cx="457200" cy="4572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371600" y="4114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while stop_reason == "tool_use". </a:t>
            </a:r>
            <a:pPr indent="0" marL="0">
              <a:buNone/>
            </a:pPr>
            <a:r>
              <a:rPr lang="en-US" sz="125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you resend the full messages history: original turns, the assistant's tool_use, and your tool_result. The loop ends at stop_reason == "end_turn".</a:t>
            </a:r>
            <a:endParaRPr lang="en-US" sz="1250" dirty="0"/>
          </a:p>
        </p:txBody>
      </p:sp>
      <p:sp>
        <p:nvSpPr>
          <p:cNvPr id="38" name="Text 26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call is always a round-trip: ask → execute → report back → continue.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loop in ~20 lines (Python SDK)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10512"/>
            <a:ext cx="10607040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[{"role": "user", "content": "What's the status of order A-1009?"}]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client.messages.create(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model="claude-sonnet-4-6", max_tokens=1024,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tools=TOOLS, messages=messages,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"assistant", "content": resp.content})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resp.stop_reason != "tool_use":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                                  # end_turn → final answer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[]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block in resp.content: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block.type == "tool_use":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 = dispatch(block.name, block.input)        # YOUR code runs it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results.append({"type": "tool_result",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"tool_use_id": block.id,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"content": out})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"user", "content": results})  # report back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CONCURRENCY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Parallel tool use &amp; good schema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use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turn can contain </a:t>
            </a:r>
            <a:pPr indent="0" marL="0">
              <a:lnSpc>
                <a:spcPct val="115000"/>
              </a:lnSpc>
              <a:buNone/>
            </a:pPr>
            <a:r>
              <a:rPr lang="en-US" sz="133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tool_use blocks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 calls are independent.</a:t>
            </a: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them concurrently and return </a:t>
            </a:r>
            <a:pPr indent="0" marL="0">
              <a:lnSpc>
                <a:spcPct val="115000"/>
              </a:lnSpc>
              <a:buNone/>
            </a:pPr>
            <a:r>
              <a:rPr lang="en-US" sz="133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tool_result blocks in one user message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order doesn't matter, but every tool_use_id must be answered.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EAF6F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hygiene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248716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0" y="23957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names — </a:t>
            </a:r>
            <a:pPr indent="0" marL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github_list_prs, redis_get — prefix by service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326440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31729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the model — </a:t>
            </a:r>
            <a:pPr indent="0" marL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the prompt; say when to use it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04164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39502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inputs — </a:t>
            </a:r>
            <a:pPr indent="0" marL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Enums, required fields; add strict: true to force schema match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8188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47274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per tool — </a:t>
            </a:r>
            <a:pPr indent="0" marL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tools route better than mega-tools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BUILT-INS &amp; ERRORS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Server tools, the memory tool &amp; error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Anthropic-managed tools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606772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43230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· web_fetch  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Server-side; results land in the response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246120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3384012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20954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code_execution  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sandboxed code on Anthropic infra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7240" y="4023360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416125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98678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tool  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reads/writes a scratchpad you persist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00600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938492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76402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pause_turn  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server-tool turns pause; just re-send to resume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99632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428232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just results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28232" y="23774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"tool_result",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"tool_use_id": "toolu_01...",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"ERROR: order not found",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"is_error":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94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28232" y="429768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is_error: true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Claude can recover — retry, ask the user, or pick another tool. Wrap real failures; don't crash the loop.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94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3931920"/>
            <a:ext cx="2743200" cy="27432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 Use vs Function Calling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'Function calling' and 'tool use' are the same idea with different envelopes. Knowing the differences keeps your architecture portable.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1280160" cy="12801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66" y="27029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SAME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shared pattern across providers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3852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functions with JSON-schema  →  the model returns a structured call  →  you execute  →  you feed the result back.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provider implements this loop; the field names and a few behaviours differ.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0848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71016" y="3813048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639" y="3998671"/>
            <a:ext cx="268834" cy="2688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6177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schema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70632" y="3520440"/>
            <a:ext cx="20848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93008" y="3813048"/>
            <a:ext cx="640080" cy="640080"/>
          </a:xfrm>
          <a:prstGeom prst="ellipse">
            <a:avLst/>
          </a:prstGeom>
          <a:solidFill>
            <a:srgbClr val="1DB9A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31" y="3998671"/>
            <a:ext cx="268834" cy="2688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62072" y="46177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emits call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992624" y="3520440"/>
            <a:ext cx="20848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5000" y="3813048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623" y="3998671"/>
            <a:ext cx="268834" cy="2688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84064" y="46177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executes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214616" y="3520440"/>
            <a:ext cx="20848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36992" y="3813048"/>
            <a:ext cx="640080" cy="640080"/>
          </a:xfrm>
          <a:prstGeom prst="ellipse">
            <a:avLst/>
          </a:prstGeom>
          <a:solidFill>
            <a:srgbClr val="1DB9A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615" y="3998671"/>
            <a:ext cx="268834" cy="26883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06056" y="46177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436608" y="3520440"/>
            <a:ext cx="20848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58984" y="3813048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607" y="3998671"/>
            <a:ext cx="268834" cy="2688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28048" y="46177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finish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THE DIFFERENCES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Claude tool use vs OpenAI-style function calling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34840"/>
                <a:gridCol w="4370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(Messages API)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OpenAI-style function calling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tools=[{name, description, input_schema}]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tools=[{type:'function', function:{...}}]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Model's call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tool_use content block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tool_calls on the message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reply with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tool_result block (user role)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role:'tool' message w/ call id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signal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stop_reason: "tool_use"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finish_reason: "tool_calls"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calls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blocks per turn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tool_calls per message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schema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strict: true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strict: true (structured)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Server-run tools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web_search, code_execution, etc.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tools vary by platform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STANDARDISATION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MCP — one protocol for many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re-writing integrations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ct val="115000"/>
              </a:lnSpc>
              <a:buNone/>
            </a:pPr>
            <a:r>
              <a:rPr lang="en-US" sz="133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open standard for exposing tools, data and prompts to any model client.</a:t>
            </a: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tool server once; reuse it across Claude, IDEs and other MCP-aware hosts instead of bespoke glue per app.</a:t>
            </a: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i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connect to MCP servers directly; you can also build your own client.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85232" cy="4114800"/>
          </a:xfrm>
          <a:prstGeom prst="roundRect">
            <a:avLst>
              <a:gd name="adj" fmla="val 2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2860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18320" y="2286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4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487168"/>
            <a:ext cx="731520" cy="3200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229600" y="338328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094E56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47872"/>
            <a:ext cx="36576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229600" y="4096512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094E56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0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API server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261104"/>
            <a:ext cx="365760" cy="2286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29600" y="4809744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094E56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0" y="48097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search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974336"/>
            <a:ext cx="36576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9400" y="3401568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tool servers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94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3931920"/>
            <a:ext cx="2743200" cy="27432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Middleware: FastAPI · Redis · Queues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user and the model sits middleware: an HTTP layer for tools, a fast store for memory, and a queue to decouple slow 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1280160" cy="12801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66" y="27029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5 · 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reference architecture for a Claude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chat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2926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 + loop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926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A93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 tools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3246120"/>
            <a:ext cx="457200" cy="27432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200400"/>
            <a:ext cx="45720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80360" y="14173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A606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8803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cache · TTL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0" y="1417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A606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486400" y="14173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Vector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· long-term memory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023360" y="2286000"/>
            <a:ext cx="0" cy="640080"/>
          </a:xfrm>
          <a:prstGeom prst="line">
            <a:avLst/>
          </a:prstGeom>
          <a:noFill/>
          <a:ln w="19050">
            <a:solidFill>
              <a:srgbClr val="5E747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66560" y="2286000"/>
            <a:ext cx="0" cy="640080"/>
          </a:xfrm>
          <a:prstGeom prst="line">
            <a:avLst/>
          </a:prstGeom>
          <a:noFill/>
          <a:ln w="19050">
            <a:solidFill>
              <a:srgbClr val="5E747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880360" y="45262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A606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288036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queue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 / broker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0" y="45262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A606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486400" y="45262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tools · webhooks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023360" y="3840480"/>
            <a:ext cx="0" cy="685800"/>
          </a:xfrm>
          <a:prstGeom prst="line">
            <a:avLst/>
          </a:prstGeom>
          <a:noFill/>
          <a:ln w="19050">
            <a:solidFill>
              <a:srgbClr val="5E747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828032"/>
            <a:ext cx="365760" cy="2743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778240" y="14173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778240" y="1417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email · CRM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778240" y="29260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8778240" y="2926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implementations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tools run here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778240" y="45262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778240" y="45262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· logs · evals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246120"/>
            <a:ext cx="5029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decides → FastAPI dispatches → tools touch Redis, the DB, queues and external APIs → results return up the loop.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5 · THE HTTP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FastAPI as the agent's backend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975104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12" y="2150120"/>
            <a:ext cx="253472" cy="253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7510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Async-native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26700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+ async/await suits I/O-bound agents waiting on model &amp; tool calls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83096" y="1975104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112" y="2150120"/>
            <a:ext cx="253472" cy="253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7510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contracts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01384" y="26700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validate tool inputs/outputs — schemas you can reuse for tool defs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785616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4023360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12" y="4198376"/>
            <a:ext cx="253472" cy="253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02336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endpoints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86384" y="471830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 to talk to the agent; /tools/* or internal funcs the loop dispatches to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63640" y="3785616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83096" y="4023360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112" y="4198376"/>
            <a:ext cx="253472" cy="253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402336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501384" y="471830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injection, middleware, auth, OpenAPI docs out of the box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5 · THE MEMORY STORE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Redis structures map cleanly to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206240"/>
                <a:gridCol w="38679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E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+ TTL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token / short-term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session:42 ... EX 3600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message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LPUSH chat:42 '{role,content}'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user profile / 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HSET user:42 units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recall by recency/score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ZADD recall:42 &lt;ts&gt; &lt;fact&gt;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event log /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XADD jobs * type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(RediSearch)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long-term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over 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5 · DECOUPLING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an event queue belongs in the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tool should block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50592"/>
            <a:ext cx="493776" cy="493776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155" y="2593787"/>
            <a:ext cx="207386" cy="2073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23957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work  </a:t>
            </a:r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generation, large exports — return a job id now, finish later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822960" y="3236976"/>
            <a:ext cx="493776" cy="493776"/>
          </a:xfrm>
          <a:prstGeom prst="ellipse">
            <a:avLst/>
          </a:prstGeom>
          <a:solidFill>
            <a:srgbClr val="1DB9A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5" y="3380171"/>
            <a:ext cx="207386" cy="2073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4752" y="318211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&amp; durability  </a:t>
            </a:r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re-delivers failed jobs without blocking the chat turn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22960" y="4023360"/>
            <a:ext cx="493776" cy="493776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155" y="4166555"/>
            <a:ext cx="207386" cy="2073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44752" y="396849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 </a:t>
            </a:r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triggers many independent side-effects in parallel</a:t>
            </a:r>
            <a:endParaRPr lang="en-US" sz="1180" dirty="0"/>
          </a:p>
        </p:txBody>
      </p:sp>
      <p:sp>
        <p:nvSpPr>
          <p:cNvPr id="17" name="Shape 12"/>
          <p:cNvSpPr/>
          <p:nvPr/>
        </p:nvSpPr>
        <p:spPr>
          <a:xfrm>
            <a:off x="822960" y="4809744"/>
            <a:ext cx="493776" cy="493776"/>
          </a:xfrm>
          <a:prstGeom prst="ellipse">
            <a:avLst/>
          </a:prstGeom>
          <a:solidFill>
            <a:srgbClr val="1DB9A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55" y="4952939"/>
            <a:ext cx="207386" cy="2073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44752" y="475488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Back-pressure  </a:t>
            </a:r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spikes so a burst of tool calls can't overwhelm a downstream API</a:t>
            </a:r>
            <a:endParaRPr lang="en-US" sz="1180" dirty="0"/>
          </a:p>
        </p:txBody>
      </p:sp>
      <p:sp>
        <p:nvSpPr>
          <p:cNvPr id="20" name="Shape 14"/>
          <p:cNvSpPr/>
          <p:nvPr/>
        </p:nvSpPr>
        <p:spPr>
          <a:xfrm>
            <a:off x="6199632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428232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 async tool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428232" y="2423160"/>
            <a:ext cx="4983480" cy="1371600"/>
          </a:xfrm>
          <a:prstGeom prst="roundRect">
            <a:avLst>
              <a:gd name="adj" fmla="val 4667"/>
            </a:avLst>
          </a:prstGeom>
          <a:solidFill>
            <a:srgbClr val="094E56"/>
          </a:solidFill>
          <a:ln/>
        </p:spPr>
      </p:sp>
      <p:sp>
        <p:nvSpPr>
          <p:cNvPr id="23" name="Text 17"/>
          <p:cNvSpPr/>
          <p:nvPr/>
        </p:nvSpPr>
        <p:spPr>
          <a:xfrm>
            <a:off x="6629400" y="2514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query_db()
</a:t>
            </a:r>
            <a:pPr indent="0" marL="0">
              <a:buNone/>
            </a:pPr>
            <a:r>
              <a:rPr lang="en-US" sz="120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turn → tool_result returns the rows immediately.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28232" y="3977640"/>
            <a:ext cx="4983480" cy="1691640"/>
          </a:xfrm>
          <a:prstGeom prst="roundRect">
            <a:avLst>
              <a:gd name="adj" fmla="val 3784"/>
            </a:avLst>
          </a:prstGeom>
          <a:solidFill>
            <a:srgbClr val="0E7C86"/>
          </a:solidFill>
          <a:ln/>
        </p:spPr>
      </p:sp>
      <p:sp>
        <p:nvSpPr>
          <p:cNvPr id="25" name="Text 19"/>
          <p:cNvSpPr/>
          <p:nvPr/>
        </p:nvSpPr>
        <p:spPr>
          <a:xfrm>
            <a:off x="6629400" y="406908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enqueue_report()
</a:t>
            </a:r>
            <a:pPr indent="0" marL="0">
              <a:buNone/>
            </a:pPr>
            <a:r>
              <a:rPr lang="en-US" sz="1200" dirty="0">
                <a:solidFill>
                  <a:srgbClr val="EA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the queue → tool_result returns a job_id → a worker finishes and writes back to Redis; the agent polls or is notified.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94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3931920"/>
            <a:ext cx="2743200" cy="27432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Lab 1 — Agent + API + Redis Memory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1: a Claude agent that answers order questions by calling a FastAPI backend, remembering the conversation in Redis.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1280160" cy="12801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66" y="27029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WHAT YOU'LL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Colab 1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26517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2651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6517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4A93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651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get_order endpoint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265176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98280" y="2651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store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3017520"/>
            <a:ext cx="411480" cy="27432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017520"/>
            <a:ext cx="411480" cy="27432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017520"/>
            <a:ext cx="41148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108960" y="42976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A606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108960" y="4297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facts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343400" y="3657600"/>
            <a:ext cx="0" cy="640080"/>
          </a:xfrm>
          <a:prstGeom prst="line">
            <a:avLst/>
          </a:prstGeom>
          <a:noFill/>
          <a:ln w="19050">
            <a:solidFill>
              <a:srgbClr val="5E747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get_order (client tool → FastAPI) · remember_fact / recall (client tools → Redis)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178308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AF6F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end-to-end in Colab: fakeredis (no server), FastAPI via TestClient (in-process), real Anthropic SDK with your key.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THE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Colab 1 — eight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56816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19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key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2167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anthropic fastapi fakeredis; set ANTHROPIC_API_KEY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956816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1819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backend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86600" y="2167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app with GET /orders/{id} over a dict of orders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04495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9077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2552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RedisMemory class: append_turn, load_history, set/get_fact, TTL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779776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04495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9077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86600" y="32552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schemas for get_order, remember_fact, recall_fact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867912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13308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39959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map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32588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tool name → Python function (calls FastAPI / Redis)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3867912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10528" y="413308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39959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8660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stop_reason=='tool_use': execute, return tool_result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956048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5221224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5221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25880" y="50840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325880" y="54315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each turn to Redis; reload on the next message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4956048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10528" y="5221224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3" name="Text 41"/>
          <p:cNvSpPr/>
          <p:nvPr/>
        </p:nvSpPr>
        <p:spPr>
          <a:xfrm>
            <a:off x="6510528" y="5221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86600" y="50840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it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086600" y="54315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Multi-turn chat that recalls earlier context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GO FURTHER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Colab 1 — extension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07" y="2132747"/>
            <a:ext cx="215067" cy="215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summary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25877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history exceeds N turns, summarise the oldest turns with a cheap model and store the summary in Redis instead.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68096" y="29535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5112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79" y="2132747"/>
            <a:ext cx="215067" cy="2150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48072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&amp; forget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4568" y="25877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EXPIRE to session keys and a forget_fact tool; prove old context disappears.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4544568" y="29535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9" name="Text 15"/>
          <p:cNvSpPr/>
          <p:nvPr/>
        </p:nvSpPr>
        <p:spPr>
          <a:xfrm>
            <a:off x="4544568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01584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02752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251" y="2132747"/>
            <a:ext cx="215067" cy="21506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24544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lookups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321040" y="25877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get_customer and let Claude call get_order + get_customer in one turn; return both results together.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8321040" y="29535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6" name="Text 21"/>
          <p:cNvSpPr/>
          <p:nvPr/>
        </p:nvSpPr>
        <p:spPr>
          <a:xfrm>
            <a:off x="8321040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49808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07" y="3943259"/>
            <a:ext cx="215067" cy="21506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writes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68096" y="43982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remember_fact reject oversized or PII-looking values before persisting.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768096" y="476402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33" name="Text 27"/>
          <p:cNvSpPr/>
          <p:nvPr/>
        </p:nvSpPr>
        <p:spPr>
          <a:xfrm>
            <a:off x="768096" y="4764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325112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526280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779" y="3943259"/>
            <a:ext cx="215067" cy="21506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48072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accounting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4544568" y="43982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input/output tokens per turn and chart how summary-compaction reduces cost.</a:t>
            </a:r>
            <a:endParaRPr lang="en-US" sz="1080" dirty="0"/>
          </a:p>
        </p:txBody>
      </p:sp>
      <p:sp>
        <p:nvSpPr>
          <p:cNvPr id="39" name="Shape 32"/>
          <p:cNvSpPr/>
          <p:nvPr/>
        </p:nvSpPr>
        <p:spPr>
          <a:xfrm>
            <a:off x="4544568" y="476402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94E56"/>
          </a:solidFill>
          <a:ln/>
        </p:spPr>
      </p:sp>
      <p:sp>
        <p:nvSpPr>
          <p:cNvPr id="40" name="Text 33"/>
          <p:cNvSpPr/>
          <p:nvPr/>
        </p:nvSpPr>
        <p:spPr>
          <a:xfrm>
            <a:off x="4544568" y="4764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101584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302752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251" y="3943259"/>
            <a:ext cx="215067" cy="215067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924544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Redis</a:t>
            </a:r>
            <a:endParaRPr lang="en-US" sz="1350" dirty="0"/>
          </a:p>
        </p:txBody>
      </p:sp>
      <p:sp>
        <p:nvSpPr>
          <p:cNvPr id="45" name="Text 37"/>
          <p:cNvSpPr/>
          <p:nvPr/>
        </p:nvSpPr>
        <p:spPr>
          <a:xfrm>
            <a:off x="8321040" y="43982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fakeredis for a managed Redis URL via env var with zero code change.</a:t>
            </a:r>
            <a:endParaRPr lang="en-US" sz="1080" dirty="0"/>
          </a:p>
        </p:txBody>
      </p:sp>
      <p:sp>
        <p:nvSpPr>
          <p:cNvPr id="46" name="Shape 38"/>
          <p:cNvSpPr/>
          <p:nvPr/>
        </p:nvSpPr>
        <p:spPr>
          <a:xfrm>
            <a:off x="8321040" y="476402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94E56"/>
          </a:solidFill>
          <a:ln/>
        </p:spPr>
      </p:sp>
      <p:sp>
        <p:nvSpPr>
          <p:cNvPr id="47" name="Text 39"/>
          <p:cNvSpPr/>
          <p:nvPr/>
        </p:nvSpPr>
        <p:spPr>
          <a:xfrm>
            <a:off x="8321040" y="4764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94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3931920"/>
            <a:ext cx="2743200" cy="27432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Databases, External Tools &amp; Lab 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agents touch real systems. We connect safely to databases and APIs, then build a multi-tool, chained agent with an event queue.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1280160" cy="12801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66" y="27029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7 · SAFETY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Connecting an agent to a database — safely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975104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12" y="2150120"/>
            <a:ext cx="253472" cy="253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7510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6700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tool a read-only role scoped to the tables it needs — never broad credentials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83096" y="1975104"/>
            <a:ext cx="603504" cy="603504"/>
          </a:xfrm>
          <a:prstGeom prst="ellipse">
            <a:avLst/>
          </a:prstGeom>
          <a:solidFill>
            <a:srgbClr val="F4A93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112" y="2150120"/>
            <a:ext cx="253472" cy="253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7510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raw SQL from the model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01384" y="26700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intent-shaped tools (find_orders) or parameterise; validate every field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548640" y="3785616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4023360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12" y="4198376"/>
            <a:ext cx="253472" cy="253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02336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the blast radius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86384" y="471830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LIMIT, timeouts and pagination so a bad call can't scan the whole table</a:t>
            </a:r>
            <a:endParaRPr lang="en-US" sz="1230" dirty="0"/>
          </a:p>
        </p:txBody>
      </p:sp>
      <p:sp>
        <p:nvSpPr>
          <p:cNvPr id="21" name="Shape 16"/>
          <p:cNvSpPr/>
          <p:nvPr/>
        </p:nvSpPr>
        <p:spPr>
          <a:xfrm>
            <a:off x="6263640" y="3785616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83096" y="4023360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112" y="4198376"/>
            <a:ext cx="253472" cy="253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402336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review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501384" y="471830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generated query + params; sample-review what the agent actually ran</a:t>
            </a:r>
            <a:endParaRPr lang="en-US" sz="12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7 · LONG-TERM RECALL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Vector stores &amp; semantic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as memory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facts, past turns and documents into vectors; store them keyed by user/session.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embed the query and retrieve the top-k nearest memories to inject into context — this is long-term semantic memory.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(RediSearch), pgvector or a dedicated vector DB all work; pick by scale and ops comfort.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85232" cy="4114800"/>
          </a:xfrm>
          <a:prstGeom prst="roundRect">
            <a:avLst>
              <a:gd name="adj" fmla="val 2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12280" y="2194560"/>
            <a:ext cx="4389120" cy="548640"/>
          </a:xfrm>
          <a:prstGeom prst="roundRect">
            <a:avLst>
              <a:gd name="adj" fmla="val 11667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194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embed → store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778240" y="2761488"/>
            <a:ext cx="457200" cy="2011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12280" y="2907792"/>
            <a:ext cx="4389120" cy="548640"/>
          </a:xfrm>
          <a:prstGeom prst="roundRect">
            <a:avLst>
              <a:gd name="adj" fmla="val 11667"/>
            </a:avLst>
          </a:prstGeom>
          <a:solidFill>
            <a:srgbClr val="0A6068"/>
          </a:solidFill>
          <a:ln/>
        </p:spPr>
      </p:sp>
      <p:sp>
        <p:nvSpPr>
          <p:cNvPr id="14" name="Text 11"/>
          <p:cNvSpPr/>
          <p:nvPr/>
        </p:nvSpPr>
        <p:spPr>
          <a:xfrm>
            <a:off x="6812280" y="29077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embed question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78240" y="3474720"/>
            <a:ext cx="457200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812280" y="3621024"/>
            <a:ext cx="4389120" cy="548640"/>
          </a:xfrm>
          <a:prstGeom prst="roundRect">
            <a:avLst>
              <a:gd name="adj" fmla="val 11667"/>
            </a:avLst>
          </a:prstGeom>
          <a:solidFill>
            <a:srgbClr val="0A6068"/>
          </a:solidFill>
          <a:ln/>
        </p:spPr>
      </p:sp>
      <p:sp>
        <p:nvSpPr>
          <p:cNvPr id="17" name="Text 13"/>
          <p:cNvSpPr/>
          <p:nvPr/>
        </p:nvSpPr>
        <p:spPr>
          <a:xfrm>
            <a:off x="6812280" y="36210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top-k memories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778240" y="4187952"/>
            <a:ext cx="457200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12280" y="4334256"/>
            <a:ext cx="4389120" cy="548640"/>
          </a:xfrm>
          <a:prstGeom prst="roundRect">
            <a:avLst>
              <a:gd name="adj" fmla="val 11667"/>
            </a:avLst>
          </a:prstGeom>
          <a:solidFill>
            <a:srgbClr val="F4A93B"/>
          </a:solidFill>
          <a:ln/>
        </p:spPr>
      </p:sp>
      <p:sp>
        <p:nvSpPr>
          <p:cNvPr id="20" name="Text 15"/>
          <p:cNvSpPr/>
          <p:nvPr/>
        </p:nvSpPr>
        <p:spPr>
          <a:xfrm>
            <a:off x="6812280" y="43342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prompt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778240" y="4901184"/>
            <a:ext cx="457200" cy="20116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812280" y="5047488"/>
            <a:ext cx="4389120" cy="548640"/>
          </a:xfrm>
          <a:prstGeom prst="roundRect">
            <a:avLst>
              <a:gd name="adj" fmla="val 11667"/>
            </a:avLst>
          </a:prstGeom>
          <a:solidFill>
            <a:srgbClr val="0E7C86"/>
          </a:solidFill>
          <a:ln/>
        </p:spPr>
      </p:sp>
      <p:sp>
        <p:nvSpPr>
          <p:cNvPr id="23" name="Text 17"/>
          <p:cNvSpPr/>
          <p:nvPr/>
        </p:nvSpPr>
        <p:spPr>
          <a:xfrm>
            <a:off x="6812280" y="5047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grounded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7 · EXTERNAL APIS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Calling third-party APIs from a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07" y="2132747"/>
            <a:ext cx="215067" cy="215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2606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keys from the environment / a vault — never let the model see or emit them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4325112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79" y="2132747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44568" y="2606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idempotency key so a retried create_order can't double-charge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8101584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251" y="2132747"/>
            <a:ext cx="215067" cy="215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24544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21040" y="2606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every call; convert slow ones to async jobs on the queue</a:t>
            </a:r>
            <a:endParaRPr lang="en-US" sz="1130" dirty="0"/>
          </a:p>
        </p:txBody>
      </p:sp>
      <p:sp>
        <p:nvSpPr>
          <p:cNvPr id="21" name="Shape 16"/>
          <p:cNvSpPr/>
          <p:nvPr/>
        </p:nvSpPr>
        <p:spPr>
          <a:xfrm>
            <a:off x="548640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07" y="3943259"/>
            <a:ext cx="215067" cy="215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68096" y="44165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429s with backoff; cache hot reads in Redis to cut call volume</a:t>
            </a:r>
            <a:endParaRPr lang="en-US" sz="1130" dirty="0"/>
          </a:p>
        </p:txBody>
      </p:sp>
      <p:sp>
        <p:nvSpPr>
          <p:cNvPr id="26" name="Shape 20"/>
          <p:cNvSpPr/>
          <p:nvPr/>
        </p:nvSpPr>
        <p:spPr>
          <a:xfrm>
            <a:off x="4325112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6280" y="3794760"/>
            <a:ext cx="512064" cy="512064"/>
          </a:xfrm>
          <a:prstGeom prst="ellipse">
            <a:avLst/>
          </a:prstGeom>
          <a:solidFill>
            <a:srgbClr val="D954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779" y="3943259"/>
            <a:ext cx="215067" cy="215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48072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mapping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44568" y="44165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HTTP failures into clear tool_result errors Claude can act on</a:t>
            </a:r>
            <a:endParaRPr lang="en-US" sz="1130" dirty="0"/>
          </a:p>
        </p:txBody>
      </p:sp>
      <p:sp>
        <p:nvSpPr>
          <p:cNvPr id="31" name="Shape 24"/>
          <p:cNvSpPr/>
          <p:nvPr/>
        </p:nvSpPr>
        <p:spPr>
          <a:xfrm>
            <a:off x="8101584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02752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251" y="3943259"/>
            <a:ext cx="215067" cy="21506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24544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321040" y="44165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each call to the acting user; don't act with ambient admin rights</a:t>
            </a:r>
            <a:endParaRPr lang="en-US" sz="11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WHAT YOU'LL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Colab 2 architecture — chaining + queue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EAF6F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'place an order' agent that chains: check inventory → create order → enqueue a confirmation email handled by a worker.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2461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plans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265176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26517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check_inventory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tool → DB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54680" y="3529584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352958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create_order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tool → DB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54680" y="4407408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4A93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54680" y="44074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send_email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tool</a:t>
            </a:r>
            <a:endParaRPr lang="en-US" sz="1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907792"/>
            <a:ext cx="384048" cy="237744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785616"/>
            <a:ext cx="384048" cy="237744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663440"/>
            <a:ext cx="384048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989320" y="4407408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A606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989320" y="4407408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queue + memory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4663440"/>
            <a:ext cx="365760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4160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XADD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686800" y="4407408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8686800" y="440740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jobs → sends email</a:t>
            </a:r>
            <a:endParaRPr lang="en-US" sz="12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663440"/>
            <a:ext cx="365760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9244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XREADGROUP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8686800" y="3200400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094E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8686800" y="32004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store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writes status back</a:t>
            </a:r>
            <a:endParaRPr lang="en-US" sz="12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0058400" y="4023360"/>
            <a:ext cx="274320" cy="27432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104888" y="3529584"/>
            <a:ext cx="0" cy="877824"/>
          </a:xfrm>
          <a:prstGeom prst="line">
            <a:avLst/>
          </a:prstGeom>
          <a:noFill/>
          <a:ln w="15875">
            <a:solidFill>
              <a:srgbClr val="5E747D"/>
            </a:solidFill>
            <a:prstDash val="dash"/>
          </a:ln>
        </p:spPr>
      </p:sp>
      <p:sp>
        <p:nvSpPr>
          <p:cNvPr id="31" name="Text 23"/>
          <p:cNvSpPr/>
          <p:nvPr/>
        </p:nvSpPr>
        <p:spPr>
          <a:xfrm>
            <a:off x="598932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shown: routing, prompt chaining, parallel sync tools, and an async tool backed by a Redis Stream consumer group.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THE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Colab 2 — eight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56816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19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2167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Lab 1 scaffolding; add a SQLite orders DB + Redis Stream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956816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1819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tools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86600" y="2167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check_inventory and create_order (parameterised SQL, row limits)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04495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9077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tool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2552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send_confirmation enqueues a job via XADD, returns a job_id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309360" y="2779776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04495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9077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86600" y="32552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group reads the stream, 'sends' email, writes status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48640" y="3867912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133088"/>
            <a:ext cx="438912" cy="438912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39959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32588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instructs the chain: inventory → order → email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309360" y="3867912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10528" y="4133088"/>
            <a:ext cx="438912" cy="438912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39959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8660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Claude batch independent reads in one turn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48640" y="4956048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5221224"/>
            <a:ext cx="438912" cy="438912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5221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25880" y="50840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325880" y="54315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 job status in Redis; expose a check_job tool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309360" y="4956048"/>
            <a:ext cx="54864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10528" y="5221224"/>
            <a:ext cx="438912" cy="438912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43" name="Text 41"/>
          <p:cNvSpPr/>
          <p:nvPr/>
        </p:nvSpPr>
        <p:spPr>
          <a:xfrm>
            <a:off x="6510528" y="5221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86600" y="50840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chain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086600" y="54315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 an order end-to-end; watch the worker complete it</a:t>
            </a:r>
            <a:endParaRPr lang="en-US" sz="9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GO FURTHER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Colab 2 — extension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07" y="2132747"/>
            <a:ext cx="215067" cy="215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&amp; retry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" y="256946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retry count and a dead-letter stream for jobs that keep failing.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768096" y="29535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5112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79" y="2132747"/>
            <a:ext cx="215067" cy="2150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48072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step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44568" y="256946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create_order, add a verify_order step that re-reads the DB to confirm.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4544568" y="29535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9" name="Text 15"/>
          <p:cNvSpPr/>
          <p:nvPr/>
        </p:nvSpPr>
        <p:spPr>
          <a:xfrm>
            <a:off x="4544568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01584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02752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251" y="2132747"/>
            <a:ext cx="215067" cy="21506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24544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321040" y="256946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a planner agent + specialist worker agents per sub-task.</a:t>
            </a:r>
            <a:endParaRPr lang="en-US" sz="1060" dirty="0"/>
          </a:p>
        </p:txBody>
      </p:sp>
      <p:sp>
        <p:nvSpPr>
          <p:cNvPr id="25" name="Shape 20"/>
          <p:cNvSpPr/>
          <p:nvPr/>
        </p:nvSpPr>
        <p:spPr>
          <a:xfrm>
            <a:off x="8321040" y="29535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26" name="Text 21"/>
          <p:cNvSpPr/>
          <p:nvPr/>
        </p:nvSpPr>
        <p:spPr>
          <a:xfrm>
            <a:off x="8321040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49808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07" y="3943259"/>
            <a:ext cx="215067" cy="21506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68096" y="437997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explicit confirmation before create_order exceeds a value threshold.</a:t>
            </a:r>
            <a:endParaRPr lang="en-US" sz="1060" dirty="0"/>
          </a:p>
        </p:txBody>
      </p:sp>
      <p:sp>
        <p:nvSpPr>
          <p:cNvPr id="32" name="Shape 26"/>
          <p:cNvSpPr/>
          <p:nvPr/>
        </p:nvSpPr>
        <p:spPr>
          <a:xfrm>
            <a:off x="768096" y="476402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33" name="Text 27"/>
          <p:cNvSpPr/>
          <p:nvPr/>
        </p:nvSpPr>
        <p:spPr>
          <a:xfrm>
            <a:off x="768096" y="4764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325112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526280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779" y="3943259"/>
            <a:ext cx="215067" cy="21506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48072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chain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544568" y="437997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a span per tool call and reconstruct the full chain timeline.</a:t>
            </a:r>
            <a:endParaRPr lang="en-US" sz="1060" dirty="0"/>
          </a:p>
        </p:txBody>
      </p:sp>
      <p:sp>
        <p:nvSpPr>
          <p:cNvPr id="39" name="Shape 32"/>
          <p:cNvSpPr/>
          <p:nvPr/>
        </p:nvSpPr>
        <p:spPr>
          <a:xfrm>
            <a:off x="4544568" y="476402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94E56"/>
          </a:solidFill>
          <a:ln/>
        </p:spPr>
      </p:sp>
      <p:sp>
        <p:nvSpPr>
          <p:cNvPr id="40" name="Text 33"/>
          <p:cNvSpPr/>
          <p:nvPr/>
        </p:nvSpPr>
        <p:spPr>
          <a:xfrm>
            <a:off x="4544568" y="4764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101584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302752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251" y="3943259"/>
            <a:ext cx="215067" cy="215067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924544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8321040" y="437997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static system prompt + tool defs; measure the token savings.</a:t>
            </a:r>
            <a:endParaRPr lang="en-US" sz="1060" dirty="0"/>
          </a:p>
        </p:txBody>
      </p:sp>
      <p:sp>
        <p:nvSpPr>
          <p:cNvPr id="46" name="Shape 38"/>
          <p:cNvSpPr/>
          <p:nvPr/>
        </p:nvSpPr>
        <p:spPr>
          <a:xfrm>
            <a:off x="8321040" y="476402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94E56"/>
          </a:solidFill>
          <a:ln/>
        </p:spPr>
      </p:sp>
      <p:sp>
        <p:nvSpPr>
          <p:cNvPr id="47" name="Text 39"/>
          <p:cNvSpPr/>
          <p:nvPr/>
        </p:nvSpPr>
        <p:spPr>
          <a:xfrm>
            <a:off x="8321040" y="4764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94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3931920"/>
            <a:ext cx="2743200" cy="27432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Reliability, Cost, Security &amp; Capstone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the easy part. Shipping it means observability, retries, cost control, and tight guardrails on what the agent may 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1280160" cy="12801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66" y="27029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8 · SEEING INSIDE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Observability &amp;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975104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12" y="2150120"/>
            <a:ext cx="253472" cy="253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7510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6700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tool name, inputs, latency and outcome for each loop iteration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83096" y="1975104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112" y="2150120"/>
            <a:ext cx="253472" cy="253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7510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failures legible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01384" y="26700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errors + correlation ids tie a user turn to its side-effects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548640" y="3785616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4023360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12" y="4198376"/>
            <a:ext cx="253472" cy="253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02336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behaviour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86384" y="471830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eval set of conversations; assert which tools fire and the final answer</a:t>
            </a:r>
            <a:endParaRPr lang="en-US" sz="1230" dirty="0"/>
          </a:p>
        </p:txBody>
      </p:sp>
      <p:sp>
        <p:nvSpPr>
          <p:cNvPr id="21" name="Shape 16"/>
          <p:cNvSpPr/>
          <p:nvPr/>
        </p:nvSpPr>
        <p:spPr>
          <a:xfrm>
            <a:off x="6263640" y="3785616"/>
            <a:ext cx="5440680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83096" y="4023360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112" y="4198376"/>
            <a:ext cx="253472" cy="253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402336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money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501384" y="471830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tokens &amp; tool calls per session; alert on runaway loops</a:t>
            </a:r>
            <a:endParaRPr lang="en-US" sz="12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8 · ROBUST &amp; AFFORDABLE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Reliability &amp; cost levers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EAF6F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420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2468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transient errors with exponential backoff</a:t>
            </a:r>
            <a:endParaRPr lang="en-US" sz="12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5526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31821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on every state-changing tool</a:t>
            </a:r>
            <a:endParaRPr lang="en-US" sz="128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6849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3895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loop iterations to stop runaway tool use</a:t>
            </a:r>
            <a:endParaRPr lang="en-US" sz="128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8172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46085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dead-letter for durable async work</a:t>
            </a:r>
            <a:endParaRPr lang="en-US" sz="1280" dirty="0"/>
          </a:p>
        </p:txBody>
      </p:sp>
      <p:sp>
        <p:nvSpPr>
          <p:cNvPr id="16" name="Shape 10"/>
          <p:cNvSpPr/>
          <p:nvPr/>
        </p:nvSpPr>
        <p:spPr>
          <a:xfrm>
            <a:off x="6199632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428232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54203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58000" y="2468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for static system prompt + tool defs</a:t>
            </a:r>
            <a:endParaRPr lang="en-US" sz="128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255264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0" y="31821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model: Haiku for routing, Opus for hard steps</a:t>
            </a:r>
            <a:endParaRPr lang="en-US" sz="128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968496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58000" y="3895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(≈50% off) for non-interactive bulk work</a:t>
            </a:r>
            <a:endParaRPr lang="en-US" sz="128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681728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58000" y="46085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Compact/summarise history to shrink resent context</a:t>
            </a:r>
            <a:endParaRPr lang="en-US" sz="12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8 · GUARDRAILS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 for tool-using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07" y="2132747"/>
            <a:ext cx="215067" cy="215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25877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gets the minimum scope; no ambient admin credentials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984248"/>
            <a:ext cx="512064" cy="512064"/>
          </a:xfrm>
          <a:prstGeom prst="ellipse">
            <a:avLst/>
          </a:prstGeom>
          <a:solidFill>
            <a:srgbClr val="D954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79" y="2132747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44568" y="25877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tool outputs &amp; fetched content as untrusted; don't auto-execute instructions in them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01584" y="1783080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19842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251" y="2132747"/>
            <a:ext cx="215067" cy="215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24544" y="198424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21040" y="25877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high-impact actions (refunds, deletes) behind explicit approval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07" y="3943259"/>
            <a:ext cx="215067" cy="215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PII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68096" y="439826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what you store in memory; apply retention &amp; deletion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25112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6280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779" y="3943259"/>
            <a:ext cx="215067" cy="215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48072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discipline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544568" y="439826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live in env/vault; never in prompts, logs or tool results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01584" y="3593592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02752" y="37947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251" y="3943259"/>
            <a:ext cx="215067" cy="21506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24544" y="379476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audit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321040" y="439826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intended actions to the user; keep an immutable action log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8 · BRING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Capstone challenge &amp; the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(take-home)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Lab 2 into a small support agent: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short-term memory + a vector store for long-term recall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≥ 3 tools incl. one async queue-backed tool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Routing + chaining with a human-approval gate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Tracing, retries and prompt caching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notebook + a short architecture note.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85232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— 20 MCQs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2468880"/>
            <a:ext cx="420624" cy="42062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61" y="2590861"/>
            <a:ext cx="176662" cy="1766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14032" y="24323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taxonomy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424160" y="25054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15" name="Text 12"/>
          <p:cNvSpPr/>
          <p:nvPr/>
        </p:nvSpPr>
        <p:spPr>
          <a:xfrm>
            <a:off x="10424160" y="25054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0" y="3035808"/>
            <a:ext cx="420624" cy="42062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61" y="3157789"/>
            <a:ext cx="176662" cy="1766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14032" y="2999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chaining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10424160" y="307238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20" name="Text 16"/>
          <p:cNvSpPr/>
          <p:nvPr/>
        </p:nvSpPr>
        <p:spPr>
          <a:xfrm>
            <a:off x="10424160" y="30723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Q5–8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0" y="3602736"/>
            <a:ext cx="420624" cy="42062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61" y="3724717"/>
            <a:ext cx="176662" cy="1766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14032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tool-use loop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10424160" y="363931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25" name="Text 20"/>
          <p:cNvSpPr/>
          <p:nvPr/>
        </p:nvSpPr>
        <p:spPr>
          <a:xfrm>
            <a:off x="10424160" y="36393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Q9–13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583680" y="4169664"/>
            <a:ext cx="420624" cy="42062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61" y="4291645"/>
            <a:ext cx="176662" cy="1766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14032" y="4133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 &amp; MCP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10424160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30" name="Text 24"/>
          <p:cNvSpPr/>
          <p:nvPr/>
        </p:nvSpPr>
        <p:spPr>
          <a:xfrm>
            <a:off x="10424160" y="4206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Q14–15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583680" y="4736592"/>
            <a:ext cx="420624" cy="42062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61" y="4858573"/>
            <a:ext cx="176662" cy="17666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114032" y="47000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Redis · queues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10424160" y="477316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35" name="Text 28"/>
          <p:cNvSpPr/>
          <p:nvPr/>
        </p:nvSpPr>
        <p:spPr>
          <a:xfrm>
            <a:off x="10424160" y="47731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Q16–19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583680" y="5303520"/>
            <a:ext cx="420624" cy="42062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61" y="5425501"/>
            <a:ext cx="176662" cy="1766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14032" y="5266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safety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10424160" y="534009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EDEE"/>
          </a:solidFill>
          <a:ln/>
        </p:spPr>
      </p:sp>
      <p:sp>
        <p:nvSpPr>
          <p:cNvPr id="40" name="Text 32"/>
          <p:cNvSpPr/>
          <p:nvPr/>
        </p:nvSpPr>
        <p:spPr>
          <a:xfrm>
            <a:off x="10424160" y="53400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583680" y="5532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 70% · answer key with rationale provided.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things to remember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8366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73736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a design choice  —  </a:t>
            </a:r>
            <a:pPr indent="0" marL="0">
              <a:buNone/>
            </a:pPr>
            <a:r>
              <a:rPr lang="en-US" sz="13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stateless — decide deliberately what to keep, retrieve, summarise and forget.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752344"/>
            <a:ext cx="457200" cy="457200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60604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the core skill  —  </a:t>
            </a:r>
            <a:pPr indent="0" marL="0">
              <a:buNone/>
            </a:pPr>
            <a:r>
              <a:rPr lang="en-US" sz="13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→ execute → tool_result → repeat. Everything else plugs into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6210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47472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vs server tools  —  </a:t>
            </a:r>
            <a:pPr indent="0" marL="0">
              <a:buNone/>
            </a:pPr>
            <a:r>
              <a:rPr lang="en-US" sz="13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drive the loop for client tools; Anthropic drives it for server tools.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4897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34340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does the heavy lifting  —  </a:t>
            </a:r>
            <a:pPr indent="0" marL="0">
              <a:buNone/>
            </a:pPr>
            <a:r>
              <a:rPr lang="en-US" sz="13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hosts tools, Redis holds memory, a queue decouples slow work.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535838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521208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guardrails  —  </a:t>
            </a:r>
            <a:pPr indent="0" marL="0">
              <a:buNone/>
            </a:pPr>
            <a:r>
              <a:rPr lang="en-US" sz="13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idempotency, observability and human approval turn a demo into a product.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3657600" cy="3657600"/>
          </a:xfrm>
          <a:prstGeom prst="ellipse">
            <a:avLst/>
          </a:prstGeom>
          <a:solidFill>
            <a:srgbClr val="094E5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 &amp; further reading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819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 use — overview &amp; how it works  </a:t>
            </a:r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docs.claude.com → Tools → Overview / How tool use works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21214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tool use, parallel tool use, strict tool use  </a:t>
            </a:r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docs.claude.com → Tools → Implement tool use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15768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268833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tools, memory tool, code execution  </a:t>
            </a:r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docs.claude.com → Tools → server tools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82696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25880" y="32552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management: compaction &amp; prompt caching  </a:t>
            </a:r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docs.claude.com → Context windows / Prompt caching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49624"/>
            <a:ext cx="310896" cy="3108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25880" y="38221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 </a:t>
            </a:r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modelcontextprotocol.io</a:t>
            </a:r>
            <a:endParaRPr lang="en-US" sz="1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416552"/>
            <a:ext cx="310896" cy="31089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25880" y="4389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</a:t>
            </a:r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fastapi.tiangolo.com</a:t>
            </a:r>
            <a:endParaRPr lang="en-US" sz="12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983480"/>
            <a:ext cx="310896" cy="31089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325880" y="4956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data types &amp; Streams  </a:t>
            </a:r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redis.io/docs</a:t>
            </a:r>
            <a:endParaRPr lang="en-US" sz="12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550408"/>
            <a:ext cx="310896" cy="31089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325880" y="55229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building effective agents  </a:t>
            </a:r>
            <a:pPr indent="0" marL="0">
              <a:buNone/>
            </a:pPr>
            <a:r>
              <a:rPr lang="en-US" sz="1250" i="1" dirty="0">
                <a:solidFill>
                  <a:srgbClr val="BF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anthropic.com/engineering</a:t>
            </a:r>
            <a:endParaRPr lang="en-US" sz="1250" dirty="0"/>
          </a:p>
        </p:txBody>
      </p:sp>
      <p:sp>
        <p:nvSpPr>
          <p:cNvPr id="20" name="Text 10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referenced: claude-opus-4-8 · claude-sonnet-4-6 · claude-haiku-4-5. Verify current model IDs and tool versions in the live docs.</a:t>
            </a:r>
            <a:endParaRPr lang="en-US" sz="1050" dirty="0"/>
          </a:p>
        </p:txBody>
      </p:sp>
      <p:sp>
        <p:nvSpPr>
          <p:cNvPr id="21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· Agentic Systems Bootcamp</a:t>
            </a:r>
            <a:endParaRPr lang="en-US" sz="900" dirty="0"/>
          </a:p>
        </p:txBody>
      </p:sp>
      <p:sp>
        <p:nvSpPr>
          <p:cNvPr id="22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 — Memory, Tool Orchestration &amp; Agent Chaining</dc:title>
  <dc:subject>PptxGenJS Presentation</dc:subject>
  <dc:creator>Agentic Systems Bootcamp</dc:creator>
  <cp:lastModifiedBy>Agentic Systems Bootcamp</cp:lastModifiedBy>
  <cp:revision>1</cp:revision>
  <dcterms:created xsi:type="dcterms:W3CDTF">2026-06-22T05:08:58Z</dcterms:created>
  <dcterms:modified xsi:type="dcterms:W3CDTF">2026-06-22T05:08:58Z</dcterms:modified>
</cp:coreProperties>
</file>
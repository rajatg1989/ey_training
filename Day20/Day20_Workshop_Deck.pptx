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Day-20 capstone. Goal of the day: take an agent prototype to a production-grade system. By the end, every learner ships an instrumented, governed, multi-agent lead-generation pipeline. Two Colabs: #1 builds the observability + governance toolkit; #2 is the full end-to-end lead-gen build. Timing: 8 hours including two breaks and lunch.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timeline. Two 15-min breaks fold into the blocks (~2:00 and ~6:00). Emphasize the day is front-loaded with concepts so the afternoon Colabs land. Colab 1 is a guided toolkit; Colab 2 is the graded capstone they take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outcomes map 1:1 to the day's modules and to the capstone rubric. Tell learners the capstone is assessed on exactly these capabilities.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whole day: we are crossing this gap. The right column is literally the syllabus. Ask the room which column their current projects live in — usually the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Logs, metrics, traces are complementary, not interchangeable. Logs answer 'what', metrics answer 'how much', traces answer 'where in the chain'. For agents the trace is king because one user request fans out across many LLM and tool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context propagation: the single hardest part in multi-agent systems is keeping one trace_id alive across agent handoffs and async tool calls. If each agent starts its own trace, you lose the causal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exactly the trace shape learners will produce in the Colabs. Point out you can see the guardrail block, which model each step used, and where time/cost concentrates (the qualifier on Sonnet).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win of structured logs: you can answer 'show me every guardrail block in the last hour grouped by agent' with a single query. Prose logs can't do that. Redaction before logging is non-negotiable for lead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fields become the columns of your metrics warehouse. quality_score + prompt_hash are what make the feedback loop possible — you can A/B prompt versions on real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Averages lie — always track p95/p99. Saturation for LLM systems means rate-limit headroom and context-window budget. Quality is the agent-specific signal SRE doesn't have; it's why feedback loops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must close. Many teams capture and evaluate but never feed it back into prompts/routing — that's a dashboard, not a feedback loop. In the capstone, sales-rep feedback on lead quality re-tunes the qualifier.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Implicit feedback is the most under-used and the cheapest — you already log it. Human-in-the-loop is the most expensive, so target it at the risky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Offline gates deploys; online catches what offline can't; LLM-as-judge makes online eval affordable. Always calibrate the judge against a small human-labelled set or it drifts. Mention pairwise &gt; pointwise for stability.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minutes. Runs with or without an API key (mock fallback included). Tell learners to keep this notebook open — Colab 2 imports the same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Lead-gen amplifies several of these: you're processing personal data of people who didn't ask to be contacted, so injection-via-scraped-content, data leakage and CAN-SPAM/GDPR are front-and-centre. Governance is not bureaucracy — it's the difference between a product and a liability.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Defence in depth: you want guardrails at all four layers, not one. A single output filter won't save you if a tool can wipe a database. Map each layer to a concrete check in your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that keyword lists are weak alone — attackers paraphrase. The real defence is: treat all retrieved/scraped content as untrusted data, never as instructions, plus least-privilege tools. The heuristic is a cheap tripwire and an audit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 guardrails are where most safety incidents are actually caught. Key design choice: what happens on a block? Define the remediation ladder (retry → fallback → human) up front and log every rung.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Indirect injection is the scary one for lead-gen: you ingest scraped bios and pages you don't control. The mental model that saves you: data is data, never instructions. No single defence is enough — layer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Typed tokens preserve meaning for the model ('contact via &lt;EMAIL_1&gt;') without leaking the value. The re-identification map must be access-controlled and itself auditable. Minimisation is the cheapest control — don't ingest what you can't justify.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exam-relevant point: compliance becomes code. A suppression/opt-out list checked by the Notifier before every send is a guardrail; 'we have a policy' is not. In the capstone the Notifier refuses to contact anyone on the suppression list or without a lawful basis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message for engineers: Anthropic ships strong defaults, but the application layer is yours to own. Model alignment ≠ a compliant lead-gen system. The bottom amber band is exactly what learners build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concrete levers learners will pull in the Colabs. Model tiering is both a cost and a safety control. Structured outputs are the single biggest reliability upgrade for an agent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Audit ≠ logging. Logs are operational and may be sampled/rotated; the audit trail is the durable, complete, tamper-evident record of decisions. Hash-chaining (prev_hash) makes silent edits detectable. Store redacted prompts/outputs plus hashes of originals.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Middleware pattern: auditing is a cross-cutting concern, so wrap every agent/LLM call rather than sprinkling audit code everywhere. WORM = write-once-read-many. The hash chain is what turns 'a log' into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Default to the simplest thing that works. Multi-agent is justified by separation of skills, tools, models or guardrails — not by it sounding sophisticated. Our lead-gen system splits because each stage genuinely wants a different model, prompt and guardrail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production agent systems are pipelines or orchestrator-worker. Hierarchical and blackboard are powerful but add coordination cost and are harder to trace. Our capstone is a pipeline with a feedback loop bolted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Colab-1 system and the skeleton of the capstone. The lead-gen build inserts a Qualifier/Scorer between Researcher and Summariser. Emphasise the cross-cutting concerns are wrapped around every stage uniformly.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Schemas turn fuzzy agent hand-offs into contracts you can validate and version. Note consent_basis travels with the lead from the first stage — compliance is carried in the data model, not bolted on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external call (LLM or tool) is a failure point. Idempotency is the subtle one for lead-gen — a re-run must never spam a contact twice. The DLQ keeps a stuck lead from blocking the whole batch.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this back to observability: the trace tells you which span to optimise. Model tiering is usually the biggest single lever — moving routine extraction from Sonnet to Haiku can cut cost an order of magnitude.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single slide is the whole capstone. The amber-outlined Qualifier is the agent the feedback loop tunes. Walk top-to-bottom: 4 agents, wrapped by observability and governance, closed by a feedback loop. Colab 2 builds exactly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agent has its own model, prompt and guardrail — the justification for going multi-agent. Note the compliance gate lives in the Notifier, the last line before anything leaves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'compliance as code'. Learners implement at least the consent check, redaction and suppression list in Colab 2. The point: a regulator's requirement becomes a unit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difference between a dashboard and a learning system. In Colab 2 we simulate rep feedback and show the calibration metric improving after re-tuning. Real feedback is implicit (did they contact?) + explicit (did they rate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assessed deliverable. Walk the six steps; learners can run in mock mode if they have no API key. Encourage them to attempt at least two extension tasks for full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Docs decay, so prefer generated over hand-written where possible: the guardrail register can be enumerated from code, the data-flow from the schemas, the trace shows the real architecture. Colab 2 emits a starter governance artifact.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this out as the literal go/no-go checklist. It doubles as the capstone rubric — ten checks map to the six learning outcomes. Anything unchecked is a known, accepted risk, written down — not a surprise.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synthesis slide. The pipeline is the easy part; the four surrounding capabilities are what make it production-grade and are what you were assessed on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 can be the exit ticket. Extension tasks live at the end of each notebook and earn the top grade band. Encourage learners to pick extensions aligned to their day-job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achievement: they crossed the production gap. Point to the two notebooks and the quiz as deliverables. Remind them the readiness checklist is their rubric.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slideLayout" Target="../slideLayouts/slideLayout1.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slideLayout" Target="../slideLayouts/slideLayout1.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slideLayout" Target="../slideLayouts/slideLayout1.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slideLayout" Target="../slideLayouts/slideLayout1.xml"/><Relationship Id="rId9"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slideLayout" Target="../slideLayouts/slideLayout1.xml"/><Relationship Id="rId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slideLayout" Target="../slideLayouts/slideLayout1.xml"/><Relationship Id="rId7"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slideLayout" Target="../slideLayouts/slideLayout1.xml"/><Relationship Id="rId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image" Target="../media/image-43-8.png"/><Relationship Id="rId9" Type="http://schemas.openxmlformats.org/officeDocument/2006/relationships/image" Target="../media/image-43-9.png"/><Relationship Id="rId10" Type="http://schemas.openxmlformats.org/officeDocument/2006/relationships/image" Target="../media/image-43-10.png"/><Relationship Id="rId11" Type="http://schemas.openxmlformats.org/officeDocument/2006/relationships/image" Target="../media/image-43-11.png"/><Relationship Id="rId12" Type="http://schemas.openxmlformats.org/officeDocument/2006/relationships/slideLayout" Target="../slideLayouts/slideLayout1.xml"/><Relationship Id="rId1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slideLayout" Target="../slideLayouts/slideLayout1.xml"/><Relationship Id="rId7"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slideLayout" Target="../slideLayouts/slideLayout1.xml"/><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3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852160" y="640080"/>
            <a:ext cx="3840480" cy="3840480"/>
          </a:xfrm>
          <a:prstGeom prst="rect">
            <a:avLst/>
          </a:prstGeom>
        </p:spPr>
      </p:pic>
      <p:sp>
        <p:nvSpPr>
          <p:cNvPr id="3" name="Shape 0"/>
          <p:cNvSpPr/>
          <p:nvPr/>
        </p:nvSpPr>
        <p:spPr>
          <a:xfrm>
            <a:off x="5852160" y="640080"/>
            <a:ext cx="3840480" cy="3840480"/>
          </a:xfrm>
          <a:prstGeom prst="rect">
            <a:avLst/>
          </a:prstGeom>
          <a:solidFill>
            <a:srgbClr val="0E2A3B">
              <a:alpha val="70000"/>
            </a:srgbClr>
          </a:solidFill>
          <a:ln/>
        </p:spPr>
      </p:sp>
      <p:sp>
        <p:nvSpPr>
          <p:cNvPr id="4" name="Shape 1"/>
          <p:cNvSpPr/>
          <p:nvPr/>
        </p:nvSpPr>
        <p:spPr>
          <a:xfrm>
            <a:off x="685800" y="640080"/>
            <a:ext cx="822960" cy="822960"/>
          </a:xfrm>
          <a:prstGeom prst="ellipse">
            <a:avLst/>
          </a:prstGeom>
          <a:solidFill>
            <a:srgbClr val="0D9488"/>
          </a:solidFill>
          <a:ln/>
        </p:spPr>
      </p:sp>
      <p:pic>
        <p:nvPicPr>
          <p:cNvPr id="5" name="Image 1" descr="preencoded.png">    </p:cNvPr>
          <p:cNvPicPr>
            <a:picLocks noChangeAspect="1"/>
          </p:cNvPicPr>
          <p:nvPr/>
        </p:nvPicPr>
        <p:blipFill>
          <a:blip r:embed="rId2"/>
          <a:stretch>
            <a:fillRect/>
          </a:stretch>
        </p:blipFill>
        <p:spPr>
          <a:xfrm>
            <a:off x="907999" y="862279"/>
            <a:ext cx="378562" cy="378562"/>
          </a:xfrm>
          <a:prstGeom prst="rect">
            <a:avLst/>
          </a:prstGeom>
        </p:spPr>
      </p:pic>
      <p:sp>
        <p:nvSpPr>
          <p:cNvPr id="6" name="Text 2"/>
          <p:cNvSpPr/>
          <p:nvPr/>
        </p:nvSpPr>
        <p:spPr>
          <a:xfrm>
            <a:off x="731520" y="1600200"/>
            <a:ext cx="7315200" cy="365760"/>
          </a:xfrm>
          <a:prstGeom prst="rect">
            <a:avLst/>
          </a:prstGeom>
          <a:noFill/>
          <a:ln/>
        </p:spPr>
        <p:txBody>
          <a:bodyPr wrap="square" lIns="0" tIns="0" rIns="0" bIns="0" rtlCol="0" anchor="ctr"/>
          <a:lstStyle/>
          <a:p>
            <a:pPr indent="0" marL="0">
              <a:buNone/>
            </a:pPr>
            <a:r>
              <a:rPr lang="en-US" sz="1400" b="1" spc="300" kern="0" dirty="0">
                <a:solidFill>
                  <a:srgbClr val="5EEAD4"/>
                </a:solidFill>
                <a:latin typeface="Calibri" pitchFamily="34" charset="0"/>
                <a:ea typeface="Calibri" pitchFamily="34" charset="-122"/>
                <a:cs typeface="Calibri" pitchFamily="34" charset="-120"/>
              </a:rPr>
              <a:t>DAY 20  ·  CAPSTONE WORKSHOP</a:t>
            </a:r>
            <a:endParaRPr lang="en-US" sz="1400" dirty="0"/>
          </a:p>
        </p:txBody>
      </p:sp>
      <p:sp>
        <p:nvSpPr>
          <p:cNvPr id="7" name="Text 3"/>
          <p:cNvSpPr/>
          <p:nvPr/>
        </p:nvSpPr>
        <p:spPr>
          <a:xfrm>
            <a:off x="685800" y="1965960"/>
            <a:ext cx="7863840" cy="82296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Production Multi-Agent Systems</a:t>
            </a:r>
            <a:endParaRPr lang="en-US" sz="4200" dirty="0"/>
          </a:p>
        </p:txBody>
      </p:sp>
      <p:sp>
        <p:nvSpPr>
          <p:cNvPr id="8" name="Text 4"/>
          <p:cNvSpPr/>
          <p:nvPr/>
        </p:nvSpPr>
        <p:spPr>
          <a:xfrm>
            <a:off x="713232" y="2880360"/>
            <a:ext cx="7863840" cy="548640"/>
          </a:xfrm>
          <a:prstGeom prst="rect">
            <a:avLst/>
          </a:prstGeom>
          <a:noFill/>
          <a:ln/>
        </p:spPr>
        <p:txBody>
          <a:bodyPr wrap="square" lIns="0" tIns="0" rIns="0" bIns="0" rtlCol="0" anchor="ctr"/>
          <a:lstStyle/>
          <a:p>
            <a:pPr indent="0" marL="0">
              <a:buNone/>
            </a:pPr>
            <a:r>
              <a:rPr lang="en-US" sz="1900" dirty="0">
                <a:solidFill>
                  <a:srgbClr val="CFE6E1"/>
                </a:solidFill>
                <a:latin typeface="Calibri" pitchFamily="34" charset="0"/>
                <a:ea typeface="Calibri" pitchFamily="34" charset="-122"/>
                <a:cs typeface="Calibri" pitchFamily="34" charset="-120"/>
              </a:rPr>
              <a:t>Observability, Governance &amp; a Lead-Generation Build</a:t>
            </a:r>
            <a:endParaRPr lang="en-US" sz="1900" dirty="0"/>
          </a:p>
        </p:txBody>
      </p:sp>
      <p:sp>
        <p:nvSpPr>
          <p:cNvPr id="9" name="Shape 5"/>
          <p:cNvSpPr/>
          <p:nvPr/>
        </p:nvSpPr>
        <p:spPr>
          <a:xfrm>
            <a:off x="731520" y="3794760"/>
            <a:ext cx="1737360" cy="310896"/>
          </a:xfrm>
          <a:prstGeom prst="roundRect">
            <a:avLst>
              <a:gd name="adj" fmla="val 50000"/>
            </a:avLst>
          </a:prstGeom>
          <a:solidFill>
            <a:srgbClr val="0D9488"/>
          </a:solidFill>
          <a:ln/>
        </p:spPr>
      </p:sp>
      <p:sp>
        <p:nvSpPr>
          <p:cNvPr id="10" name="Text 6"/>
          <p:cNvSpPr/>
          <p:nvPr/>
        </p:nvSpPr>
        <p:spPr>
          <a:xfrm>
            <a:off x="731520" y="3794760"/>
            <a:ext cx="173736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8-hour workshop</a:t>
            </a:r>
            <a:endParaRPr lang="en-US" sz="1050" dirty="0"/>
          </a:p>
        </p:txBody>
      </p:sp>
      <p:sp>
        <p:nvSpPr>
          <p:cNvPr id="11" name="Shape 7"/>
          <p:cNvSpPr/>
          <p:nvPr/>
        </p:nvSpPr>
        <p:spPr>
          <a:xfrm>
            <a:off x="2606040" y="3794760"/>
            <a:ext cx="1828800" cy="310896"/>
          </a:xfrm>
          <a:prstGeom prst="roundRect">
            <a:avLst>
              <a:gd name="adj" fmla="val 50000"/>
            </a:avLst>
          </a:prstGeom>
          <a:solidFill>
            <a:srgbClr val="14405A"/>
          </a:solidFill>
          <a:ln/>
        </p:spPr>
      </p:sp>
      <p:sp>
        <p:nvSpPr>
          <p:cNvPr id="12" name="Text 8"/>
          <p:cNvSpPr/>
          <p:nvPr/>
        </p:nvSpPr>
        <p:spPr>
          <a:xfrm>
            <a:off x="2606040" y="3794760"/>
            <a:ext cx="182880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 hands-on Colabs</a:t>
            </a:r>
            <a:endParaRPr lang="en-US" sz="1050" dirty="0"/>
          </a:p>
        </p:txBody>
      </p:sp>
      <p:sp>
        <p:nvSpPr>
          <p:cNvPr id="13" name="Shape 9"/>
          <p:cNvSpPr/>
          <p:nvPr/>
        </p:nvSpPr>
        <p:spPr>
          <a:xfrm>
            <a:off x="4572000" y="3794760"/>
            <a:ext cx="1920240" cy="310896"/>
          </a:xfrm>
          <a:prstGeom prst="roundRect">
            <a:avLst>
              <a:gd name="adj" fmla="val 50000"/>
            </a:avLst>
          </a:prstGeom>
          <a:solidFill>
            <a:srgbClr val="14405A"/>
          </a:solidFill>
          <a:ln/>
        </p:spPr>
      </p:sp>
      <p:sp>
        <p:nvSpPr>
          <p:cNvPr id="14" name="Text 10"/>
          <p:cNvSpPr/>
          <p:nvPr/>
        </p:nvSpPr>
        <p:spPr>
          <a:xfrm>
            <a:off x="4572000" y="3794760"/>
            <a:ext cx="192024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Capstone: Lead-Gen</a:t>
            </a:r>
            <a:endParaRPr lang="en-US" sz="1050" dirty="0"/>
          </a:p>
        </p:txBody>
      </p:sp>
      <p:sp>
        <p:nvSpPr>
          <p:cNvPr id="15" name="Text 11"/>
          <p:cNvSpPr/>
          <p:nvPr/>
        </p:nvSpPr>
        <p:spPr>
          <a:xfrm>
            <a:off x="731520" y="4343400"/>
            <a:ext cx="7863840" cy="457200"/>
          </a:xfrm>
          <a:prstGeom prst="rect">
            <a:avLst/>
          </a:prstGeom>
          <a:noFill/>
          <a:ln/>
        </p:spPr>
        <p:txBody>
          <a:bodyPr wrap="square" lIns="0" tIns="0" rIns="0" bIns="0" rtlCol="0" anchor="ctr"/>
          <a:lstStyle/>
          <a:p>
            <a:pPr indent="0" marL="0">
              <a:buNone/>
            </a:pPr>
            <a:r>
              <a:rPr lang="en-US" sz="1100" i="1" dirty="0">
                <a:solidFill>
                  <a:srgbClr val="9FB6C0"/>
                </a:solidFill>
                <a:latin typeface="Calibri" pitchFamily="34" charset="0"/>
                <a:ea typeface="Calibri" pitchFamily="34" charset="-122"/>
                <a:cs typeface="Calibri" pitchFamily="34" charset="-120"/>
              </a:rPr>
              <a:t>Tracing · Logging · Feedback loops · Guardrails · Compliance · Prompt-response auditing · Claude safety layers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2</a:t>
            </a:r>
            <a:endParaRPr lang="en-US" sz="850" dirty="0"/>
          </a:p>
        </p:txBody>
      </p:sp>
      <p:sp>
        <p:nvSpPr>
          <p:cNvPr id="4" name="Shape 2"/>
          <p:cNvSpPr/>
          <p:nvPr/>
        </p:nvSpPr>
        <p:spPr>
          <a:xfrm>
            <a:off x="457200" y="384048"/>
            <a:ext cx="566928" cy="566928"/>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The 8-Hour Roadmap</a:t>
            </a:r>
            <a:endParaRPr lang="en-US" sz="2600" dirty="0"/>
          </a:p>
        </p:txBody>
      </p:sp>
      <p:sp>
        <p:nvSpPr>
          <p:cNvPr id="7" name="Text 4"/>
          <p:cNvSpPr/>
          <p:nvPr/>
        </p:nvSpPr>
        <p:spPr>
          <a:xfrm>
            <a:off x="502920" y="1325880"/>
            <a:ext cx="685800" cy="429768"/>
          </a:xfrm>
          <a:prstGeom prst="rect">
            <a:avLst/>
          </a:prstGeom>
          <a:noFill/>
          <a:ln/>
        </p:spPr>
        <p:txBody>
          <a:bodyPr wrap="square" lIns="0" tIns="0" rIns="0" bIns="0" rtlCol="0" anchor="ctr"/>
          <a:lstStyle/>
          <a:p>
            <a:pPr algn="r" indent="0" marL="0">
              <a:buNone/>
            </a:pPr>
            <a:r>
              <a:rPr lang="en-US" sz="1300" b="1" dirty="0">
                <a:solidFill>
                  <a:srgbClr val="0F2233"/>
                </a:solidFill>
                <a:latin typeface="Calibri" pitchFamily="34" charset="0"/>
                <a:ea typeface="Calibri" pitchFamily="34" charset="-122"/>
                <a:cs typeface="Calibri" pitchFamily="34" charset="-120"/>
              </a:rPr>
              <a:t>0:00</a:t>
            </a:r>
            <a:endParaRPr lang="en-US" sz="1300" dirty="0"/>
          </a:p>
        </p:txBody>
      </p:sp>
      <p:sp>
        <p:nvSpPr>
          <p:cNvPr id="8" name="Shape 5"/>
          <p:cNvSpPr/>
          <p:nvPr/>
        </p:nvSpPr>
        <p:spPr>
          <a:xfrm>
            <a:off x="1371600" y="1385316"/>
            <a:ext cx="310896" cy="310896"/>
          </a:xfrm>
          <a:prstGeom prst="ellipse">
            <a:avLst/>
          </a:prstGeom>
          <a:solidFill>
            <a:srgbClr val="0D9488"/>
          </a:solidFill>
          <a:ln/>
        </p:spPr>
      </p:sp>
      <p:pic>
        <p:nvPicPr>
          <p:cNvPr id="9" name="Image 1" descr="preencoded.png">    </p:cNvPr>
          <p:cNvPicPr>
            <a:picLocks noChangeAspect="1"/>
          </p:cNvPicPr>
          <p:nvPr/>
        </p:nvPicPr>
        <p:blipFill>
          <a:blip r:embed="rId2"/>
          <a:stretch>
            <a:fillRect/>
          </a:stretch>
        </p:blipFill>
        <p:spPr>
          <a:xfrm>
            <a:off x="1455542" y="1469258"/>
            <a:ext cx="143012" cy="143012"/>
          </a:xfrm>
          <a:prstGeom prst="rect">
            <a:avLst/>
          </a:prstGeom>
        </p:spPr>
      </p:pic>
      <p:sp>
        <p:nvSpPr>
          <p:cNvPr id="10" name="Shape 6"/>
          <p:cNvSpPr/>
          <p:nvPr/>
        </p:nvSpPr>
        <p:spPr>
          <a:xfrm>
            <a:off x="1828800" y="1325880"/>
            <a:ext cx="6858000" cy="429768"/>
          </a:xfrm>
          <a:prstGeom prst="roundRect">
            <a:avLst>
              <a:gd name="adj" fmla="val 17021"/>
            </a:avLst>
          </a:prstGeom>
          <a:solidFill>
            <a:srgbClr val="F1F5F9"/>
          </a:solidFill>
          <a:ln/>
        </p:spPr>
      </p:sp>
      <p:sp>
        <p:nvSpPr>
          <p:cNvPr id="11" name="Text 7"/>
          <p:cNvSpPr/>
          <p:nvPr/>
        </p:nvSpPr>
        <p:spPr>
          <a:xfrm>
            <a:off x="2011680" y="1325880"/>
            <a:ext cx="2743200" cy="429768"/>
          </a:xfrm>
          <a:prstGeom prst="rect">
            <a:avLst/>
          </a:prstGeom>
          <a:noFill/>
          <a:ln/>
        </p:spPr>
        <p:txBody>
          <a:bodyPr wrap="square" lIns="0" tIns="0" rIns="0" bIns="0" rtlCol="0" anchor="ctr"/>
          <a:lstStyle/>
          <a:p>
            <a:pPr indent="0" marL="0">
              <a:buNone/>
            </a:pPr>
            <a:r>
              <a:rPr lang="en-US" sz="1300" b="1" dirty="0">
                <a:solidFill>
                  <a:srgbClr val="0F2233"/>
                </a:solidFill>
                <a:latin typeface="Calibri" pitchFamily="34" charset="0"/>
                <a:ea typeface="Calibri" pitchFamily="34" charset="-122"/>
                <a:cs typeface="Calibri" pitchFamily="34" charset="-120"/>
              </a:rPr>
              <a:t>Kickoff &amp; the production gap</a:t>
            </a:r>
            <a:endParaRPr lang="en-US" sz="1300" dirty="0"/>
          </a:p>
        </p:txBody>
      </p:sp>
      <p:sp>
        <p:nvSpPr>
          <p:cNvPr id="12" name="Text 8"/>
          <p:cNvSpPr/>
          <p:nvPr/>
        </p:nvSpPr>
        <p:spPr>
          <a:xfrm>
            <a:off x="4572000" y="1325880"/>
            <a:ext cx="3977640" cy="429768"/>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Why prototypes fail in production</a:t>
            </a:r>
            <a:endParaRPr lang="en-US" sz="1100" dirty="0"/>
          </a:p>
        </p:txBody>
      </p:sp>
      <p:sp>
        <p:nvSpPr>
          <p:cNvPr id="13" name="Text 9"/>
          <p:cNvSpPr/>
          <p:nvPr/>
        </p:nvSpPr>
        <p:spPr>
          <a:xfrm>
            <a:off x="502920" y="1783080"/>
            <a:ext cx="685800" cy="429768"/>
          </a:xfrm>
          <a:prstGeom prst="rect">
            <a:avLst/>
          </a:prstGeom>
          <a:noFill/>
          <a:ln/>
        </p:spPr>
        <p:txBody>
          <a:bodyPr wrap="square" lIns="0" tIns="0" rIns="0" bIns="0" rtlCol="0" anchor="ctr"/>
          <a:lstStyle/>
          <a:p>
            <a:pPr algn="r" indent="0" marL="0">
              <a:buNone/>
            </a:pPr>
            <a:r>
              <a:rPr lang="en-US" sz="1300" b="1" dirty="0">
                <a:solidFill>
                  <a:srgbClr val="0F2233"/>
                </a:solidFill>
                <a:latin typeface="Calibri" pitchFamily="34" charset="0"/>
                <a:ea typeface="Calibri" pitchFamily="34" charset="-122"/>
                <a:cs typeface="Calibri" pitchFamily="34" charset="-120"/>
              </a:rPr>
              <a:t>0:30</a:t>
            </a:r>
            <a:endParaRPr lang="en-US" sz="1300" dirty="0"/>
          </a:p>
        </p:txBody>
      </p:sp>
      <p:sp>
        <p:nvSpPr>
          <p:cNvPr id="14" name="Shape 10"/>
          <p:cNvSpPr/>
          <p:nvPr/>
        </p:nvSpPr>
        <p:spPr>
          <a:xfrm>
            <a:off x="1371600" y="1842516"/>
            <a:ext cx="310896" cy="310896"/>
          </a:xfrm>
          <a:prstGeom prst="ellipse">
            <a:avLst/>
          </a:prstGeom>
          <a:solidFill>
            <a:srgbClr val="0D9488"/>
          </a:solidFill>
          <a:ln/>
        </p:spPr>
      </p:sp>
      <p:pic>
        <p:nvPicPr>
          <p:cNvPr id="15" name="Image 2" descr="preencoded.png">    </p:cNvPr>
          <p:cNvPicPr>
            <a:picLocks noChangeAspect="1"/>
          </p:cNvPicPr>
          <p:nvPr/>
        </p:nvPicPr>
        <p:blipFill>
          <a:blip r:embed="rId3"/>
          <a:stretch>
            <a:fillRect/>
          </a:stretch>
        </p:blipFill>
        <p:spPr>
          <a:xfrm>
            <a:off x="1455542" y="1926458"/>
            <a:ext cx="143012" cy="143012"/>
          </a:xfrm>
          <a:prstGeom prst="rect">
            <a:avLst/>
          </a:prstGeom>
        </p:spPr>
      </p:pic>
      <p:sp>
        <p:nvSpPr>
          <p:cNvPr id="16" name="Shape 11"/>
          <p:cNvSpPr/>
          <p:nvPr/>
        </p:nvSpPr>
        <p:spPr>
          <a:xfrm>
            <a:off x="1828800" y="1783080"/>
            <a:ext cx="6858000" cy="429768"/>
          </a:xfrm>
          <a:prstGeom prst="roundRect">
            <a:avLst>
              <a:gd name="adj" fmla="val 17021"/>
            </a:avLst>
          </a:prstGeom>
          <a:solidFill>
            <a:srgbClr val="F1F5F9"/>
          </a:solidFill>
          <a:ln/>
        </p:spPr>
      </p:sp>
      <p:sp>
        <p:nvSpPr>
          <p:cNvPr id="17" name="Text 12"/>
          <p:cNvSpPr/>
          <p:nvPr/>
        </p:nvSpPr>
        <p:spPr>
          <a:xfrm>
            <a:off x="2011680" y="1783080"/>
            <a:ext cx="2743200" cy="429768"/>
          </a:xfrm>
          <a:prstGeom prst="rect">
            <a:avLst/>
          </a:prstGeom>
          <a:noFill/>
          <a:ln/>
        </p:spPr>
        <p:txBody>
          <a:bodyPr wrap="square" lIns="0" tIns="0" rIns="0" bIns="0" rtlCol="0" anchor="ctr"/>
          <a:lstStyle/>
          <a:p>
            <a:pPr indent="0" marL="0">
              <a:buNone/>
            </a:pPr>
            <a:r>
              <a:rPr lang="en-US" sz="1300" b="1" dirty="0">
                <a:solidFill>
                  <a:srgbClr val="0F2233"/>
                </a:solidFill>
                <a:latin typeface="Calibri" pitchFamily="34" charset="0"/>
                <a:ea typeface="Calibri" pitchFamily="34" charset="-122"/>
                <a:cs typeface="Calibri" pitchFamily="34" charset="-120"/>
              </a:rPr>
              <a:t>Observability</a:t>
            </a:r>
            <a:endParaRPr lang="en-US" sz="1300" dirty="0"/>
          </a:p>
        </p:txBody>
      </p:sp>
      <p:sp>
        <p:nvSpPr>
          <p:cNvPr id="18" name="Text 13"/>
          <p:cNvSpPr/>
          <p:nvPr/>
        </p:nvSpPr>
        <p:spPr>
          <a:xfrm>
            <a:off x="4572000" y="1783080"/>
            <a:ext cx="3977640" cy="429768"/>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Tracing, structured logging, metrics, feedback loops</a:t>
            </a:r>
            <a:endParaRPr lang="en-US" sz="1100" dirty="0"/>
          </a:p>
        </p:txBody>
      </p:sp>
      <p:sp>
        <p:nvSpPr>
          <p:cNvPr id="19" name="Text 14"/>
          <p:cNvSpPr/>
          <p:nvPr/>
        </p:nvSpPr>
        <p:spPr>
          <a:xfrm>
            <a:off x="502920" y="2240280"/>
            <a:ext cx="685800" cy="429768"/>
          </a:xfrm>
          <a:prstGeom prst="rect">
            <a:avLst/>
          </a:prstGeom>
          <a:noFill/>
          <a:ln/>
        </p:spPr>
        <p:txBody>
          <a:bodyPr wrap="square" lIns="0" tIns="0" rIns="0" bIns="0" rtlCol="0" anchor="ctr"/>
          <a:lstStyle/>
          <a:p>
            <a:pPr algn="r" indent="0" marL="0">
              <a:buNone/>
            </a:pPr>
            <a:r>
              <a:rPr lang="en-US" sz="1300" b="1" dirty="0">
                <a:solidFill>
                  <a:srgbClr val="0F2233"/>
                </a:solidFill>
                <a:latin typeface="Calibri" pitchFamily="34" charset="0"/>
                <a:ea typeface="Calibri" pitchFamily="34" charset="-122"/>
                <a:cs typeface="Calibri" pitchFamily="34" charset="-120"/>
              </a:rPr>
              <a:t>2:00</a:t>
            </a:r>
            <a:endParaRPr lang="en-US" sz="1300" dirty="0"/>
          </a:p>
        </p:txBody>
      </p:sp>
      <p:sp>
        <p:nvSpPr>
          <p:cNvPr id="20" name="Shape 15"/>
          <p:cNvSpPr/>
          <p:nvPr/>
        </p:nvSpPr>
        <p:spPr>
          <a:xfrm>
            <a:off x="1371600" y="2299716"/>
            <a:ext cx="310896" cy="310896"/>
          </a:xfrm>
          <a:prstGeom prst="ellipse">
            <a:avLst/>
          </a:prstGeom>
          <a:solidFill>
            <a:srgbClr val="F59E0B"/>
          </a:solidFill>
          <a:ln/>
        </p:spPr>
      </p:sp>
      <p:pic>
        <p:nvPicPr>
          <p:cNvPr id="21" name="Image 3" descr="preencoded.png">    </p:cNvPr>
          <p:cNvPicPr>
            <a:picLocks noChangeAspect="1"/>
          </p:cNvPicPr>
          <p:nvPr/>
        </p:nvPicPr>
        <p:blipFill>
          <a:blip r:embed="rId4"/>
          <a:stretch>
            <a:fillRect/>
          </a:stretch>
        </p:blipFill>
        <p:spPr>
          <a:xfrm>
            <a:off x="1455542" y="2383658"/>
            <a:ext cx="143012" cy="143012"/>
          </a:xfrm>
          <a:prstGeom prst="rect">
            <a:avLst/>
          </a:prstGeom>
        </p:spPr>
      </p:pic>
      <p:sp>
        <p:nvSpPr>
          <p:cNvPr id="22" name="Shape 16"/>
          <p:cNvSpPr/>
          <p:nvPr/>
        </p:nvSpPr>
        <p:spPr>
          <a:xfrm>
            <a:off x="1828800" y="2240280"/>
            <a:ext cx="6858000" cy="429768"/>
          </a:xfrm>
          <a:prstGeom prst="roundRect">
            <a:avLst>
              <a:gd name="adj" fmla="val 17021"/>
            </a:avLst>
          </a:prstGeom>
          <a:solidFill>
            <a:srgbClr val="F1F5F9"/>
          </a:solidFill>
          <a:ln/>
        </p:spPr>
      </p:sp>
      <p:sp>
        <p:nvSpPr>
          <p:cNvPr id="23" name="Text 17"/>
          <p:cNvSpPr/>
          <p:nvPr/>
        </p:nvSpPr>
        <p:spPr>
          <a:xfrm>
            <a:off x="2011680" y="2240280"/>
            <a:ext cx="2743200" cy="429768"/>
          </a:xfrm>
          <a:prstGeom prst="rect">
            <a:avLst/>
          </a:prstGeom>
          <a:noFill/>
          <a:ln/>
        </p:spPr>
        <p:txBody>
          <a:bodyPr wrap="square" lIns="0" tIns="0" rIns="0" bIns="0" rtlCol="0" anchor="ctr"/>
          <a:lstStyle/>
          <a:p>
            <a:pPr indent="0" marL="0">
              <a:buNone/>
            </a:pPr>
            <a:r>
              <a:rPr lang="en-US" sz="1300" b="1" dirty="0">
                <a:solidFill>
                  <a:srgbClr val="0F2233"/>
                </a:solidFill>
                <a:latin typeface="Calibri" pitchFamily="34" charset="0"/>
                <a:ea typeface="Calibri" pitchFamily="34" charset="-122"/>
                <a:cs typeface="Calibri" pitchFamily="34" charset="-120"/>
              </a:rPr>
              <a:t>Governance &amp; safety</a:t>
            </a:r>
            <a:endParaRPr lang="en-US" sz="1300" dirty="0"/>
          </a:p>
        </p:txBody>
      </p:sp>
      <p:sp>
        <p:nvSpPr>
          <p:cNvPr id="24" name="Text 18"/>
          <p:cNvSpPr/>
          <p:nvPr/>
        </p:nvSpPr>
        <p:spPr>
          <a:xfrm>
            <a:off x="4572000" y="2240280"/>
            <a:ext cx="3977640" cy="429768"/>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Guardrails, compliance, Claude safety, auditing</a:t>
            </a:r>
            <a:endParaRPr lang="en-US" sz="1100" dirty="0"/>
          </a:p>
        </p:txBody>
      </p:sp>
      <p:sp>
        <p:nvSpPr>
          <p:cNvPr id="25" name="Text 19"/>
          <p:cNvSpPr/>
          <p:nvPr/>
        </p:nvSpPr>
        <p:spPr>
          <a:xfrm>
            <a:off x="502920" y="2697480"/>
            <a:ext cx="685800" cy="429768"/>
          </a:xfrm>
          <a:prstGeom prst="rect">
            <a:avLst/>
          </a:prstGeom>
          <a:noFill/>
          <a:ln/>
        </p:spPr>
        <p:txBody>
          <a:bodyPr wrap="square" lIns="0" tIns="0" rIns="0" bIns="0" rtlCol="0" anchor="ctr"/>
          <a:lstStyle/>
          <a:p>
            <a:pPr algn="r" indent="0" marL="0">
              <a:buNone/>
            </a:pPr>
            <a:r>
              <a:rPr lang="en-US" sz="1300" b="1" dirty="0">
                <a:solidFill>
                  <a:srgbClr val="0F2233"/>
                </a:solidFill>
                <a:latin typeface="Calibri" pitchFamily="34" charset="0"/>
                <a:ea typeface="Calibri" pitchFamily="34" charset="-122"/>
                <a:cs typeface="Calibri" pitchFamily="34" charset="-120"/>
              </a:rPr>
              <a:t>4:00</a:t>
            </a:r>
            <a:endParaRPr lang="en-US" sz="1300" dirty="0"/>
          </a:p>
        </p:txBody>
      </p:sp>
      <p:sp>
        <p:nvSpPr>
          <p:cNvPr id="26" name="Shape 20"/>
          <p:cNvSpPr/>
          <p:nvPr/>
        </p:nvSpPr>
        <p:spPr>
          <a:xfrm>
            <a:off x="1371600" y="2756916"/>
            <a:ext cx="310896" cy="310896"/>
          </a:xfrm>
          <a:prstGeom prst="ellipse">
            <a:avLst/>
          </a:prstGeom>
          <a:solidFill>
            <a:srgbClr val="64748B"/>
          </a:solidFill>
          <a:ln/>
        </p:spPr>
      </p:sp>
      <p:pic>
        <p:nvPicPr>
          <p:cNvPr id="27" name="Image 4" descr="preencoded.png">    </p:cNvPr>
          <p:cNvPicPr>
            <a:picLocks noChangeAspect="1"/>
          </p:cNvPicPr>
          <p:nvPr/>
        </p:nvPicPr>
        <p:blipFill>
          <a:blip r:embed="rId5"/>
          <a:stretch>
            <a:fillRect/>
          </a:stretch>
        </p:blipFill>
        <p:spPr>
          <a:xfrm>
            <a:off x="1455542" y="2840858"/>
            <a:ext cx="143012" cy="143012"/>
          </a:xfrm>
          <a:prstGeom prst="rect">
            <a:avLst/>
          </a:prstGeom>
        </p:spPr>
      </p:pic>
      <p:sp>
        <p:nvSpPr>
          <p:cNvPr id="28" name="Shape 21"/>
          <p:cNvSpPr/>
          <p:nvPr/>
        </p:nvSpPr>
        <p:spPr>
          <a:xfrm>
            <a:off x="1828800" y="2697480"/>
            <a:ext cx="6858000" cy="429768"/>
          </a:xfrm>
          <a:prstGeom prst="roundRect">
            <a:avLst>
              <a:gd name="adj" fmla="val 17021"/>
            </a:avLst>
          </a:prstGeom>
          <a:solidFill>
            <a:srgbClr val="F1F5F9"/>
          </a:solidFill>
          <a:ln/>
        </p:spPr>
      </p:sp>
      <p:sp>
        <p:nvSpPr>
          <p:cNvPr id="29" name="Text 22"/>
          <p:cNvSpPr/>
          <p:nvPr/>
        </p:nvSpPr>
        <p:spPr>
          <a:xfrm>
            <a:off x="2011680" y="2697480"/>
            <a:ext cx="2743200" cy="429768"/>
          </a:xfrm>
          <a:prstGeom prst="rect">
            <a:avLst/>
          </a:prstGeom>
          <a:noFill/>
          <a:ln/>
        </p:spPr>
        <p:txBody>
          <a:bodyPr wrap="square" lIns="0" tIns="0" rIns="0" bIns="0" rtlCol="0" anchor="ctr"/>
          <a:lstStyle/>
          <a:p>
            <a:pPr indent="0" marL="0">
              <a:buNone/>
            </a:pPr>
            <a:r>
              <a:rPr lang="en-US" sz="1300" b="1" dirty="0">
                <a:solidFill>
                  <a:srgbClr val="0F2233"/>
                </a:solidFill>
                <a:latin typeface="Calibri" pitchFamily="34" charset="0"/>
                <a:ea typeface="Calibri" pitchFamily="34" charset="-122"/>
                <a:cs typeface="Calibri" pitchFamily="34" charset="-120"/>
              </a:rPr>
              <a:t>Lunch</a:t>
            </a:r>
            <a:endParaRPr lang="en-US" sz="1300" dirty="0"/>
          </a:p>
        </p:txBody>
      </p:sp>
      <p:sp>
        <p:nvSpPr>
          <p:cNvPr id="30" name="Text 23"/>
          <p:cNvSpPr/>
          <p:nvPr/>
        </p:nvSpPr>
        <p:spPr>
          <a:xfrm>
            <a:off x="4572000" y="2697480"/>
            <a:ext cx="3977640" cy="429768"/>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a:t>
            </a:r>
            <a:endParaRPr lang="en-US" sz="1100" dirty="0"/>
          </a:p>
        </p:txBody>
      </p:sp>
      <p:sp>
        <p:nvSpPr>
          <p:cNvPr id="31" name="Text 24"/>
          <p:cNvSpPr/>
          <p:nvPr/>
        </p:nvSpPr>
        <p:spPr>
          <a:xfrm>
            <a:off x="502920" y="3154680"/>
            <a:ext cx="685800" cy="429768"/>
          </a:xfrm>
          <a:prstGeom prst="rect">
            <a:avLst/>
          </a:prstGeom>
          <a:noFill/>
          <a:ln/>
        </p:spPr>
        <p:txBody>
          <a:bodyPr wrap="square" lIns="0" tIns="0" rIns="0" bIns="0" rtlCol="0" anchor="ctr"/>
          <a:lstStyle/>
          <a:p>
            <a:pPr algn="r" indent="0" marL="0">
              <a:buNone/>
            </a:pPr>
            <a:r>
              <a:rPr lang="en-US" sz="1300" b="1" dirty="0">
                <a:solidFill>
                  <a:srgbClr val="0F2233"/>
                </a:solidFill>
                <a:latin typeface="Calibri" pitchFamily="34" charset="0"/>
                <a:ea typeface="Calibri" pitchFamily="34" charset="-122"/>
                <a:cs typeface="Calibri" pitchFamily="34" charset="-120"/>
              </a:rPr>
              <a:t>4:30</a:t>
            </a:r>
            <a:endParaRPr lang="en-US" sz="1300" dirty="0"/>
          </a:p>
        </p:txBody>
      </p:sp>
      <p:sp>
        <p:nvSpPr>
          <p:cNvPr id="32" name="Shape 25"/>
          <p:cNvSpPr/>
          <p:nvPr/>
        </p:nvSpPr>
        <p:spPr>
          <a:xfrm>
            <a:off x="1371600" y="3214116"/>
            <a:ext cx="310896" cy="310896"/>
          </a:xfrm>
          <a:prstGeom prst="ellipse">
            <a:avLst/>
          </a:prstGeom>
          <a:solidFill>
            <a:srgbClr val="0D9488"/>
          </a:solidFill>
          <a:ln/>
        </p:spPr>
      </p:sp>
      <p:pic>
        <p:nvPicPr>
          <p:cNvPr id="33" name="Image 5" descr="preencoded.png">    </p:cNvPr>
          <p:cNvPicPr>
            <a:picLocks noChangeAspect="1"/>
          </p:cNvPicPr>
          <p:nvPr/>
        </p:nvPicPr>
        <p:blipFill>
          <a:blip r:embed="rId6"/>
          <a:stretch>
            <a:fillRect/>
          </a:stretch>
        </p:blipFill>
        <p:spPr>
          <a:xfrm>
            <a:off x="1455542" y="3298058"/>
            <a:ext cx="143012" cy="143012"/>
          </a:xfrm>
          <a:prstGeom prst="rect">
            <a:avLst/>
          </a:prstGeom>
        </p:spPr>
      </p:pic>
      <p:sp>
        <p:nvSpPr>
          <p:cNvPr id="34" name="Shape 26"/>
          <p:cNvSpPr/>
          <p:nvPr/>
        </p:nvSpPr>
        <p:spPr>
          <a:xfrm>
            <a:off x="1828800" y="3154680"/>
            <a:ext cx="6858000" cy="429768"/>
          </a:xfrm>
          <a:prstGeom prst="roundRect">
            <a:avLst>
              <a:gd name="adj" fmla="val 17021"/>
            </a:avLst>
          </a:prstGeom>
          <a:solidFill>
            <a:srgbClr val="F1F5F9"/>
          </a:solidFill>
          <a:ln/>
        </p:spPr>
      </p:sp>
      <p:sp>
        <p:nvSpPr>
          <p:cNvPr id="35" name="Text 27"/>
          <p:cNvSpPr/>
          <p:nvPr/>
        </p:nvSpPr>
        <p:spPr>
          <a:xfrm>
            <a:off x="2011680" y="3154680"/>
            <a:ext cx="2743200" cy="429768"/>
          </a:xfrm>
          <a:prstGeom prst="rect">
            <a:avLst/>
          </a:prstGeom>
          <a:noFill/>
          <a:ln/>
        </p:spPr>
        <p:txBody>
          <a:bodyPr wrap="square" lIns="0" tIns="0" rIns="0" bIns="0" rtlCol="0" anchor="ctr"/>
          <a:lstStyle/>
          <a:p>
            <a:pPr indent="0" marL="0">
              <a:buNone/>
            </a:pPr>
            <a:r>
              <a:rPr lang="en-US" sz="1300" b="1" dirty="0">
                <a:solidFill>
                  <a:srgbClr val="0F2233"/>
                </a:solidFill>
                <a:latin typeface="Calibri" pitchFamily="34" charset="0"/>
                <a:ea typeface="Calibri" pitchFamily="34" charset="-122"/>
                <a:cs typeface="Calibri" pitchFamily="34" charset="-120"/>
              </a:rPr>
              <a:t>Multi-agent architecture</a:t>
            </a:r>
            <a:endParaRPr lang="en-US" sz="1300" dirty="0"/>
          </a:p>
        </p:txBody>
      </p:sp>
      <p:sp>
        <p:nvSpPr>
          <p:cNvPr id="36" name="Text 28"/>
          <p:cNvSpPr/>
          <p:nvPr/>
        </p:nvSpPr>
        <p:spPr>
          <a:xfrm>
            <a:off x="4572000" y="3154680"/>
            <a:ext cx="3977640" cy="429768"/>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Orchestration patterns, contracts, failure handling</a:t>
            </a:r>
            <a:endParaRPr lang="en-US" sz="1100" dirty="0"/>
          </a:p>
        </p:txBody>
      </p:sp>
      <p:sp>
        <p:nvSpPr>
          <p:cNvPr id="37" name="Text 29"/>
          <p:cNvSpPr/>
          <p:nvPr/>
        </p:nvSpPr>
        <p:spPr>
          <a:xfrm>
            <a:off x="502920" y="3611880"/>
            <a:ext cx="685800" cy="429768"/>
          </a:xfrm>
          <a:prstGeom prst="rect">
            <a:avLst/>
          </a:prstGeom>
          <a:noFill/>
          <a:ln/>
        </p:spPr>
        <p:txBody>
          <a:bodyPr wrap="square" lIns="0" tIns="0" rIns="0" bIns="0" rtlCol="0" anchor="ctr"/>
          <a:lstStyle/>
          <a:p>
            <a:pPr algn="r" indent="0" marL="0">
              <a:buNone/>
            </a:pPr>
            <a:r>
              <a:rPr lang="en-US" sz="1300" b="1" dirty="0">
                <a:solidFill>
                  <a:srgbClr val="0F2233"/>
                </a:solidFill>
                <a:latin typeface="Calibri" pitchFamily="34" charset="0"/>
                <a:ea typeface="Calibri" pitchFamily="34" charset="-122"/>
                <a:cs typeface="Calibri" pitchFamily="34" charset="-120"/>
              </a:rPr>
              <a:t>5:30</a:t>
            </a:r>
            <a:endParaRPr lang="en-US" sz="1300" dirty="0"/>
          </a:p>
        </p:txBody>
      </p:sp>
      <p:sp>
        <p:nvSpPr>
          <p:cNvPr id="38" name="Shape 30"/>
          <p:cNvSpPr/>
          <p:nvPr/>
        </p:nvSpPr>
        <p:spPr>
          <a:xfrm>
            <a:off x="1371600" y="3671316"/>
            <a:ext cx="310896" cy="310896"/>
          </a:xfrm>
          <a:prstGeom prst="ellipse">
            <a:avLst/>
          </a:prstGeom>
          <a:solidFill>
            <a:srgbClr val="0D9488"/>
          </a:solidFill>
          <a:ln/>
        </p:spPr>
      </p:sp>
      <p:pic>
        <p:nvPicPr>
          <p:cNvPr id="39" name="Image 6" descr="preencoded.png">    </p:cNvPr>
          <p:cNvPicPr>
            <a:picLocks noChangeAspect="1"/>
          </p:cNvPicPr>
          <p:nvPr/>
        </p:nvPicPr>
        <p:blipFill>
          <a:blip r:embed="rId7"/>
          <a:stretch>
            <a:fillRect/>
          </a:stretch>
        </p:blipFill>
        <p:spPr>
          <a:xfrm>
            <a:off x="1455542" y="3755258"/>
            <a:ext cx="143012" cy="143012"/>
          </a:xfrm>
          <a:prstGeom prst="rect">
            <a:avLst/>
          </a:prstGeom>
        </p:spPr>
      </p:pic>
      <p:sp>
        <p:nvSpPr>
          <p:cNvPr id="40" name="Shape 31"/>
          <p:cNvSpPr/>
          <p:nvPr/>
        </p:nvSpPr>
        <p:spPr>
          <a:xfrm>
            <a:off x="1828800" y="3611880"/>
            <a:ext cx="6858000" cy="429768"/>
          </a:xfrm>
          <a:prstGeom prst="roundRect">
            <a:avLst>
              <a:gd name="adj" fmla="val 17021"/>
            </a:avLst>
          </a:prstGeom>
          <a:solidFill>
            <a:srgbClr val="F1F5F9"/>
          </a:solidFill>
          <a:ln/>
        </p:spPr>
      </p:sp>
      <p:sp>
        <p:nvSpPr>
          <p:cNvPr id="41" name="Text 32"/>
          <p:cNvSpPr/>
          <p:nvPr/>
        </p:nvSpPr>
        <p:spPr>
          <a:xfrm>
            <a:off x="2011680" y="3611880"/>
            <a:ext cx="2743200" cy="429768"/>
          </a:xfrm>
          <a:prstGeom prst="rect">
            <a:avLst/>
          </a:prstGeom>
          <a:noFill/>
          <a:ln/>
        </p:spPr>
        <p:txBody>
          <a:bodyPr wrap="square" lIns="0" tIns="0" rIns="0" bIns="0" rtlCol="0" anchor="ctr"/>
          <a:lstStyle/>
          <a:p>
            <a:pPr indent="0" marL="0">
              <a:buNone/>
            </a:pPr>
            <a:r>
              <a:rPr lang="en-US" sz="1300" b="1" dirty="0">
                <a:solidFill>
                  <a:srgbClr val="0F2233"/>
                </a:solidFill>
                <a:latin typeface="Calibri" pitchFamily="34" charset="0"/>
                <a:ea typeface="Calibri" pitchFamily="34" charset="-122"/>
                <a:cs typeface="Calibri" pitchFamily="34" charset="-120"/>
              </a:rPr>
              <a:t>Colab 1 — toolkit build</a:t>
            </a:r>
            <a:endParaRPr lang="en-US" sz="1300" dirty="0"/>
          </a:p>
        </p:txBody>
      </p:sp>
      <p:sp>
        <p:nvSpPr>
          <p:cNvPr id="42" name="Text 33"/>
          <p:cNvSpPr/>
          <p:nvPr/>
        </p:nvSpPr>
        <p:spPr>
          <a:xfrm>
            <a:off x="4572000" y="3611880"/>
            <a:ext cx="3977640" cy="429768"/>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Instrument a research→summarise→notify pipeline</a:t>
            </a:r>
            <a:endParaRPr lang="en-US" sz="1100" dirty="0"/>
          </a:p>
        </p:txBody>
      </p:sp>
      <p:sp>
        <p:nvSpPr>
          <p:cNvPr id="43" name="Text 34"/>
          <p:cNvSpPr/>
          <p:nvPr/>
        </p:nvSpPr>
        <p:spPr>
          <a:xfrm>
            <a:off x="502920" y="4069080"/>
            <a:ext cx="685800" cy="429768"/>
          </a:xfrm>
          <a:prstGeom prst="rect">
            <a:avLst/>
          </a:prstGeom>
          <a:noFill/>
          <a:ln/>
        </p:spPr>
        <p:txBody>
          <a:bodyPr wrap="square" lIns="0" tIns="0" rIns="0" bIns="0" rtlCol="0" anchor="ctr"/>
          <a:lstStyle/>
          <a:p>
            <a:pPr algn="r" indent="0" marL="0">
              <a:buNone/>
            </a:pPr>
            <a:r>
              <a:rPr lang="en-US" sz="1300" b="1" dirty="0">
                <a:solidFill>
                  <a:srgbClr val="0F2233"/>
                </a:solidFill>
                <a:latin typeface="Calibri" pitchFamily="34" charset="0"/>
                <a:ea typeface="Calibri" pitchFamily="34" charset="-122"/>
                <a:cs typeface="Calibri" pitchFamily="34" charset="-120"/>
              </a:rPr>
              <a:t>6:15</a:t>
            </a:r>
            <a:endParaRPr lang="en-US" sz="1300" dirty="0"/>
          </a:p>
        </p:txBody>
      </p:sp>
      <p:sp>
        <p:nvSpPr>
          <p:cNvPr id="44" name="Shape 35"/>
          <p:cNvSpPr/>
          <p:nvPr/>
        </p:nvSpPr>
        <p:spPr>
          <a:xfrm>
            <a:off x="1371600" y="4128516"/>
            <a:ext cx="310896" cy="310896"/>
          </a:xfrm>
          <a:prstGeom prst="ellipse">
            <a:avLst/>
          </a:prstGeom>
          <a:solidFill>
            <a:srgbClr val="F59E0B"/>
          </a:solidFill>
          <a:ln/>
        </p:spPr>
      </p:sp>
      <p:pic>
        <p:nvPicPr>
          <p:cNvPr id="45" name="Image 7" descr="preencoded.png">    </p:cNvPr>
          <p:cNvPicPr>
            <a:picLocks noChangeAspect="1"/>
          </p:cNvPicPr>
          <p:nvPr/>
        </p:nvPicPr>
        <p:blipFill>
          <a:blip r:embed="rId8"/>
          <a:stretch>
            <a:fillRect/>
          </a:stretch>
        </p:blipFill>
        <p:spPr>
          <a:xfrm>
            <a:off x="1455542" y="4212458"/>
            <a:ext cx="143012" cy="143012"/>
          </a:xfrm>
          <a:prstGeom prst="rect">
            <a:avLst/>
          </a:prstGeom>
        </p:spPr>
      </p:pic>
      <p:sp>
        <p:nvSpPr>
          <p:cNvPr id="46" name="Shape 36"/>
          <p:cNvSpPr/>
          <p:nvPr/>
        </p:nvSpPr>
        <p:spPr>
          <a:xfrm>
            <a:off x="1828800" y="4069080"/>
            <a:ext cx="6858000" cy="429768"/>
          </a:xfrm>
          <a:prstGeom prst="roundRect">
            <a:avLst>
              <a:gd name="adj" fmla="val 17021"/>
            </a:avLst>
          </a:prstGeom>
          <a:solidFill>
            <a:srgbClr val="F1F5F9"/>
          </a:solidFill>
          <a:ln/>
        </p:spPr>
      </p:sp>
      <p:sp>
        <p:nvSpPr>
          <p:cNvPr id="47" name="Text 37"/>
          <p:cNvSpPr/>
          <p:nvPr/>
        </p:nvSpPr>
        <p:spPr>
          <a:xfrm>
            <a:off x="2011680" y="4069080"/>
            <a:ext cx="2743200" cy="429768"/>
          </a:xfrm>
          <a:prstGeom prst="rect">
            <a:avLst/>
          </a:prstGeom>
          <a:noFill/>
          <a:ln/>
        </p:spPr>
        <p:txBody>
          <a:bodyPr wrap="square" lIns="0" tIns="0" rIns="0" bIns="0" rtlCol="0" anchor="ctr"/>
          <a:lstStyle/>
          <a:p>
            <a:pPr indent="0" marL="0">
              <a:buNone/>
            </a:pPr>
            <a:r>
              <a:rPr lang="en-US" sz="1300" b="1" dirty="0">
                <a:solidFill>
                  <a:srgbClr val="0F2233"/>
                </a:solidFill>
                <a:latin typeface="Calibri" pitchFamily="34" charset="0"/>
                <a:ea typeface="Calibri" pitchFamily="34" charset="-122"/>
                <a:cs typeface="Calibri" pitchFamily="34" charset="-120"/>
              </a:rPr>
              <a:t>Colab 2 — capstone</a:t>
            </a:r>
            <a:endParaRPr lang="en-US" sz="1300" dirty="0"/>
          </a:p>
        </p:txBody>
      </p:sp>
      <p:sp>
        <p:nvSpPr>
          <p:cNvPr id="48" name="Text 38"/>
          <p:cNvSpPr/>
          <p:nvPr/>
        </p:nvSpPr>
        <p:spPr>
          <a:xfrm>
            <a:off x="4572000" y="4069080"/>
            <a:ext cx="3977640" cy="429768"/>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End-to-end lead-gen multi-agent system</a:t>
            </a:r>
            <a:endParaRPr lang="en-US" sz="1100" dirty="0"/>
          </a:p>
        </p:txBody>
      </p:sp>
      <p:sp>
        <p:nvSpPr>
          <p:cNvPr id="49" name="Text 39"/>
          <p:cNvSpPr/>
          <p:nvPr/>
        </p:nvSpPr>
        <p:spPr>
          <a:xfrm>
            <a:off x="502920" y="4526280"/>
            <a:ext cx="685800" cy="429768"/>
          </a:xfrm>
          <a:prstGeom prst="rect">
            <a:avLst/>
          </a:prstGeom>
          <a:noFill/>
          <a:ln/>
        </p:spPr>
        <p:txBody>
          <a:bodyPr wrap="square" lIns="0" tIns="0" rIns="0" bIns="0" rtlCol="0" anchor="ctr"/>
          <a:lstStyle/>
          <a:p>
            <a:pPr algn="r" indent="0" marL="0">
              <a:buNone/>
            </a:pPr>
            <a:r>
              <a:rPr lang="en-US" sz="1300" b="1" dirty="0">
                <a:solidFill>
                  <a:srgbClr val="0F2233"/>
                </a:solidFill>
                <a:latin typeface="Calibri" pitchFamily="34" charset="0"/>
                <a:ea typeface="Calibri" pitchFamily="34" charset="-122"/>
                <a:cs typeface="Calibri" pitchFamily="34" charset="-120"/>
              </a:rPr>
              <a:t>7:30</a:t>
            </a:r>
            <a:endParaRPr lang="en-US" sz="1300" dirty="0"/>
          </a:p>
        </p:txBody>
      </p:sp>
      <p:sp>
        <p:nvSpPr>
          <p:cNvPr id="50" name="Shape 40"/>
          <p:cNvSpPr/>
          <p:nvPr/>
        </p:nvSpPr>
        <p:spPr>
          <a:xfrm>
            <a:off x="1371600" y="4585716"/>
            <a:ext cx="310896" cy="310896"/>
          </a:xfrm>
          <a:prstGeom prst="ellipse">
            <a:avLst/>
          </a:prstGeom>
          <a:solidFill>
            <a:srgbClr val="0D9488"/>
          </a:solidFill>
          <a:ln/>
        </p:spPr>
      </p:sp>
      <p:pic>
        <p:nvPicPr>
          <p:cNvPr id="51" name="Image 8" descr="preencoded.png">    </p:cNvPr>
          <p:cNvPicPr>
            <a:picLocks noChangeAspect="1"/>
          </p:cNvPicPr>
          <p:nvPr/>
        </p:nvPicPr>
        <p:blipFill>
          <a:blip r:embed="rId9"/>
          <a:stretch>
            <a:fillRect/>
          </a:stretch>
        </p:blipFill>
        <p:spPr>
          <a:xfrm>
            <a:off x="1455542" y="4669658"/>
            <a:ext cx="143012" cy="143012"/>
          </a:xfrm>
          <a:prstGeom prst="rect">
            <a:avLst/>
          </a:prstGeom>
        </p:spPr>
      </p:pic>
      <p:sp>
        <p:nvSpPr>
          <p:cNvPr id="52" name="Shape 41"/>
          <p:cNvSpPr/>
          <p:nvPr/>
        </p:nvSpPr>
        <p:spPr>
          <a:xfrm>
            <a:off x="1828800" y="4526280"/>
            <a:ext cx="6858000" cy="429768"/>
          </a:xfrm>
          <a:prstGeom prst="roundRect">
            <a:avLst>
              <a:gd name="adj" fmla="val 17021"/>
            </a:avLst>
          </a:prstGeom>
          <a:solidFill>
            <a:srgbClr val="F1F5F9"/>
          </a:solidFill>
          <a:ln/>
        </p:spPr>
      </p:sp>
      <p:sp>
        <p:nvSpPr>
          <p:cNvPr id="53" name="Text 42"/>
          <p:cNvSpPr/>
          <p:nvPr/>
        </p:nvSpPr>
        <p:spPr>
          <a:xfrm>
            <a:off x="2011680" y="4526280"/>
            <a:ext cx="2743200" cy="429768"/>
          </a:xfrm>
          <a:prstGeom prst="rect">
            <a:avLst/>
          </a:prstGeom>
          <a:noFill/>
          <a:ln/>
        </p:spPr>
        <p:txBody>
          <a:bodyPr wrap="square" lIns="0" tIns="0" rIns="0" bIns="0" rtlCol="0" anchor="ctr"/>
          <a:lstStyle/>
          <a:p>
            <a:pPr indent="0" marL="0">
              <a:buNone/>
            </a:pPr>
            <a:r>
              <a:rPr lang="en-US" sz="1300" b="1" dirty="0">
                <a:solidFill>
                  <a:srgbClr val="0F2233"/>
                </a:solidFill>
                <a:latin typeface="Calibri" pitchFamily="34" charset="0"/>
                <a:ea typeface="Calibri" pitchFamily="34" charset="-122"/>
                <a:cs typeface="Calibri" pitchFamily="34" charset="-120"/>
              </a:rPr>
              <a:t>Docs, governance &amp; wrap</a:t>
            </a:r>
            <a:endParaRPr lang="en-US" sz="1300" dirty="0"/>
          </a:p>
        </p:txBody>
      </p:sp>
      <p:sp>
        <p:nvSpPr>
          <p:cNvPr id="54" name="Text 43"/>
          <p:cNvSpPr/>
          <p:nvPr/>
        </p:nvSpPr>
        <p:spPr>
          <a:xfrm>
            <a:off x="4572000" y="4526280"/>
            <a:ext cx="3977640" cy="429768"/>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Architecture docs, readiness, quiz</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3</a:t>
            </a:r>
            <a:endParaRPr lang="en-US" sz="850" dirty="0"/>
          </a:p>
        </p:txBody>
      </p:sp>
      <p:sp>
        <p:nvSpPr>
          <p:cNvPr id="4" name="Shape 2"/>
          <p:cNvSpPr/>
          <p:nvPr/>
        </p:nvSpPr>
        <p:spPr>
          <a:xfrm>
            <a:off x="457200" y="384048"/>
            <a:ext cx="566928" cy="566928"/>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What You'll Be Able To Do</a:t>
            </a:r>
            <a:endParaRPr lang="en-US" sz="2600" dirty="0"/>
          </a:p>
        </p:txBody>
      </p:sp>
      <p:sp>
        <p:nvSpPr>
          <p:cNvPr id="7" name="Shape 4"/>
          <p:cNvSpPr/>
          <p:nvPr/>
        </p:nvSpPr>
        <p:spPr>
          <a:xfrm>
            <a:off x="457200" y="1371600"/>
            <a:ext cx="2670048" cy="1481328"/>
          </a:xfrm>
          <a:prstGeom prst="roundRect">
            <a:avLst>
              <a:gd name="adj" fmla="val 4938"/>
            </a:avLst>
          </a:prstGeom>
          <a:solidFill>
            <a:srgbClr val="FFFFFF"/>
          </a:solidFill>
          <a:ln/>
          <a:effectLst>
            <a:outerShdw sx="100000" sy="100000" kx="0" ky="0" algn="bl" rotWithShape="0" blurRad="63500" dist="25400" dir="5400000">
              <a:srgbClr val="0F2233">
                <a:alpha val="10000"/>
              </a:srgbClr>
            </a:outerShdw>
          </a:effectLst>
        </p:spPr>
      </p:sp>
      <p:sp>
        <p:nvSpPr>
          <p:cNvPr id="8" name="Shape 5"/>
          <p:cNvSpPr/>
          <p:nvPr/>
        </p:nvSpPr>
        <p:spPr>
          <a:xfrm>
            <a:off x="658368" y="1572768"/>
            <a:ext cx="548640" cy="548640"/>
          </a:xfrm>
          <a:prstGeom prst="ellipse">
            <a:avLst/>
          </a:prstGeom>
          <a:solidFill>
            <a:srgbClr val="0D9488"/>
          </a:solidFill>
          <a:ln/>
        </p:spPr>
      </p:sp>
      <p:pic>
        <p:nvPicPr>
          <p:cNvPr id="9" name="Image 1" descr="preencoded.png">    </p:cNvPr>
          <p:cNvPicPr>
            <a:picLocks noChangeAspect="1"/>
          </p:cNvPicPr>
          <p:nvPr/>
        </p:nvPicPr>
        <p:blipFill>
          <a:blip r:embed="rId2"/>
          <a:stretch>
            <a:fillRect/>
          </a:stretch>
        </p:blipFill>
        <p:spPr>
          <a:xfrm>
            <a:off x="806501" y="1720901"/>
            <a:ext cx="252374" cy="252374"/>
          </a:xfrm>
          <a:prstGeom prst="rect">
            <a:avLst/>
          </a:prstGeom>
        </p:spPr>
      </p:pic>
      <p:sp>
        <p:nvSpPr>
          <p:cNvPr id="10" name="Text 6"/>
          <p:cNvSpPr/>
          <p:nvPr/>
        </p:nvSpPr>
        <p:spPr>
          <a:xfrm>
            <a:off x="1325880" y="1609344"/>
            <a:ext cx="1709928" cy="457200"/>
          </a:xfrm>
          <a:prstGeom prst="rect">
            <a:avLst/>
          </a:prstGeom>
          <a:noFill/>
          <a:ln/>
        </p:spPr>
        <p:txBody>
          <a:bodyPr wrap="square" lIns="0" tIns="0" rIns="0" bIns="0" rtlCol="0" anchor="ctr"/>
          <a:lstStyle/>
          <a:p>
            <a:pPr indent="0" marL="0">
              <a:buNone/>
            </a:pPr>
            <a:r>
              <a:rPr lang="en-US" sz="1500" b="1" dirty="0">
                <a:solidFill>
                  <a:srgbClr val="0F2233"/>
                </a:solidFill>
                <a:latin typeface="Cambria" pitchFamily="34" charset="0"/>
                <a:ea typeface="Cambria" pitchFamily="34" charset="-122"/>
                <a:cs typeface="Cambria" pitchFamily="34" charset="-120"/>
              </a:rPr>
              <a:t>Instrument &amp; trace</a:t>
            </a:r>
            <a:endParaRPr lang="en-US" sz="1500" dirty="0"/>
          </a:p>
        </p:txBody>
      </p:sp>
      <p:sp>
        <p:nvSpPr>
          <p:cNvPr id="11" name="Text 7"/>
          <p:cNvSpPr/>
          <p:nvPr/>
        </p:nvSpPr>
        <p:spPr>
          <a:xfrm>
            <a:off x="658368" y="2212848"/>
            <a:ext cx="2267712" cy="54864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Add trace context, spans and structured logs across a multi-agent pipeline.</a:t>
            </a:r>
            <a:endParaRPr lang="en-US" sz="1100" dirty="0"/>
          </a:p>
        </p:txBody>
      </p:sp>
      <p:sp>
        <p:nvSpPr>
          <p:cNvPr id="12" name="Shape 8"/>
          <p:cNvSpPr/>
          <p:nvPr/>
        </p:nvSpPr>
        <p:spPr>
          <a:xfrm>
            <a:off x="3291840" y="1371600"/>
            <a:ext cx="2670048" cy="1481328"/>
          </a:xfrm>
          <a:prstGeom prst="roundRect">
            <a:avLst>
              <a:gd name="adj" fmla="val 4938"/>
            </a:avLst>
          </a:prstGeom>
          <a:solidFill>
            <a:srgbClr val="FFFFFF"/>
          </a:solidFill>
          <a:ln/>
          <a:effectLst>
            <a:outerShdw sx="100000" sy="100000" kx="0" ky="0" algn="bl" rotWithShape="0" blurRad="63500" dist="25400" dir="5400000">
              <a:srgbClr val="0F2233">
                <a:alpha val="10000"/>
              </a:srgbClr>
            </a:outerShdw>
          </a:effectLst>
        </p:spPr>
      </p:sp>
      <p:sp>
        <p:nvSpPr>
          <p:cNvPr id="13" name="Shape 9"/>
          <p:cNvSpPr/>
          <p:nvPr/>
        </p:nvSpPr>
        <p:spPr>
          <a:xfrm>
            <a:off x="3493008" y="1572768"/>
            <a:ext cx="548640" cy="548640"/>
          </a:xfrm>
          <a:prstGeom prst="ellipse">
            <a:avLst/>
          </a:prstGeom>
          <a:solidFill>
            <a:srgbClr val="F59E0B"/>
          </a:solidFill>
          <a:ln/>
        </p:spPr>
      </p:sp>
      <p:pic>
        <p:nvPicPr>
          <p:cNvPr id="14" name="Image 2" descr="preencoded.png">    </p:cNvPr>
          <p:cNvPicPr>
            <a:picLocks noChangeAspect="1"/>
          </p:cNvPicPr>
          <p:nvPr/>
        </p:nvPicPr>
        <p:blipFill>
          <a:blip r:embed="rId3"/>
          <a:stretch>
            <a:fillRect/>
          </a:stretch>
        </p:blipFill>
        <p:spPr>
          <a:xfrm>
            <a:off x="3641141" y="1720901"/>
            <a:ext cx="252374" cy="252374"/>
          </a:xfrm>
          <a:prstGeom prst="rect">
            <a:avLst/>
          </a:prstGeom>
        </p:spPr>
      </p:pic>
      <p:sp>
        <p:nvSpPr>
          <p:cNvPr id="15" name="Text 10"/>
          <p:cNvSpPr/>
          <p:nvPr/>
        </p:nvSpPr>
        <p:spPr>
          <a:xfrm>
            <a:off x="4160520" y="1609344"/>
            <a:ext cx="1709928" cy="457200"/>
          </a:xfrm>
          <a:prstGeom prst="rect">
            <a:avLst/>
          </a:prstGeom>
          <a:noFill/>
          <a:ln/>
        </p:spPr>
        <p:txBody>
          <a:bodyPr wrap="square" lIns="0" tIns="0" rIns="0" bIns="0" rtlCol="0" anchor="ctr"/>
          <a:lstStyle/>
          <a:p>
            <a:pPr indent="0" marL="0">
              <a:buNone/>
            </a:pPr>
            <a:r>
              <a:rPr lang="en-US" sz="1500" b="1" dirty="0">
                <a:solidFill>
                  <a:srgbClr val="0F2233"/>
                </a:solidFill>
                <a:latin typeface="Cambria" pitchFamily="34" charset="0"/>
                <a:ea typeface="Cambria" pitchFamily="34" charset="-122"/>
                <a:cs typeface="Cambria" pitchFamily="34" charset="-120"/>
              </a:rPr>
              <a:t>Measure &amp; improve</a:t>
            </a:r>
            <a:endParaRPr lang="en-US" sz="1500" dirty="0"/>
          </a:p>
        </p:txBody>
      </p:sp>
      <p:sp>
        <p:nvSpPr>
          <p:cNvPr id="16" name="Text 11"/>
          <p:cNvSpPr/>
          <p:nvPr/>
        </p:nvSpPr>
        <p:spPr>
          <a:xfrm>
            <a:off x="3493008" y="2212848"/>
            <a:ext cx="2267712" cy="54864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Capture latency, token cost &amp; quality metrics; close a feedback loop.</a:t>
            </a:r>
            <a:endParaRPr lang="en-US" sz="1100" dirty="0"/>
          </a:p>
        </p:txBody>
      </p:sp>
      <p:sp>
        <p:nvSpPr>
          <p:cNvPr id="17" name="Shape 12"/>
          <p:cNvSpPr/>
          <p:nvPr/>
        </p:nvSpPr>
        <p:spPr>
          <a:xfrm>
            <a:off x="6126480" y="1371600"/>
            <a:ext cx="2670048" cy="1481328"/>
          </a:xfrm>
          <a:prstGeom prst="roundRect">
            <a:avLst>
              <a:gd name="adj" fmla="val 4938"/>
            </a:avLst>
          </a:prstGeom>
          <a:solidFill>
            <a:srgbClr val="FFFFFF"/>
          </a:solidFill>
          <a:ln/>
          <a:effectLst>
            <a:outerShdw sx="100000" sy="100000" kx="0" ky="0" algn="bl" rotWithShape="0" blurRad="63500" dist="25400" dir="5400000">
              <a:srgbClr val="0F2233">
                <a:alpha val="10000"/>
              </a:srgbClr>
            </a:outerShdw>
          </a:effectLst>
        </p:spPr>
      </p:sp>
      <p:sp>
        <p:nvSpPr>
          <p:cNvPr id="18" name="Shape 13"/>
          <p:cNvSpPr/>
          <p:nvPr/>
        </p:nvSpPr>
        <p:spPr>
          <a:xfrm>
            <a:off x="6327648" y="1572768"/>
            <a:ext cx="548640" cy="548640"/>
          </a:xfrm>
          <a:prstGeom prst="ellipse">
            <a:avLst/>
          </a:prstGeom>
          <a:solidFill>
            <a:srgbClr val="0D9488"/>
          </a:solidFill>
          <a:ln/>
        </p:spPr>
      </p:sp>
      <p:pic>
        <p:nvPicPr>
          <p:cNvPr id="19" name="Image 3" descr="preencoded.png">    </p:cNvPr>
          <p:cNvPicPr>
            <a:picLocks noChangeAspect="1"/>
          </p:cNvPicPr>
          <p:nvPr/>
        </p:nvPicPr>
        <p:blipFill>
          <a:blip r:embed="rId4"/>
          <a:stretch>
            <a:fillRect/>
          </a:stretch>
        </p:blipFill>
        <p:spPr>
          <a:xfrm>
            <a:off x="6475781" y="1720901"/>
            <a:ext cx="252374" cy="252374"/>
          </a:xfrm>
          <a:prstGeom prst="rect">
            <a:avLst/>
          </a:prstGeom>
        </p:spPr>
      </p:pic>
      <p:sp>
        <p:nvSpPr>
          <p:cNvPr id="20" name="Text 14"/>
          <p:cNvSpPr/>
          <p:nvPr/>
        </p:nvSpPr>
        <p:spPr>
          <a:xfrm>
            <a:off x="6995160" y="1609344"/>
            <a:ext cx="1709928" cy="457200"/>
          </a:xfrm>
          <a:prstGeom prst="rect">
            <a:avLst/>
          </a:prstGeom>
          <a:noFill/>
          <a:ln/>
        </p:spPr>
        <p:txBody>
          <a:bodyPr wrap="square" lIns="0" tIns="0" rIns="0" bIns="0" rtlCol="0" anchor="ctr"/>
          <a:lstStyle/>
          <a:p>
            <a:pPr indent="0" marL="0">
              <a:buNone/>
            </a:pPr>
            <a:r>
              <a:rPr lang="en-US" sz="1500" b="1" dirty="0">
                <a:solidFill>
                  <a:srgbClr val="0F2233"/>
                </a:solidFill>
                <a:latin typeface="Cambria" pitchFamily="34" charset="0"/>
                <a:ea typeface="Cambria" pitchFamily="34" charset="-122"/>
                <a:cs typeface="Cambria" pitchFamily="34" charset="-120"/>
              </a:rPr>
              <a:t>Guard &amp; comply</a:t>
            </a:r>
            <a:endParaRPr lang="en-US" sz="1500" dirty="0"/>
          </a:p>
        </p:txBody>
      </p:sp>
      <p:sp>
        <p:nvSpPr>
          <p:cNvPr id="21" name="Text 15"/>
          <p:cNvSpPr/>
          <p:nvPr/>
        </p:nvSpPr>
        <p:spPr>
          <a:xfrm>
            <a:off x="6327648" y="2212848"/>
            <a:ext cx="2267712" cy="54864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Build input/output guardrails, PII redaction and compliance checks.</a:t>
            </a:r>
            <a:endParaRPr lang="en-US" sz="1100" dirty="0"/>
          </a:p>
        </p:txBody>
      </p:sp>
      <p:sp>
        <p:nvSpPr>
          <p:cNvPr id="22" name="Shape 16"/>
          <p:cNvSpPr/>
          <p:nvPr/>
        </p:nvSpPr>
        <p:spPr>
          <a:xfrm>
            <a:off x="457200" y="3054096"/>
            <a:ext cx="2670048" cy="1481328"/>
          </a:xfrm>
          <a:prstGeom prst="roundRect">
            <a:avLst>
              <a:gd name="adj" fmla="val 4938"/>
            </a:avLst>
          </a:prstGeom>
          <a:solidFill>
            <a:srgbClr val="FFFFFF"/>
          </a:solidFill>
          <a:ln/>
          <a:effectLst>
            <a:outerShdw sx="100000" sy="100000" kx="0" ky="0" algn="bl" rotWithShape="0" blurRad="63500" dist="25400" dir="5400000">
              <a:srgbClr val="0F2233">
                <a:alpha val="10000"/>
              </a:srgbClr>
            </a:outerShdw>
          </a:effectLst>
        </p:spPr>
      </p:sp>
      <p:sp>
        <p:nvSpPr>
          <p:cNvPr id="23" name="Shape 17"/>
          <p:cNvSpPr/>
          <p:nvPr/>
        </p:nvSpPr>
        <p:spPr>
          <a:xfrm>
            <a:off x="658368" y="3255264"/>
            <a:ext cx="548640" cy="548640"/>
          </a:xfrm>
          <a:prstGeom prst="ellipse">
            <a:avLst/>
          </a:prstGeom>
          <a:solidFill>
            <a:srgbClr val="F59E0B"/>
          </a:solidFill>
          <a:ln/>
        </p:spPr>
      </p:sp>
      <p:pic>
        <p:nvPicPr>
          <p:cNvPr id="24" name="Image 4" descr="preencoded.png">    </p:cNvPr>
          <p:cNvPicPr>
            <a:picLocks noChangeAspect="1"/>
          </p:cNvPicPr>
          <p:nvPr/>
        </p:nvPicPr>
        <p:blipFill>
          <a:blip r:embed="rId5"/>
          <a:stretch>
            <a:fillRect/>
          </a:stretch>
        </p:blipFill>
        <p:spPr>
          <a:xfrm>
            <a:off x="806501" y="3403397"/>
            <a:ext cx="252374" cy="252374"/>
          </a:xfrm>
          <a:prstGeom prst="rect">
            <a:avLst/>
          </a:prstGeom>
        </p:spPr>
      </p:pic>
      <p:sp>
        <p:nvSpPr>
          <p:cNvPr id="25" name="Text 18"/>
          <p:cNvSpPr/>
          <p:nvPr/>
        </p:nvSpPr>
        <p:spPr>
          <a:xfrm>
            <a:off x="1325880" y="3291840"/>
            <a:ext cx="1709928" cy="457200"/>
          </a:xfrm>
          <a:prstGeom prst="rect">
            <a:avLst/>
          </a:prstGeom>
          <a:noFill/>
          <a:ln/>
        </p:spPr>
        <p:txBody>
          <a:bodyPr wrap="square" lIns="0" tIns="0" rIns="0" bIns="0" rtlCol="0" anchor="ctr"/>
          <a:lstStyle/>
          <a:p>
            <a:pPr indent="0" marL="0">
              <a:buNone/>
            </a:pPr>
            <a:r>
              <a:rPr lang="en-US" sz="1500" b="1" dirty="0">
                <a:solidFill>
                  <a:srgbClr val="0F2233"/>
                </a:solidFill>
                <a:latin typeface="Cambria" pitchFamily="34" charset="0"/>
                <a:ea typeface="Cambria" pitchFamily="34" charset="-122"/>
                <a:cs typeface="Cambria" pitchFamily="34" charset="-120"/>
              </a:rPr>
              <a:t>Audit</a:t>
            </a:r>
            <a:endParaRPr lang="en-US" sz="1500" dirty="0"/>
          </a:p>
        </p:txBody>
      </p:sp>
      <p:sp>
        <p:nvSpPr>
          <p:cNvPr id="26" name="Text 19"/>
          <p:cNvSpPr/>
          <p:nvPr/>
        </p:nvSpPr>
        <p:spPr>
          <a:xfrm>
            <a:off x="658368" y="3895344"/>
            <a:ext cx="2267712" cy="54864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Produce a tamper-evident prompt-response audit trail.</a:t>
            </a:r>
            <a:endParaRPr lang="en-US" sz="1100" dirty="0"/>
          </a:p>
        </p:txBody>
      </p:sp>
      <p:sp>
        <p:nvSpPr>
          <p:cNvPr id="27" name="Shape 20"/>
          <p:cNvSpPr/>
          <p:nvPr/>
        </p:nvSpPr>
        <p:spPr>
          <a:xfrm>
            <a:off x="3291840" y="3054096"/>
            <a:ext cx="2670048" cy="1481328"/>
          </a:xfrm>
          <a:prstGeom prst="roundRect">
            <a:avLst>
              <a:gd name="adj" fmla="val 4938"/>
            </a:avLst>
          </a:prstGeom>
          <a:solidFill>
            <a:srgbClr val="FFFFFF"/>
          </a:solidFill>
          <a:ln/>
          <a:effectLst>
            <a:outerShdw sx="100000" sy="100000" kx="0" ky="0" algn="bl" rotWithShape="0" blurRad="63500" dist="25400" dir="5400000">
              <a:srgbClr val="0F2233">
                <a:alpha val="10000"/>
              </a:srgbClr>
            </a:outerShdw>
          </a:effectLst>
        </p:spPr>
      </p:sp>
      <p:sp>
        <p:nvSpPr>
          <p:cNvPr id="28" name="Shape 21"/>
          <p:cNvSpPr/>
          <p:nvPr/>
        </p:nvSpPr>
        <p:spPr>
          <a:xfrm>
            <a:off x="3493008" y="3255264"/>
            <a:ext cx="548640" cy="548640"/>
          </a:xfrm>
          <a:prstGeom prst="ellipse">
            <a:avLst/>
          </a:prstGeom>
          <a:solidFill>
            <a:srgbClr val="0D9488"/>
          </a:solidFill>
          <a:ln/>
        </p:spPr>
      </p:sp>
      <p:pic>
        <p:nvPicPr>
          <p:cNvPr id="29" name="Image 5" descr="preencoded.png">    </p:cNvPr>
          <p:cNvPicPr>
            <a:picLocks noChangeAspect="1"/>
          </p:cNvPicPr>
          <p:nvPr/>
        </p:nvPicPr>
        <p:blipFill>
          <a:blip r:embed="rId6"/>
          <a:stretch>
            <a:fillRect/>
          </a:stretch>
        </p:blipFill>
        <p:spPr>
          <a:xfrm>
            <a:off x="3641141" y="3403397"/>
            <a:ext cx="252374" cy="252374"/>
          </a:xfrm>
          <a:prstGeom prst="rect">
            <a:avLst/>
          </a:prstGeom>
        </p:spPr>
      </p:pic>
      <p:sp>
        <p:nvSpPr>
          <p:cNvPr id="30" name="Text 22"/>
          <p:cNvSpPr/>
          <p:nvPr/>
        </p:nvSpPr>
        <p:spPr>
          <a:xfrm>
            <a:off x="4160520" y="3291840"/>
            <a:ext cx="1709928" cy="457200"/>
          </a:xfrm>
          <a:prstGeom prst="rect">
            <a:avLst/>
          </a:prstGeom>
          <a:noFill/>
          <a:ln/>
        </p:spPr>
        <p:txBody>
          <a:bodyPr wrap="square" lIns="0" tIns="0" rIns="0" bIns="0" rtlCol="0" anchor="ctr"/>
          <a:lstStyle/>
          <a:p>
            <a:pPr indent="0" marL="0">
              <a:buNone/>
            </a:pPr>
            <a:r>
              <a:rPr lang="en-US" sz="1500" b="1" dirty="0">
                <a:solidFill>
                  <a:srgbClr val="0F2233"/>
                </a:solidFill>
                <a:latin typeface="Cambria" pitchFamily="34" charset="0"/>
                <a:ea typeface="Cambria" pitchFamily="34" charset="-122"/>
                <a:cs typeface="Cambria" pitchFamily="34" charset="-120"/>
              </a:rPr>
              <a:t>Architect agents</a:t>
            </a:r>
            <a:endParaRPr lang="en-US" sz="1500" dirty="0"/>
          </a:p>
        </p:txBody>
      </p:sp>
      <p:sp>
        <p:nvSpPr>
          <p:cNvPr id="31" name="Text 23"/>
          <p:cNvSpPr/>
          <p:nvPr/>
        </p:nvSpPr>
        <p:spPr>
          <a:xfrm>
            <a:off x="3493008" y="3895344"/>
            <a:ext cx="2267712" cy="54864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Compose researcher, qualifier, summariser &amp; notifier agents safely.</a:t>
            </a:r>
            <a:endParaRPr lang="en-US" sz="1100" dirty="0"/>
          </a:p>
        </p:txBody>
      </p:sp>
      <p:sp>
        <p:nvSpPr>
          <p:cNvPr id="32" name="Shape 24"/>
          <p:cNvSpPr/>
          <p:nvPr/>
        </p:nvSpPr>
        <p:spPr>
          <a:xfrm>
            <a:off x="6126480" y="3054096"/>
            <a:ext cx="2670048" cy="1481328"/>
          </a:xfrm>
          <a:prstGeom prst="roundRect">
            <a:avLst>
              <a:gd name="adj" fmla="val 4938"/>
            </a:avLst>
          </a:prstGeom>
          <a:solidFill>
            <a:srgbClr val="FFFFFF"/>
          </a:solidFill>
          <a:ln/>
          <a:effectLst>
            <a:outerShdw sx="100000" sy="100000" kx="0" ky="0" algn="bl" rotWithShape="0" blurRad="63500" dist="25400" dir="5400000">
              <a:srgbClr val="0F2233">
                <a:alpha val="10000"/>
              </a:srgbClr>
            </a:outerShdw>
          </a:effectLst>
        </p:spPr>
      </p:sp>
      <p:sp>
        <p:nvSpPr>
          <p:cNvPr id="33" name="Shape 25"/>
          <p:cNvSpPr/>
          <p:nvPr/>
        </p:nvSpPr>
        <p:spPr>
          <a:xfrm>
            <a:off x="6327648" y="3255264"/>
            <a:ext cx="548640" cy="548640"/>
          </a:xfrm>
          <a:prstGeom prst="ellipse">
            <a:avLst/>
          </a:prstGeom>
          <a:solidFill>
            <a:srgbClr val="F59E0B"/>
          </a:solidFill>
          <a:ln/>
        </p:spPr>
      </p:sp>
      <p:pic>
        <p:nvPicPr>
          <p:cNvPr id="34" name="Image 6" descr="preencoded.png">    </p:cNvPr>
          <p:cNvPicPr>
            <a:picLocks noChangeAspect="1"/>
          </p:cNvPicPr>
          <p:nvPr/>
        </p:nvPicPr>
        <p:blipFill>
          <a:blip r:embed="rId7"/>
          <a:stretch>
            <a:fillRect/>
          </a:stretch>
        </p:blipFill>
        <p:spPr>
          <a:xfrm>
            <a:off x="6475781" y="3403397"/>
            <a:ext cx="252374" cy="252374"/>
          </a:xfrm>
          <a:prstGeom prst="rect">
            <a:avLst/>
          </a:prstGeom>
        </p:spPr>
      </p:pic>
      <p:sp>
        <p:nvSpPr>
          <p:cNvPr id="35" name="Text 26"/>
          <p:cNvSpPr/>
          <p:nvPr/>
        </p:nvSpPr>
        <p:spPr>
          <a:xfrm>
            <a:off x="6995160" y="3291840"/>
            <a:ext cx="1709928" cy="457200"/>
          </a:xfrm>
          <a:prstGeom prst="rect">
            <a:avLst/>
          </a:prstGeom>
          <a:noFill/>
          <a:ln/>
        </p:spPr>
        <p:txBody>
          <a:bodyPr wrap="square" lIns="0" tIns="0" rIns="0" bIns="0" rtlCol="0" anchor="ctr"/>
          <a:lstStyle/>
          <a:p>
            <a:pPr indent="0" marL="0">
              <a:buNone/>
            </a:pPr>
            <a:r>
              <a:rPr lang="en-US" sz="1500" b="1" dirty="0">
                <a:solidFill>
                  <a:srgbClr val="0F2233"/>
                </a:solidFill>
                <a:latin typeface="Cambria" pitchFamily="34" charset="0"/>
                <a:ea typeface="Cambria" pitchFamily="34" charset="-122"/>
                <a:cs typeface="Cambria" pitchFamily="34" charset="-120"/>
              </a:rPr>
              <a:t>Document &amp; govern</a:t>
            </a:r>
            <a:endParaRPr lang="en-US" sz="1500" dirty="0"/>
          </a:p>
        </p:txBody>
      </p:sp>
      <p:sp>
        <p:nvSpPr>
          <p:cNvPr id="36" name="Text 27"/>
          <p:cNvSpPr/>
          <p:nvPr/>
        </p:nvSpPr>
        <p:spPr>
          <a:xfrm>
            <a:off x="6327648" y="3895344"/>
            <a:ext cx="2267712" cy="54864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Write architecture, workflow &amp; governance docs for go-live.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4</a:t>
            </a:r>
            <a:endParaRPr lang="en-US" sz="850" dirty="0"/>
          </a:p>
        </p:txBody>
      </p:sp>
      <p:sp>
        <p:nvSpPr>
          <p:cNvPr id="4" name="Shape 2"/>
          <p:cNvSpPr/>
          <p:nvPr/>
        </p:nvSpPr>
        <p:spPr>
          <a:xfrm>
            <a:off x="457200" y="384048"/>
            <a:ext cx="566928" cy="566928"/>
          </a:xfrm>
          <a:prstGeom prst="ellipse">
            <a:avLst/>
          </a:prstGeom>
          <a:solidFill>
            <a:srgbClr val="F59E0B"/>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The Production Gap</a:t>
            </a:r>
            <a:endParaRPr lang="en-US" sz="2600" dirty="0"/>
          </a:p>
        </p:txBody>
      </p:sp>
      <p:sp>
        <p:nvSpPr>
          <p:cNvPr id="7" name="Text 4"/>
          <p:cNvSpPr/>
          <p:nvPr/>
        </p:nvSpPr>
        <p:spPr>
          <a:xfrm>
            <a:off x="1170432" y="960120"/>
            <a:ext cx="749808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A demo that works once is not a system you can operate.</a:t>
            </a:r>
            <a:endParaRPr lang="en-US" sz="1300" dirty="0"/>
          </a:p>
        </p:txBody>
      </p:sp>
      <p:sp>
        <p:nvSpPr>
          <p:cNvPr id="8" name="Shape 5"/>
          <p:cNvSpPr/>
          <p:nvPr/>
        </p:nvSpPr>
        <p:spPr>
          <a:xfrm>
            <a:off x="457200" y="1508760"/>
            <a:ext cx="4069080" cy="3154680"/>
          </a:xfrm>
          <a:prstGeom prst="roundRect">
            <a:avLst>
              <a:gd name="adj" fmla="val 2319"/>
            </a:avLst>
          </a:prstGeom>
          <a:solidFill>
            <a:srgbClr val="F1F5F9"/>
          </a:solidFill>
          <a:ln/>
          <a:effectLst>
            <a:outerShdw sx="100000" sy="100000" kx="0" ky="0" algn="bl" rotWithShape="0" blurRad="63500" dist="25400" dir="5400000">
              <a:srgbClr val="0F2233">
                <a:alpha val="10000"/>
              </a:srgbClr>
            </a:outerShdw>
          </a:effectLst>
        </p:spPr>
      </p:sp>
      <p:sp>
        <p:nvSpPr>
          <p:cNvPr id="9" name="Text 6"/>
          <p:cNvSpPr/>
          <p:nvPr/>
        </p:nvSpPr>
        <p:spPr>
          <a:xfrm>
            <a:off x="685800" y="1691640"/>
            <a:ext cx="3657600" cy="365760"/>
          </a:xfrm>
          <a:prstGeom prst="rect">
            <a:avLst/>
          </a:prstGeom>
          <a:noFill/>
          <a:ln/>
        </p:spPr>
        <p:txBody>
          <a:bodyPr wrap="square" lIns="0" tIns="0" rIns="0" bIns="0" rtlCol="0" anchor="ctr"/>
          <a:lstStyle/>
          <a:p>
            <a:pPr indent="0" marL="0">
              <a:buNone/>
            </a:pPr>
            <a:r>
              <a:rPr lang="en-US" sz="1400" b="1" spc="200" kern="0" dirty="0">
                <a:solidFill>
                  <a:srgbClr val="64748B"/>
                </a:solidFill>
                <a:latin typeface="Calibri" pitchFamily="34" charset="0"/>
                <a:ea typeface="Calibri" pitchFamily="34" charset="-122"/>
                <a:cs typeface="Calibri" pitchFamily="34" charset="-120"/>
              </a:rPr>
              <a:t>PROTOTYPE</a:t>
            </a:r>
            <a:endParaRPr lang="en-US" sz="1400" dirty="0"/>
          </a:p>
        </p:txBody>
      </p:sp>
      <p:sp>
        <p:nvSpPr>
          <p:cNvPr id="10" name="Text 7"/>
          <p:cNvSpPr/>
          <p:nvPr/>
        </p:nvSpPr>
        <p:spPr>
          <a:xfrm>
            <a:off x="685800" y="2148840"/>
            <a:ext cx="3657600" cy="2377440"/>
          </a:xfrm>
          <a:prstGeom prst="rect">
            <a:avLst/>
          </a:prstGeom>
          <a:noFill/>
          <a:ln/>
        </p:spPr>
        <p:txBody>
          <a:bodyPr wrap="square" lIns="0" tIns="0" rIns="0" bIns="0" rtlCol="0" anchor="t"/>
          <a:lstStyle/>
          <a:p>
            <a:pPr marL="177800" indent="-177800">
              <a:spcAft>
                <a:spcPts val="900"/>
              </a:spcAft>
              <a:buSzPct val="100000"/>
              <a:buChar char="•"/>
            </a:pPr>
            <a:r>
              <a:rPr lang="en-US" sz="1250" dirty="0">
                <a:solidFill>
                  <a:srgbClr val="334155"/>
                </a:solidFill>
                <a:latin typeface="Calibri" pitchFamily="34" charset="0"/>
                <a:ea typeface="Calibri" pitchFamily="34" charset="-122"/>
                <a:cs typeface="Calibri" pitchFamily="34" charset="-120"/>
              </a:rPr>
              <a:t>Runs on the happy path in a notebook</a:t>
            </a:r>
            <a:endParaRPr lang="en-US" sz="1250" dirty="0"/>
          </a:p>
          <a:p>
            <a:pPr marL="177800" indent="-177800">
              <a:spcAft>
                <a:spcPts val="900"/>
              </a:spcAft>
              <a:buSzPct val="100000"/>
              <a:buChar char="•"/>
            </a:pPr>
            <a:r>
              <a:rPr lang="en-US" sz="1250" dirty="0">
                <a:solidFill>
                  <a:srgbClr val="334155"/>
                </a:solidFill>
                <a:latin typeface="Calibri" pitchFamily="34" charset="0"/>
                <a:ea typeface="Calibri" pitchFamily="34" charset="-122"/>
                <a:cs typeface="Calibri" pitchFamily="34" charset="-120"/>
              </a:rPr>
              <a:t>Print statements as 'logging'</a:t>
            </a:r>
            <a:endParaRPr lang="en-US" sz="1250" dirty="0"/>
          </a:p>
          <a:p>
            <a:pPr marL="177800" indent="-177800">
              <a:spcAft>
                <a:spcPts val="900"/>
              </a:spcAft>
              <a:buSzPct val="100000"/>
              <a:buChar char="•"/>
            </a:pPr>
            <a:r>
              <a:rPr lang="en-US" sz="1250" dirty="0">
                <a:solidFill>
                  <a:srgbClr val="334155"/>
                </a:solidFill>
                <a:latin typeface="Calibri" pitchFamily="34" charset="0"/>
                <a:ea typeface="Calibri" pitchFamily="34" charset="-122"/>
                <a:cs typeface="Calibri" pitchFamily="34" charset="-120"/>
              </a:rPr>
              <a:t>No idea why an answer was produced</a:t>
            </a:r>
            <a:endParaRPr lang="en-US" sz="1250" dirty="0"/>
          </a:p>
          <a:p>
            <a:pPr marL="177800" indent="-177800">
              <a:spcAft>
                <a:spcPts val="900"/>
              </a:spcAft>
              <a:buSzPct val="100000"/>
              <a:buChar char="•"/>
            </a:pPr>
            <a:r>
              <a:rPr lang="en-US" sz="1250" dirty="0">
                <a:solidFill>
                  <a:srgbClr val="334155"/>
                </a:solidFill>
                <a:latin typeface="Calibri" pitchFamily="34" charset="0"/>
                <a:ea typeface="Calibri" pitchFamily="34" charset="-122"/>
                <a:cs typeface="Calibri" pitchFamily="34" charset="-120"/>
              </a:rPr>
              <a:t>One model, one prompt, no fallbacks</a:t>
            </a:r>
            <a:endParaRPr lang="en-US" sz="1250" dirty="0"/>
          </a:p>
          <a:p>
            <a:pPr marL="177800" indent="-177800">
              <a:spcAft>
                <a:spcPts val="900"/>
              </a:spcAft>
              <a:buSzPct val="100000"/>
              <a:buChar char="•"/>
            </a:pPr>
            <a:r>
              <a:rPr lang="en-US" sz="1250" dirty="0">
                <a:solidFill>
                  <a:srgbClr val="334155"/>
                </a:solidFill>
                <a:latin typeface="Calibri" pitchFamily="34" charset="0"/>
                <a:ea typeface="Calibri" pitchFamily="34" charset="-122"/>
                <a:cs typeface="Calibri" pitchFamily="34" charset="-120"/>
              </a:rPr>
              <a:t>Quality judged by eyeballing output</a:t>
            </a:r>
            <a:endParaRPr lang="en-US" sz="1250" dirty="0"/>
          </a:p>
          <a:p>
            <a:pPr marL="177800" indent="-177800">
              <a:spcAft>
                <a:spcPts val="900"/>
              </a:spcAft>
              <a:buSzPct val="100000"/>
              <a:buChar char="•"/>
            </a:pPr>
            <a:r>
              <a:rPr lang="en-US" sz="1250" dirty="0">
                <a:solidFill>
                  <a:srgbClr val="334155"/>
                </a:solidFill>
                <a:latin typeface="Calibri" pitchFamily="34" charset="0"/>
                <a:ea typeface="Calibri" pitchFamily="34" charset="-122"/>
                <a:cs typeface="Calibri" pitchFamily="34" charset="-120"/>
              </a:rPr>
              <a:t>No record of what was sent or returned</a:t>
            </a:r>
            <a:endParaRPr lang="en-US" sz="1250" dirty="0"/>
          </a:p>
        </p:txBody>
      </p:sp>
      <p:sp>
        <p:nvSpPr>
          <p:cNvPr id="11" name="Shape 8"/>
          <p:cNvSpPr/>
          <p:nvPr/>
        </p:nvSpPr>
        <p:spPr>
          <a:xfrm>
            <a:off x="4617720" y="1508760"/>
            <a:ext cx="4069080" cy="3154680"/>
          </a:xfrm>
          <a:prstGeom prst="roundRect">
            <a:avLst>
              <a:gd name="adj" fmla="val 2319"/>
            </a:avLst>
          </a:prstGeom>
          <a:solidFill>
            <a:srgbClr val="0E2A3B"/>
          </a:solidFill>
          <a:ln/>
          <a:effectLst>
            <a:outerShdw sx="100000" sy="100000" kx="0" ky="0" algn="bl" rotWithShape="0" blurRad="63500" dist="25400" dir="5400000">
              <a:srgbClr val="0F2233">
                <a:alpha val="10000"/>
              </a:srgbClr>
            </a:outerShdw>
          </a:effectLst>
        </p:spPr>
      </p:sp>
      <p:sp>
        <p:nvSpPr>
          <p:cNvPr id="12" name="Text 9"/>
          <p:cNvSpPr/>
          <p:nvPr/>
        </p:nvSpPr>
        <p:spPr>
          <a:xfrm>
            <a:off x="4846320" y="1691640"/>
            <a:ext cx="3657600" cy="365760"/>
          </a:xfrm>
          <a:prstGeom prst="rect">
            <a:avLst/>
          </a:prstGeom>
          <a:noFill/>
          <a:ln/>
        </p:spPr>
        <p:txBody>
          <a:bodyPr wrap="square" lIns="0" tIns="0" rIns="0" bIns="0" rtlCol="0" anchor="ctr"/>
          <a:lstStyle/>
          <a:p>
            <a:pPr indent="0" marL="0">
              <a:buNone/>
            </a:pPr>
            <a:r>
              <a:rPr lang="en-US" sz="1400" b="1" spc="200" kern="0" dirty="0">
                <a:solidFill>
                  <a:srgbClr val="5EEAD4"/>
                </a:solidFill>
                <a:latin typeface="Calibri" pitchFamily="34" charset="0"/>
                <a:ea typeface="Calibri" pitchFamily="34" charset="-122"/>
                <a:cs typeface="Calibri" pitchFamily="34" charset="-120"/>
              </a:rPr>
              <a:t>PRODUCTION</a:t>
            </a:r>
            <a:endParaRPr lang="en-US" sz="1400" dirty="0"/>
          </a:p>
        </p:txBody>
      </p:sp>
      <p:sp>
        <p:nvSpPr>
          <p:cNvPr id="13" name="Text 10"/>
          <p:cNvSpPr/>
          <p:nvPr/>
        </p:nvSpPr>
        <p:spPr>
          <a:xfrm>
            <a:off x="4846320" y="2148840"/>
            <a:ext cx="3657600" cy="2377440"/>
          </a:xfrm>
          <a:prstGeom prst="rect">
            <a:avLst/>
          </a:prstGeom>
          <a:noFill/>
          <a:ln/>
        </p:spPr>
        <p:txBody>
          <a:bodyPr wrap="square" lIns="0" tIns="0" rIns="0" bIns="0" rtlCol="0" anchor="t"/>
          <a:lstStyle/>
          <a:p>
            <a:pPr marL="177800" indent="-177800">
              <a:spcAft>
                <a:spcPts val="900"/>
              </a:spcAft>
              <a:buSzPct val="100000"/>
              <a:buChar char="•"/>
            </a:pPr>
            <a:r>
              <a:rPr lang="en-US" sz="1250" dirty="0">
                <a:solidFill>
                  <a:srgbClr val="DCEAE6"/>
                </a:solidFill>
                <a:latin typeface="Calibri" pitchFamily="34" charset="0"/>
                <a:ea typeface="Calibri" pitchFamily="34" charset="-122"/>
                <a:cs typeface="Calibri" pitchFamily="34" charset="-120"/>
              </a:rPr>
              <a:t>Traced end-to-end; every step is queryable</a:t>
            </a:r>
            <a:endParaRPr lang="en-US" sz="1250" dirty="0"/>
          </a:p>
          <a:p>
            <a:pPr marL="177800" indent="-177800">
              <a:spcAft>
                <a:spcPts val="900"/>
              </a:spcAft>
              <a:buSzPct val="100000"/>
              <a:buChar char="•"/>
            </a:pPr>
            <a:r>
              <a:rPr lang="en-US" sz="1250" dirty="0">
                <a:solidFill>
                  <a:srgbClr val="DCEAE6"/>
                </a:solidFill>
                <a:latin typeface="Calibri" pitchFamily="34" charset="0"/>
                <a:ea typeface="Calibri" pitchFamily="34" charset="-122"/>
                <a:cs typeface="Calibri" pitchFamily="34" charset="-120"/>
              </a:rPr>
              <a:t>Structured logs, metrics &amp; alerts</a:t>
            </a:r>
            <a:endParaRPr lang="en-US" sz="1250" dirty="0"/>
          </a:p>
          <a:p>
            <a:pPr marL="177800" indent="-177800">
              <a:spcAft>
                <a:spcPts val="900"/>
              </a:spcAft>
              <a:buSzPct val="100000"/>
              <a:buChar char="•"/>
            </a:pPr>
            <a:r>
              <a:rPr lang="en-US" sz="1250" dirty="0">
                <a:solidFill>
                  <a:srgbClr val="DCEAE6"/>
                </a:solidFill>
                <a:latin typeface="Calibri" pitchFamily="34" charset="0"/>
                <a:ea typeface="Calibri" pitchFamily="34" charset="-122"/>
                <a:cs typeface="Calibri" pitchFamily="34" charset="-120"/>
              </a:rPr>
              <a:t>Guardrails on inputs and outputs</a:t>
            </a:r>
            <a:endParaRPr lang="en-US" sz="1250" dirty="0"/>
          </a:p>
          <a:p>
            <a:pPr marL="177800" indent="-177800">
              <a:spcAft>
                <a:spcPts val="900"/>
              </a:spcAft>
              <a:buSzPct val="100000"/>
              <a:buChar char="•"/>
            </a:pPr>
            <a:r>
              <a:rPr lang="en-US" sz="1250" dirty="0">
                <a:solidFill>
                  <a:srgbClr val="DCEAE6"/>
                </a:solidFill>
                <a:latin typeface="Calibri" pitchFamily="34" charset="0"/>
                <a:ea typeface="Calibri" pitchFamily="34" charset="-122"/>
                <a:cs typeface="Calibri" pitchFamily="34" charset="-120"/>
              </a:rPr>
              <a:t>Model tiering, retries, circuit breakers</a:t>
            </a:r>
            <a:endParaRPr lang="en-US" sz="1250" dirty="0"/>
          </a:p>
          <a:p>
            <a:pPr marL="177800" indent="-177800">
              <a:spcAft>
                <a:spcPts val="900"/>
              </a:spcAft>
              <a:buSzPct val="100000"/>
              <a:buChar char="•"/>
            </a:pPr>
            <a:r>
              <a:rPr lang="en-US" sz="1250" dirty="0">
                <a:solidFill>
                  <a:srgbClr val="DCEAE6"/>
                </a:solidFill>
                <a:latin typeface="Calibri" pitchFamily="34" charset="0"/>
                <a:ea typeface="Calibri" pitchFamily="34" charset="-122"/>
                <a:cs typeface="Calibri" pitchFamily="34" charset="-120"/>
              </a:rPr>
              <a:t>Automated eval + human feedback loop</a:t>
            </a:r>
            <a:endParaRPr lang="en-US" sz="1250" dirty="0"/>
          </a:p>
          <a:p>
            <a:pPr marL="177800" indent="-177800">
              <a:spcAft>
                <a:spcPts val="900"/>
              </a:spcAft>
              <a:buSzPct val="100000"/>
              <a:buChar char="•"/>
            </a:pPr>
            <a:r>
              <a:rPr lang="en-US" sz="1250" dirty="0">
                <a:solidFill>
                  <a:srgbClr val="DCEAE6"/>
                </a:solidFill>
                <a:latin typeface="Calibri" pitchFamily="34" charset="0"/>
                <a:ea typeface="Calibri" pitchFamily="34" charset="-122"/>
                <a:cs typeface="Calibri" pitchFamily="34" charset="-120"/>
              </a:rPr>
              <a:t>Immutable prompt-response audit trail</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2A3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309360" y="-365760"/>
            <a:ext cx="3840480" cy="3840480"/>
          </a:xfrm>
          <a:prstGeom prst="rect">
            <a:avLst/>
          </a:prstGeom>
        </p:spPr>
      </p:pic>
      <p:sp>
        <p:nvSpPr>
          <p:cNvPr id="3" name="Shape 0"/>
          <p:cNvSpPr/>
          <p:nvPr/>
        </p:nvSpPr>
        <p:spPr>
          <a:xfrm>
            <a:off x="6309360" y="-365760"/>
            <a:ext cx="3840480" cy="3840480"/>
          </a:xfrm>
          <a:prstGeom prst="rect">
            <a:avLst/>
          </a:prstGeom>
          <a:solidFill>
            <a:srgbClr val="0E2A3B">
              <a:alpha val="78000"/>
            </a:srgbClr>
          </a:solidFill>
          <a:ln/>
        </p:spPr>
      </p:sp>
      <p:sp>
        <p:nvSpPr>
          <p:cNvPr id="4" name="Shape 1"/>
          <p:cNvSpPr/>
          <p:nvPr/>
        </p:nvSpPr>
        <p:spPr>
          <a:xfrm>
            <a:off x="640080" y="1371600"/>
            <a:ext cx="914400" cy="914400"/>
          </a:xfrm>
          <a:prstGeom prst="ellipse">
            <a:avLst/>
          </a:prstGeom>
          <a:solidFill>
            <a:srgbClr val="0D9488"/>
          </a:solidFill>
          <a:ln/>
        </p:spPr>
      </p:sp>
      <p:pic>
        <p:nvPicPr>
          <p:cNvPr id="5" name="Image 1" descr="preencoded.png">    </p:cNvPr>
          <p:cNvPicPr>
            <a:picLocks noChangeAspect="1"/>
          </p:cNvPicPr>
          <p:nvPr/>
        </p:nvPicPr>
        <p:blipFill>
          <a:blip r:embed="rId2"/>
          <a:stretch>
            <a:fillRect/>
          </a:stretch>
        </p:blipFill>
        <p:spPr>
          <a:xfrm>
            <a:off x="886968" y="1618488"/>
            <a:ext cx="420624" cy="420624"/>
          </a:xfrm>
          <a:prstGeom prst="rect">
            <a:avLst/>
          </a:prstGeom>
        </p:spPr>
      </p:pic>
      <p:sp>
        <p:nvSpPr>
          <p:cNvPr id="6" name="Text 2"/>
          <p:cNvSpPr/>
          <p:nvPr/>
        </p:nvSpPr>
        <p:spPr>
          <a:xfrm>
            <a:off x="685800" y="2468880"/>
            <a:ext cx="7315200" cy="365760"/>
          </a:xfrm>
          <a:prstGeom prst="rect">
            <a:avLst/>
          </a:prstGeom>
          <a:noFill/>
          <a:ln/>
        </p:spPr>
        <p:txBody>
          <a:bodyPr wrap="square" lIns="0" tIns="0" rIns="0" bIns="0" rtlCol="0" anchor="ctr"/>
          <a:lstStyle/>
          <a:p>
            <a:pPr indent="0" marL="0">
              <a:buNone/>
            </a:pPr>
            <a:r>
              <a:rPr lang="en-US" sz="1400" b="1" spc="300" kern="0" dirty="0">
                <a:solidFill>
                  <a:srgbClr val="5EEAD4"/>
                </a:solidFill>
                <a:latin typeface="Calibri" pitchFamily="34" charset="0"/>
                <a:ea typeface="Calibri" pitchFamily="34" charset="-122"/>
                <a:cs typeface="Calibri" pitchFamily="34" charset="-120"/>
              </a:rPr>
              <a:t>MODULE 1 · HOURS 0:30–2:00</a:t>
            </a:r>
            <a:endParaRPr lang="en-US" sz="1400" dirty="0"/>
          </a:p>
        </p:txBody>
      </p:sp>
      <p:sp>
        <p:nvSpPr>
          <p:cNvPr id="7" name="Text 3"/>
          <p:cNvSpPr/>
          <p:nvPr/>
        </p:nvSpPr>
        <p:spPr>
          <a:xfrm>
            <a:off x="640080" y="2788920"/>
            <a:ext cx="804672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Observability</a:t>
            </a:r>
            <a:endParaRPr lang="en-US" sz="3800" dirty="0"/>
          </a:p>
        </p:txBody>
      </p:sp>
      <p:sp>
        <p:nvSpPr>
          <p:cNvPr id="8" name="Text 4"/>
          <p:cNvSpPr/>
          <p:nvPr/>
        </p:nvSpPr>
        <p:spPr>
          <a:xfrm>
            <a:off x="685800" y="3794760"/>
            <a:ext cx="7863840" cy="640080"/>
          </a:xfrm>
          <a:prstGeom prst="rect">
            <a:avLst/>
          </a:prstGeom>
          <a:noFill/>
          <a:ln/>
        </p:spPr>
        <p:txBody>
          <a:bodyPr wrap="square" lIns="0" tIns="0" rIns="0" bIns="0" rtlCol="0" anchor="ctr"/>
          <a:lstStyle/>
          <a:p>
            <a:pPr indent="0" marL="0">
              <a:buNone/>
            </a:pPr>
            <a:r>
              <a:rPr lang="en-US" sz="1400" dirty="0">
                <a:solidFill>
                  <a:srgbClr val="C9D6DF"/>
                </a:solidFill>
                <a:latin typeface="Calibri" pitchFamily="34" charset="0"/>
                <a:ea typeface="Calibri" pitchFamily="34" charset="-122"/>
                <a:cs typeface="Calibri" pitchFamily="34" charset="-120"/>
              </a:rPr>
              <a:t>If you can't see inside your agents, you can't operate, debug or improve them. Logs, metrics and traces — and the feedback loops they power.</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6</a:t>
            </a:r>
            <a:endParaRPr lang="en-US" sz="850" dirty="0"/>
          </a:p>
        </p:txBody>
      </p:sp>
      <p:sp>
        <p:nvSpPr>
          <p:cNvPr id="4" name="Shape 2"/>
          <p:cNvSpPr/>
          <p:nvPr/>
        </p:nvSpPr>
        <p:spPr>
          <a:xfrm>
            <a:off x="457200" y="384048"/>
            <a:ext cx="566928" cy="566928"/>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The Three Pillars of Observability</a:t>
            </a:r>
            <a:endParaRPr lang="en-US" sz="2600" dirty="0"/>
          </a:p>
        </p:txBody>
      </p:sp>
      <p:sp>
        <p:nvSpPr>
          <p:cNvPr id="7" name="Shape 4"/>
          <p:cNvSpPr/>
          <p:nvPr/>
        </p:nvSpPr>
        <p:spPr>
          <a:xfrm>
            <a:off x="457200" y="1417320"/>
            <a:ext cx="2697480" cy="3200400"/>
          </a:xfrm>
          <a:prstGeom prst="roundRect">
            <a:avLst>
              <a:gd name="adj" fmla="val 2712"/>
            </a:avLst>
          </a:prstGeom>
          <a:solidFill>
            <a:srgbClr val="FFFFFF"/>
          </a:solidFill>
          <a:ln/>
          <a:effectLst>
            <a:outerShdw sx="100000" sy="100000" kx="0" ky="0" algn="bl" rotWithShape="0" blurRad="63500" dist="25400" dir="5400000">
              <a:srgbClr val="0F2233">
                <a:alpha val="10000"/>
              </a:srgbClr>
            </a:outerShdw>
          </a:effectLst>
        </p:spPr>
      </p:sp>
      <p:sp>
        <p:nvSpPr>
          <p:cNvPr id="8" name="Shape 5"/>
          <p:cNvSpPr/>
          <p:nvPr/>
        </p:nvSpPr>
        <p:spPr>
          <a:xfrm>
            <a:off x="685800" y="1645920"/>
            <a:ext cx="658368" cy="658368"/>
          </a:xfrm>
          <a:prstGeom prst="ellipse">
            <a:avLst/>
          </a:prstGeom>
          <a:solidFill>
            <a:srgbClr val="0D9488"/>
          </a:solidFill>
          <a:ln/>
        </p:spPr>
      </p:sp>
      <p:pic>
        <p:nvPicPr>
          <p:cNvPr id="9" name="Image 1" descr="preencoded.png">    </p:cNvPr>
          <p:cNvPicPr>
            <a:picLocks noChangeAspect="1"/>
          </p:cNvPicPr>
          <p:nvPr/>
        </p:nvPicPr>
        <p:blipFill>
          <a:blip r:embed="rId2"/>
          <a:stretch>
            <a:fillRect/>
          </a:stretch>
        </p:blipFill>
        <p:spPr>
          <a:xfrm>
            <a:off x="863559" y="1823679"/>
            <a:ext cx="302849" cy="302849"/>
          </a:xfrm>
          <a:prstGeom prst="rect">
            <a:avLst/>
          </a:prstGeom>
        </p:spPr>
      </p:pic>
      <p:sp>
        <p:nvSpPr>
          <p:cNvPr id="10" name="Text 6"/>
          <p:cNvSpPr/>
          <p:nvPr/>
        </p:nvSpPr>
        <p:spPr>
          <a:xfrm>
            <a:off x="685800" y="2395728"/>
            <a:ext cx="2240280" cy="411480"/>
          </a:xfrm>
          <a:prstGeom prst="rect">
            <a:avLst/>
          </a:prstGeom>
          <a:noFill/>
          <a:ln/>
        </p:spPr>
        <p:txBody>
          <a:bodyPr wrap="square" lIns="0" tIns="0" rIns="0" bIns="0" rtlCol="0" anchor="ctr"/>
          <a:lstStyle/>
          <a:p>
            <a:pPr indent="0" marL="0">
              <a:buNone/>
            </a:pPr>
            <a:r>
              <a:rPr lang="en-US" sz="1900" b="1" dirty="0">
                <a:solidFill>
                  <a:srgbClr val="0F2233"/>
                </a:solidFill>
                <a:latin typeface="Cambria" pitchFamily="34" charset="0"/>
                <a:ea typeface="Cambria" pitchFamily="34" charset="-122"/>
                <a:cs typeface="Cambria" pitchFamily="34" charset="-120"/>
              </a:rPr>
              <a:t>Logs</a:t>
            </a:r>
            <a:endParaRPr lang="en-US" sz="1900" dirty="0"/>
          </a:p>
        </p:txBody>
      </p:sp>
      <p:sp>
        <p:nvSpPr>
          <p:cNvPr id="11" name="Text 7"/>
          <p:cNvSpPr/>
          <p:nvPr/>
        </p:nvSpPr>
        <p:spPr>
          <a:xfrm>
            <a:off x="685800" y="2834640"/>
            <a:ext cx="2240280" cy="1005840"/>
          </a:xfrm>
          <a:prstGeom prst="rect">
            <a:avLst/>
          </a:prstGeom>
          <a:noFill/>
          <a:ln/>
        </p:spPr>
        <p:txBody>
          <a:bodyPr wrap="square" lIns="0" tIns="0" rIns="0" bIns="0" rtlCol="0" anchor="t"/>
          <a:lstStyle/>
          <a:p>
            <a:pPr indent="0" marL="0">
              <a:buNone/>
            </a:pPr>
            <a:r>
              <a:rPr lang="en-US" sz="1150" dirty="0">
                <a:solidFill>
                  <a:srgbClr val="334155"/>
                </a:solidFill>
                <a:latin typeface="Calibri" pitchFamily="34" charset="0"/>
                <a:ea typeface="Calibri" pitchFamily="34" charset="-122"/>
                <a:cs typeface="Calibri" pitchFamily="34" charset="-120"/>
              </a:rPr>
              <a:t>Discrete, timestamped events. The 'what happened' — structured, queryable records of each step.</a:t>
            </a:r>
            <a:endParaRPr lang="en-US" sz="1150" dirty="0"/>
          </a:p>
        </p:txBody>
      </p:sp>
      <p:sp>
        <p:nvSpPr>
          <p:cNvPr id="12" name="Shape 8"/>
          <p:cNvSpPr/>
          <p:nvPr/>
        </p:nvSpPr>
        <p:spPr>
          <a:xfrm>
            <a:off x="685800" y="4069080"/>
            <a:ext cx="2240280" cy="411480"/>
          </a:xfrm>
          <a:prstGeom prst="roundRect">
            <a:avLst>
              <a:gd name="adj" fmla="val 17778"/>
            </a:avLst>
          </a:prstGeom>
          <a:solidFill>
            <a:srgbClr val="F1F5F9"/>
          </a:solidFill>
          <a:ln/>
        </p:spPr>
      </p:sp>
      <p:sp>
        <p:nvSpPr>
          <p:cNvPr id="13" name="Text 9"/>
          <p:cNvSpPr/>
          <p:nvPr/>
        </p:nvSpPr>
        <p:spPr>
          <a:xfrm>
            <a:off x="795528" y="4069080"/>
            <a:ext cx="2020824" cy="411480"/>
          </a:xfrm>
          <a:prstGeom prst="rect">
            <a:avLst/>
          </a:prstGeom>
          <a:noFill/>
          <a:ln/>
        </p:spPr>
        <p:txBody>
          <a:bodyPr wrap="square" lIns="0" tIns="0" rIns="0" bIns="0" rtlCol="0" anchor="ctr"/>
          <a:lstStyle/>
          <a:p>
            <a:pPr indent="0" marL="0">
              <a:buNone/>
            </a:pPr>
            <a:r>
              <a:rPr lang="en-US" sz="880" dirty="0">
                <a:solidFill>
                  <a:srgbClr val="0E2A3B"/>
                </a:solidFill>
                <a:latin typeface="Courier New" pitchFamily="34" charset="0"/>
                <a:ea typeface="Courier New" pitchFamily="34" charset="-122"/>
                <a:cs typeface="Courier New" pitchFamily="34" charset="-120"/>
              </a:rPr>
              <a:t>agent.step.start · tool.call · guardrail.block</a:t>
            </a:r>
            <a:endParaRPr lang="en-US" sz="880" dirty="0"/>
          </a:p>
        </p:txBody>
      </p:sp>
      <p:sp>
        <p:nvSpPr>
          <p:cNvPr id="14" name="Shape 10"/>
          <p:cNvSpPr/>
          <p:nvPr/>
        </p:nvSpPr>
        <p:spPr>
          <a:xfrm>
            <a:off x="3337560" y="1417320"/>
            <a:ext cx="2697480" cy="3200400"/>
          </a:xfrm>
          <a:prstGeom prst="roundRect">
            <a:avLst>
              <a:gd name="adj" fmla="val 2712"/>
            </a:avLst>
          </a:prstGeom>
          <a:solidFill>
            <a:srgbClr val="FFFFFF"/>
          </a:solidFill>
          <a:ln/>
          <a:effectLst>
            <a:outerShdw sx="100000" sy="100000" kx="0" ky="0" algn="bl" rotWithShape="0" blurRad="63500" dist="25400" dir="5400000">
              <a:srgbClr val="0F2233">
                <a:alpha val="10000"/>
              </a:srgbClr>
            </a:outerShdw>
          </a:effectLst>
        </p:spPr>
      </p:sp>
      <p:sp>
        <p:nvSpPr>
          <p:cNvPr id="15" name="Shape 11"/>
          <p:cNvSpPr/>
          <p:nvPr/>
        </p:nvSpPr>
        <p:spPr>
          <a:xfrm>
            <a:off x="3566160" y="1645920"/>
            <a:ext cx="658368" cy="658368"/>
          </a:xfrm>
          <a:prstGeom prst="ellipse">
            <a:avLst/>
          </a:prstGeom>
          <a:solidFill>
            <a:srgbClr val="F59E0B"/>
          </a:solidFill>
          <a:ln/>
        </p:spPr>
      </p:sp>
      <p:pic>
        <p:nvPicPr>
          <p:cNvPr id="16" name="Image 2" descr="preencoded.png">    </p:cNvPr>
          <p:cNvPicPr>
            <a:picLocks noChangeAspect="1"/>
          </p:cNvPicPr>
          <p:nvPr/>
        </p:nvPicPr>
        <p:blipFill>
          <a:blip r:embed="rId3"/>
          <a:stretch>
            <a:fillRect/>
          </a:stretch>
        </p:blipFill>
        <p:spPr>
          <a:xfrm>
            <a:off x="3743919" y="1823679"/>
            <a:ext cx="302849" cy="302849"/>
          </a:xfrm>
          <a:prstGeom prst="rect">
            <a:avLst/>
          </a:prstGeom>
        </p:spPr>
      </p:pic>
      <p:sp>
        <p:nvSpPr>
          <p:cNvPr id="17" name="Text 12"/>
          <p:cNvSpPr/>
          <p:nvPr/>
        </p:nvSpPr>
        <p:spPr>
          <a:xfrm>
            <a:off x="3566160" y="2395728"/>
            <a:ext cx="2240280" cy="411480"/>
          </a:xfrm>
          <a:prstGeom prst="rect">
            <a:avLst/>
          </a:prstGeom>
          <a:noFill/>
          <a:ln/>
        </p:spPr>
        <p:txBody>
          <a:bodyPr wrap="square" lIns="0" tIns="0" rIns="0" bIns="0" rtlCol="0" anchor="ctr"/>
          <a:lstStyle/>
          <a:p>
            <a:pPr indent="0" marL="0">
              <a:buNone/>
            </a:pPr>
            <a:r>
              <a:rPr lang="en-US" sz="1900" b="1" dirty="0">
                <a:solidFill>
                  <a:srgbClr val="0F2233"/>
                </a:solidFill>
                <a:latin typeface="Cambria" pitchFamily="34" charset="0"/>
                <a:ea typeface="Cambria" pitchFamily="34" charset="-122"/>
                <a:cs typeface="Cambria" pitchFamily="34" charset="-120"/>
              </a:rPr>
              <a:t>Metrics</a:t>
            </a:r>
            <a:endParaRPr lang="en-US" sz="1900" dirty="0"/>
          </a:p>
        </p:txBody>
      </p:sp>
      <p:sp>
        <p:nvSpPr>
          <p:cNvPr id="18" name="Text 13"/>
          <p:cNvSpPr/>
          <p:nvPr/>
        </p:nvSpPr>
        <p:spPr>
          <a:xfrm>
            <a:off x="3566160" y="2834640"/>
            <a:ext cx="2240280" cy="1005840"/>
          </a:xfrm>
          <a:prstGeom prst="rect">
            <a:avLst/>
          </a:prstGeom>
          <a:noFill/>
          <a:ln/>
        </p:spPr>
        <p:txBody>
          <a:bodyPr wrap="square" lIns="0" tIns="0" rIns="0" bIns="0" rtlCol="0" anchor="t"/>
          <a:lstStyle/>
          <a:p>
            <a:pPr indent="0" marL="0">
              <a:buNone/>
            </a:pPr>
            <a:r>
              <a:rPr lang="en-US" sz="1150" dirty="0">
                <a:solidFill>
                  <a:srgbClr val="334155"/>
                </a:solidFill>
                <a:latin typeface="Calibri" pitchFamily="34" charset="0"/>
                <a:ea typeface="Calibri" pitchFamily="34" charset="-122"/>
                <a:cs typeface="Calibri" pitchFamily="34" charset="-120"/>
              </a:rPr>
              <a:t>Aggregated numbers over time. The 'how much / how often' — latency, cost, error &amp; quality rates.</a:t>
            </a:r>
            <a:endParaRPr lang="en-US" sz="1150" dirty="0"/>
          </a:p>
        </p:txBody>
      </p:sp>
      <p:sp>
        <p:nvSpPr>
          <p:cNvPr id="19" name="Shape 14"/>
          <p:cNvSpPr/>
          <p:nvPr/>
        </p:nvSpPr>
        <p:spPr>
          <a:xfrm>
            <a:off x="3566160" y="4069080"/>
            <a:ext cx="2240280" cy="411480"/>
          </a:xfrm>
          <a:prstGeom prst="roundRect">
            <a:avLst>
              <a:gd name="adj" fmla="val 17778"/>
            </a:avLst>
          </a:prstGeom>
          <a:solidFill>
            <a:srgbClr val="F1F5F9"/>
          </a:solidFill>
          <a:ln/>
        </p:spPr>
      </p:sp>
      <p:sp>
        <p:nvSpPr>
          <p:cNvPr id="20" name="Text 15"/>
          <p:cNvSpPr/>
          <p:nvPr/>
        </p:nvSpPr>
        <p:spPr>
          <a:xfrm>
            <a:off x="3675888" y="4069080"/>
            <a:ext cx="2020824" cy="411480"/>
          </a:xfrm>
          <a:prstGeom prst="rect">
            <a:avLst/>
          </a:prstGeom>
          <a:noFill/>
          <a:ln/>
        </p:spPr>
        <p:txBody>
          <a:bodyPr wrap="square" lIns="0" tIns="0" rIns="0" bIns="0" rtlCol="0" anchor="ctr"/>
          <a:lstStyle/>
          <a:p>
            <a:pPr indent="0" marL="0">
              <a:buNone/>
            </a:pPr>
            <a:r>
              <a:rPr lang="en-US" sz="880" dirty="0">
                <a:solidFill>
                  <a:srgbClr val="0E2A3B"/>
                </a:solidFill>
                <a:latin typeface="Courier New" pitchFamily="34" charset="0"/>
                <a:ea typeface="Courier New" pitchFamily="34" charset="-122"/>
                <a:cs typeface="Courier New" pitchFamily="34" charset="-120"/>
              </a:rPr>
              <a:t>p95 latency · tokens/run · block rate</a:t>
            </a:r>
            <a:endParaRPr lang="en-US" sz="880" dirty="0"/>
          </a:p>
        </p:txBody>
      </p:sp>
      <p:sp>
        <p:nvSpPr>
          <p:cNvPr id="21" name="Shape 16"/>
          <p:cNvSpPr/>
          <p:nvPr/>
        </p:nvSpPr>
        <p:spPr>
          <a:xfrm>
            <a:off x="6217920" y="1417320"/>
            <a:ext cx="2697480" cy="3200400"/>
          </a:xfrm>
          <a:prstGeom prst="roundRect">
            <a:avLst>
              <a:gd name="adj" fmla="val 2712"/>
            </a:avLst>
          </a:prstGeom>
          <a:solidFill>
            <a:srgbClr val="FFFFFF"/>
          </a:solidFill>
          <a:ln/>
          <a:effectLst>
            <a:outerShdw sx="100000" sy="100000" kx="0" ky="0" algn="bl" rotWithShape="0" blurRad="63500" dist="25400" dir="5400000">
              <a:srgbClr val="0F2233">
                <a:alpha val="10000"/>
              </a:srgbClr>
            </a:outerShdw>
          </a:effectLst>
        </p:spPr>
      </p:sp>
      <p:sp>
        <p:nvSpPr>
          <p:cNvPr id="22" name="Shape 17"/>
          <p:cNvSpPr/>
          <p:nvPr/>
        </p:nvSpPr>
        <p:spPr>
          <a:xfrm>
            <a:off x="6446520" y="1645920"/>
            <a:ext cx="658368" cy="658368"/>
          </a:xfrm>
          <a:prstGeom prst="ellipse">
            <a:avLst/>
          </a:prstGeom>
          <a:solidFill>
            <a:srgbClr val="0D9488"/>
          </a:solidFill>
          <a:ln/>
        </p:spPr>
      </p:sp>
      <p:pic>
        <p:nvPicPr>
          <p:cNvPr id="23" name="Image 3" descr="preencoded.png">    </p:cNvPr>
          <p:cNvPicPr>
            <a:picLocks noChangeAspect="1"/>
          </p:cNvPicPr>
          <p:nvPr/>
        </p:nvPicPr>
        <p:blipFill>
          <a:blip r:embed="rId4"/>
          <a:stretch>
            <a:fillRect/>
          </a:stretch>
        </p:blipFill>
        <p:spPr>
          <a:xfrm>
            <a:off x="6624279" y="1823679"/>
            <a:ext cx="302849" cy="302849"/>
          </a:xfrm>
          <a:prstGeom prst="rect">
            <a:avLst/>
          </a:prstGeom>
        </p:spPr>
      </p:pic>
      <p:sp>
        <p:nvSpPr>
          <p:cNvPr id="24" name="Text 18"/>
          <p:cNvSpPr/>
          <p:nvPr/>
        </p:nvSpPr>
        <p:spPr>
          <a:xfrm>
            <a:off x="6446520" y="2395728"/>
            <a:ext cx="2240280" cy="411480"/>
          </a:xfrm>
          <a:prstGeom prst="rect">
            <a:avLst/>
          </a:prstGeom>
          <a:noFill/>
          <a:ln/>
        </p:spPr>
        <p:txBody>
          <a:bodyPr wrap="square" lIns="0" tIns="0" rIns="0" bIns="0" rtlCol="0" anchor="ctr"/>
          <a:lstStyle/>
          <a:p>
            <a:pPr indent="0" marL="0">
              <a:buNone/>
            </a:pPr>
            <a:r>
              <a:rPr lang="en-US" sz="1900" b="1" dirty="0">
                <a:solidFill>
                  <a:srgbClr val="0F2233"/>
                </a:solidFill>
                <a:latin typeface="Cambria" pitchFamily="34" charset="0"/>
                <a:ea typeface="Cambria" pitchFamily="34" charset="-122"/>
                <a:cs typeface="Cambria" pitchFamily="34" charset="-120"/>
              </a:rPr>
              <a:t>Traces</a:t>
            </a:r>
            <a:endParaRPr lang="en-US" sz="1900" dirty="0"/>
          </a:p>
        </p:txBody>
      </p:sp>
      <p:sp>
        <p:nvSpPr>
          <p:cNvPr id="25" name="Text 19"/>
          <p:cNvSpPr/>
          <p:nvPr/>
        </p:nvSpPr>
        <p:spPr>
          <a:xfrm>
            <a:off x="6446520" y="2834640"/>
            <a:ext cx="2240280" cy="1005840"/>
          </a:xfrm>
          <a:prstGeom prst="rect">
            <a:avLst/>
          </a:prstGeom>
          <a:noFill/>
          <a:ln/>
        </p:spPr>
        <p:txBody>
          <a:bodyPr wrap="square" lIns="0" tIns="0" rIns="0" bIns="0" rtlCol="0" anchor="t"/>
          <a:lstStyle/>
          <a:p>
            <a:pPr indent="0" marL="0">
              <a:buNone/>
            </a:pPr>
            <a:r>
              <a:rPr lang="en-US" sz="1150" dirty="0">
                <a:solidFill>
                  <a:srgbClr val="334155"/>
                </a:solidFill>
                <a:latin typeface="Calibri" pitchFamily="34" charset="0"/>
                <a:ea typeface="Calibri" pitchFamily="34" charset="-122"/>
                <a:cs typeface="Calibri" pitchFamily="34" charset="-120"/>
              </a:rPr>
              <a:t>Causally-linked spans across agents. The 'why &amp; where' — one request's full journey.</a:t>
            </a:r>
            <a:endParaRPr lang="en-US" sz="1150" dirty="0"/>
          </a:p>
        </p:txBody>
      </p:sp>
      <p:sp>
        <p:nvSpPr>
          <p:cNvPr id="26" name="Shape 20"/>
          <p:cNvSpPr/>
          <p:nvPr/>
        </p:nvSpPr>
        <p:spPr>
          <a:xfrm>
            <a:off x="6446520" y="4069080"/>
            <a:ext cx="2240280" cy="411480"/>
          </a:xfrm>
          <a:prstGeom prst="roundRect">
            <a:avLst>
              <a:gd name="adj" fmla="val 17778"/>
            </a:avLst>
          </a:prstGeom>
          <a:solidFill>
            <a:srgbClr val="F1F5F9"/>
          </a:solidFill>
          <a:ln/>
        </p:spPr>
      </p:sp>
      <p:sp>
        <p:nvSpPr>
          <p:cNvPr id="27" name="Text 21"/>
          <p:cNvSpPr/>
          <p:nvPr/>
        </p:nvSpPr>
        <p:spPr>
          <a:xfrm>
            <a:off x="6556248" y="4069080"/>
            <a:ext cx="2020824" cy="411480"/>
          </a:xfrm>
          <a:prstGeom prst="rect">
            <a:avLst/>
          </a:prstGeom>
          <a:noFill/>
          <a:ln/>
        </p:spPr>
        <p:txBody>
          <a:bodyPr wrap="square" lIns="0" tIns="0" rIns="0" bIns="0" rtlCol="0" anchor="ctr"/>
          <a:lstStyle/>
          <a:p>
            <a:pPr indent="0" marL="0">
              <a:buNone/>
            </a:pPr>
            <a:r>
              <a:rPr lang="en-US" sz="880" dirty="0">
                <a:solidFill>
                  <a:srgbClr val="0E2A3B"/>
                </a:solidFill>
                <a:latin typeface="Courier New" pitchFamily="34" charset="0"/>
                <a:ea typeface="Courier New" pitchFamily="34" charset="-122"/>
                <a:cs typeface="Courier New" pitchFamily="34" charset="-120"/>
              </a:rPr>
              <a:t>trace_id → spans → parent/child</a:t>
            </a:r>
            <a:endParaRPr lang="en-US" sz="8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7</a:t>
            </a:r>
            <a:endParaRPr lang="en-US" sz="850" dirty="0"/>
          </a:p>
        </p:txBody>
      </p:sp>
      <p:sp>
        <p:nvSpPr>
          <p:cNvPr id="4" name="Shape 2"/>
          <p:cNvSpPr/>
          <p:nvPr/>
        </p:nvSpPr>
        <p:spPr>
          <a:xfrm>
            <a:off x="457200" y="384048"/>
            <a:ext cx="566928" cy="566928"/>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Tracing Fundamentals</a:t>
            </a:r>
            <a:endParaRPr lang="en-US" sz="2600" dirty="0"/>
          </a:p>
        </p:txBody>
      </p:sp>
      <p:sp>
        <p:nvSpPr>
          <p:cNvPr id="7" name="Shape 4"/>
          <p:cNvSpPr/>
          <p:nvPr/>
        </p:nvSpPr>
        <p:spPr>
          <a:xfrm>
            <a:off x="457200" y="1371600"/>
            <a:ext cx="4114800" cy="3246120"/>
          </a:xfrm>
          <a:prstGeom prst="roundRect">
            <a:avLst>
              <a:gd name="adj" fmla="val 2254"/>
            </a:avLst>
          </a:prstGeom>
          <a:solidFill>
            <a:srgbClr val="F1F5F9"/>
          </a:solidFill>
          <a:ln/>
          <a:effectLst>
            <a:outerShdw sx="100000" sy="100000" kx="0" ky="0" algn="bl" rotWithShape="0" blurRad="63500" dist="25400" dir="5400000">
              <a:srgbClr val="0F2233">
                <a:alpha val="10000"/>
              </a:srgbClr>
            </a:outerShdw>
          </a:effectLst>
        </p:spPr>
      </p:sp>
      <p:sp>
        <p:nvSpPr>
          <p:cNvPr id="8" name="Text 5"/>
          <p:cNvSpPr/>
          <p:nvPr/>
        </p:nvSpPr>
        <p:spPr>
          <a:xfrm>
            <a:off x="658368" y="1508760"/>
            <a:ext cx="3657600" cy="365760"/>
          </a:xfrm>
          <a:prstGeom prst="rect">
            <a:avLst/>
          </a:prstGeom>
          <a:noFill/>
          <a:ln/>
        </p:spPr>
        <p:txBody>
          <a:bodyPr wrap="square" lIns="0" tIns="0" rIns="0" bIns="0" rtlCol="0" anchor="ctr"/>
          <a:lstStyle/>
          <a:p>
            <a:pPr indent="0" marL="0">
              <a:buNone/>
            </a:pPr>
            <a:r>
              <a:rPr lang="en-US" sz="1300" b="1" spc="100" kern="0" dirty="0">
                <a:solidFill>
                  <a:srgbClr val="64748B"/>
                </a:solidFill>
                <a:latin typeface="Calibri" pitchFamily="34" charset="0"/>
                <a:ea typeface="Calibri" pitchFamily="34" charset="-122"/>
                <a:cs typeface="Calibri" pitchFamily="34" charset="-120"/>
              </a:rPr>
              <a:t>Core concepts</a:t>
            </a:r>
            <a:endParaRPr lang="en-US" sz="1300" dirty="0"/>
          </a:p>
        </p:txBody>
      </p:sp>
      <p:sp>
        <p:nvSpPr>
          <p:cNvPr id="9" name="Text 6"/>
          <p:cNvSpPr/>
          <p:nvPr/>
        </p:nvSpPr>
        <p:spPr>
          <a:xfrm>
            <a:off x="658368" y="1920240"/>
            <a:ext cx="3703320" cy="2560320"/>
          </a:xfrm>
          <a:prstGeom prst="rect">
            <a:avLst/>
          </a:prstGeom>
          <a:noFill/>
          <a:ln/>
        </p:spPr>
        <p:txBody>
          <a:bodyPr wrap="square" lIns="0" tIns="0" rIns="0" bIns="0" rtlCol="0" anchor="t"/>
          <a:lstStyle/>
          <a:p>
            <a:pPr marL="177800" indent="-177800">
              <a:spcAft>
                <a:spcPts val="400"/>
              </a:spcAft>
              <a:buSzPct val="100000"/>
              <a:buChar char="•"/>
            </a:pPr>
            <a:r>
              <a:rPr lang="en-US" sz="1250" b="1" dirty="0">
                <a:solidFill>
                  <a:srgbClr val="334155"/>
                </a:solidFill>
                <a:latin typeface="Calibri" pitchFamily="34" charset="0"/>
                <a:ea typeface="Calibri" pitchFamily="34" charset="-122"/>
                <a:cs typeface="Calibri" pitchFamily="34" charset="-120"/>
              </a:rPr>
              <a:t>Trace</a:t>
            </a:r>
            <a:endParaRPr lang="en-US" sz="1250" dirty="0"/>
          </a:p>
          <a:p>
            <a:pPr lvl="1" marL="355600" indent="-1778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the whole request, end-to-end (one trace_id)</a:t>
            </a:r>
            <a:endParaRPr lang="en-US" sz="1250" dirty="0"/>
          </a:p>
          <a:p>
            <a:pPr marL="177800" indent="-177800">
              <a:spcAft>
                <a:spcPts val="400"/>
              </a:spcAft>
              <a:buSzPct val="100000"/>
              <a:buChar char="•"/>
            </a:pPr>
            <a:r>
              <a:rPr lang="en-US" sz="1250" b="1" dirty="0">
                <a:solidFill>
                  <a:srgbClr val="334155"/>
                </a:solidFill>
                <a:latin typeface="Calibri" pitchFamily="34" charset="0"/>
                <a:ea typeface="Calibri" pitchFamily="34" charset="-122"/>
                <a:cs typeface="Calibri" pitchFamily="34" charset="-120"/>
              </a:rPr>
              <a:t>Span</a:t>
            </a:r>
            <a:endParaRPr lang="en-US" sz="1250" dirty="0"/>
          </a:p>
          <a:p>
            <a:pPr lvl="1" marL="355600" indent="-1778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one unit of work with start/end, attributes</a:t>
            </a:r>
            <a:endParaRPr lang="en-US" sz="1250" dirty="0"/>
          </a:p>
          <a:p>
            <a:pPr marL="177800" indent="-177800">
              <a:spcAft>
                <a:spcPts val="400"/>
              </a:spcAft>
              <a:buSzPct val="100000"/>
              <a:buChar char="•"/>
            </a:pPr>
            <a:r>
              <a:rPr lang="en-US" sz="1250" b="1" dirty="0">
                <a:solidFill>
                  <a:srgbClr val="334155"/>
                </a:solidFill>
                <a:latin typeface="Calibri" pitchFamily="34" charset="0"/>
                <a:ea typeface="Calibri" pitchFamily="34" charset="-122"/>
                <a:cs typeface="Calibri" pitchFamily="34" charset="-120"/>
              </a:rPr>
              <a:t>Parent / child</a:t>
            </a:r>
            <a:endParaRPr lang="en-US" sz="1250" dirty="0"/>
          </a:p>
          <a:p>
            <a:pPr lvl="1" marL="355600" indent="-1778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spans nest to form a tree of causality</a:t>
            </a:r>
            <a:endParaRPr lang="en-US" sz="1250" dirty="0"/>
          </a:p>
          <a:p>
            <a:pPr marL="177800" indent="-177800">
              <a:spcAft>
                <a:spcPts val="400"/>
              </a:spcAft>
              <a:buSzPct val="100000"/>
              <a:buChar char="•"/>
            </a:pPr>
            <a:r>
              <a:rPr lang="en-US" sz="1250" b="1" dirty="0">
                <a:solidFill>
                  <a:srgbClr val="334155"/>
                </a:solidFill>
                <a:latin typeface="Calibri" pitchFamily="34" charset="0"/>
                <a:ea typeface="Calibri" pitchFamily="34" charset="-122"/>
                <a:cs typeface="Calibri" pitchFamily="34" charset="-120"/>
              </a:rPr>
              <a:t>Context propagation</a:t>
            </a:r>
            <a:endParaRPr lang="en-US" sz="1250" dirty="0"/>
          </a:p>
          <a:p>
            <a:pPr lvl="1" marL="355600" indent="-1778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trace_id flows through every agent &amp; tool</a:t>
            </a:r>
            <a:endParaRPr lang="en-US" sz="1250" dirty="0"/>
          </a:p>
        </p:txBody>
      </p:sp>
      <p:sp>
        <p:nvSpPr>
          <p:cNvPr id="10" name="Shape 7"/>
          <p:cNvSpPr/>
          <p:nvPr/>
        </p:nvSpPr>
        <p:spPr>
          <a:xfrm>
            <a:off x="4709160" y="1371600"/>
            <a:ext cx="3977640" cy="3246120"/>
          </a:xfrm>
          <a:prstGeom prst="roundRect">
            <a:avLst>
              <a:gd name="adj" fmla="val 2254"/>
            </a:avLst>
          </a:prstGeom>
          <a:solidFill>
            <a:srgbClr val="0E2A3B"/>
          </a:solidFill>
          <a:ln/>
          <a:effectLst>
            <a:outerShdw sx="100000" sy="100000" kx="0" ky="0" algn="bl" rotWithShape="0" blurRad="63500" dist="25400" dir="5400000">
              <a:srgbClr val="0F2233">
                <a:alpha val="10000"/>
              </a:srgbClr>
            </a:outerShdw>
          </a:effectLst>
        </p:spPr>
      </p:sp>
      <p:sp>
        <p:nvSpPr>
          <p:cNvPr id="11" name="Text 8"/>
          <p:cNvSpPr/>
          <p:nvPr/>
        </p:nvSpPr>
        <p:spPr>
          <a:xfrm>
            <a:off x="4910328" y="1508760"/>
            <a:ext cx="3657600" cy="365760"/>
          </a:xfrm>
          <a:prstGeom prst="rect">
            <a:avLst/>
          </a:prstGeom>
          <a:noFill/>
          <a:ln/>
        </p:spPr>
        <p:txBody>
          <a:bodyPr wrap="square" lIns="0" tIns="0" rIns="0" bIns="0" rtlCol="0" anchor="ctr"/>
          <a:lstStyle/>
          <a:p>
            <a:pPr indent="0" marL="0">
              <a:buNone/>
            </a:pPr>
            <a:r>
              <a:rPr lang="en-US" sz="1300" b="1" spc="100" kern="0" dirty="0">
                <a:solidFill>
                  <a:srgbClr val="5EEAD4"/>
                </a:solidFill>
                <a:latin typeface="Calibri" pitchFamily="34" charset="0"/>
                <a:ea typeface="Calibri" pitchFamily="34" charset="-122"/>
                <a:cs typeface="Calibri" pitchFamily="34" charset="-120"/>
              </a:rPr>
              <a:t>A span carries</a:t>
            </a:r>
            <a:endParaRPr lang="en-US" sz="1300" dirty="0"/>
          </a:p>
        </p:txBody>
      </p:sp>
      <p:sp>
        <p:nvSpPr>
          <p:cNvPr id="12" name="Text 9"/>
          <p:cNvSpPr/>
          <p:nvPr/>
        </p:nvSpPr>
        <p:spPr>
          <a:xfrm>
            <a:off x="4910328" y="1920240"/>
            <a:ext cx="3657600" cy="2560320"/>
          </a:xfrm>
          <a:prstGeom prst="rect">
            <a:avLst/>
          </a:prstGeom>
          <a:noFill/>
          <a:ln/>
        </p:spPr>
        <p:txBody>
          <a:bodyPr wrap="square" lIns="0" tIns="0" rIns="0" bIns="0" rtlCol="0" anchor="t"/>
          <a:lstStyle/>
          <a:p>
            <a:pPr marL="165100" indent="-165100">
              <a:spcAft>
                <a:spcPts val="800"/>
              </a:spcAft>
              <a:buSzPct val="100000"/>
              <a:buChar char="•"/>
            </a:pPr>
            <a:r>
              <a:rPr lang="en-US" sz="1200" dirty="0">
                <a:solidFill>
                  <a:srgbClr val="DCEAE6"/>
                </a:solidFill>
                <a:latin typeface="Courier New" pitchFamily="34" charset="0"/>
                <a:ea typeface="Courier New" pitchFamily="34" charset="-122"/>
                <a:cs typeface="Courier New" pitchFamily="34" charset="-120"/>
              </a:rPr>
              <a:t>trace_id, span_id, parent_span_id</a:t>
            </a:r>
            <a:endParaRPr lang="en-US" sz="1200" dirty="0"/>
          </a:p>
          <a:p>
            <a:pPr marL="165100" indent="-165100">
              <a:spcAft>
                <a:spcPts val="800"/>
              </a:spcAft>
              <a:buSzPct val="100000"/>
              <a:buChar char="•"/>
            </a:pPr>
            <a:r>
              <a:rPr lang="en-US" sz="1200" dirty="0">
                <a:solidFill>
                  <a:srgbClr val="DCEAE6"/>
                </a:solidFill>
                <a:latin typeface="Courier New" pitchFamily="34" charset="0"/>
                <a:ea typeface="Courier New" pitchFamily="34" charset="-122"/>
                <a:cs typeface="Courier New" pitchFamily="34" charset="-120"/>
              </a:rPr>
              <a:t>name  (e.g. researcher.enrich)</a:t>
            </a:r>
            <a:endParaRPr lang="en-US" sz="1200" dirty="0"/>
          </a:p>
          <a:p>
            <a:pPr marL="165100" indent="-165100">
              <a:spcAft>
                <a:spcPts val="800"/>
              </a:spcAft>
              <a:buSzPct val="100000"/>
              <a:buChar char="•"/>
            </a:pPr>
            <a:r>
              <a:rPr lang="en-US" sz="1200" dirty="0">
                <a:solidFill>
                  <a:srgbClr val="DCEAE6"/>
                </a:solidFill>
                <a:latin typeface="Courier New" pitchFamily="34" charset="0"/>
                <a:ea typeface="Courier New" pitchFamily="34" charset="-122"/>
                <a:cs typeface="Courier New" pitchFamily="34" charset="-120"/>
              </a:rPr>
              <a:t>start_ts, end_ts, duration_ms</a:t>
            </a:r>
            <a:endParaRPr lang="en-US" sz="1200" dirty="0"/>
          </a:p>
          <a:p>
            <a:pPr marL="165100" indent="-165100">
              <a:spcAft>
                <a:spcPts val="800"/>
              </a:spcAft>
              <a:buSzPct val="100000"/>
              <a:buChar char="•"/>
            </a:pPr>
            <a:r>
              <a:rPr lang="en-US" sz="1200" dirty="0">
                <a:solidFill>
                  <a:srgbClr val="DCEAE6"/>
                </a:solidFill>
                <a:latin typeface="Courier New" pitchFamily="34" charset="0"/>
                <a:ea typeface="Courier New" pitchFamily="34" charset="-122"/>
                <a:cs typeface="Courier New" pitchFamily="34" charset="-120"/>
              </a:rPr>
              <a:t>status  (ok | error)</a:t>
            </a:r>
            <a:endParaRPr lang="en-US" sz="1200" dirty="0"/>
          </a:p>
          <a:p>
            <a:pPr marL="165100" indent="-165100">
              <a:spcAft>
                <a:spcPts val="800"/>
              </a:spcAft>
              <a:buSzPct val="100000"/>
              <a:buChar char="•"/>
            </a:pPr>
            <a:r>
              <a:rPr lang="en-US" sz="1200" dirty="0">
                <a:solidFill>
                  <a:srgbClr val="DCEAE6"/>
                </a:solidFill>
                <a:latin typeface="Courier New" pitchFamily="34" charset="0"/>
                <a:ea typeface="Courier New" pitchFamily="34" charset="-122"/>
                <a:cs typeface="Courier New" pitchFamily="34" charset="-120"/>
              </a:rPr>
              <a:t>attributes  (model, tokens, cost)</a:t>
            </a:r>
            <a:endParaRPr lang="en-US" sz="1200" dirty="0"/>
          </a:p>
          <a:p>
            <a:pPr marL="165100" indent="-165100">
              <a:spcAft>
                <a:spcPts val="800"/>
              </a:spcAft>
              <a:buSzPct val="100000"/>
              <a:buChar char="•"/>
            </a:pPr>
            <a:r>
              <a:rPr lang="en-US" sz="1200" dirty="0">
                <a:solidFill>
                  <a:srgbClr val="DCEAE6"/>
                </a:solidFill>
                <a:latin typeface="Courier New" pitchFamily="34" charset="0"/>
                <a:ea typeface="Courier New" pitchFamily="34" charset="-122"/>
                <a:cs typeface="Courier New" pitchFamily="34" charset="-120"/>
              </a:rPr>
              <a:t>events  (guardrail_block, retry)</a:t>
            </a:r>
            <a:endParaRPr lang="en-US" sz="1200" dirty="0"/>
          </a:p>
        </p:txBody>
      </p:sp>
      <p:sp>
        <p:nvSpPr>
          <p:cNvPr id="13" name="Text 10"/>
          <p:cNvSpPr/>
          <p:nvPr/>
        </p:nvSpPr>
        <p:spPr>
          <a:xfrm>
            <a:off x="457200" y="4681728"/>
            <a:ext cx="8229600" cy="27432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OpenTelemetry gives you this vocabulary for free — and exporters to Jaeger, Honeycomb, Langfuse, Datadog, etc.</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8</a:t>
            </a:r>
            <a:endParaRPr lang="en-US" sz="850" dirty="0"/>
          </a:p>
        </p:txBody>
      </p:sp>
      <p:sp>
        <p:nvSpPr>
          <p:cNvPr id="4" name="Shape 2"/>
          <p:cNvSpPr/>
          <p:nvPr/>
        </p:nvSpPr>
        <p:spPr>
          <a:xfrm>
            <a:off x="457200" y="384048"/>
            <a:ext cx="566928" cy="566928"/>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Anatomy of an Agent Trace</a:t>
            </a:r>
            <a:endParaRPr lang="en-US" sz="2600" dirty="0"/>
          </a:p>
        </p:txBody>
      </p:sp>
      <p:sp>
        <p:nvSpPr>
          <p:cNvPr id="7" name="Text 4"/>
          <p:cNvSpPr/>
          <p:nvPr/>
        </p:nvSpPr>
        <p:spPr>
          <a:xfrm>
            <a:off x="1170432" y="950976"/>
            <a:ext cx="7498080" cy="32004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One user request → a tree of nested spans you can replay and debug.</a:t>
            </a:r>
            <a:endParaRPr lang="en-US" sz="1200" dirty="0"/>
          </a:p>
        </p:txBody>
      </p:sp>
      <p:sp>
        <p:nvSpPr>
          <p:cNvPr id="8" name="Shape 5"/>
          <p:cNvSpPr/>
          <p:nvPr/>
        </p:nvSpPr>
        <p:spPr>
          <a:xfrm>
            <a:off x="548640" y="1417320"/>
            <a:ext cx="8046720" cy="384048"/>
          </a:xfrm>
          <a:prstGeom prst="roundRect">
            <a:avLst>
              <a:gd name="adj" fmla="val 11905"/>
            </a:avLst>
          </a:prstGeom>
          <a:solidFill>
            <a:srgbClr val="0E2A3B"/>
          </a:solidFill>
          <a:ln/>
          <a:effectLst>
            <a:outerShdw sx="100000" sy="100000" kx="0" ky="0" algn="bl" rotWithShape="0" blurRad="63500" dist="25400" dir="5400000">
              <a:srgbClr val="0F2233">
                <a:alpha val="10000"/>
              </a:srgbClr>
            </a:outerShdw>
          </a:effectLst>
        </p:spPr>
      </p:sp>
      <p:sp>
        <p:nvSpPr>
          <p:cNvPr id="9" name="Text 6"/>
          <p:cNvSpPr/>
          <p:nvPr/>
        </p:nvSpPr>
        <p:spPr>
          <a:xfrm>
            <a:off x="658368" y="1417320"/>
            <a:ext cx="7132320" cy="38404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trace · POST /generate-leads</a:t>
            </a:r>
            <a:endParaRPr lang="en-US" sz="1050" dirty="0"/>
          </a:p>
        </p:txBody>
      </p:sp>
      <p:sp>
        <p:nvSpPr>
          <p:cNvPr id="10" name="Text 7"/>
          <p:cNvSpPr/>
          <p:nvPr/>
        </p:nvSpPr>
        <p:spPr>
          <a:xfrm>
            <a:off x="7726680" y="1417320"/>
            <a:ext cx="777240" cy="384048"/>
          </a:xfrm>
          <a:prstGeom prst="rect">
            <a:avLst/>
          </a:prstGeom>
          <a:noFill/>
          <a:ln/>
        </p:spPr>
        <p:txBody>
          <a:bodyPr wrap="square" lIns="0" tIns="0" rIns="0" bIns="0" rtlCol="0" anchor="ctr"/>
          <a:lstStyle/>
          <a:p>
            <a:pPr algn="r" indent="0" marL="0">
              <a:buNone/>
            </a:pPr>
            <a:r>
              <a:rPr lang="en-US" sz="900" dirty="0">
                <a:solidFill>
                  <a:srgbClr val="FFFFFF"/>
                </a:solidFill>
                <a:latin typeface="Courier New" pitchFamily="34" charset="0"/>
                <a:ea typeface="Courier New" pitchFamily="34" charset="-122"/>
                <a:cs typeface="Courier New" pitchFamily="34" charset="-120"/>
              </a:rPr>
              <a:t>1840ms</a:t>
            </a:r>
            <a:endParaRPr lang="en-US" sz="900" dirty="0"/>
          </a:p>
        </p:txBody>
      </p:sp>
      <p:sp>
        <p:nvSpPr>
          <p:cNvPr id="11" name="Shape 8"/>
          <p:cNvSpPr/>
          <p:nvPr/>
        </p:nvSpPr>
        <p:spPr>
          <a:xfrm>
            <a:off x="1005840" y="1874520"/>
            <a:ext cx="7223760" cy="384048"/>
          </a:xfrm>
          <a:prstGeom prst="roundRect">
            <a:avLst>
              <a:gd name="adj" fmla="val 11905"/>
            </a:avLst>
          </a:prstGeom>
          <a:solidFill>
            <a:srgbClr val="14405A"/>
          </a:solidFill>
          <a:ln/>
          <a:effectLst>
            <a:outerShdw sx="100000" sy="100000" kx="0" ky="0" algn="bl" rotWithShape="0" blurRad="63500" dist="25400" dir="5400000">
              <a:srgbClr val="0F2233">
                <a:alpha val="10000"/>
              </a:srgbClr>
            </a:outerShdw>
          </a:effectLst>
        </p:spPr>
      </p:sp>
      <p:sp>
        <p:nvSpPr>
          <p:cNvPr id="12" name="Text 9"/>
          <p:cNvSpPr/>
          <p:nvPr/>
        </p:nvSpPr>
        <p:spPr>
          <a:xfrm>
            <a:off x="1115568" y="1874520"/>
            <a:ext cx="6309360" cy="38404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orchestrator.run</a:t>
            </a:r>
            <a:endParaRPr lang="en-US" sz="1050" dirty="0"/>
          </a:p>
        </p:txBody>
      </p:sp>
      <p:sp>
        <p:nvSpPr>
          <p:cNvPr id="13" name="Text 10"/>
          <p:cNvSpPr/>
          <p:nvPr/>
        </p:nvSpPr>
        <p:spPr>
          <a:xfrm>
            <a:off x="7360920" y="1874520"/>
            <a:ext cx="777240" cy="384048"/>
          </a:xfrm>
          <a:prstGeom prst="rect">
            <a:avLst/>
          </a:prstGeom>
          <a:noFill/>
          <a:ln/>
        </p:spPr>
        <p:txBody>
          <a:bodyPr wrap="square" lIns="0" tIns="0" rIns="0" bIns="0" rtlCol="0" anchor="ctr"/>
          <a:lstStyle/>
          <a:p>
            <a:pPr algn="r" indent="0" marL="0">
              <a:buNone/>
            </a:pPr>
            <a:r>
              <a:rPr lang="en-US" sz="900" dirty="0">
                <a:solidFill>
                  <a:srgbClr val="FFFFFF"/>
                </a:solidFill>
                <a:latin typeface="Courier New" pitchFamily="34" charset="0"/>
                <a:ea typeface="Courier New" pitchFamily="34" charset="-122"/>
                <a:cs typeface="Courier New" pitchFamily="34" charset="-120"/>
              </a:rPr>
              <a:t>1810ms</a:t>
            </a:r>
            <a:endParaRPr lang="en-US" sz="900" dirty="0"/>
          </a:p>
        </p:txBody>
      </p:sp>
      <p:sp>
        <p:nvSpPr>
          <p:cNvPr id="14" name="Shape 11"/>
          <p:cNvSpPr/>
          <p:nvPr/>
        </p:nvSpPr>
        <p:spPr>
          <a:xfrm>
            <a:off x="1463040" y="2331720"/>
            <a:ext cx="4663440" cy="384048"/>
          </a:xfrm>
          <a:prstGeom prst="roundRect">
            <a:avLst>
              <a:gd name="adj" fmla="val 11905"/>
            </a:avLst>
          </a:prstGeom>
          <a:solidFill>
            <a:srgbClr val="0D9488"/>
          </a:solidFill>
          <a:ln/>
          <a:effectLst>
            <a:outerShdw sx="100000" sy="100000" kx="0" ky="0" algn="bl" rotWithShape="0" blurRad="63500" dist="25400" dir="5400000">
              <a:srgbClr val="0F2233">
                <a:alpha val="10000"/>
              </a:srgbClr>
            </a:outerShdw>
          </a:effectLst>
        </p:spPr>
      </p:sp>
      <p:sp>
        <p:nvSpPr>
          <p:cNvPr id="15" name="Text 12"/>
          <p:cNvSpPr/>
          <p:nvPr/>
        </p:nvSpPr>
        <p:spPr>
          <a:xfrm>
            <a:off x="1572768" y="2331720"/>
            <a:ext cx="3749040" cy="38404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researcher.enrich</a:t>
            </a:r>
            <a:endParaRPr lang="en-US" sz="1050" dirty="0"/>
          </a:p>
        </p:txBody>
      </p:sp>
      <p:sp>
        <p:nvSpPr>
          <p:cNvPr id="16" name="Text 13"/>
          <p:cNvSpPr/>
          <p:nvPr/>
        </p:nvSpPr>
        <p:spPr>
          <a:xfrm>
            <a:off x="5257800" y="2331720"/>
            <a:ext cx="777240" cy="384048"/>
          </a:xfrm>
          <a:prstGeom prst="rect">
            <a:avLst/>
          </a:prstGeom>
          <a:noFill/>
          <a:ln/>
        </p:spPr>
        <p:txBody>
          <a:bodyPr wrap="square" lIns="0" tIns="0" rIns="0" bIns="0" rtlCol="0" anchor="ctr"/>
          <a:lstStyle/>
          <a:p>
            <a:pPr algn="r" indent="0" marL="0">
              <a:buNone/>
            </a:pPr>
            <a:r>
              <a:rPr lang="en-US" sz="900" dirty="0">
                <a:solidFill>
                  <a:srgbClr val="FFFFFF"/>
                </a:solidFill>
                <a:latin typeface="Courier New" pitchFamily="34" charset="0"/>
                <a:ea typeface="Courier New" pitchFamily="34" charset="-122"/>
                <a:cs typeface="Courier New" pitchFamily="34" charset="-120"/>
              </a:rPr>
              <a:t>640ms</a:t>
            </a:r>
            <a:endParaRPr lang="en-US" sz="900" dirty="0"/>
          </a:p>
        </p:txBody>
      </p:sp>
      <p:sp>
        <p:nvSpPr>
          <p:cNvPr id="17" name="Shape 14"/>
          <p:cNvSpPr/>
          <p:nvPr/>
        </p:nvSpPr>
        <p:spPr>
          <a:xfrm>
            <a:off x="1920240" y="2788920"/>
            <a:ext cx="3931920" cy="384048"/>
          </a:xfrm>
          <a:prstGeom prst="roundRect">
            <a:avLst>
              <a:gd name="adj" fmla="val 11905"/>
            </a:avLst>
          </a:prstGeom>
          <a:solidFill>
            <a:srgbClr val="7FB8AE"/>
          </a:solidFill>
          <a:ln/>
          <a:effectLst>
            <a:outerShdw sx="100000" sy="100000" kx="0" ky="0" algn="bl" rotWithShape="0" blurRad="63500" dist="25400" dir="5400000">
              <a:srgbClr val="0F2233">
                <a:alpha val="10000"/>
              </a:srgbClr>
            </a:outerShdw>
          </a:effectLst>
        </p:spPr>
      </p:sp>
      <p:sp>
        <p:nvSpPr>
          <p:cNvPr id="18" name="Text 15"/>
          <p:cNvSpPr/>
          <p:nvPr/>
        </p:nvSpPr>
        <p:spPr>
          <a:xfrm>
            <a:off x="2029968" y="2788920"/>
            <a:ext cx="3017520" cy="384048"/>
          </a:xfrm>
          <a:prstGeom prst="rect">
            <a:avLst/>
          </a:prstGeom>
          <a:noFill/>
          <a:ln/>
        </p:spPr>
        <p:txBody>
          <a:bodyPr wrap="square" lIns="0" tIns="0" rIns="0" bIns="0" rtlCol="0" anchor="ctr"/>
          <a:lstStyle/>
          <a:p>
            <a:pPr indent="0" marL="0">
              <a:buNone/>
            </a:pPr>
            <a:r>
              <a:rPr lang="en-US" sz="1050" b="1" dirty="0">
                <a:solidFill>
                  <a:srgbClr val="0E2A3B"/>
                </a:solidFill>
                <a:latin typeface="Calibri" pitchFamily="34" charset="0"/>
                <a:ea typeface="Calibri" pitchFamily="34" charset="-122"/>
                <a:cs typeface="Calibri" pitchFamily="34" charset="-120"/>
              </a:rPr>
              <a:t>tool.web_lookup (mock)</a:t>
            </a:r>
            <a:endParaRPr lang="en-US" sz="1050" dirty="0"/>
          </a:p>
        </p:txBody>
      </p:sp>
      <p:sp>
        <p:nvSpPr>
          <p:cNvPr id="19" name="Text 16"/>
          <p:cNvSpPr/>
          <p:nvPr/>
        </p:nvSpPr>
        <p:spPr>
          <a:xfrm>
            <a:off x="4983480" y="2788920"/>
            <a:ext cx="777240" cy="384048"/>
          </a:xfrm>
          <a:prstGeom prst="rect">
            <a:avLst/>
          </a:prstGeom>
          <a:noFill/>
          <a:ln/>
        </p:spPr>
        <p:txBody>
          <a:bodyPr wrap="square" lIns="0" tIns="0" rIns="0" bIns="0" rtlCol="0" anchor="ctr"/>
          <a:lstStyle/>
          <a:p>
            <a:pPr algn="r" indent="0" marL="0">
              <a:buNone/>
            </a:pPr>
            <a:r>
              <a:rPr lang="en-US" sz="900" dirty="0">
                <a:solidFill>
                  <a:srgbClr val="0E2A3B"/>
                </a:solidFill>
                <a:latin typeface="Courier New" pitchFamily="34" charset="0"/>
                <a:ea typeface="Courier New" pitchFamily="34" charset="-122"/>
                <a:cs typeface="Courier New" pitchFamily="34" charset="-120"/>
              </a:rPr>
              <a:t>220ms</a:t>
            </a:r>
            <a:endParaRPr lang="en-US" sz="900" dirty="0"/>
          </a:p>
        </p:txBody>
      </p:sp>
      <p:sp>
        <p:nvSpPr>
          <p:cNvPr id="20" name="Shape 17"/>
          <p:cNvSpPr/>
          <p:nvPr/>
        </p:nvSpPr>
        <p:spPr>
          <a:xfrm>
            <a:off x="1920240" y="3246120"/>
            <a:ext cx="3931920" cy="384048"/>
          </a:xfrm>
          <a:prstGeom prst="roundRect">
            <a:avLst>
              <a:gd name="adj" fmla="val 11905"/>
            </a:avLst>
          </a:prstGeom>
          <a:solidFill>
            <a:srgbClr val="7FB8AE"/>
          </a:solidFill>
          <a:ln/>
          <a:effectLst>
            <a:outerShdw sx="100000" sy="100000" kx="0" ky="0" algn="bl" rotWithShape="0" blurRad="63500" dist="25400" dir="5400000">
              <a:srgbClr val="0F2233">
                <a:alpha val="10000"/>
              </a:srgbClr>
            </a:outerShdw>
          </a:effectLst>
        </p:spPr>
      </p:sp>
      <p:sp>
        <p:nvSpPr>
          <p:cNvPr id="21" name="Text 18"/>
          <p:cNvSpPr/>
          <p:nvPr/>
        </p:nvSpPr>
        <p:spPr>
          <a:xfrm>
            <a:off x="2029968" y="3246120"/>
            <a:ext cx="3017520" cy="384048"/>
          </a:xfrm>
          <a:prstGeom prst="rect">
            <a:avLst/>
          </a:prstGeom>
          <a:noFill/>
          <a:ln/>
        </p:spPr>
        <p:txBody>
          <a:bodyPr wrap="square" lIns="0" tIns="0" rIns="0" bIns="0" rtlCol="0" anchor="ctr"/>
          <a:lstStyle/>
          <a:p>
            <a:pPr indent="0" marL="0">
              <a:buNone/>
            </a:pPr>
            <a:r>
              <a:rPr lang="en-US" sz="1050" b="1" dirty="0">
                <a:solidFill>
                  <a:srgbClr val="0E2A3B"/>
                </a:solidFill>
                <a:latin typeface="Calibri" pitchFamily="34" charset="0"/>
                <a:ea typeface="Calibri" pitchFamily="34" charset="-122"/>
                <a:cs typeface="Calibri" pitchFamily="34" charset="-120"/>
              </a:rPr>
              <a:t>llm.claude  haiku · 1.2k tok</a:t>
            </a:r>
            <a:endParaRPr lang="en-US" sz="1050" dirty="0"/>
          </a:p>
        </p:txBody>
      </p:sp>
      <p:sp>
        <p:nvSpPr>
          <p:cNvPr id="22" name="Text 19"/>
          <p:cNvSpPr/>
          <p:nvPr/>
        </p:nvSpPr>
        <p:spPr>
          <a:xfrm>
            <a:off x="4983480" y="3246120"/>
            <a:ext cx="777240" cy="384048"/>
          </a:xfrm>
          <a:prstGeom prst="rect">
            <a:avLst/>
          </a:prstGeom>
          <a:noFill/>
          <a:ln/>
        </p:spPr>
        <p:txBody>
          <a:bodyPr wrap="square" lIns="0" tIns="0" rIns="0" bIns="0" rtlCol="0" anchor="ctr"/>
          <a:lstStyle/>
          <a:p>
            <a:pPr algn="r" indent="0" marL="0">
              <a:buNone/>
            </a:pPr>
            <a:r>
              <a:rPr lang="en-US" sz="900" dirty="0">
                <a:solidFill>
                  <a:srgbClr val="0E2A3B"/>
                </a:solidFill>
                <a:latin typeface="Courier New" pitchFamily="34" charset="0"/>
                <a:ea typeface="Courier New" pitchFamily="34" charset="-122"/>
                <a:cs typeface="Courier New" pitchFamily="34" charset="-120"/>
              </a:rPr>
              <a:t>390ms</a:t>
            </a:r>
            <a:endParaRPr lang="en-US" sz="900" dirty="0"/>
          </a:p>
        </p:txBody>
      </p:sp>
      <p:sp>
        <p:nvSpPr>
          <p:cNvPr id="23" name="Shape 20"/>
          <p:cNvSpPr/>
          <p:nvPr/>
        </p:nvSpPr>
        <p:spPr>
          <a:xfrm>
            <a:off x="1463040" y="3703320"/>
            <a:ext cx="3108960" cy="384048"/>
          </a:xfrm>
          <a:prstGeom prst="roundRect">
            <a:avLst>
              <a:gd name="adj" fmla="val 11905"/>
            </a:avLst>
          </a:prstGeom>
          <a:solidFill>
            <a:srgbClr val="F59E0B"/>
          </a:solidFill>
          <a:ln/>
          <a:effectLst>
            <a:outerShdw sx="100000" sy="100000" kx="0" ky="0" algn="bl" rotWithShape="0" blurRad="63500" dist="25400" dir="5400000">
              <a:srgbClr val="0F2233">
                <a:alpha val="10000"/>
              </a:srgbClr>
            </a:outerShdw>
          </a:effectLst>
        </p:spPr>
      </p:sp>
      <p:sp>
        <p:nvSpPr>
          <p:cNvPr id="24" name="Text 21"/>
          <p:cNvSpPr/>
          <p:nvPr/>
        </p:nvSpPr>
        <p:spPr>
          <a:xfrm>
            <a:off x="1572768" y="3703320"/>
            <a:ext cx="2194560" cy="384048"/>
          </a:xfrm>
          <a:prstGeom prst="rect">
            <a:avLst/>
          </a:prstGeom>
          <a:noFill/>
          <a:ln/>
        </p:spPr>
        <p:txBody>
          <a:bodyPr wrap="square" lIns="0" tIns="0" rIns="0" bIns="0" rtlCol="0" anchor="ctr"/>
          <a:lstStyle/>
          <a:p>
            <a:pPr indent="0" marL="0">
              <a:buNone/>
            </a:pPr>
            <a:r>
              <a:rPr lang="en-US" sz="1050" b="1" dirty="0">
                <a:solidFill>
                  <a:srgbClr val="0E2A3B"/>
                </a:solidFill>
                <a:latin typeface="Calibri" pitchFamily="34" charset="0"/>
                <a:ea typeface="Calibri" pitchFamily="34" charset="-122"/>
                <a:cs typeface="Calibri" pitchFamily="34" charset="-120"/>
              </a:rPr>
              <a:t>qualifier.score  sonnet</a:t>
            </a:r>
            <a:endParaRPr lang="en-US" sz="1050" dirty="0"/>
          </a:p>
        </p:txBody>
      </p:sp>
      <p:sp>
        <p:nvSpPr>
          <p:cNvPr id="25" name="Text 22"/>
          <p:cNvSpPr/>
          <p:nvPr/>
        </p:nvSpPr>
        <p:spPr>
          <a:xfrm>
            <a:off x="3703320" y="3703320"/>
            <a:ext cx="777240" cy="384048"/>
          </a:xfrm>
          <a:prstGeom prst="rect">
            <a:avLst/>
          </a:prstGeom>
          <a:noFill/>
          <a:ln/>
        </p:spPr>
        <p:txBody>
          <a:bodyPr wrap="square" lIns="0" tIns="0" rIns="0" bIns="0" rtlCol="0" anchor="ctr"/>
          <a:lstStyle/>
          <a:p>
            <a:pPr algn="r" indent="0" marL="0">
              <a:buNone/>
            </a:pPr>
            <a:r>
              <a:rPr lang="en-US" sz="900" dirty="0">
                <a:solidFill>
                  <a:srgbClr val="0E2A3B"/>
                </a:solidFill>
                <a:latin typeface="Courier New" pitchFamily="34" charset="0"/>
                <a:ea typeface="Courier New" pitchFamily="34" charset="-122"/>
                <a:cs typeface="Courier New" pitchFamily="34" charset="-120"/>
              </a:rPr>
              <a:t>520ms</a:t>
            </a:r>
            <a:endParaRPr lang="en-US" sz="900" dirty="0"/>
          </a:p>
        </p:txBody>
      </p:sp>
      <p:sp>
        <p:nvSpPr>
          <p:cNvPr id="26" name="Shape 23"/>
          <p:cNvSpPr/>
          <p:nvPr/>
        </p:nvSpPr>
        <p:spPr>
          <a:xfrm>
            <a:off x="4754880" y="3703320"/>
            <a:ext cx="1737360" cy="384048"/>
          </a:xfrm>
          <a:prstGeom prst="roundRect">
            <a:avLst>
              <a:gd name="adj" fmla="val 11905"/>
            </a:avLst>
          </a:prstGeom>
          <a:solidFill>
            <a:srgbClr val="DC2626"/>
          </a:solidFill>
          <a:ln/>
          <a:effectLst>
            <a:outerShdw sx="100000" sy="100000" kx="0" ky="0" algn="bl" rotWithShape="0" blurRad="63500" dist="25400" dir="5400000">
              <a:srgbClr val="0F2233">
                <a:alpha val="10000"/>
              </a:srgbClr>
            </a:outerShdw>
          </a:effectLst>
        </p:spPr>
      </p:sp>
      <p:sp>
        <p:nvSpPr>
          <p:cNvPr id="27" name="Text 24"/>
          <p:cNvSpPr/>
          <p:nvPr/>
        </p:nvSpPr>
        <p:spPr>
          <a:xfrm>
            <a:off x="4864608" y="3703320"/>
            <a:ext cx="822960" cy="38404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guardrail.block ⚠</a:t>
            </a:r>
            <a:endParaRPr lang="en-US" sz="1050" dirty="0"/>
          </a:p>
        </p:txBody>
      </p:sp>
      <p:sp>
        <p:nvSpPr>
          <p:cNvPr id="28" name="Text 25"/>
          <p:cNvSpPr/>
          <p:nvPr/>
        </p:nvSpPr>
        <p:spPr>
          <a:xfrm>
            <a:off x="5623560" y="3703320"/>
            <a:ext cx="777240" cy="384048"/>
          </a:xfrm>
          <a:prstGeom prst="rect">
            <a:avLst/>
          </a:prstGeom>
          <a:noFill/>
          <a:ln/>
        </p:spPr>
        <p:txBody>
          <a:bodyPr wrap="square" lIns="0" tIns="0" rIns="0" bIns="0" rtlCol="0" anchor="ctr"/>
          <a:lstStyle/>
          <a:p>
            <a:pPr algn="r" indent="0" marL="0">
              <a:buNone/>
            </a:pPr>
            <a:r>
              <a:rPr lang="en-US" sz="900" dirty="0">
                <a:solidFill>
                  <a:srgbClr val="FFFFFF"/>
                </a:solidFill>
                <a:latin typeface="Courier New" pitchFamily="34" charset="0"/>
                <a:ea typeface="Courier New" pitchFamily="34" charset="-122"/>
                <a:cs typeface="Courier New" pitchFamily="34" charset="-120"/>
              </a:rPr>
              <a:t>8ms</a:t>
            </a:r>
            <a:endParaRPr lang="en-US" sz="900" dirty="0"/>
          </a:p>
        </p:txBody>
      </p:sp>
      <p:sp>
        <p:nvSpPr>
          <p:cNvPr id="29" name="Shape 26"/>
          <p:cNvSpPr/>
          <p:nvPr/>
        </p:nvSpPr>
        <p:spPr>
          <a:xfrm>
            <a:off x="1463040" y="4160520"/>
            <a:ext cx="2743200" cy="384048"/>
          </a:xfrm>
          <a:prstGeom prst="roundRect">
            <a:avLst>
              <a:gd name="adj" fmla="val 11905"/>
            </a:avLst>
          </a:prstGeom>
          <a:solidFill>
            <a:srgbClr val="0D9488"/>
          </a:solidFill>
          <a:ln/>
          <a:effectLst>
            <a:outerShdw sx="100000" sy="100000" kx="0" ky="0" algn="bl" rotWithShape="0" blurRad="63500" dist="25400" dir="5400000">
              <a:srgbClr val="0F2233">
                <a:alpha val="10000"/>
              </a:srgbClr>
            </a:outerShdw>
          </a:effectLst>
        </p:spPr>
      </p:sp>
      <p:sp>
        <p:nvSpPr>
          <p:cNvPr id="30" name="Text 27"/>
          <p:cNvSpPr/>
          <p:nvPr/>
        </p:nvSpPr>
        <p:spPr>
          <a:xfrm>
            <a:off x="1572768" y="4160520"/>
            <a:ext cx="1828800" cy="38404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summariser.brief</a:t>
            </a:r>
            <a:endParaRPr lang="en-US" sz="1050" dirty="0"/>
          </a:p>
        </p:txBody>
      </p:sp>
      <p:sp>
        <p:nvSpPr>
          <p:cNvPr id="31" name="Text 28"/>
          <p:cNvSpPr/>
          <p:nvPr/>
        </p:nvSpPr>
        <p:spPr>
          <a:xfrm>
            <a:off x="3337560" y="4160520"/>
            <a:ext cx="777240" cy="384048"/>
          </a:xfrm>
          <a:prstGeom prst="rect">
            <a:avLst/>
          </a:prstGeom>
          <a:noFill/>
          <a:ln/>
        </p:spPr>
        <p:txBody>
          <a:bodyPr wrap="square" lIns="0" tIns="0" rIns="0" bIns="0" rtlCol="0" anchor="ctr"/>
          <a:lstStyle/>
          <a:p>
            <a:pPr algn="r" indent="0" marL="0">
              <a:buNone/>
            </a:pPr>
            <a:r>
              <a:rPr lang="en-US" sz="900" dirty="0">
                <a:solidFill>
                  <a:srgbClr val="FFFFFF"/>
                </a:solidFill>
                <a:latin typeface="Courier New" pitchFamily="34" charset="0"/>
                <a:ea typeface="Courier New" pitchFamily="34" charset="-122"/>
                <a:cs typeface="Courier New" pitchFamily="34" charset="-120"/>
              </a:rPr>
              <a:t>410ms</a:t>
            </a:r>
            <a:endParaRPr lang="en-US" sz="900" dirty="0"/>
          </a:p>
        </p:txBody>
      </p:sp>
      <p:sp>
        <p:nvSpPr>
          <p:cNvPr id="32" name="Shape 29"/>
          <p:cNvSpPr/>
          <p:nvPr/>
        </p:nvSpPr>
        <p:spPr>
          <a:xfrm>
            <a:off x="4389120" y="4160520"/>
            <a:ext cx="2103120" cy="384048"/>
          </a:xfrm>
          <a:prstGeom prst="roundRect">
            <a:avLst>
              <a:gd name="adj" fmla="val 11905"/>
            </a:avLst>
          </a:prstGeom>
          <a:solidFill>
            <a:srgbClr val="0D9488"/>
          </a:solidFill>
          <a:ln/>
          <a:effectLst>
            <a:outerShdw sx="100000" sy="100000" kx="0" ky="0" algn="bl" rotWithShape="0" blurRad="63500" dist="25400" dir="5400000">
              <a:srgbClr val="0F2233">
                <a:alpha val="10000"/>
              </a:srgbClr>
            </a:outerShdw>
          </a:effectLst>
        </p:spPr>
      </p:sp>
      <p:sp>
        <p:nvSpPr>
          <p:cNvPr id="33" name="Text 30"/>
          <p:cNvSpPr/>
          <p:nvPr/>
        </p:nvSpPr>
        <p:spPr>
          <a:xfrm>
            <a:off x="4498848" y="4160520"/>
            <a:ext cx="1188720" cy="38404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notifier.send</a:t>
            </a:r>
            <a:endParaRPr lang="en-US" sz="1050" dirty="0"/>
          </a:p>
        </p:txBody>
      </p:sp>
      <p:sp>
        <p:nvSpPr>
          <p:cNvPr id="34" name="Text 31"/>
          <p:cNvSpPr/>
          <p:nvPr/>
        </p:nvSpPr>
        <p:spPr>
          <a:xfrm>
            <a:off x="5623560" y="4160520"/>
            <a:ext cx="777240" cy="384048"/>
          </a:xfrm>
          <a:prstGeom prst="rect">
            <a:avLst/>
          </a:prstGeom>
          <a:noFill/>
          <a:ln/>
        </p:spPr>
        <p:txBody>
          <a:bodyPr wrap="square" lIns="0" tIns="0" rIns="0" bIns="0" rtlCol="0" anchor="ctr"/>
          <a:lstStyle/>
          <a:p>
            <a:pPr algn="r" indent="0" marL="0">
              <a:buNone/>
            </a:pPr>
            <a:r>
              <a:rPr lang="en-US" sz="900" dirty="0">
                <a:solidFill>
                  <a:srgbClr val="FFFFFF"/>
                </a:solidFill>
                <a:latin typeface="Courier New" pitchFamily="34" charset="0"/>
                <a:ea typeface="Courier New" pitchFamily="34" charset="-122"/>
                <a:cs typeface="Courier New" pitchFamily="34" charset="-120"/>
              </a:rPr>
              <a:t>230ms</a:t>
            </a:r>
            <a:endParaRPr lang="en-US" sz="900" dirty="0"/>
          </a:p>
        </p:txBody>
      </p:sp>
      <p:sp>
        <p:nvSpPr>
          <p:cNvPr id="35" name="Text 32"/>
          <p:cNvSpPr/>
          <p:nvPr/>
        </p:nvSpPr>
        <p:spPr>
          <a:xfrm>
            <a:off x="548640" y="4645152"/>
            <a:ext cx="8046720" cy="320040"/>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Indentation = parent/child. Colour = agent. The red span shows an output guardrail firing on the qualifier — instantly visible.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9</a:t>
            </a:r>
            <a:endParaRPr lang="en-US" sz="850" dirty="0"/>
          </a:p>
        </p:txBody>
      </p:sp>
      <p:sp>
        <p:nvSpPr>
          <p:cNvPr id="4" name="Shape 2"/>
          <p:cNvSpPr/>
          <p:nvPr/>
        </p:nvSpPr>
        <p:spPr>
          <a:xfrm>
            <a:off x="457200" y="384048"/>
            <a:ext cx="566928" cy="566928"/>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Structured Logging</a:t>
            </a:r>
            <a:endParaRPr lang="en-US" sz="2600" dirty="0"/>
          </a:p>
        </p:txBody>
      </p:sp>
      <p:sp>
        <p:nvSpPr>
          <p:cNvPr id="7" name="Shape 4"/>
          <p:cNvSpPr/>
          <p:nvPr/>
        </p:nvSpPr>
        <p:spPr>
          <a:xfrm>
            <a:off x="457200" y="1371600"/>
            <a:ext cx="3977640" cy="3246120"/>
          </a:xfrm>
          <a:prstGeom prst="roundRect">
            <a:avLst>
              <a:gd name="adj" fmla="val 2254"/>
            </a:avLst>
          </a:prstGeom>
          <a:solidFill>
            <a:srgbClr val="F1F5F9"/>
          </a:solidFill>
          <a:ln/>
          <a:effectLst>
            <a:outerShdw sx="100000" sy="100000" kx="0" ky="0" algn="bl" rotWithShape="0" blurRad="63500" dist="25400" dir="5400000">
              <a:srgbClr val="0F2233">
                <a:alpha val="10000"/>
              </a:srgbClr>
            </a:outerShdw>
          </a:effectLst>
        </p:spPr>
      </p:sp>
      <p:sp>
        <p:nvSpPr>
          <p:cNvPr id="8" name="Text 5"/>
          <p:cNvSpPr/>
          <p:nvPr/>
        </p:nvSpPr>
        <p:spPr>
          <a:xfrm>
            <a:off x="658368" y="1508760"/>
            <a:ext cx="3657600" cy="365760"/>
          </a:xfrm>
          <a:prstGeom prst="rect">
            <a:avLst/>
          </a:prstGeom>
          <a:noFill/>
          <a:ln/>
        </p:spPr>
        <p:txBody>
          <a:bodyPr wrap="square" lIns="0" tIns="0" rIns="0" bIns="0" rtlCol="0" anchor="ctr"/>
          <a:lstStyle/>
          <a:p>
            <a:pPr indent="0" marL="0">
              <a:buNone/>
            </a:pPr>
            <a:r>
              <a:rPr lang="en-US" sz="1300" b="1" spc="100" kern="0" dirty="0">
                <a:solidFill>
                  <a:srgbClr val="64748B"/>
                </a:solidFill>
                <a:latin typeface="Calibri" pitchFamily="34" charset="0"/>
                <a:ea typeface="Calibri" pitchFamily="34" charset="-122"/>
                <a:cs typeface="Calibri" pitchFamily="34" charset="-120"/>
              </a:rPr>
              <a:t>Principles</a:t>
            </a:r>
            <a:endParaRPr lang="en-US" sz="1300" dirty="0"/>
          </a:p>
        </p:txBody>
      </p:sp>
      <p:sp>
        <p:nvSpPr>
          <p:cNvPr id="9" name="Text 6"/>
          <p:cNvSpPr/>
          <p:nvPr/>
        </p:nvSpPr>
        <p:spPr>
          <a:xfrm>
            <a:off x="658368" y="1920240"/>
            <a:ext cx="3611880" cy="2651760"/>
          </a:xfrm>
          <a:prstGeom prst="rect">
            <a:avLst/>
          </a:prstGeom>
          <a:noFill/>
          <a:ln/>
        </p:spPr>
        <p:txBody>
          <a:bodyPr wrap="square" lIns="0" tIns="0" rIns="0" bIns="0" rtlCol="0" anchor="t"/>
          <a:lstStyle/>
          <a:p>
            <a:pPr marL="177800" indent="-177800">
              <a:spcAft>
                <a:spcPts val="900"/>
              </a:spcAft>
              <a:buSzPct val="100000"/>
              <a:buChar char="•"/>
            </a:pPr>
            <a:r>
              <a:rPr lang="en-US" sz="1200" b="1" dirty="0">
                <a:solidFill>
                  <a:srgbClr val="334155"/>
                </a:solidFill>
                <a:latin typeface="Calibri" pitchFamily="34" charset="0"/>
                <a:ea typeface="Calibri" pitchFamily="34" charset="-122"/>
                <a:cs typeface="Calibri" pitchFamily="34" charset="-120"/>
              </a:rPr>
              <a:t>Log JSON, not prose — machines query it</a:t>
            </a:r>
            <a:endParaRPr lang="en-US" sz="1200" dirty="0"/>
          </a:p>
          <a:p>
            <a:pPr marL="177800" indent="-177800">
              <a:spcAft>
                <a:spcPts val="900"/>
              </a:spcAft>
              <a:buSzPct val="100000"/>
              <a:buChar char="•"/>
            </a:pPr>
            <a:r>
              <a:rPr lang="en-US" sz="1200" dirty="0">
                <a:solidFill>
                  <a:srgbClr val="334155"/>
                </a:solidFill>
                <a:latin typeface="Calibri" pitchFamily="34" charset="0"/>
                <a:ea typeface="Calibri" pitchFamily="34" charset="-122"/>
                <a:cs typeface="Calibri" pitchFamily="34" charset="-120"/>
              </a:rPr>
              <a:t>One event = one line (append-only)</a:t>
            </a:r>
            <a:endParaRPr lang="en-US" sz="1200" dirty="0"/>
          </a:p>
          <a:p>
            <a:pPr marL="177800" indent="-177800">
              <a:spcAft>
                <a:spcPts val="900"/>
              </a:spcAft>
              <a:buSzPct val="100000"/>
              <a:buChar char="•"/>
            </a:pPr>
            <a:r>
              <a:rPr lang="en-US" sz="1200" dirty="0">
                <a:solidFill>
                  <a:srgbClr val="334155"/>
                </a:solidFill>
                <a:latin typeface="Calibri" pitchFamily="34" charset="0"/>
                <a:ea typeface="Calibri" pitchFamily="34" charset="-122"/>
                <a:cs typeface="Calibri" pitchFamily="34" charset="-120"/>
              </a:rPr>
              <a:t>Always include trace_id + span_id</a:t>
            </a:r>
            <a:endParaRPr lang="en-US" sz="1200" dirty="0"/>
          </a:p>
          <a:p>
            <a:pPr marL="177800" indent="-177800">
              <a:spcAft>
                <a:spcPts val="900"/>
              </a:spcAft>
              <a:buSzPct val="100000"/>
              <a:buChar char="•"/>
            </a:pPr>
            <a:r>
              <a:rPr lang="en-US" sz="1200" dirty="0">
                <a:solidFill>
                  <a:srgbClr val="334155"/>
                </a:solidFill>
                <a:latin typeface="Calibri" pitchFamily="34" charset="0"/>
                <a:ea typeface="Calibri" pitchFamily="34" charset="-122"/>
                <a:cs typeface="Calibri" pitchFamily="34" charset="-120"/>
              </a:rPr>
              <a:t>Use levels: DEBUG/INFO/WARN/ERROR</a:t>
            </a:r>
            <a:endParaRPr lang="en-US" sz="1200" dirty="0"/>
          </a:p>
          <a:p>
            <a:pPr marL="177800" indent="-177800">
              <a:spcAft>
                <a:spcPts val="900"/>
              </a:spcAft>
              <a:buSzPct val="100000"/>
              <a:buChar char="•"/>
            </a:pPr>
            <a:r>
              <a:rPr lang="en-US" sz="1200" dirty="0">
                <a:solidFill>
                  <a:srgbClr val="334155"/>
                </a:solidFill>
                <a:latin typeface="Calibri" pitchFamily="34" charset="0"/>
                <a:ea typeface="Calibri" pitchFamily="34" charset="-122"/>
                <a:cs typeface="Calibri" pitchFamily="34" charset="-120"/>
              </a:rPr>
              <a:t>Never log secrets or raw PII — redact first</a:t>
            </a:r>
            <a:endParaRPr lang="en-US" sz="1200" dirty="0"/>
          </a:p>
          <a:p>
            <a:pPr marL="177800" indent="-177800">
              <a:spcAft>
                <a:spcPts val="900"/>
              </a:spcAft>
              <a:buSzPct val="100000"/>
              <a:buChar char="•"/>
            </a:pPr>
            <a:r>
              <a:rPr lang="en-US" sz="1200" dirty="0">
                <a:solidFill>
                  <a:srgbClr val="334155"/>
                </a:solidFill>
                <a:latin typeface="Calibri" pitchFamily="34" charset="0"/>
                <a:ea typeface="Calibri" pitchFamily="34" charset="-122"/>
                <a:cs typeface="Calibri" pitchFamily="34" charset="-120"/>
              </a:rPr>
              <a:t>Sample DEBUG in prod; keep WARN/ERROR</a:t>
            </a:r>
            <a:endParaRPr lang="en-US" sz="1200" dirty="0"/>
          </a:p>
        </p:txBody>
      </p:sp>
      <p:sp>
        <p:nvSpPr>
          <p:cNvPr id="10" name="Shape 7"/>
          <p:cNvSpPr/>
          <p:nvPr/>
        </p:nvSpPr>
        <p:spPr>
          <a:xfrm>
            <a:off x="4617720" y="1371600"/>
            <a:ext cx="4069080" cy="3246120"/>
          </a:xfrm>
          <a:prstGeom prst="roundRect">
            <a:avLst>
              <a:gd name="adj" fmla="val 2254"/>
            </a:avLst>
          </a:prstGeom>
          <a:solidFill>
            <a:srgbClr val="0E2A3B"/>
          </a:solidFill>
          <a:ln/>
          <a:effectLst>
            <a:outerShdw sx="100000" sy="100000" kx="0" ky="0" algn="bl" rotWithShape="0" blurRad="63500" dist="25400" dir="5400000">
              <a:srgbClr val="0F2233">
                <a:alpha val="10000"/>
              </a:srgbClr>
            </a:outerShdw>
          </a:effectLst>
        </p:spPr>
      </p:sp>
      <p:sp>
        <p:nvSpPr>
          <p:cNvPr id="11" name="Text 8"/>
          <p:cNvSpPr/>
          <p:nvPr/>
        </p:nvSpPr>
        <p:spPr>
          <a:xfrm>
            <a:off x="4818888" y="1481328"/>
            <a:ext cx="3657600" cy="320040"/>
          </a:xfrm>
          <a:prstGeom prst="rect">
            <a:avLst/>
          </a:prstGeom>
          <a:noFill/>
          <a:ln/>
        </p:spPr>
        <p:txBody>
          <a:bodyPr wrap="square" lIns="0" tIns="0" rIns="0" bIns="0" rtlCol="0" anchor="ctr"/>
          <a:lstStyle/>
          <a:p>
            <a:pPr indent="0" marL="0">
              <a:buNone/>
            </a:pPr>
            <a:r>
              <a:rPr lang="en-US" sz="1000" b="1" dirty="0">
                <a:solidFill>
                  <a:srgbClr val="5EEAD4"/>
                </a:solidFill>
                <a:latin typeface="Courier New" pitchFamily="34" charset="0"/>
                <a:ea typeface="Courier New" pitchFamily="34" charset="-122"/>
                <a:cs typeface="Courier New" pitchFamily="34" charset="-120"/>
              </a:rPr>
              <a:t>agent.step  event</a:t>
            </a:r>
            <a:endParaRPr lang="en-US" sz="1000" dirty="0"/>
          </a:p>
        </p:txBody>
      </p:sp>
      <p:sp>
        <p:nvSpPr>
          <p:cNvPr id="12" name="Text 9"/>
          <p:cNvSpPr/>
          <p:nvPr/>
        </p:nvSpPr>
        <p:spPr>
          <a:xfrm>
            <a:off x="4818888" y="1810512"/>
            <a:ext cx="3749040" cy="2743200"/>
          </a:xfrm>
          <a:prstGeom prst="rect">
            <a:avLst/>
          </a:prstGeom>
          <a:noFill/>
          <a:ln/>
        </p:spPr>
        <p:txBody>
          <a:bodyPr wrap="square" lIns="0" tIns="0" rIns="0" bIns="0" rtlCol="0" anchor="t"/>
          <a:lstStyle/>
          <a:p>
            <a:pPr indent="0" marL="0">
              <a:buNone/>
            </a:pPr>
            <a:r>
              <a:rPr lang="en-US" sz="1000" dirty="0">
                <a:solidFill>
                  <a:srgbClr val="BFE3DC"/>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BFE3DC"/>
                </a:solidFill>
                <a:latin typeface="Courier New" pitchFamily="34" charset="0"/>
                <a:ea typeface="Courier New" pitchFamily="34" charset="-122"/>
                <a:cs typeface="Courier New" pitchFamily="34" charset="-120"/>
              </a:rPr>
              <a:t>  "ts": "2026-06-23T09:14:02Z",</a:t>
            </a:r>
            <a:endParaRPr lang="en-US" sz="1000" dirty="0"/>
          </a:p>
          <a:p>
            <a:pPr indent="0" marL="0">
              <a:buNone/>
            </a:pPr>
            <a:r>
              <a:rPr lang="en-US" sz="1000" dirty="0">
                <a:solidFill>
                  <a:srgbClr val="BFE3DC"/>
                </a:solidFill>
                <a:latin typeface="Courier New" pitchFamily="34" charset="0"/>
                <a:ea typeface="Courier New" pitchFamily="34" charset="-122"/>
                <a:cs typeface="Courier New" pitchFamily="34" charset="-120"/>
              </a:rPr>
              <a:t>  "level": "INFO",</a:t>
            </a:r>
            <a:endParaRPr lang="en-US" sz="1000" dirty="0"/>
          </a:p>
          <a:p>
            <a:pPr indent="0" marL="0">
              <a:buNone/>
            </a:pPr>
            <a:r>
              <a:rPr lang="en-US" sz="1000" dirty="0">
                <a:solidFill>
                  <a:srgbClr val="BFE3DC"/>
                </a:solidFill>
                <a:latin typeface="Courier New" pitchFamily="34" charset="0"/>
                <a:ea typeface="Courier New" pitchFamily="34" charset="-122"/>
                <a:cs typeface="Courier New" pitchFamily="34" charset="-120"/>
              </a:rPr>
              <a:t>  "trace_id": "a1f9..7c",</a:t>
            </a:r>
            <a:endParaRPr lang="en-US" sz="1000" dirty="0"/>
          </a:p>
          <a:p>
            <a:pPr indent="0" marL="0">
              <a:buNone/>
            </a:pPr>
            <a:r>
              <a:rPr lang="en-US" sz="1000" dirty="0">
                <a:solidFill>
                  <a:srgbClr val="BFE3DC"/>
                </a:solidFill>
                <a:latin typeface="Courier New" pitchFamily="34" charset="0"/>
                <a:ea typeface="Courier New" pitchFamily="34" charset="-122"/>
                <a:cs typeface="Courier New" pitchFamily="34" charset="-120"/>
              </a:rPr>
              <a:t>  "span_id": "research-01",</a:t>
            </a:r>
            <a:endParaRPr lang="en-US" sz="1000" dirty="0"/>
          </a:p>
          <a:p>
            <a:pPr indent="0" marL="0">
              <a:buNone/>
            </a:pPr>
            <a:r>
              <a:rPr lang="en-US" sz="1000" dirty="0">
                <a:solidFill>
                  <a:srgbClr val="BFE3DC"/>
                </a:solidFill>
                <a:latin typeface="Courier New" pitchFamily="34" charset="0"/>
                <a:ea typeface="Courier New" pitchFamily="34" charset="-122"/>
                <a:cs typeface="Courier New" pitchFamily="34" charset="-120"/>
              </a:rPr>
              <a:t>  "agent": "researcher",</a:t>
            </a:r>
            <a:endParaRPr lang="en-US" sz="1000" dirty="0"/>
          </a:p>
          <a:p>
            <a:pPr indent="0" marL="0">
              <a:buNone/>
            </a:pPr>
            <a:r>
              <a:rPr lang="en-US" sz="1000" dirty="0">
                <a:solidFill>
                  <a:srgbClr val="BFE3DC"/>
                </a:solidFill>
                <a:latin typeface="Courier New" pitchFamily="34" charset="0"/>
                <a:ea typeface="Courier New" pitchFamily="34" charset="-122"/>
                <a:cs typeface="Courier New" pitchFamily="34" charset="-120"/>
              </a:rPr>
              <a:t>  "event": "llm.call",</a:t>
            </a:r>
            <a:endParaRPr lang="en-US" sz="1000" dirty="0"/>
          </a:p>
          <a:p>
            <a:pPr indent="0" marL="0">
              <a:buNone/>
            </a:pPr>
            <a:r>
              <a:rPr lang="en-US" sz="1000" dirty="0">
                <a:solidFill>
                  <a:srgbClr val="BFE3DC"/>
                </a:solidFill>
                <a:latin typeface="Courier New" pitchFamily="34" charset="0"/>
                <a:ea typeface="Courier New" pitchFamily="34" charset="-122"/>
                <a:cs typeface="Courier New" pitchFamily="34" charset="-120"/>
              </a:rPr>
              <a:t>  "model": "haiku-4.5",</a:t>
            </a:r>
            <a:endParaRPr lang="en-US" sz="1000" dirty="0"/>
          </a:p>
          <a:p>
            <a:pPr indent="0" marL="0">
              <a:buNone/>
            </a:pPr>
            <a:r>
              <a:rPr lang="en-US" sz="1000" dirty="0">
                <a:solidFill>
                  <a:srgbClr val="BFE3DC"/>
                </a:solidFill>
                <a:latin typeface="Courier New" pitchFamily="34" charset="0"/>
                <a:ea typeface="Courier New" pitchFamily="34" charset="-122"/>
                <a:cs typeface="Courier New" pitchFamily="34" charset="-120"/>
              </a:rPr>
              <a:t>  "tokens_in": 812,</a:t>
            </a:r>
            <a:endParaRPr lang="en-US" sz="1000" dirty="0"/>
          </a:p>
          <a:p>
            <a:pPr indent="0" marL="0">
              <a:buNone/>
            </a:pPr>
            <a:r>
              <a:rPr lang="en-US" sz="1000" dirty="0">
                <a:solidFill>
                  <a:srgbClr val="BFE3DC"/>
                </a:solidFill>
                <a:latin typeface="Courier New" pitchFamily="34" charset="0"/>
                <a:ea typeface="Courier New" pitchFamily="34" charset="-122"/>
                <a:cs typeface="Courier New" pitchFamily="34" charset="-120"/>
              </a:rPr>
              <a:t>  "tokens_out": 240,</a:t>
            </a:r>
            <a:endParaRPr lang="en-US" sz="1000" dirty="0"/>
          </a:p>
          <a:p>
            <a:pPr indent="0" marL="0">
              <a:buNone/>
            </a:pPr>
            <a:r>
              <a:rPr lang="en-US" sz="1000" dirty="0">
                <a:solidFill>
                  <a:srgbClr val="BFE3DC"/>
                </a:solidFill>
                <a:latin typeface="Courier New" pitchFamily="34" charset="0"/>
                <a:ea typeface="Courier New" pitchFamily="34" charset="-122"/>
                <a:cs typeface="Courier New" pitchFamily="34" charset="-120"/>
              </a:rPr>
              <a:t>  "latency_ms": 390,</a:t>
            </a:r>
            <a:endParaRPr lang="en-US" sz="1000" dirty="0"/>
          </a:p>
          <a:p>
            <a:pPr indent="0" marL="0">
              <a:buNone/>
            </a:pPr>
            <a:r>
              <a:rPr lang="en-US" sz="1000" dirty="0">
                <a:solidFill>
                  <a:srgbClr val="BFE3DC"/>
                </a:solidFill>
                <a:latin typeface="Courier New" pitchFamily="34" charset="0"/>
                <a:ea typeface="Courier New" pitchFamily="34" charset="-122"/>
                <a:cs typeface="Courier New" pitchFamily="34" charset="-120"/>
              </a:rPr>
              <a:t>  "cost_usd": 0.0012</a:t>
            </a:r>
            <a:endParaRPr lang="en-US" sz="1000" dirty="0"/>
          </a:p>
          <a:p>
            <a:pPr indent="0" marL="0">
              <a:buNone/>
            </a:pPr>
            <a:r>
              <a:rPr lang="en-US" sz="1000" dirty="0">
                <a:solidFill>
                  <a:srgbClr val="BFE3DC"/>
                </a:solidFill>
                <a:latin typeface="Courier New" pitchFamily="34" charset="0"/>
                <a:ea typeface="Courier New" pitchFamily="34" charset="-122"/>
                <a:cs typeface="Courier New" pitchFamily="34" charset="-120"/>
              </a:rPr>
              <a: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10</a:t>
            </a:r>
            <a:endParaRPr lang="en-US" sz="850" dirty="0"/>
          </a:p>
        </p:txBody>
      </p:sp>
      <p:sp>
        <p:nvSpPr>
          <p:cNvPr id="4" name="Shape 2"/>
          <p:cNvSpPr/>
          <p:nvPr/>
        </p:nvSpPr>
        <p:spPr>
          <a:xfrm>
            <a:off x="457200" y="384048"/>
            <a:ext cx="566928" cy="566928"/>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What to Capture on Every LLM Call</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8229600" cy="914400"/>
        </p:xfrm>
        <a:graphic>
          <a:graphicData uri="http://schemas.openxmlformats.org/drawingml/2006/table">
            <a:tbl>
              <a:tblPr/>
              <a:tblGrid>
                <a:gridCol w="1554480"/>
                <a:gridCol w="2560320"/>
                <a:gridCol w="1554480"/>
                <a:gridCol w="2560320"/>
              </a:tblGrid>
              <a:tr h="38404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Field</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2A3B"/>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Why it matters</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2A3B"/>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Field</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2A3B"/>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Why it matters</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2A3B"/>
                    </a:solidFill>
                  </a:tcPr>
                </a:tc>
              </a:tr>
              <a:tr h="502920">
                <a:tc>
                  <a:txBody>
                    <a:bodyPr/>
                    <a:lstStyle/>
                    <a:p>
                      <a:pPr algn="l" indent="0" marL="0">
                        <a:buNone/>
                      </a:pPr>
                      <a:r>
                        <a:rPr lang="en-US" sz="1080" dirty="0">
                          <a:solidFill>
                            <a:srgbClr val="334155"/>
                          </a:solidFill>
                          <a:latin typeface="Calibri" pitchFamily="34" charset="0"/>
                          <a:ea typeface="Calibri" pitchFamily="34" charset="-122"/>
                          <a:cs typeface="Calibri" pitchFamily="34" charset="-120"/>
                        </a:rPr>
                        <a:t>model</a:t>
                      </a:r>
                      <a:endParaRPr lang="en-US" sz="108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80" dirty="0">
                          <a:solidFill>
                            <a:srgbClr val="334155"/>
                          </a:solidFill>
                          <a:latin typeface="Calibri" pitchFamily="34" charset="0"/>
                          <a:ea typeface="Calibri" pitchFamily="34" charset="-122"/>
                          <a:cs typeface="Calibri" pitchFamily="34" charset="-120"/>
                        </a:rPr>
                        <a:t>Cost &amp; quality attribution</a:t>
                      </a:r>
                      <a:endParaRPr lang="en-US" sz="108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80" dirty="0">
                          <a:solidFill>
                            <a:srgbClr val="334155"/>
                          </a:solidFill>
                          <a:latin typeface="Calibri" pitchFamily="34" charset="0"/>
                          <a:ea typeface="Calibri" pitchFamily="34" charset="-122"/>
                          <a:cs typeface="Calibri" pitchFamily="34" charset="-120"/>
                        </a:rPr>
                        <a:t>stop_reason</a:t>
                      </a:r>
                      <a:endParaRPr lang="en-US" sz="108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80" dirty="0">
                          <a:solidFill>
                            <a:srgbClr val="334155"/>
                          </a:solidFill>
                          <a:latin typeface="Calibri" pitchFamily="34" charset="0"/>
                          <a:ea typeface="Calibri" pitchFamily="34" charset="-122"/>
                          <a:cs typeface="Calibri" pitchFamily="34" charset="-120"/>
                        </a:rPr>
                        <a:t>Detect truncation / tool use</a:t>
                      </a:r>
                      <a:endParaRPr lang="en-US" sz="108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02920">
                <a:tc>
                  <a:txBody>
                    <a:bodyPr/>
                    <a:lstStyle/>
                    <a:p>
                      <a:pPr algn="l" indent="0" marL="0">
                        <a:buNone/>
                      </a:pPr>
                      <a:r>
                        <a:rPr lang="en-US" sz="1080" dirty="0">
                          <a:solidFill>
                            <a:srgbClr val="334155"/>
                          </a:solidFill>
                          <a:latin typeface="Calibri" pitchFamily="34" charset="0"/>
                          <a:ea typeface="Calibri" pitchFamily="34" charset="-122"/>
                          <a:cs typeface="Calibri" pitchFamily="34" charset="-120"/>
                        </a:rPr>
                        <a:t>tokens_in / out</a:t>
                      </a:r>
                      <a:endParaRPr lang="en-US" sz="108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80" dirty="0">
                          <a:solidFill>
                            <a:srgbClr val="334155"/>
                          </a:solidFill>
                          <a:latin typeface="Calibri" pitchFamily="34" charset="0"/>
                          <a:ea typeface="Calibri" pitchFamily="34" charset="-122"/>
                          <a:cs typeface="Calibri" pitchFamily="34" charset="-120"/>
                        </a:rPr>
                        <a:t>Cost + context-budget health</a:t>
                      </a:r>
                      <a:endParaRPr lang="en-US" sz="108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80" dirty="0">
                          <a:solidFill>
                            <a:srgbClr val="334155"/>
                          </a:solidFill>
                          <a:latin typeface="Calibri" pitchFamily="34" charset="0"/>
                          <a:ea typeface="Calibri" pitchFamily="34" charset="-122"/>
                          <a:cs typeface="Calibri" pitchFamily="34" charset="-120"/>
                        </a:rPr>
                        <a:t>latency_ms</a:t>
                      </a:r>
                      <a:endParaRPr lang="en-US" sz="108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80" dirty="0">
                          <a:solidFill>
                            <a:srgbClr val="334155"/>
                          </a:solidFill>
                          <a:latin typeface="Calibri" pitchFamily="34" charset="0"/>
                          <a:ea typeface="Calibri" pitchFamily="34" charset="-122"/>
                          <a:cs typeface="Calibri" pitchFamily="34" charset="-120"/>
                        </a:rPr>
                        <a:t>SLA &amp; p95 tracking</a:t>
                      </a:r>
                      <a:endParaRPr lang="en-US" sz="108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02920">
                <a:tc>
                  <a:txBody>
                    <a:bodyPr/>
                    <a:lstStyle/>
                    <a:p>
                      <a:pPr algn="l" indent="0" marL="0">
                        <a:buNone/>
                      </a:pPr>
                      <a:r>
                        <a:rPr lang="en-US" sz="1080" dirty="0">
                          <a:solidFill>
                            <a:srgbClr val="334155"/>
                          </a:solidFill>
                          <a:latin typeface="Calibri" pitchFamily="34" charset="0"/>
                          <a:ea typeface="Calibri" pitchFamily="34" charset="-122"/>
                          <a:cs typeface="Calibri" pitchFamily="34" charset="-120"/>
                        </a:rPr>
                        <a:t>cost_usd</a:t>
                      </a:r>
                      <a:endParaRPr lang="en-US" sz="108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80" dirty="0">
                          <a:solidFill>
                            <a:srgbClr val="334155"/>
                          </a:solidFill>
                          <a:latin typeface="Calibri" pitchFamily="34" charset="0"/>
                          <a:ea typeface="Calibri" pitchFamily="34" charset="-122"/>
                          <a:cs typeface="Calibri" pitchFamily="34" charset="-120"/>
                        </a:rPr>
                        <a:t>Per-run &amp; per-tenant spend</a:t>
                      </a:r>
                      <a:endParaRPr lang="en-US" sz="108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80" dirty="0">
                          <a:solidFill>
                            <a:srgbClr val="334155"/>
                          </a:solidFill>
                          <a:latin typeface="Calibri" pitchFamily="34" charset="0"/>
                          <a:ea typeface="Calibri" pitchFamily="34" charset="-122"/>
                          <a:cs typeface="Calibri" pitchFamily="34" charset="-120"/>
                        </a:rPr>
                        <a:t>retry_count</a:t>
                      </a:r>
                      <a:endParaRPr lang="en-US" sz="108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80" dirty="0">
                          <a:solidFill>
                            <a:srgbClr val="334155"/>
                          </a:solidFill>
                          <a:latin typeface="Calibri" pitchFamily="34" charset="0"/>
                          <a:ea typeface="Calibri" pitchFamily="34" charset="-122"/>
                          <a:cs typeface="Calibri" pitchFamily="34" charset="-120"/>
                        </a:rPr>
                        <a:t>Reliability signal</a:t>
                      </a:r>
                      <a:endParaRPr lang="en-US" sz="108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02920">
                <a:tc>
                  <a:txBody>
                    <a:bodyPr/>
                    <a:lstStyle/>
                    <a:p>
                      <a:pPr algn="l" indent="0" marL="0">
                        <a:buNone/>
                      </a:pPr>
                      <a:r>
                        <a:rPr lang="en-US" sz="1080" dirty="0">
                          <a:solidFill>
                            <a:srgbClr val="334155"/>
                          </a:solidFill>
                          <a:latin typeface="Calibri" pitchFamily="34" charset="0"/>
                          <a:ea typeface="Calibri" pitchFamily="34" charset="-122"/>
                          <a:cs typeface="Calibri" pitchFamily="34" charset="-120"/>
                        </a:rPr>
                        <a:t>prompt_hash</a:t>
                      </a:r>
                      <a:endParaRPr lang="en-US" sz="108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80" dirty="0">
                          <a:solidFill>
                            <a:srgbClr val="334155"/>
                          </a:solidFill>
                          <a:latin typeface="Calibri" pitchFamily="34" charset="0"/>
                          <a:ea typeface="Calibri" pitchFamily="34" charset="-122"/>
                          <a:cs typeface="Calibri" pitchFamily="34" charset="-120"/>
                        </a:rPr>
                        <a:t>Group runs by prompt version</a:t>
                      </a:r>
                      <a:endParaRPr lang="en-US" sz="108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80" dirty="0">
                          <a:solidFill>
                            <a:srgbClr val="334155"/>
                          </a:solidFill>
                          <a:latin typeface="Calibri" pitchFamily="34" charset="0"/>
                          <a:ea typeface="Calibri" pitchFamily="34" charset="-122"/>
                          <a:cs typeface="Calibri" pitchFamily="34" charset="-120"/>
                        </a:rPr>
                        <a:t>guardrail_flags</a:t>
                      </a:r>
                      <a:endParaRPr lang="en-US" sz="108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80" dirty="0">
                          <a:solidFill>
                            <a:srgbClr val="334155"/>
                          </a:solidFill>
                          <a:latin typeface="Calibri" pitchFamily="34" charset="0"/>
                          <a:ea typeface="Calibri" pitchFamily="34" charset="-122"/>
                          <a:cs typeface="Calibri" pitchFamily="34" charset="-120"/>
                        </a:rPr>
                        <a:t>Safety / compliance audit</a:t>
                      </a:r>
                      <a:endParaRPr lang="en-US" sz="108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02920">
                <a:tc>
                  <a:txBody>
                    <a:bodyPr/>
                    <a:lstStyle/>
                    <a:p>
                      <a:pPr algn="l" indent="0" marL="0">
                        <a:buNone/>
                      </a:pPr>
                      <a:r>
                        <a:rPr lang="en-US" sz="1080" dirty="0">
                          <a:solidFill>
                            <a:srgbClr val="334155"/>
                          </a:solidFill>
                          <a:latin typeface="Calibri" pitchFamily="34" charset="0"/>
                          <a:ea typeface="Calibri" pitchFamily="34" charset="-122"/>
                          <a:cs typeface="Calibri" pitchFamily="34" charset="-120"/>
                        </a:rPr>
                        <a:t>temperature</a:t>
                      </a:r>
                      <a:endParaRPr lang="en-US" sz="108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80" dirty="0">
                          <a:solidFill>
                            <a:srgbClr val="334155"/>
                          </a:solidFill>
                          <a:latin typeface="Calibri" pitchFamily="34" charset="0"/>
                          <a:ea typeface="Calibri" pitchFamily="34" charset="-122"/>
                          <a:cs typeface="Calibri" pitchFamily="34" charset="-120"/>
                        </a:rPr>
                        <a:t>Reproducibility</a:t>
                      </a:r>
                      <a:endParaRPr lang="en-US" sz="108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80" dirty="0">
                          <a:solidFill>
                            <a:srgbClr val="334155"/>
                          </a:solidFill>
                          <a:latin typeface="Calibri" pitchFamily="34" charset="0"/>
                          <a:ea typeface="Calibri" pitchFamily="34" charset="-122"/>
                          <a:cs typeface="Calibri" pitchFamily="34" charset="-120"/>
                        </a:rPr>
                        <a:t>quality_score</a:t>
                      </a:r>
                      <a:endParaRPr lang="en-US" sz="108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80" dirty="0">
                          <a:solidFill>
                            <a:srgbClr val="334155"/>
                          </a:solidFill>
                          <a:latin typeface="Calibri" pitchFamily="34" charset="0"/>
                          <a:ea typeface="Calibri" pitchFamily="34" charset="-122"/>
                          <a:cs typeface="Calibri" pitchFamily="34" charset="-120"/>
                        </a:rPr>
                        <a:t>Feedback-loop input</a:t>
                      </a:r>
                      <a:endParaRPr lang="en-US" sz="108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8" name="Text 4"/>
          <p:cNvSpPr/>
          <p:nvPr/>
        </p:nvSpPr>
        <p:spPr>
          <a:xfrm>
            <a:off x="457200" y="4572000"/>
            <a:ext cx="8229600" cy="320040"/>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Rule of thumb: if you'd need it to debug an incident or bill a customer, log it on the call — not after the fact.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11</a:t>
            </a:r>
            <a:endParaRPr lang="en-US" sz="850" dirty="0"/>
          </a:p>
        </p:txBody>
      </p:sp>
      <p:sp>
        <p:nvSpPr>
          <p:cNvPr id="4" name="Shape 2"/>
          <p:cNvSpPr/>
          <p:nvPr/>
        </p:nvSpPr>
        <p:spPr>
          <a:xfrm>
            <a:off x="457200" y="384048"/>
            <a:ext cx="566928" cy="566928"/>
          </a:xfrm>
          <a:prstGeom prst="ellipse">
            <a:avLst/>
          </a:prstGeom>
          <a:solidFill>
            <a:srgbClr val="F59E0B"/>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Metrics That Matter</a:t>
            </a:r>
            <a:endParaRPr lang="en-US" sz="2600" dirty="0"/>
          </a:p>
        </p:txBody>
      </p:sp>
      <p:sp>
        <p:nvSpPr>
          <p:cNvPr id="7" name="Shape 4"/>
          <p:cNvSpPr/>
          <p:nvPr/>
        </p:nvSpPr>
        <p:spPr>
          <a:xfrm>
            <a:off x="457200" y="1417320"/>
            <a:ext cx="2011680" cy="1828800"/>
          </a:xfrm>
          <a:prstGeom prst="roundRect">
            <a:avLst>
              <a:gd name="adj" fmla="val 4000"/>
            </a:avLst>
          </a:prstGeom>
          <a:solidFill>
            <a:srgbClr val="FFFFFF"/>
          </a:solidFill>
          <a:ln/>
          <a:effectLst>
            <a:outerShdw sx="100000" sy="100000" kx="0" ky="0" algn="bl" rotWithShape="0" blurRad="63500" dist="25400" dir="5400000">
              <a:srgbClr val="0F2233">
                <a:alpha val="10000"/>
              </a:srgbClr>
            </a:outerShdw>
          </a:effectLst>
        </p:spPr>
      </p:sp>
      <p:sp>
        <p:nvSpPr>
          <p:cNvPr id="8" name="Text 5"/>
          <p:cNvSpPr/>
          <p:nvPr/>
        </p:nvSpPr>
        <p:spPr>
          <a:xfrm>
            <a:off x="457200" y="1554480"/>
            <a:ext cx="2011680" cy="777240"/>
          </a:xfrm>
          <a:prstGeom prst="rect">
            <a:avLst/>
          </a:prstGeom>
          <a:noFill/>
          <a:ln/>
        </p:spPr>
        <p:txBody>
          <a:bodyPr wrap="square" lIns="0" tIns="0" rIns="0" bIns="0" rtlCol="0" anchor="ctr"/>
          <a:lstStyle/>
          <a:p>
            <a:pPr algn="ctr" indent="0" marL="0">
              <a:buNone/>
            </a:pPr>
            <a:r>
              <a:rPr lang="en-US" sz="4000" b="1" dirty="0">
                <a:solidFill>
                  <a:srgbClr val="0D9488"/>
                </a:solidFill>
                <a:latin typeface="Cambria" pitchFamily="34" charset="0"/>
                <a:ea typeface="Cambria" pitchFamily="34" charset="-122"/>
                <a:cs typeface="Cambria" pitchFamily="34" charset="-120"/>
              </a:rPr>
              <a:t>p95</a:t>
            </a:r>
            <a:endParaRPr lang="en-US" sz="4000" dirty="0"/>
          </a:p>
        </p:txBody>
      </p:sp>
      <p:sp>
        <p:nvSpPr>
          <p:cNvPr id="9" name="Text 6"/>
          <p:cNvSpPr/>
          <p:nvPr/>
        </p:nvSpPr>
        <p:spPr>
          <a:xfrm>
            <a:off x="457200" y="2377440"/>
            <a:ext cx="2011680" cy="320040"/>
          </a:xfrm>
          <a:prstGeom prst="rect">
            <a:avLst/>
          </a:prstGeom>
          <a:noFill/>
          <a:ln/>
        </p:spPr>
        <p:txBody>
          <a:bodyPr wrap="square" lIns="0" tIns="0" rIns="0" bIns="0" rtlCol="0" anchor="ctr"/>
          <a:lstStyle/>
          <a:p>
            <a:pPr algn="ctr" indent="0" marL="0">
              <a:buNone/>
            </a:pPr>
            <a:r>
              <a:rPr lang="en-US" sz="1300" b="1" dirty="0">
                <a:solidFill>
                  <a:srgbClr val="0F2233"/>
                </a:solidFill>
                <a:latin typeface="Calibri" pitchFamily="34" charset="0"/>
                <a:ea typeface="Calibri" pitchFamily="34" charset="-122"/>
                <a:cs typeface="Calibri" pitchFamily="34" charset="-120"/>
              </a:rPr>
              <a:t>latency</a:t>
            </a:r>
            <a:endParaRPr lang="en-US" sz="1300" dirty="0"/>
          </a:p>
        </p:txBody>
      </p:sp>
      <p:sp>
        <p:nvSpPr>
          <p:cNvPr id="10" name="Text 7"/>
          <p:cNvSpPr/>
          <p:nvPr/>
        </p:nvSpPr>
        <p:spPr>
          <a:xfrm>
            <a:off x="566928" y="2697480"/>
            <a:ext cx="1792224" cy="502920"/>
          </a:xfrm>
          <a:prstGeom prst="rect">
            <a:avLst/>
          </a:prstGeom>
          <a:noFill/>
          <a:ln/>
        </p:spPr>
        <p:txBody>
          <a:bodyPr wrap="square" lIns="0" tIns="0" rIns="0" bIns="0" rtlCol="0" anchor="t"/>
          <a:lstStyle/>
          <a:p>
            <a:pPr algn="ctr" indent="0" marL="0">
              <a:buNone/>
            </a:pPr>
            <a:r>
              <a:rPr lang="en-US" sz="950" dirty="0">
                <a:solidFill>
                  <a:srgbClr val="64748B"/>
                </a:solidFill>
                <a:latin typeface="Calibri" pitchFamily="34" charset="0"/>
                <a:ea typeface="Calibri" pitchFamily="34" charset="-122"/>
                <a:cs typeface="Calibri" pitchFamily="34" charset="-120"/>
              </a:rPr>
              <a:t>tail latency, not the average, sets user experience</a:t>
            </a:r>
            <a:endParaRPr lang="en-US" sz="950" dirty="0"/>
          </a:p>
        </p:txBody>
      </p:sp>
      <p:sp>
        <p:nvSpPr>
          <p:cNvPr id="11" name="Shape 8"/>
          <p:cNvSpPr/>
          <p:nvPr/>
        </p:nvSpPr>
        <p:spPr>
          <a:xfrm>
            <a:off x="2633472" y="1417320"/>
            <a:ext cx="2011680" cy="1828800"/>
          </a:xfrm>
          <a:prstGeom prst="roundRect">
            <a:avLst>
              <a:gd name="adj" fmla="val 4000"/>
            </a:avLst>
          </a:prstGeom>
          <a:solidFill>
            <a:srgbClr val="FFFFFF"/>
          </a:solidFill>
          <a:ln/>
          <a:effectLst>
            <a:outerShdw sx="100000" sy="100000" kx="0" ky="0" algn="bl" rotWithShape="0" blurRad="63500" dist="25400" dir="5400000">
              <a:srgbClr val="0F2233">
                <a:alpha val="10000"/>
              </a:srgbClr>
            </a:outerShdw>
          </a:effectLst>
        </p:spPr>
      </p:sp>
      <p:sp>
        <p:nvSpPr>
          <p:cNvPr id="12" name="Text 9"/>
          <p:cNvSpPr/>
          <p:nvPr/>
        </p:nvSpPr>
        <p:spPr>
          <a:xfrm>
            <a:off x="2633472" y="1554480"/>
            <a:ext cx="2011680" cy="777240"/>
          </a:xfrm>
          <a:prstGeom prst="rect">
            <a:avLst/>
          </a:prstGeom>
          <a:noFill/>
          <a:ln/>
        </p:spPr>
        <p:txBody>
          <a:bodyPr wrap="square" lIns="0" tIns="0" rIns="0" bIns="0" rtlCol="0" anchor="ctr"/>
          <a:lstStyle/>
          <a:p>
            <a:pPr algn="ctr" indent="0" marL="0">
              <a:buNone/>
            </a:pPr>
            <a:r>
              <a:rPr lang="en-US" sz="4000" b="1" dirty="0">
                <a:solidFill>
                  <a:srgbClr val="F59E0B"/>
                </a:solidFill>
                <a:latin typeface="Cambria" pitchFamily="34" charset="0"/>
                <a:ea typeface="Cambria" pitchFamily="34" charset="-122"/>
                <a:cs typeface="Cambria" pitchFamily="34" charset="-120"/>
              </a:rPr>
              <a:t>$/run</a:t>
            </a:r>
            <a:endParaRPr lang="en-US" sz="4000" dirty="0"/>
          </a:p>
        </p:txBody>
      </p:sp>
      <p:sp>
        <p:nvSpPr>
          <p:cNvPr id="13" name="Text 10"/>
          <p:cNvSpPr/>
          <p:nvPr/>
        </p:nvSpPr>
        <p:spPr>
          <a:xfrm>
            <a:off x="2633472" y="2377440"/>
            <a:ext cx="2011680" cy="320040"/>
          </a:xfrm>
          <a:prstGeom prst="rect">
            <a:avLst/>
          </a:prstGeom>
          <a:noFill/>
          <a:ln/>
        </p:spPr>
        <p:txBody>
          <a:bodyPr wrap="square" lIns="0" tIns="0" rIns="0" bIns="0" rtlCol="0" anchor="ctr"/>
          <a:lstStyle/>
          <a:p>
            <a:pPr algn="ctr" indent="0" marL="0">
              <a:buNone/>
            </a:pPr>
            <a:r>
              <a:rPr lang="en-US" sz="1300" b="1" dirty="0">
                <a:solidFill>
                  <a:srgbClr val="0F2233"/>
                </a:solidFill>
                <a:latin typeface="Calibri" pitchFamily="34" charset="0"/>
                <a:ea typeface="Calibri" pitchFamily="34" charset="-122"/>
                <a:cs typeface="Calibri" pitchFamily="34" charset="-120"/>
              </a:rPr>
              <a:t>unit cost</a:t>
            </a:r>
            <a:endParaRPr lang="en-US" sz="1300" dirty="0"/>
          </a:p>
        </p:txBody>
      </p:sp>
      <p:sp>
        <p:nvSpPr>
          <p:cNvPr id="14" name="Text 11"/>
          <p:cNvSpPr/>
          <p:nvPr/>
        </p:nvSpPr>
        <p:spPr>
          <a:xfrm>
            <a:off x="2743200" y="2697480"/>
            <a:ext cx="1792224" cy="502920"/>
          </a:xfrm>
          <a:prstGeom prst="rect">
            <a:avLst/>
          </a:prstGeom>
          <a:noFill/>
          <a:ln/>
        </p:spPr>
        <p:txBody>
          <a:bodyPr wrap="square" lIns="0" tIns="0" rIns="0" bIns="0" rtlCol="0" anchor="t"/>
          <a:lstStyle/>
          <a:p>
            <a:pPr algn="ctr" indent="0" marL="0">
              <a:buNone/>
            </a:pPr>
            <a:r>
              <a:rPr lang="en-US" sz="950" dirty="0">
                <a:solidFill>
                  <a:srgbClr val="64748B"/>
                </a:solidFill>
                <a:latin typeface="Calibri" pitchFamily="34" charset="0"/>
                <a:ea typeface="Calibri" pitchFamily="34" charset="-122"/>
                <a:cs typeface="Calibri" pitchFamily="34" charset="-120"/>
              </a:rPr>
              <a:t>cost per completed pipeline run, by tenant</a:t>
            </a:r>
            <a:endParaRPr lang="en-US" sz="950" dirty="0"/>
          </a:p>
        </p:txBody>
      </p:sp>
      <p:sp>
        <p:nvSpPr>
          <p:cNvPr id="15" name="Shape 12"/>
          <p:cNvSpPr/>
          <p:nvPr/>
        </p:nvSpPr>
        <p:spPr>
          <a:xfrm>
            <a:off x="4809744" y="1417320"/>
            <a:ext cx="2011680" cy="1828800"/>
          </a:xfrm>
          <a:prstGeom prst="roundRect">
            <a:avLst>
              <a:gd name="adj" fmla="val 4000"/>
            </a:avLst>
          </a:prstGeom>
          <a:solidFill>
            <a:srgbClr val="FFFFFF"/>
          </a:solidFill>
          <a:ln/>
          <a:effectLst>
            <a:outerShdw sx="100000" sy="100000" kx="0" ky="0" algn="bl" rotWithShape="0" blurRad="63500" dist="25400" dir="5400000">
              <a:srgbClr val="0F2233">
                <a:alpha val="10000"/>
              </a:srgbClr>
            </a:outerShdw>
          </a:effectLst>
        </p:spPr>
      </p:sp>
      <p:sp>
        <p:nvSpPr>
          <p:cNvPr id="16" name="Text 13"/>
          <p:cNvSpPr/>
          <p:nvPr/>
        </p:nvSpPr>
        <p:spPr>
          <a:xfrm>
            <a:off x="4809744" y="1554480"/>
            <a:ext cx="2011680" cy="777240"/>
          </a:xfrm>
          <a:prstGeom prst="rect">
            <a:avLst/>
          </a:prstGeom>
          <a:noFill/>
          <a:ln/>
        </p:spPr>
        <p:txBody>
          <a:bodyPr wrap="square" lIns="0" tIns="0" rIns="0" bIns="0" rtlCol="0" anchor="ctr"/>
          <a:lstStyle/>
          <a:p>
            <a:pPr algn="ctr" indent="0" marL="0">
              <a:buNone/>
            </a:pPr>
            <a:r>
              <a:rPr lang="en-US" sz="4000" b="1" dirty="0">
                <a:solidFill>
                  <a:srgbClr val="0D9488"/>
                </a:solidFill>
                <a:latin typeface="Cambria" pitchFamily="34" charset="0"/>
                <a:ea typeface="Cambria" pitchFamily="34" charset="-122"/>
                <a:cs typeface="Cambria" pitchFamily="34" charset="-120"/>
              </a:rPr>
              <a:t>%</a:t>
            </a:r>
            <a:endParaRPr lang="en-US" sz="4000" dirty="0"/>
          </a:p>
        </p:txBody>
      </p:sp>
      <p:sp>
        <p:nvSpPr>
          <p:cNvPr id="17" name="Text 14"/>
          <p:cNvSpPr/>
          <p:nvPr/>
        </p:nvSpPr>
        <p:spPr>
          <a:xfrm>
            <a:off x="4809744" y="2377440"/>
            <a:ext cx="2011680" cy="320040"/>
          </a:xfrm>
          <a:prstGeom prst="rect">
            <a:avLst/>
          </a:prstGeom>
          <a:noFill/>
          <a:ln/>
        </p:spPr>
        <p:txBody>
          <a:bodyPr wrap="square" lIns="0" tIns="0" rIns="0" bIns="0" rtlCol="0" anchor="ctr"/>
          <a:lstStyle/>
          <a:p>
            <a:pPr algn="ctr" indent="0" marL="0">
              <a:buNone/>
            </a:pPr>
            <a:r>
              <a:rPr lang="en-US" sz="1300" b="1" dirty="0">
                <a:solidFill>
                  <a:srgbClr val="0F2233"/>
                </a:solidFill>
                <a:latin typeface="Calibri" pitchFamily="34" charset="0"/>
                <a:ea typeface="Calibri" pitchFamily="34" charset="-122"/>
                <a:cs typeface="Calibri" pitchFamily="34" charset="-120"/>
              </a:rPr>
              <a:t>tool success</a:t>
            </a:r>
            <a:endParaRPr lang="en-US" sz="1300" dirty="0"/>
          </a:p>
        </p:txBody>
      </p:sp>
      <p:sp>
        <p:nvSpPr>
          <p:cNvPr id="18" name="Text 15"/>
          <p:cNvSpPr/>
          <p:nvPr/>
        </p:nvSpPr>
        <p:spPr>
          <a:xfrm>
            <a:off x="4919472" y="2697480"/>
            <a:ext cx="1792224" cy="502920"/>
          </a:xfrm>
          <a:prstGeom prst="rect">
            <a:avLst/>
          </a:prstGeom>
          <a:noFill/>
          <a:ln/>
        </p:spPr>
        <p:txBody>
          <a:bodyPr wrap="square" lIns="0" tIns="0" rIns="0" bIns="0" rtlCol="0" anchor="t"/>
          <a:lstStyle/>
          <a:p>
            <a:pPr algn="ctr" indent="0" marL="0">
              <a:buNone/>
            </a:pPr>
            <a:r>
              <a:rPr lang="en-US" sz="950" dirty="0">
                <a:solidFill>
                  <a:srgbClr val="64748B"/>
                </a:solidFill>
                <a:latin typeface="Calibri" pitchFamily="34" charset="0"/>
                <a:ea typeface="Calibri" pitchFamily="34" charset="-122"/>
                <a:cs typeface="Calibri" pitchFamily="34" charset="-120"/>
              </a:rPr>
              <a:t>tool-call and JSON-parse success rate</a:t>
            </a:r>
            <a:endParaRPr lang="en-US" sz="950" dirty="0"/>
          </a:p>
        </p:txBody>
      </p:sp>
      <p:sp>
        <p:nvSpPr>
          <p:cNvPr id="19" name="Shape 16"/>
          <p:cNvSpPr/>
          <p:nvPr/>
        </p:nvSpPr>
        <p:spPr>
          <a:xfrm>
            <a:off x="6986016" y="1417320"/>
            <a:ext cx="2011680" cy="1828800"/>
          </a:xfrm>
          <a:prstGeom prst="roundRect">
            <a:avLst>
              <a:gd name="adj" fmla="val 4000"/>
            </a:avLst>
          </a:prstGeom>
          <a:solidFill>
            <a:srgbClr val="FFFFFF"/>
          </a:solidFill>
          <a:ln/>
          <a:effectLst>
            <a:outerShdw sx="100000" sy="100000" kx="0" ky="0" algn="bl" rotWithShape="0" blurRad="63500" dist="25400" dir="5400000">
              <a:srgbClr val="0F2233">
                <a:alpha val="10000"/>
              </a:srgbClr>
            </a:outerShdw>
          </a:effectLst>
        </p:spPr>
      </p:sp>
      <p:sp>
        <p:nvSpPr>
          <p:cNvPr id="20" name="Text 17"/>
          <p:cNvSpPr/>
          <p:nvPr/>
        </p:nvSpPr>
        <p:spPr>
          <a:xfrm>
            <a:off x="6986016" y="1554480"/>
            <a:ext cx="2011680" cy="777240"/>
          </a:xfrm>
          <a:prstGeom prst="rect">
            <a:avLst/>
          </a:prstGeom>
          <a:noFill/>
          <a:ln/>
        </p:spPr>
        <p:txBody>
          <a:bodyPr wrap="square" lIns="0" tIns="0" rIns="0" bIns="0" rtlCol="0" anchor="ctr"/>
          <a:lstStyle/>
          <a:p>
            <a:pPr algn="ctr" indent="0" marL="0">
              <a:buNone/>
            </a:pPr>
            <a:r>
              <a:rPr lang="en-US" sz="4000" b="1" dirty="0">
                <a:solidFill>
                  <a:srgbClr val="F59E0B"/>
                </a:solidFill>
                <a:latin typeface="Cambria" pitchFamily="34" charset="0"/>
                <a:ea typeface="Cambria" pitchFamily="34" charset="-122"/>
                <a:cs typeface="Cambria" pitchFamily="34" charset="-120"/>
              </a:rPr>
              <a:t>⌀</a:t>
            </a:r>
            <a:endParaRPr lang="en-US" sz="4000" dirty="0"/>
          </a:p>
        </p:txBody>
      </p:sp>
      <p:sp>
        <p:nvSpPr>
          <p:cNvPr id="21" name="Text 18"/>
          <p:cNvSpPr/>
          <p:nvPr/>
        </p:nvSpPr>
        <p:spPr>
          <a:xfrm>
            <a:off x="6986016" y="2377440"/>
            <a:ext cx="2011680" cy="320040"/>
          </a:xfrm>
          <a:prstGeom prst="rect">
            <a:avLst/>
          </a:prstGeom>
          <a:noFill/>
          <a:ln/>
        </p:spPr>
        <p:txBody>
          <a:bodyPr wrap="square" lIns="0" tIns="0" rIns="0" bIns="0" rtlCol="0" anchor="ctr"/>
          <a:lstStyle/>
          <a:p>
            <a:pPr algn="ctr" indent="0" marL="0">
              <a:buNone/>
            </a:pPr>
            <a:r>
              <a:rPr lang="en-US" sz="1300" b="1" dirty="0">
                <a:solidFill>
                  <a:srgbClr val="0F2233"/>
                </a:solidFill>
                <a:latin typeface="Calibri" pitchFamily="34" charset="0"/>
                <a:ea typeface="Calibri" pitchFamily="34" charset="-122"/>
                <a:cs typeface="Calibri" pitchFamily="34" charset="-120"/>
              </a:rPr>
              <a:t>quality score</a:t>
            </a:r>
            <a:endParaRPr lang="en-US" sz="1300" dirty="0"/>
          </a:p>
        </p:txBody>
      </p:sp>
      <p:sp>
        <p:nvSpPr>
          <p:cNvPr id="22" name="Text 19"/>
          <p:cNvSpPr/>
          <p:nvPr/>
        </p:nvSpPr>
        <p:spPr>
          <a:xfrm>
            <a:off x="7095744" y="2697480"/>
            <a:ext cx="1792224" cy="502920"/>
          </a:xfrm>
          <a:prstGeom prst="rect">
            <a:avLst/>
          </a:prstGeom>
          <a:noFill/>
          <a:ln/>
        </p:spPr>
        <p:txBody>
          <a:bodyPr wrap="square" lIns="0" tIns="0" rIns="0" bIns="0" rtlCol="0" anchor="t"/>
          <a:lstStyle/>
          <a:p>
            <a:pPr algn="ctr" indent="0" marL="0">
              <a:buNone/>
            </a:pPr>
            <a:r>
              <a:rPr lang="en-US" sz="950" dirty="0">
                <a:solidFill>
                  <a:srgbClr val="64748B"/>
                </a:solidFill>
                <a:latin typeface="Calibri" pitchFamily="34" charset="0"/>
                <a:ea typeface="Calibri" pitchFamily="34" charset="-122"/>
                <a:cs typeface="Calibri" pitchFamily="34" charset="-120"/>
              </a:rPr>
              <a:t>automated eval + human ratings over time</a:t>
            </a:r>
            <a:endParaRPr lang="en-US" sz="950" dirty="0"/>
          </a:p>
        </p:txBody>
      </p:sp>
      <p:sp>
        <p:nvSpPr>
          <p:cNvPr id="23" name="Shape 20"/>
          <p:cNvSpPr/>
          <p:nvPr/>
        </p:nvSpPr>
        <p:spPr>
          <a:xfrm>
            <a:off x="457200" y="3520440"/>
            <a:ext cx="8229600" cy="1097280"/>
          </a:xfrm>
          <a:prstGeom prst="roundRect">
            <a:avLst>
              <a:gd name="adj" fmla="val 6667"/>
            </a:avLst>
          </a:prstGeom>
          <a:solidFill>
            <a:srgbClr val="0E2A3B"/>
          </a:solidFill>
          <a:ln/>
          <a:effectLst>
            <a:outerShdw sx="100000" sy="100000" kx="0" ky="0" algn="bl" rotWithShape="0" blurRad="63500" dist="25400" dir="5400000">
              <a:srgbClr val="0F2233">
                <a:alpha val="10000"/>
              </a:srgbClr>
            </a:outerShdw>
          </a:effectLst>
        </p:spPr>
      </p:sp>
      <p:sp>
        <p:nvSpPr>
          <p:cNvPr id="24" name="Text 21"/>
          <p:cNvSpPr/>
          <p:nvPr/>
        </p:nvSpPr>
        <p:spPr>
          <a:xfrm>
            <a:off x="658368" y="3639312"/>
            <a:ext cx="7863840" cy="320040"/>
          </a:xfrm>
          <a:prstGeom prst="rect">
            <a:avLst/>
          </a:prstGeom>
          <a:noFill/>
          <a:ln/>
        </p:spPr>
        <p:txBody>
          <a:bodyPr wrap="square" lIns="0" tIns="0" rIns="0" bIns="0" rtlCol="0" anchor="ctr"/>
          <a:lstStyle/>
          <a:p>
            <a:pPr indent="0" marL="0">
              <a:buNone/>
            </a:pPr>
            <a:r>
              <a:rPr lang="en-US" sz="1200" b="1" dirty="0">
                <a:solidFill>
                  <a:srgbClr val="5EEAD4"/>
                </a:solidFill>
                <a:latin typeface="Calibri" pitchFamily="34" charset="0"/>
                <a:ea typeface="Calibri" pitchFamily="34" charset="-122"/>
                <a:cs typeface="Calibri" pitchFamily="34" charset="-120"/>
              </a:rPr>
              <a:t>Borrow the 'four golden signals' from SRE</a:t>
            </a:r>
            <a:endParaRPr lang="en-US" sz="1200" dirty="0"/>
          </a:p>
        </p:txBody>
      </p:sp>
      <p:sp>
        <p:nvSpPr>
          <p:cNvPr id="25" name="Text 22"/>
          <p:cNvSpPr/>
          <p:nvPr/>
        </p:nvSpPr>
        <p:spPr>
          <a:xfrm>
            <a:off x="658368" y="3977640"/>
            <a:ext cx="7863840" cy="54864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Latency</a:t>
            </a:r>
            <a:pPr indent="0" marL="0">
              <a:buNone/>
            </a:pPr>
            <a:r>
              <a:rPr lang="en-US" sz="1250" dirty="0">
                <a:solidFill>
                  <a:srgbClr val="9FB6C0"/>
                </a:solidFill>
                <a:latin typeface="Calibri" pitchFamily="34" charset="0"/>
                <a:ea typeface="Calibri" pitchFamily="34" charset="-122"/>
                <a:cs typeface="Calibri" pitchFamily="34" charset="-120"/>
              </a:rPr>
              <a:t>  how long  ·  </a:t>
            </a:r>
            <a:pPr indent="0" marL="0">
              <a:buNone/>
            </a:pPr>
            <a:r>
              <a:rPr lang="en-US" sz="1250" b="1" dirty="0">
                <a:solidFill>
                  <a:srgbClr val="FFFFFF"/>
                </a:solidFill>
                <a:latin typeface="Calibri" pitchFamily="34" charset="0"/>
                <a:ea typeface="Calibri" pitchFamily="34" charset="-122"/>
                <a:cs typeface="Calibri" pitchFamily="34" charset="-120"/>
              </a:rPr>
              <a:t>Traffic</a:t>
            </a:r>
            <a:pPr indent="0" marL="0">
              <a:buNone/>
            </a:pPr>
            <a:r>
              <a:rPr lang="en-US" sz="1250" dirty="0">
                <a:solidFill>
                  <a:srgbClr val="9FB6C0"/>
                </a:solidFill>
                <a:latin typeface="Calibri" pitchFamily="34" charset="0"/>
                <a:ea typeface="Calibri" pitchFamily="34" charset="-122"/>
                <a:cs typeface="Calibri" pitchFamily="34" charset="-120"/>
              </a:rPr>
              <a:t>  how much  ·  </a:t>
            </a:r>
            <a:pPr indent="0" marL="0">
              <a:buNone/>
            </a:pPr>
            <a:r>
              <a:rPr lang="en-US" sz="1250" b="1" dirty="0">
                <a:solidFill>
                  <a:srgbClr val="FFFFFF"/>
                </a:solidFill>
                <a:latin typeface="Calibri" pitchFamily="34" charset="0"/>
                <a:ea typeface="Calibri" pitchFamily="34" charset="-122"/>
                <a:cs typeface="Calibri" pitchFamily="34" charset="-120"/>
              </a:rPr>
              <a:t>Errors</a:t>
            </a:r>
            <a:pPr indent="0" marL="0">
              <a:buNone/>
            </a:pPr>
            <a:r>
              <a:rPr lang="en-US" sz="1250" dirty="0">
                <a:solidFill>
                  <a:srgbClr val="9FB6C0"/>
                </a:solidFill>
                <a:latin typeface="Calibri" pitchFamily="34" charset="0"/>
                <a:ea typeface="Calibri" pitchFamily="34" charset="-122"/>
                <a:cs typeface="Calibri" pitchFamily="34" charset="-120"/>
              </a:rPr>
              <a:t>  how often it fails  ·  </a:t>
            </a:r>
            <a:pPr indent="0" marL="0">
              <a:buNone/>
            </a:pPr>
            <a:r>
              <a:rPr lang="en-US" sz="1250" b="1" dirty="0">
                <a:solidFill>
                  <a:srgbClr val="FFFFFF"/>
                </a:solidFill>
                <a:latin typeface="Calibri" pitchFamily="34" charset="0"/>
                <a:ea typeface="Calibri" pitchFamily="34" charset="-122"/>
                <a:cs typeface="Calibri" pitchFamily="34" charset="-120"/>
              </a:rPr>
              <a:t>Saturation</a:t>
            </a:r>
            <a:pPr indent="0" marL="0">
              <a:buNone/>
            </a:pPr>
            <a:r>
              <a:rPr lang="en-US" sz="1250" dirty="0">
                <a:solidFill>
                  <a:srgbClr val="9FB6C0"/>
                </a:solidFill>
                <a:latin typeface="Calibri" pitchFamily="34" charset="0"/>
                <a:ea typeface="Calibri" pitchFamily="34" charset="-122"/>
                <a:cs typeface="Calibri" pitchFamily="34" charset="-120"/>
              </a:rPr>
              <a:t>  rate limits / context budget</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12</a:t>
            </a:r>
            <a:endParaRPr lang="en-US" sz="850" dirty="0"/>
          </a:p>
        </p:txBody>
      </p:sp>
      <p:sp>
        <p:nvSpPr>
          <p:cNvPr id="4" name="Shape 2"/>
          <p:cNvSpPr/>
          <p:nvPr/>
        </p:nvSpPr>
        <p:spPr>
          <a:xfrm>
            <a:off x="457200" y="384048"/>
            <a:ext cx="566928" cy="566928"/>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Feedback Loops</a:t>
            </a:r>
            <a:endParaRPr lang="en-US" sz="2600" dirty="0"/>
          </a:p>
        </p:txBody>
      </p:sp>
      <p:sp>
        <p:nvSpPr>
          <p:cNvPr id="7" name="Text 4"/>
          <p:cNvSpPr/>
          <p:nvPr/>
        </p:nvSpPr>
        <p:spPr>
          <a:xfrm>
            <a:off x="1170432" y="950976"/>
            <a:ext cx="7498080" cy="32004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Observability is only valuable if it changes what the system does next.</a:t>
            </a:r>
            <a:endParaRPr lang="en-US" sz="1200" dirty="0"/>
          </a:p>
        </p:txBody>
      </p:sp>
      <p:sp>
        <p:nvSpPr>
          <p:cNvPr id="8" name="Shape 5"/>
          <p:cNvSpPr/>
          <p:nvPr/>
        </p:nvSpPr>
        <p:spPr>
          <a:xfrm>
            <a:off x="566928" y="1691640"/>
            <a:ext cx="1783080" cy="1920240"/>
          </a:xfrm>
          <a:prstGeom prst="roundRect">
            <a:avLst>
              <a:gd name="adj" fmla="val 4103"/>
            </a:avLst>
          </a:prstGeom>
          <a:solidFill>
            <a:srgbClr val="FFFFFF"/>
          </a:solidFill>
          <a:ln/>
          <a:effectLst>
            <a:outerShdw sx="100000" sy="100000" kx="0" ky="0" algn="bl" rotWithShape="0" blurRad="63500" dist="25400" dir="5400000">
              <a:srgbClr val="0F2233">
                <a:alpha val="10000"/>
              </a:srgbClr>
            </a:outerShdw>
          </a:effectLst>
        </p:spPr>
      </p:sp>
      <p:sp>
        <p:nvSpPr>
          <p:cNvPr id="9" name="Shape 6"/>
          <p:cNvSpPr/>
          <p:nvPr/>
        </p:nvSpPr>
        <p:spPr>
          <a:xfrm>
            <a:off x="1138428" y="1892808"/>
            <a:ext cx="640080" cy="640080"/>
          </a:xfrm>
          <a:prstGeom prst="ellipse">
            <a:avLst/>
          </a:prstGeom>
          <a:solidFill>
            <a:srgbClr val="0D9488"/>
          </a:solidFill>
          <a:ln/>
        </p:spPr>
      </p:sp>
      <p:pic>
        <p:nvPicPr>
          <p:cNvPr id="10" name="Image 1" descr="preencoded.png">    </p:cNvPr>
          <p:cNvPicPr>
            <a:picLocks noChangeAspect="1"/>
          </p:cNvPicPr>
          <p:nvPr/>
        </p:nvPicPr>
        <p:blipFill>
          <a:blip r:embed="rId2"/>
          <a:stretch>
            <a:fillRect/>
          </a:stretch>
        </p:blipFill>
        <p:spPr>
          <a:xfrm>
            <a:off x="1311250" y="2065630"/>
            <a:ext cx="294437" cy="294437"/>
          </a:xfrm>
          <a:prstGeom prst="rect">
            <a:avLst/>
          </a:prstGeom>
        </p:spPr>
      </p:pic>
      <p:sp>
        <p:nvSpPr>
          <p:cNvPr id="11" name="Text 7"/>
          <p:cNvSpPr/>
          <p:nvPr/>
        </p:nvSpPr>
        <p:spPr>
          <a:xfrm>
            <a:off x="566928" y="2606040"/>
            <a:ext cx="1783080" cy="320040"/>
          </a:xfrm>
          <a:prstGeom prst="rect">
            <a:avLst/>
          </a:prstGeom>
          <a:noFill/>
          <a:ln/>
        </p:spPr>
        <p:txBody>
          <a:bodyPr wrap="square" lIns="0" tIns="0" rIns="0" bIns="0" rtlCol="0" anchor="ctr"/>
          <a:lstStyle/>
          <a:p>
            <a:pPr algn="ctr" indent="0" marL="0">
              <a:buNone/>
            </a:pPr>
            <a:r>
              <a:rPr lang="en-US" sz="1400" b="1" dirty="0">
                <a:solidFill>
                  <a:srgbClr val="0F2233"/>
                </a:solidFill>
                <a:latin typeface="Calibri" pitchFamily="34" charset="0"/>
                <a:ea typeface="Calibri" pitchFamily="34" charset="-122"/>
                <a:cs typeface="Calibri" pitchFamily="34" charset="-120"/>
              </a:rPr>
              <a:t>CAPTURE</a:t>
            </a:r>
            <a:endParaRPr lang="en-US" sz="1400" dirty="0"/>
          </a:p>
        </p:txBody>
      </p:sp>
      <p:sp>
        <p:nvSpPr>
          <p:cNvPr id="12" name="Text 8"/>
          <p:cNvSpPr/>
          <p:nvPr/>
        </p:nvSpPr>
        <p:spPr>
          <a:xfrm>
            <a:off x="676656" y="2953512"/>
            <a:ext cx="1563624" cy="548640"/>
          </a:xfrm>
          <a:prstGeom prst="rect">
            <a:avLst/>
          </a:prstGeom>
          <a:noFill/>
          <a:ln/>
        </p:spPr>
        <p:txBody>
          <a:bodyPr wrap="square" lIns="0" tIns="0" rIns="0" bIns="0" rtlCol="0" anchor="t"/>
          <a:lstStyle/>
          <a:p>
            <a:pPr algn="ctr" indent="0" marL="0">
              <a:buNone/>
            </a:pPr>
            <a:r>
              <a:rPr lang="en-US" sz="1000" dirty="0">
                <a:solidFill>
                  <a:srgbClr val="334155"/>
                </a:solidFill>
                <a:latin typeface="Calibri" pitchFamily="34" charset="0"/>
                <a:ea typeface="Calibri" pitchFamily="34" charset="-122"/>
                <a:cs typeface="Calibri" pitchFamily="34" charset="-120"/>
              </a:rPr>
              <a:t>traces, logs,</a:t>
            </a:r>
            <a:endParaRPr lang="en-US" sz="1000" dirty="0"/>
          </a:p>
          <a:p>
            <a:pPr algn="ctr" indent="0" marL="0">
              <a:buNone/>
            </a:pPr>
            <a:r>
              <a:rPr lang="en-US" sz="1000" dirty="0">
                <a:solidFill>
                  <a:srgbClr val="334155"/>
                </a:solidFill>
                <a:latin typeface="Calibri" pitchFamily="34" charset="0"/>
                <a:ea typeface="Calibri" pitchFamily="34" charset="-122"/>
                <a:cs typeface="Calibri" pitchFamily="34" charset="-120"/>
              </a:rPr>
              <a:t>user &amp; sales signals</a:t>
            </a:r>
            <a:endParaRPr lang="en-US" sz="1000" dirty="0"/>
          </a:p>
        </p:txBody>
      </p:sp>
      <p:sp>
        <p:nvSpPr>
          <p:cNvPr id="13" name="Shape 9"/>
          <p:cNvSpPr/>
          <p:nvPr/>
        </p:nvSpPr>
        <p:spPr>
          <a:xfrm>
            <a:off x="2414016" y="2560320"/>
            <a:ext cx="283464" cy="237744"/>
          </a:xfrm>
          <a:prstGeom prst="rightArrow">
            <a:avLst/>
          </a:prstGeom>
          <a:solidFill>
            <a:srgbClr val="F59E0B"/>
          </a:solidFill>
          <a:ln/>
        </p:spPr>
      </p:sp>
      <p:sp>
        <p:nvSpPr>
          <p:cNvPr id="14" name="Shape 10"/>
          <p:cNvSpPr/>
          <p:nvPr/>
        </p:nvSpPr>
        <p:spPr>
          <a:xfrm>
            <a:off x="2761488" y="1691640"/>
            <a:ext cx="1783080" cy="1920240"/>
          </a:xfrm>
          <a:prstGeom prst="roundRect">
            <a:avLst>
              <a:gd name="adj" fmla="val 4103"/>
            </a:avLst>
          </a:prstGeom>
          <a:solidFill>
            <a:srgbClr val="FFFFFF"/>
          </a:solidFill>
          <a:ln/>
          <a:effectLst>
            <a:outerShdw sx="100000" sy="100000" kx="0" ky="0" algn="bl" rotWithShape="0" blurRad="63500" dist="25400" dir="5400000">
              <a:srgbClr val="0F2233">
                <a:alpha val="10000"/>
              </a:srgbClr>
            </a:outerShdw>
          </a:effectLst>
        </p:spPr>
      </p:sp>
      <p:sp>
        <p:nvSpPr>
          <p:cNvPr id="15" name="Shape 11"/>
          <p:cNvSpPr/>
          <p:nvPr/>
        </p:nvSpPr>
        <p:spPr>
          <a:xfrm>
            <a:off x="3332988" y="1892808"/>
            <a:ext cx="640080" cy="640080"/>
          </a:xfrm>
          <a:prstGeom prst="ellipse">
            <a:avLst/>
          </a:prstGeom>
          <a:solidFill>
            <a:srgbClr val="F59E0B"/>
          </a:solidFill>
          <a:ln/>
        </p:spPr>
      </p:sp>
      <p:pic>
        <p:nvPicPr>
          <p:cNvPr id="16" name="Image 2" descr="preencoded.png">    </p:cNvPr>
          <p:cNvPicPr>
            <a:picLocks noChangeAspect="1"/>
          </p:cNvPicPr>
          <p:nvPr/>
        </p:nvPicPr>
        <p:blipFill>
          <a:blip r:embed="rId3"/>
          <a:stretch>
            <a:fillRect/>
          </a:stretch>
        </p:blipFill>
        <p:spPr>
          <a:xfrm>
            <a:off x="3505810" y="2065630"/>
            <a:ext cx="294437" cy="294437"/>
          </a:xfrm>
          <a:prstGeom prst="rect">
            <a:avLst/>
          </a:prstGeom>
        </p:spPr>
      </p:pic>
      <p:sp>
        <p:nvSpPr>
          <p:cNvPr id="17" name="Text 12"/>
          <p:cNvSpPr/>
          <p:nvPr/>
        </p:nvSpPr>
        <p:spPr>
          <a:xfrm>
            <a:off x="2761488" y="2606040"/>
            <a:ext cx="1783080" cy="320040"/>
          </a:xfrm>
          <a:prstGeom prst="rect">
            <a:avLst/>
          </a:prstGeom>
          <a:noFill/>
          <a:ln/>
        </p:spPr>
        <p:txBody>
          <a:bodyPr wrap="square" lIns="0" tIns="0" rIns="0" bIns="0" rtlCol="0" anchor="ctr"/>
          <a:lstStyle/>
          <a:p>
            <a:pPr algn="ctr" indent="0" marL="0">
              <a:buNone/>
            </a:pPr>
            <a:r>
              <a:rPr lang="en-US" sz="1400" b="1" dirty="0">
                <a:solidFill>
                  <a:srgbClr val="0F2233"/>
                </a:solidFill>
                <a:latin typeface="Calibri" pitchFamily="34" charset="0"/>
                <a:ea typeface="Calibri" pitchFamily="34" charset="-122"/>
                <a:cs typeface="Calibri" pitchFamily="34" charset="-120"/>
              </a:rPr>
              <a:t>EVALUATE</a:t>
            </a:r>
            <a:endParaRPr lang="en-US" sz="1400" dirty="0"/>
          </a:p>
        </p:txBody>
      </p:sp>
      <p:sp>
        <p:nvSpPr>
          <p:cNvPr id="18" name="Text 13"/>
          <p:cNvSpPr/>
          <p:nvPr/>
        </p:nvSpPr>
        <p:spPr>
          <a:xfrm>
            <a:off x="2871216" y="2953512"/>
            <a:ext cx="1563624" cy="548640"/>
          </a:xfrm>
          <a:prstGeom prst="rect">
            <a:avLst/>
          </a:prstGeom>
          <a:noFill/>
          <a:ln/>
        </p:spPr>
        <p:txBody>
          <a:bodyPr wrap="square" lIns="0" tIns="0" rIns="0" bIns="0" rtlCol="0" anchor="t"/>
          <a:lstStyle/>
          <a:p>
            <a:pPr algn="ctr" indent="0" marL="0">
              <a:buNone/>
            </a:pPr>
            <a:r>
              <a:rPr lang="en-US" sz="1000" dirty="0">
                <a:solidFill>
                  <a:srgbClr val="334155"/>
                </a:solidFill>
                <a:latin typeface="Calibri" pitchFamily="34" charset="0"/>
                <a:ea typeface="Calibri" pitchFamily="34" charset="-122"/>
                <a:cs typeface="Calibri" pitchFamily="34" charset="-120"/>
              </a:rPr>
              <a:t>automated eval +</a:t>
            </a:r>
            <a:endParaRPr lang="en-US" sz="1000" dirty="0"/>
          </a:p>
          <a:p>
            <a:pPr algn="ctr" indent="0" marL="0">
              <a:buNone/>
            </a:pPr>
            <a:r>
              <a:rPr lang="en-US" sz="1000" dirty="0">
                <a:solidFill>
                  <a:srgbClr val="334155"/>
                </a:solidFill>
                <a:latin typeface="Calibri" pitchFamily="34" charset="0"/>
                <a:ea typeface="Calibri" pitchFamily="34" charset="-122"/>
                <a:cs typeface="Calibri" pitchFamily="34" charset="-120"/>
              </a:rPr>
              <a:t>human ratings</a:t>
            </a:r>
            <a:endParaRPr lang="en-US" sz="1000" dirty="0"/>
          </a:p>
        </p:txBody>
      </p:sp>
      <p:sp>
        <p:nvSpPr>
          <p:cNvPr id="19" name="Shape 14"/>
          <p:cNvSpPr/>
          <p:nvPr/>
        </p:nvSpPr>
        <p:spPr>
          <a:xfrm>
            <a:off x="4608576" y="2560320"/>
            <a:ext cx="283464" cy="237744"/>
          </a:xfrm>
          <a:prstGeom prst="rightArrow">
            <a:avLst/>
          </a:prstGeom>
          <a:solidFill>
            <a:srgbClr val="F59E0B"/>
          </a:solidFill>
          <a:ln/>
        </p:spPr>
      </p:sp>
      <p:sp>
        <p:nvSpPr>
          <p:cNvPr id="20" name="Shape 15"/>
          <p:cNvSpPr/>
          <p:nvPr/>
        </p:nvSpPr>
        <p:spPr>
          <a:xfrm>
            <a:off x="4956048" y="1691640"/>
            <a:ext cx="1783080" cy="1920240"/>
          </a:xfrm>
          <a:prstGeom prst="roundRect">
            <a:avLst>
              <a:gd name="adj" fmla="val 4103"/>
            </a:avLst>
          </a:prstGeom>
          <a:solidFill>
            <a:srgbClr val="FFFFFF"/>
          </a:solidFill>
          <a:ln/>
          <a:effectLst>
            <a:outerShdw sx="100000" sy="100000" kx="0" ky="0" algn="bl" rotWithShape="0" blurRad="63500" dist="25400" dir="5400000">
              <a:srgbClr val="0F2233">
                <a:alpha val="10000"/>
              </a:srgbClr>
            </a:outerShdw>
          </a:effectLst>
        </p:spPr>
      </p:sp>
      <p:sp>
        <p:nvSpPr>
          <p:cNvPr id="21" name="Shape 16"/>
          <p:cNvSpPr/>
          <p:nvPr/>
        </p:nvSpPr>
        <p:spPr>
          <a:xfrm>
            <a:off x="5527548" y="1892808"/>
            <a:ext cx="640080" cy="640080"/>
          </a:xfrm>
          <a:prstGeom prst="ellipse">
            <a:avLst/>
          </a:prstGeom>
          <a:solidFill>
            <a:srgbClr val="0D9488"/>
          </a:solidFill>
          <a:ln/>
        </p:spPr>
      </p:sp>
      <p:pic>
        <p:nvPicPr>
          <p:cNvPr id="22" name="Image 3" descr="preencoded.png">    </p:cNvPr>
          <p:cNvPicPr>
            <a:picLocks noChangeAspect="1"/>
          </p:cNvPicPr>
          <p:nvPr/>
        </p:nvPicPr>
        <p:blipFill>
          <a:blip r:embed="rId4"/>
          <a:stretch>
            <a:fillRect/>
          </a:stretch>
        </p:blipFill>
        <p:spPr>
          <a:xfrm>
            <a:off x="5700370" y="2065630"/>
            <a:ext cx="294437" cy="294437"/>
          </a:xfrm>
          <a:prstGeom prst="rect">
            <a:avLst/>
          </a:prstGeom>
        </p:spPr>
      </p:pic>
      <p:sp>
        <p:nvSpPr>
          <p:cNvPr id="23" name="Text 17"/>
          <p:cNvSpPr/>
          <p:nvPr/>
        </p:nvSpPr>
        <p:spPr>
          <a:xfrm>
            <a:off x="4956048" y="2606040"/>
            <a:ext cx="1783080" cy="320040"/>
          </a:xfrm>
          <a:prstGeom prst="rect">
            <a:avLst/>
          </a:prstGeom>
          <a:noFill/>
          <a:ln/>
        </p:spPr>
        <p:txBody>
          <a:bodyPr wrap="square" lIns="0" tIns="0" rIns="0" bIns="0" rtlCol="0" anchor="ctr"/>
          <a:lstStyle/>
          <a:p>
            <a:pPr algn="ctr" indent="0" marL="0">
              <a:buNone/>
            </a:pPr>
            <a:r>
              <a:rPr lang="en-US" sz="1400" b="1" dirty="0">
                <a:solidFill>
                  <a:srgbClr val="0F2233"/>
                </a:solidFill>
                <a:latin typeface="Calibri" pitchFamily="34" charset="0"/>
                <a:ea typeface="Calibri" pitchFamily="34" charset="-122"/>
                <a:cs typeface="Calibri" pitchFamily="34" charset="-120"/>
              </a:rPr>
              <a:t>LEARN</a:t>
            </a:r>
            <a:endParaRPr lang="en-US" sz="1400" dirty="0"/>
          </a:p>
        </p:txBody>
      </p:sp>
      <p:sp>
        <p:nvSpPr>
          <p:cNvPr id="24" name="Text 18"/>
          <p:cNvSpPr/>
          <p:nvPr/>
        </p:nvSpPr>
        <p:spPr>
          <a:xfrm>
            <a:off x="5065776" y="2953512"/>
            <a:ext cx="1563624" cy="548640"/>
          </a:xfrm>
          <a:prstGeom prst="rect">
            <a:avLst/>
          </a:prstGeom>
          <a:noFill/>
          <a:ln/>
        </p:spPr>
        <p:txBody>
          <a:bodyPr wrap="square" lIns="0" tIns="0" rIns="0" bIns="0" rtlCol="0" anchor="t"/>
          <a:lstStyle/>
          <a:p>
            <a:pPr algn="ctr" indent="0" marL="0">
              <a:buNone/>
            </a:pPr>
            <a:r>
              <a:rPr lang="en-US" sz="1000" dirty="0">
                <a:solidFill>
                  <a:srgbClr val="334155"/>
                </a:solidFill>
                <a:latin typeface="Calibri" pitchFamily="34" charset="0"/>
                <a:ea typeface="Calibri" pitchFamily="34" charset="-122"/>
                <a:cs typeface="Calibri" pitchFamily="34" charset="-120"/>
              </a:rPr>
              <a:t>prompt / weight /</a:t>
            </a:r>
            <a:endParaRPr lang="en-US" sz="1000" dirty="0"/>
          </a:p>
          <a:p>
            <a:pPr algn="ctr" indent="0" marL="0">
              <a:buNone/>
            </a:pPr>
            <a:r>
              <a:rPr lang="en-US" sz="1000" dirty="0">
                <a:solidFill>
                  <a:srgbClr val="334155"/>
                </a:solidFill>
                <a:latin typeface="Calibri" pitchFamily="34" charset="0"/>
                <a:ea typeface="Calibri" pitchFamily="34" charset="-122"/>
                <a:cs typeface="Calibri" pitchFamily="34" charset="-120"/>
              </a:rPr>
              <a:t>routing changes</a:t>
            </a:r>
            <a:endParaRPr lang="en-US" sz="1000" dirty="0"/>
          </a:p>
        </p:txBody>
      </p:sp>
      <p:sp>
        <p:nvSpPr>
          <p:cNvPr id="25" name="Shape 19"/>
          <p:cNvSpPr/>
          <p:nvPr/>
        </p:nvSpPr>
        <p:spPr>
          <a:xfrm>
            <a:off x="6803136" y="2560320"/>
            <a:ext cx="283464" cy="237744"/>
          </a:xfrm>
          <a:prstGeom prst="rightArrow">
            <a:avLst/>
          </a:prstGeom>
          <a:solidFill>
            <a:srgbClr val="F59E0B"/>
          </a:solidFill>
          <a:ln/>
        </p:spPr>
      </p:sp>
      <p:sp>
        <p:nvSpPr>
          <p:cNvPr id="26" name="Shape 20"/>
          <p:cNvSpPr/>
          <p:nvPr/>
        </p:nvSpPr>
        <p:spPr>
          <a:xfrm>
            <a:off x="7150608" y="1691640"/>
            <a:ext cx="1783080" cy="1920240"/>
          </a:xfrm>
          <a:prstGeom prst="roundRect">
            <a:avLst>
              <a:gd name="adj" fmla="val 4103"/>
            </a:avLst>
          </a:prstGeom>
          <a:solidFill>
            <a:srgbClr val="FFFFFF"/>
          </a:solidFill>
          <a:ln/>
          <a:effectLst>
            <a:outerShdw sx="100000" sy="100000" kx="0" ky="0" algn="bl" rotWithShape="0" blurRad="63500" dist="25400" dir="5400000">
              <a:srgbClr val="0F2233">
                <a:alpha val="10000"/>
              </a:srgbClr>
            </a:outerShdw>
          </a:effectLst>
        </p:spPr>
      </p:sp>
      <p:sp>
        <p:nvSpPr>
          <p:cNvPr id="27" name="Shape 21"/>
          <p:cNvSpPr/>
          <p:nvPr/>
        </p:nvSpPr>
        <p:spPr>
          <a:xfrm>
            <a:off x="7722108" y="1892808"/>
            <a:ext cx="640080" cy="640080"/>
          </a:xfrm>
          <a:prstGeom prst="ellipse">
            <a:avLst/>
          </a:prstGeom>
          <a:solidFill>
            <a:srgbClr val="F59E0B"/>
          </a:solidFill>
          <a:ln/>
        </p:spPr>
      </p:sp>
      <p:pic>
        <p:nvPicPr>
          <p:cNvPr id="28" name="Image 4" descr="preencoded.png">    </p:cNvPr>
          <p:cNvPicPr>
            <a:picLocks noChangeAspect="1"/>
          </p:cNvPicPr>
          <p:nvPr/>
        </p:nvPicPr>
        <p:blipFill>
          <a:blip r:embed="rId5"/>
          <a:stretch>
            <a:fillRect/>
          </a:stretch>
        </p:blipFill>
        <p:spPr>
          <a:xfrm>
            <a:off x="7894930" y="2065630"/>
            <a:ext cx="294437" cy="294437"/>
          </a:xfrm>
          <a:prstGeom prst="rect">
            <a:avLst/>
          </a:prstGeom>
        </p:spPr>
      </p:pic>
      <p:sp>
        <p:nvSpPr>
          <p:cNvPr id="29" name="Text 22"/>
          <p:cNvSpPr/>
          <p:nvPr/>
        </p:nvSpPr>
        <p:spPr>
          <a:xfrm>
            <a:off x="7150608" y="2606040"/>
            <a:ext cx="1783080" cy="320040"/>
          </a:xfrm>
          <a:prstGeom prst="rect">
            <a:avLst/>
          </a:prstGeom>
          <a:noFill/>
          <a:ln/>
        </p:spPr>
        <p:txBody>
          <a:bodyPr wrap="square" lIns="0" tIns="0" rIns="0" bIns="0" rtlCol="0" anchor="ctr"/>
          <a:lstStyle/>
          <a:p>
            <a:pPr algn="ctr" indent="0" marL="0">
              <a:buNone/>
            </a:pPr>
            <a:r>
              <a:rPr lang="en-US" sz="1400" b="1" dirty="0">
                <a:solidFill>
                  <a:srgbClr val="0F2233"/>
                </a:solidFill>
                <a:latin typeface="Calibri" pitchFamily="34" charset="0"/>
                <a:ea typeface="Calibri" pitchFamily="34" charset="-122"/>
                <a:cs typeface="Calibri" pitchFamily="34" charset="-120"/>
              </a:rPr>
              <a:t>IMPROVE</a:t>
            </a:r>
            <a:endParaRPr lang="en-US" sz="1400" dirty="0"/>
          </a:p>
        </p:txBody>
      </p:sp>
      <p:sp>
        <p:nvSpPr>
          <p:cNvPr id="30" name="Text 23"/>
          <p:cNvSpPr/>
          <p:nvPr/>
        </p:nvSpPr>
        <p:spPr>
          <a:xfrm>
            <a:off x="7260336" y="2953512"/>
            <a:ext cx="1563624" cy="548640"/>
          </a:xfrm>
          <a:prstGeom prst="rect">
            <a:avLst/>
          </a:prstGeom>
          <a:noFill/>
          <a:ln/>
        </p:spPr>
        <p:txBody>
          <a:bodyPr wrap="square" lIns="0" tIns="0" rIns="0" bIns="0" rtlCol="0" anchor="t"/>
          <a:lstStyle/>
          <a:p>
            <a:pPr algn="ctr" indent="0" marL="0">
              <a:buNone/>
            </a:pPr>
            <a:r>
              <a:rPr lang="en-US" sz="1000" dirty="0">
                <a:solidFill>
                  <a:srgbClr val="334155"/>
                </a:solidFill>
                <a:latin typeface="Calibri" pitchFamily="34" charset="0"/>
                <a:ea typeface="Calibri" pitchFamily="34" charset="-122"/>
                <a:cs typeface="Calibri" pitchFamily="34" charset="-120"/>
              </a:rPr>
              <a:t>ship &amp; measure</a:t>
            </a:r>
            <a:endParaRPr lang="en-US" sz="1000" dirty="0"/>
          </a:p>
          <a:p>
            <a:pPr algn="ctr" indent="0" marL="0">
              <a:buNone/>
            </a:pPr>
            <a:r>
              <a:rPr lang="en-US" sz="1000" dirty="0">
                <a:solidFill>
                  <a:srgbClr val="334155"/>
                </a:solidFill>
                <a:latin typeface="Calibri" pitchFamily="34" charset="0"/>
                <a:ea typeface="Calibri" pitchFamily="34" charset="-122"/>
                <a:cs typeface="Calibri" pitchFamily="34" charset="-120"/>
              </a:rPr>
              <a:t>the delta</a:t>
            </a:r>
            <a:endParaRPr lang="en-US" sz="1000" dirty="0"/>
          </a:p>
        </p:txBody>
      </p:sp>
      <p:sp>
        <p:nvSpPr>
          <p:cNvPr id="31" name="Shape 24"/>
          <p:cNvSpPr/>
          <p:nvPr/>
        </p:nvSpPr>
        <p:spPr>
          <a:xfrm>
            <a:off x="1458468" y="3794760"/>
            <a:ext cx="6583680" cy="0"/>
          </a:xfrm>
          <a:prstGeom prst="line">
            <a:avLst/>
          </a:prstGeom>
          <a:noFill/>
          <a:ln w="19050">
            <a:solidFill>
              <a:srgbClr val="64748B"/>
            </a:solidFill>
            <a:prstDash val="dash"/>
            <a:headEnd type="none"/>
            <a:tailEnd type="triangle"/>
          </a:ln>
        </p:spPr>
      </p:sp>
      <p:sp>
        <p:nvSpPr>
          <p:cNvPr id="32" name="Text 25"/>
          <p:cNvSpPr/>
          <p:nvPr/>
        </p:nvSpPr>
        <p:spPr>
          <a:xfrm>
            <a:off x="566928" y="3886200"/>
            <a:ext cx="8229600" cy="274320"/>
          </a:xfrm>
          <a:prstGeom prst="rect">
            <a:avLst/>
          </a:prstGeom>
          <a:noFill/>
          <a:ln/>
        </p:spPr>
        <p:txBody>
          <a:bodyPr wrap="square" lIns="0" tIns="0" rIns="0" bIns="0" rtlCol="0" anchor="ctr"/>
          <a:lstStyle/>
          <a:p>
            <a:pPr algn="ctr" indent="0" marL="0">
              <a:buNone/>
            </a:pPr>
            <a:r>
              <a:rPr lang="en-US" sz="950" i="1" dirty="0">
                <a:solidFill>
                  <a:srgbClr val="64748B"/>
                </a:solidFill>
                <a:latin typeface="Calibri" pitchFamily="34" charset="0"/>
                <a:ea typeface="Calibri" pitchFamily="34" charset="-122"/>
                <a:cs typeface="Calibri" pitchFamily="34" charset="-120"/>
              </a:rPr>
              <a:t>continuous loop — last step feeds the next capture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13</a:t>
            </a:r>
            <a:endParaRPr lang="en-US" sz="850" dirty="0"/>
          </a:p>
        </p:txBody>
      </p:sp>
      <p:sp>
        <p:nvSpPr>
          <p:cNvPr id="4" name="Shape 2"/>
          <p:cNvSpPr/>
          <p:nvPr/>
        </p:nvSpPr>
        <p:spPr>
          <a:xfrm>
            <a:off x="457200" y="384048"/>
            <a:ext cx="566928" cy="566928"/>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Four Kinds of Feedback</a:t>
            </a:r>
            <a:endParaRPr lang="en-US" sz="2600" dirty="0"/>
          </a:p>
        </p:txBody>
      </p:sp>
      <p:sp>
        <p:nvSpPr>
          <p:cNvPr id="7" name="Shape 4"/>
          <p:cNvSpPr/>
          <p:nvPr/>
        </p:nvSpPr>
        <p:spPr>
          <a:xfrm>
            <a:off x="457200" y="1371600"/>
            <a:ext cx="4069080" cy="1481328"/>
          </a:xfrm>
          <a:prstGeom prst="roundRect">
            <a:avLst>
              <a:gd name="adj" fmla="val 4938"/>
            </a:avLst>
          </a:prstGeom>
          <a:solidFill>
            <a:srgbClr val="FFFFFF"/>
          </a:solidFill>
          <a:ln/>
          <a:effectLst>
            <a:outerShdw sx="100000" sy="100000" kx="0" ky="0" algn="bl" rotWithShape="0" blurRad="63500" dist="25400" dir="5400000">
              <a:srgbClr val="0F2233">
                <a:alpha val="10000"/>
              </a:srgbClr>
            </a:outerShdw>
          </a:effectLst>
        </p:spPr>
      </p:sp>
      <p:sp>
        <p:nvSpPr>
          <p:cNvPr id="8" name="Shape 5"/>
          <p:cNvSpPr/>
          <p:nvPr/>
        </p:nvSpPr>
        <p:spPr>
          <a:xfrm>
            <a:off x="685800" y="1627632"/>
            <a:ext cx="640080" cy="640080"/>
          </a:xfrm>
          <a:prstGeom prst="ellipse">
            <a:avLst/>
          </a:prstGeom>
          <a:solidFill>
            <a:srgbClr val="0D9488"/>
          </a:solidFill>
          <a:ln/>
        </p:spPr>
      </p:sp>
      <p:pic>
        <p:nvPicPr>
          <p:cNvPr id="9" name="Image 1" descr="preencoded.png">    </p:cNvPr>
          <p:cNvPicPr>
            <a:picLocks noChangeAspect="1"/>
          </p:cNvPicPr>
          <p:nvPr/>
        </p:nvPicPr>
        <p:blipFill>
          <a:blip r:embed="rId2"/>
          <a:stretch>
            <a:fillRect/>
          </a:stretch>
        </p:blipFill>
        <p:spPr>
          <a:xfrm>
            <a:off x="858622" y="1800454"/>
            <a:ext cx="294437" cy="294437"/>
          </a:xfrm>
          <a:prstGeom prst="rect">
            <a:avLst/>
          </a:prstGeom>
        </p:spPr>
      </p:pic>
      <p:sp>
        <p:nvSpPr>
          <p:cNvPr id="10" name="Text 6"/>
          <p:cNvSpPr/>
          <p:nvPr/>
        </p:nvSpPr>
        <p:spPr>
          <a:xfrm>
            <a:off x="1463040" y="1609344"/>
            <a:ext cx="2971800" cy="411480"/>
          </a:xfrm>
          <a:prstGeom prst="rect">
            <a:avLst/>
          </a:prstGeom>
          <a:noFill/>
          <a:ln/>
        </p:spPr>
        <p:txBody>
          <a:bodyPr wrap="square" lIns="0" tIns="0" rIns="0" bIns="0" rtlCol="0" anchor="ctr"/>
          <a:lstStyle/>
          <a:p>
            <a:pPr indent="0" marL="0">
              <a:buNone/>
            </a:pPr>
            <a:r>
              <a:rPr lang="en-US" sz="1700" b="1" dirty="0">
                <a:solidFill>
                  <a:srgbClr val="0F2233"/>
                </a:solidFill>
                <a:latin typeface="Cambria" pitchFamily="34" charset="0"/>
                <a:ea typeface="Cambria" pitchFamily="34" charset="-122"/>
                <a:cs typeface="Cambria" pitchFamily="34" charset="-120"/>
              </a:rPr>
              <a:t>Implicit</a:t>
            </a:r>
            <a:endParaRPr lang="en-US" sz="1700" dirty="0"/>
          </a:p>
        </p:txBody>
      </p:sp>
      <p:sp>
        <p:nvSpPr>
          <p:cNvPr id="11" name="Text 7"/>
          <p:cNvSpPr/>
          <p:nvPr/>
        </p:nvSpPr>
        <p:spPr>
          <a:xfrm>
            <a:off x="1463040" y="2084832"/>
            <a:ext cx="2880360" cy="68580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Behavioural signals you already have: did the rep contact the lead? did the user accept the draft?</a:t>
            </a:r>
            <a:endParaRPr lang="en-US" sz="1100" dirty="0"/>
          </a:p>
        </p:txBody>
      </p:sp>
      <p:sp>
        <p:nvSpPr>
          <p:cNvPr id="12" name="Shape 8"/>
          <p:cNvSpPr/>
          <p:nvPr/>
        </p:nvSpPr>
        <p:spPr>
          <a:xfrm>
            <a:off x="4690872" y="1371600"/>
            <a:ext cx="4069080" cy="1481328"/>
          </a:xfrm>
          <a:prstGeom prst="roundRect">
            <a:avLst>
              <a:gd name="adj" fmla="val 4938"/>
            </a:avLst>
          </a:prstGeom>
          <a:solidFill>
            <a:srgbClr val="FFFFFF"/>
          </a:solidFill>
          <a:ln/>
          <a:effectLst>
            <a:outerShdw sx="100000" sy="100000" kx="0" ky="0" algn="bl" rotWithShape="0" blurRad="63500" dist="25400" dir="5400000">
              <a:srgbClr val="0F2233">
                <a:alpha val="10000"/>
              </a:srgbClr>
            </a:outerShdw>
          </a:effectLst>
        </p:spPr>
      </p:sp>
      <p:sp>
        <p:nvSpPr>
          <p:cNvPr id="13" name="Shape 9"/>
          <p:cNvSpPr/>
          <p:nvPr/>
        </p:nvSpPr>
        <p:spPr>
          <a:xfrm>
            <a:off x="4919472" y="1627632"/>
            <a:ext cx="640080" cy="640080"/>
          </a:xfrm>
          <a:prstGeom prst="ellipse">
            <a:avLst/>
          </a:prstGeom>
          <a:solidFill>
            <a:srgbClr val="F59E0B"/>
          </a:solidFill>
          <a:ln/>
        </p:spPr>
      </p:sp>
      <p:pic>
        <p:nvPicPr>
          <p:cNvPr id="14" name="Image 2" descr="preencoded.png">    </p:cNvPr>
          <p:cNvPicPr>
            <a:picLocks noChangeAspect="1"/>
          </p:cNvPicPr>
          <p:nvPr/>
        </p:nvPicPr>
        <p:blipFill>
          <a:blip r:embed="rId3"/>
          <a:stretch>
            <a:fillRect/>
          </a:stretch>
        </p:blipFill>
        <p:spPr>
          <a:xfrm>
            <a:off x="5092294" y="1800454"/>
            <a:ext cx="294437" cy="294437"/>
          </a:xfrm>
          <a:prstGeom prst="rect">
            <a:avLst/>
          </a:prstGeom>
        </p:spPr>
      </p:pic>
      <p:sp>
        <p:nvSpPr>
          <p:cNvPr id="15" name="Text 10"/>
          <p:cNvSpPr/>
          <p:nvPr/>
        </p:nvSpPr>
        <p:spPr>
          <a:xfrm>
            <a:off x="5696712" y="1609344"/>
            <a:ext cx="2971800" cy="411480"/>
          </a:xfrm>
          <a:prstGeom prst="rect">
            <a:avLst/>
          </a:prstGeom>
          <a:noFill/>
          <a:ln/>
        </p:spPr>
        <p:txBody>
          <a:bodyPr wrap="square" lIns="0" tIns="0" rIns="0" bIns="0" rtlCol="0" anchor="ctr"/>
          <a:lstStyle/>
          <a:p>
            <a:pPr indent="0" marL="0">
              <a:buNone/>
            </a:pPr>
            <a:r>
              <a:rPr lang="en-US" sz="1700" b="1" dirty="0">
                <a:solidFill>
                  <a:srgbClr val="0F2233"/>
                </a:solidFill>
                <a:latin typeface="Cambria" pitchFamily="34" charset="0"/>
                <a:ea typeface="Cambria" pitchFamily="34" charset="-122"/>
                <a:cs typeface="Cambria" pitchFamily="34" charset="-120"/>
              </a:rPr>
              <a:t>Explicit</a:t>
            </a:r>
            <a:endParaRPr lang="en-US" sz="1700" dirty="0"/>
          </a:p>
        </p:txBody>
      </p:sp>
      <p:sp>
        <p:nvSpPr>
          <p:cNvPr id="16" name="Text 11"/>
          <p:cNvSpPr/>
          <p:nvPr/>
        </p:nvSpPr>
        <p:spPr>
          <a:xfrm>
            <a:off x="5696712" y="2084832"/>
            <a:ext cx="2880360" cy="68580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Thumbs up/down, 1–5 ratings, free-text corrections from users and reviewers.</a:t>
            </a:r>
            <a:endParaRPr lang="en-US" sz="1100" dirty="0"/>
          </a:p>
        </p:txBody>
      </p:sp>
      <p:sp>
        <p:nvSpPr>
          <p:cNvPr id="17" name="Shape 12"/>
          <p:cNvSpPr/>
          <p:nvPr/>
        </p:nvSpPr>
        <p:spPr>
          <a:xfrm>
            <a:off x="457200" y="3035808"/>
            <a:ext cx="4069080" cy="1481328"/>
          </a:xfrm>
          <a:prstGeom prst="roundRect">
            <a:avLst>
              <a:gd name="adj" fmla="val 4938"/>
            </a:avLst>
          </a:prstGeom>
          <a:solidFill>
            <a:srgbClr val="FFFFFF"/>
          </a:solidFill>
          <a:ln/>
          <a:effectLst>
            <a:outerShdw sx="100000" sy="100000" kx="0" ky="0" algn="bl" rotWithShape="0" blurRad="63500" dist="25400" dir="5400000">
              <a:srgbClr val="0F2233">
                <a:alpha val="10000"/>
              </a:srgbClr>
            </a:outerShdw>
          </a:effectLst>
        </p:spPr>
      </p:sp>
      <p:sp>
        <p:nvSpPr>
          <p:cNvPr id="18" name="Shape 13"/>
          <p:cNvSpPr/>
          <p:nvPr/>
        </p:nvSpPr>
        <p:spPr>
          <a:xfrm>
            <a:off x="685800" y="3291840"/>
            <a:ext cx="640080" cy="640080"/>
          </a:xfrm>
          <a:prstGeom prst="ellipse">
            <a:avLst/>
          </a:prstGeom>
          <a:solidFill>
            <a:srgbClr val="0D9488"/>
          </a:solidFill>
          <a:ln/>
        </p:spPr>
      </p:sp>
      <p:pic>
        <p:nvPicPr>
          <p:cNvPr id="19" name="Image 3" descr="preencoded.png">    </p:cNvPr>
          <p:cNvPicPr>
            <a:picLocks noChangeAspect="1"/>
          </p:cNvPicPr>
          <p:nvPr/>
        </p:nvPicPr>
        <p:blipFill>
          <a:blip r:embed="rId4"/>
          <a:stretch>
            <a:fillRect/>
          </a:stretch>
        </p:blipFill>
        <p:spPr>
          <a:xfrm>
            <a:off x="858622" y="3464662"/>
            <a:ext cx="294437" cy="294437"/>
          </a:xfrm>
          <a:prstGeom prst="rect">
            <a:avLst/>
          </a:prstGeom>
        </p:spPr>
      </p:pic>
      <p:sp>
        <p:nvSpPr>
          <p:cNvPr id="20" name="Text 14"/>
          <p:cNvSpPr/>
          <p:nvPr/>
        </p:nvSpPr>
        <p:spPr>
          <a:xfrm>
            <a:off x="1463040" y="3273552"/>
            <a:ext cx="2971800" cy="411480"/>
          </a:xfrm>
          <a:prstGeom prst="rect">
            <a:avLst/>
          </a:prstGeom>
          <a:noFill/>
          <a:ln/>
        </p:spPr>
        <p:txBody>
          <a:bodyPr wrap="square" lIns="0" tIns="0" rIns="0" bIns="0" rtlCol="0" anchor="ctr"/>
          <a:lstStyle/>
          <a:p>
            <a:pPr indent="0" marL="0">
              <a:buNone/>
            </a:pPr>
            <a:r>
              <a:rPr lang="en-US" sz="1700" b="1" dirty="0">
                <a:solidFill>
                  <a:srgbClr val="0F2233"/>
                </a:solidFill>
                <a:latin typeface="Cambria" pitchFamily="34" charset="0"/>
                <a:ea typeface="Cambria" pitchFamily="34" charset="-122"/>
                <a:cs typeface="Cambria" pitchFamily="34" charset="-120"/>
              </a:rPr>
              <a:t>Automated eval</a:t>
            </a:r>
            <a:endParaRPr lang="en-US" sz="1700" dirty="0"/>
          </a:p>
        </p:txBody>
      </p:sp>
      <p:sp>
        <p:nvSpPr>
          <p:cNvPr id="21" name="Text 15"/>
          <p:cNvSpPr/>
          <p:nvPr/>
        </p:nvSpPr>
        <p:spPr>
          <a:xfrm>
            <a:off x="1463040" y="3749040"/>
            <a:ext cx="2880360" cy="68580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LLM-as-judge &amp; rule checks scoring outputs against a rubric, on every run.</a:t>
            </a:r>
            <a:endParaRPr lang="en-US" sz="1100" dirty="0"/>
          </a:p>
        </p:txBody>
      </p:sp>
      <p:sp>
        <p:nvSpPr>
          <p:cNvPr id="22" name="Shape 16"/>
          <p:cNvSpPr/>
          <p:nvPr/>
        </p:nvSpPr>
        <p:spPr>
          <a:xfrm>
            <a:off x="4690872" y="3035808"/>
            <a:ext cx="4069080" cy="1481328"/>
          </a:xfrm>
          <a:prstGeom prst="roundRect">
            <a:avLst>
              <a:gd name="adj" fmla="val 4938"/>
            </a:avLst>
          </a:prstGeom>
          <a:solidFill>
            <a:srgbClr val="FFFFFF"/>
          </a:solidFill>
          <a:ln/>
          <a:effectLst>
            <a:outerShdw sx="100000" sy="100000" kx="0" ky="0" algn="bl" rotWithShape="0" blurRad="63500" dist="25400" dir="5400000">
              <a:srgbClr val="0F2233">
                <a:alpha val="10000"/>
              </a:srgbClr>
            </a:outerShdw>
          </a:effectLst>
        </p:spPr>
      </p:sp>
      <p:sp>
        <p:nvSpPr>
          <p:cNvPr id="23" name="Shape 17"/>
          <p:cNvSpPr/>
          <p:nvPr/>
        </p:nvSpPr>
        <p:spPr>
          <a:xfrm>
            <a:off x="4919472" y="3291840"/>
            <a:ext cx="640080" cy="640080"/>
          </a:xfrm>
          <a:prstGeom prst="ellipse">
            <a:avLst/>
          </a:prstGeom>
          <a:solidFill>
            <a:srgbClr val="F59E0B"/>
          </a:solidFill>
          <a:ln/>
        </p:spPr>
      </p:sp>
      <p:pic>
        <p:nvPicPr>
          <p:cNvPr id="24" name="Image 4" descr="preencoded.png">    </p:cNvPr>
          <p:cNvPicPr>
            <a:picLocks noChangeAspect="1"/>
          </p:cNvPicPr>
          <p:nvPr/>
        </p:nvPicPr>
        <p:blipFill>
          <a:blip r:embed="rId5"/>
          <a:stretch>
            <a:fillRect/>
          </a:stretch>
        </p:blipFill>
        <p:spPr>
          <a:xfrm>
            <a:off x="5092294" y="3464662"/>
            <a:ext cx="294437" cy="294437"/>
          </a:xfrm>
          <a:prstGeom prst="rect">
            <a:avLst/>
          </a:prstGeom>
        </p:spPr>
      </p:pic>
      <p:sp>
        <p:nvSpPr>
          <p:cNvPr id="25" name="Text 18"/>
          <p:cNvSpPr/>
          <p:nvPr/>
        </p:nvSpPr>
        <p:spPr>
          <a:xfrm>
            <a:off x="5696712" y="3273552"/>
            <a:ext cx="2971800" cy="411480"/>
          </a:xfrm>
          <a:prstGeom prst="rect">
            <a:avLst/>
          </a:prstGeom>
          <a:noFill/>
          <a:ln/>
        </p:spPr>
        <p:txBody>
          <a:bodyPr wrap="square" lIns="0" tIns="0" rIns="0" bIns="0" rtlCol="0" anchor="ctr"/>
          <a:lstStyle/>
          <a:p>
            <a:pPr indent="0" marL="0">
              <a:buNone/>
            </a:pPr>
            <a:r>
              <a:rPr lang="en-US" sz="1700" b="1" dirty="0">
                <a:solidFill>
                  <a:srgbClr val="0F2233"/>
                </a:solidFill>
                <a:latin typeface="Cambria" pitchFamily="34" charset="0"/>
                <a:ea typeface="Cambria" pitchFamily="34" charset="-122"/>
                <a:cs typeface="Cambria" pitchFamily="34" charset="-120"/>
              </a:rPr>
              <a:t>Human-in-the-loop</a:t>
            </a:r>
            <a:endParaRPr lang="en-US" sz="1700" dirty="0"/>
          </a:p>
        </p:txBody>
      </p:sp>
      <p:sp>
        <p:nvSpPr>
          <p:cNvPr id="26" name="Text 19"/>
          <p:cNvSpPr/>
          <p:nvPr/>
        </p:nvSpPr>
        <p:spPr>
          <a:xfrm>
            <a:off x="5696712" y="3749040"/>
            <a:ext cx="2880360" cy="68580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Expert review of sampled or high-risk outputs; the gold-standard label set.</a:t>
            </a:r>
            <a:endParaRPr lang="en-US" sz="1100" dirty="0"/>
          </a:p>
        </p:txBody>
      </p:sp>
      <p:sp>
        <p:nvSpPr>
          <p:cNvPr id="27" name="Text 20"/>
          <p:cNvSpPr/>
          <p:nvPr/>
        </p:nvSpPr>
        <p:spPr>
          <a:xfrm>
            <a:off x="457200" y="4617720"/>
            <a:ext cx="8229600" cy="274320"/>
          </a:xfrm>
          <a:prstGeom prst="rect">
            <a:avLst/>
          </a:prstGeom>
          <a:noFill/>
          <a:ln/>
        </p:spPr>
        <p:txBody>
          <a:bodyPr wrap="square" lIns="0" tIns="0" rIns="0" bIns="0" rtlCol="0" anchor="ctr"/>
          <a:lstStyle/>
          <a:p>
            <a:pPr algn="ctr" indent="0" marL="0">
              <a:buNone/>
            </a:pPr>
            <a:r>
              <a:rPr lang="en-US" sz="1050" i="1" dirty="0">
                <a:solidFill>
                  <a:srgbClr val="64748B"/>
                </a:solidFill>
                <a:latin typeface="Calibri" pitchFamily="34" charset="0"/>
                <a:ea typeface="Calibri" pitchFamily="34" charset="-122"/>
                <a:cs typeface="Calibri" pitchFamily="34" charset="-120"/>
              </a:rPr>
              <a:t>Combine them: cheap automated eval on 100% of traffic, expensive human review on a sampled &amp; high-risk slice.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14</a:t>
            </a:r>
            <a:endParaRPr lang="en-US" sz="850" dirty="0"/>
          </a:p>
        </p:txBody>
      </p:sp>
      <p:sp>
        <p:nvSpPr>
          <p:cNvPr id="4" name="Shape 2"/>
          <p:cNvSpPr/>
          <p:nvPr/>
        </p:nvSpPr>
        <p:spPr>
          <a:xfrm>
            <a:off x="457200" y="384048"/>
            <a:ext cx="566928" cy="566928"/>
          </a:xfrm>
          <a:prstGeom prst="ellipse">
            <a:avLst/>
          </a:prstGeom>
          <a:solidFill>
            <a:srgbClr val="F59E0B"/>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Evaluation: Offline, Online &amp; LLM-as-Judge</a:t>
            </a:r>
            <a:endParaRPr lang="en-US" sz="2600" dirty="0"/>
          </a:p>
        </p:txBody>
      </p:sp>
      <p:sp>
        <p:nvSpPr>
          <p:cNvPr id="7" name="Shape 4"/>
          <p:cNvSpPr/>
          <p:nvPr/>
        </p:nvSpPr>
        <p:spPr>
          <a:xfrm>
            <a:off x="457200" y="1371600"/>
            <a:ext cx="2697480" cy="3108960"/>
          </a:xfrm>
          <a:prstGeom prst="roundRect">
            <a:avLst>
              <a:gd name="adj" fmla="val 2712"/>
            </a:avLst>
          </a:prstGeom>
          <a:solidFill>
            <a:srgbClr val="F1F5F9"/>
          </a:solidFill>
          <a:ln/>
          <a:effectLst>
            <a:outerShdw sx="100000" sy="100000" kx="0" ky="0" algn="bl" rotWithShape="0" blurRad="63500" dist="25400" dir="5400000">
              <a:srgbClr val="0F2233">
                <a:alpha val="10000"/>
              </a:srgbClr>
            </a:outerShdw>
          </a:effectLst>
        </p:spPr>
      </p:sp>
      <p:sp>
        <p:nvSpPr>
          <p:cNvPr id="8" name="Text 5"/>
          <p:cNvSpPr/>
          <p:nvPr/>
        </p:nvSpPr>
        <p:spPr>
          <a:xfrm>
            <a:off x="640080" y="1481328"/>
            <a:ext cx="2377440" cy="320040"/>
          </a:xfrm>
          <a:prstGeom prst="rect">
            <a:avLst/>
          </a:prstGeom>
          <a:noFill/>
          <a:ln/>
        </p:spPr>
        <p:txBody>
          <a:bodyPr wrap="square" lIns="0" tIns="0" rIns="0" bIns="0" rtlCol="0" anchor="ctr"/>
          <a:lstStyle/>
          <a:p>
            <a:pPr indent="0" marL="0">
              <a:buNone/>
            </a:pPr>
            <a:r>
              <a:rPr lang="en-US" sz="1500" b="1" dirty="0">
                <a:solidFill>
                  <a:srgbClr val="0D9488"/>
                </a:solidFill>
                <a:latin typeface="Cambria" pitchFamily="34" charset="0"/>
                <a:ea typeface="Cambria" pitchFamily="34" charset="-122"/>
                <a:cs typeface="Cambria" pitchFamily="34" charset="-120"/>
              </a:rPr>
              <a:t>Offline eval</a:t>
            </a:r>
            <a:endParaRPr lang="en-US" sz="1500" dirty="0"/>
          </a:p>
        </p:txBody>
      </p:sp>
      <p:sp>
        <p:nvSpPr>
          <p:cNvPr id="9" name="Text 6"/>
          <p:cNvSpPr/>
          <p:nvPr/>
        </p:nvSpPr>
        <p:spPr>
          <a:xfrm>
            <a:off x="640080" y="1874520"/>
            <a:ext cx="2377440" cy="2468880"/>
          </a:xfrm>
          <a:prstGeom prst="rect">
            <a:avLst/>
          </a:prstGeom>
          <a:noFill/>
          <a:ln/>
        </p:spPr>
        <p:txBody>
          <a:bodyPr wrap="square" lIns="0" tIns="0" rIns="0" bIns="0" rtlCol="0" anchor="t"/>
          <a:lstStyle/>
          <a:p>
            <a:pPr marL="177800" indent="-177800">
              <a:spcAft>
                <a:spcPts val="800"/>
              </a:spcAft>
              <a:buSzPct val="100000"/>
              <a:buChar char="•"/>
            </a:pPr>
            <a:r>
              <a:rPr lang="en-US" sz="1100" dirty="0">
                <a:solidFill>
                  <a:srgbClr val="334155"/>
                </a:solidFill>
                <a:latin typeface="Calibri" pitchFamily="34" charset="0"/>
                <a:ea typeface="Calibri" pitchFamily="34" charset="-122"/>
                <a:cs typeface="Calibri" pitchFamily="34" charset="-120"/>
              </a:rPr>
              <a:t>Fixed golden dataset</a:t>
            </a:r>
            <a:endParaRPr lang="en-US" sz="1100" dirty="0"/>
          </a:p>
          <a:p>
            <a:pPr marL="177800" indent="-177800">
              <a:spcAft>
                <a:spcPts val="800"/>
              </a:spcAft>
              <a:buSzPct val="100000"/>
              <a:buChar char="•"/>
            </a:pPr>
            <a:r>
              <a:rPr lang="en-US" sz="1100" dirty="0">
                <a:solidFill>
                  <a:srgbClr val="334155"/>
                </a:solidFill>
                <a:latin typeface="Calibri" pitchFamily="34" charset="0"/>
                <a:ea typeface="Calibri" pitchFamily="34" charset="-122"/>
                <a:cs typeface="Calibri" pitchFamily="34" charset="-120"/>
              </a:rPr>
              <a:t>Run before deploy</a:t>
            </a:r>
            <a:endParaRPr lang="en-US" sz="1100" dirty="0"/>
          </a:p>
          <a:p>
            <a:pPr marL="177800" indent="-177800">
              <a:spcAft>
                <a:spcPts val="800"/>
              </a:spcAft>
              <a:buSzPct val="100000"/>
              <a:buChar char="•"/>
            </a:pPr>
            <a:r>
              <a:rPr lang="en-US" sz="1100" dirty="0">
                <a:solidFill>
                  <a:srgbClr val="334155"/>
                </a:solidFill>
                <a:latin typeface="Calibri" pitchFamily="34" charset="0"/>
                <a:ea typeface="Calibri" pitchFamily="34" charset="-122"/>
                <a:cs typeface="Calibri" pitchFamily="34" charset="-120"/>
              </a:rPr>
              <a:t>Regression gate in CI</a:t>
            </a:r>
            <a:endParaRPr lang="en-US" sz="1100" dirty="0"/>
          </a:p>
          <a:p>
            <a:pPr marL="177800" indent="-177800">
              <a:spcAft>
                <a:spcPts val="800"/>
              </a:spcAft>
              <a:buSzPct val="100000"/>
              <a:buChar char="•"/>
            </a:pPr>
            <a:r>
              <a:rPr lang="en-US" sz="1100" dirty="0">
                <a:solidFill>
                  <a:srgbClr val="334155"/>
                </a:solidFill>
                <a:latin typeface="Calibri" pitchFamily="34" charset="0"/>
                <a:ea typeface="Calibri" pitchFamily="34" charset="-122"/>
                <a:cs typeface="Calibri" pitchFamily="34" charset="-120"/>
              </a:rPr>
              <a:t>Reproducible &amp; cheap</a:t>
            </a:r>
            <a:endParaRPr lang="en-US" sz="1100" dirty="0"/>
          </a:p>
          <a:p>
            <a:pPr marL="177800" indent="-177800">
              <a:spcAft>
                <a:spcPts val="800"/>
              </a:spcAft>
              <a:buSzPct val="100000"/>
              <a:buChar char="•"/>
            </a:pPr>
            <a:r>
              <a:rPr lang="en-US" sz="1100" dirty="0">
                <a:solidFill>
                  <a:srgbClr val="334155"/>
                </a:solidFill>
                <a:latin typeface="Calibri" pitchFamily="34" charset="0"/>
                <a:ea typeface="Calibri" pitchFamily="34" charset="-122"/>
                <a:cs typeface="Calibri" pitchFamily="34" charset="-120"/>
              </a:rPr>
              <a:t>Can't catch real-world drift</a:t>
            </a:r>
            <a:endParaRPr lang="en-US" sz="1100" dirty="0"/>
          </a:p>
        </p:txBody>
      </p:sp>
      <p:sp>
        <p:nvSpPr>
          <p:cNvPr id="10" name="Shape 7"/>
          <p:cNvSpPr/>
          <p:nvPr/>
        </p:nvSpPr>
        <p:spPr>
          <a:xfrm>
            <a:off x="3246120" y="1371600"/>
            <a:ext cx="2697480" cy="3108960"/>
          </a:xfrm>
          <a:prstGeom prst="roundRect">
            <a:avLst>
              <a:gd name="adj" fmla="val 2712"/>
            </a:avLst>
          </a:prstGeom>
          <a:solidFill>
            <a:srgbClr val="F1F5F9"/>
          </a:solidFill>
          <a:ln/>
          <a:effectLst>
            <a:outerShdw sx="100000" sy="100000" kx="0" ky="0" algn="bl" rotWithShape="0" blurRad="63500" dist="25400" dir="5400000">
              <a:srgbClr val="0F2233">
                <a:alpha val="10000"/>
              </a:srgbClr>
            </a:outerShdw>
          </a:effectLst>
        </p:spPr>
      </p:sp>
      <p:sp>
        <p:nvSpPr>
          <p:cNvPr id="11" name="Text 8"/>
          <p:cNvSpPr/>
          <p:nvPr/>
        </p:nvSpPr>
        <p:spPr>
          <a:xfrm>
            <a:off x="3429000" y="1481328"/>
            <a:ext cx="2377440" cy="320040"/>
          </a:xfrm>
          <a:prstGeom prst="rect">
            <a:avLst/>
          </a:prstGeom>
          <a:noFill/>
          <a:ln/>
        </p:spPr>
        <p:txBody>
          <a:bodyPr wrap="square" lIns="0" tIns="0" rIns="0" bIns="0" rtlCol="0" anchor="ctr"/>
          <a:lstStyle/>
          <a:p>
            <a:pPr indent="0" marL="0">
              <a:buNone/>
            </a:pPr>
            <a:r>
              <a:rPr lang="en-US" sz="1500" b="1" dirty="0">
                <a:solidFill>
                  <a:srgbClr val="F59E0B"/>
                </a:solidFill>
                <a:latin typeface="Cambria" pitchFamily="34" charset="0"/>
                <a:ea typeface="Cambria" pitchFamily="34" charset="-122"/>
                <a:cs typeface="Cambria" pitchFamily="34" charset="-120"/>
              </a:rPr>
              <a:t>Online eval</a:t>
            </a:r>
            <a:endParaRPr lang="en-US" sz="1500" dirty="0"/>
          </a:p>
        </p:txBody>
      </p:sp>
      <p:sp>
        <p:nvSpPr>
          <p:cNvPr id="12" name="Text 9"/>
          <p:cNvSpPr/>
          <p:nvPr/>
        </p:nvSpPr>
        <p:spPr>
          <a:xfrm>
            <a:off x="3429000" y="1874520"/>
            <a:ext cx="2377440" cy="2468880"/>
          </a:xfrm>
          <a:prstGeom prst="rect">
            <a:avLst/>
          </a:prstGeom>
          <a:noFill/>
          <a:ln/>
        </p:spPr>
        <p:txBody>
          <a:bodyPr wrap="square" lIns="0" tIns="0" rIns="0" bIns="0" rtlCol="0" anchor="t"/>
          <a:lstStyle/>
          <a:p>
            <a:pPr marL="177800" indent="-177800">
              <a:spcAft>
                <a:spcPts val="800"/>
              </a:spcAft>
              <a:buSzPct val="100000"/>
              <a:buChar char="•"/>
            </a:pPr>
            <a:r>
              <a:rPr lang="en-US" sz="1100" dirty="0">
                <a:solidFill>
                  <a:srgbClr val="334155"/>
                </a:solidFill>
                <a:latin typeface="Calibri" pitchFamily="34" charset="0"/>
                <a:ea typeface="Calibri" pitchFamily="34" charset="-122"/>
                <a:cs typeface="Calibri" pitchFamily="34" charset="-120"/>
              </a:rPr>
              <a:t>Live production traffic</a:t>
            </a:r>
            <a:endParaRPr lang="en-US" sz="1100" dirty="0"/>
          </a:p>
          <a:p>
            <a:pPr marL="177800" indent="-177800">
              <a:spcAft>
                <a:spcPts val="800"/>
              </a:spcAft>
              <a:buSzPct val="100000"/>
              <a:buChar char="•"/>
            </a:pPr>
            <a:r>
              <a:rPr lang="en-US" sz="1100" dirty="0">
                <a:solidFill>
                  <a:srgbClr val="334155"/>
                </a:solidFill>
                <a:latin typeface="Calibri" pitchFamily="34" charset="0"/>
                <a:ea typeface="Calibri" pitchFamily="34" charset="-122"/>
                <a:cs typeface="Calibri" pitchFamily="34" charset="-120"/>
              </a:rPr>
              <a:t>A/B &amp; canary releases</a:t>
            </a:r>
            <a:endParaRPr lang="en-US" sz="1100" dirty="0"/>
          </a:p>
          <a:p>
            <a:pPr marL="177800" indent="-177800">
              <a:spcAft>
                <a:spcPts val="800"/>
              </a:spcAft>
              <a:buSzPct val="100000"/>
              <a:buChar char="•"/>
            </a:pPr>
            <a:r>
              <a:rPr lang="en-US" sz="1100" dirty="0">
                <a:solidFill>
                  <a:srgbClr val="334155"/>
                </a:solidFill>
                <a:latin typeface="Calibri" pitchFamily="34" charset="0"/>
                <a:ea typeface="Calibri" pitchFamily="34" charset="-122"/>
                <a:cs typeface="Calibri" pitchFamily="34" charset="-120"/>
              </a:rPr>
              <a:t>Real user/sales signals</a:t>
            </a:r>
            <a:endParaRPr lang="en-US" sz="1100" dirty="0"/>
          </a:p>
          <a:p>
            <a:pPr marL="177800" indent="-177800">
              <a:spcAft>
                <a:spcPts val="800"/>
              </a:spcAft>
              <a:buSzPct val="100000"/>
              <a:buChar char="•"/>
            </a:pPr>
            <a:r>
              <a:rPr lang="en-US" sz="1100" dirty="0">
                <a:solidFill>
                  <a:srgbClr val="334155"/>
                </a:solidFill>
                <a:latin typeface="Calibri" pitchFamily="34" charset="0"/>
                <a:ea typeface="Calibri" pitchFamily="34" charset="-122"/>
                <a:cs typeface="Calibri" pitchFamily="34" charset="-120"/>
              </a:rPr>
              <a:t>Catches drift &amp; edge cases</a:t>
            </a:r>
            <a:endParaRPr lang="en-US" sz="1100" dirty="0"/>
          </a:p>
          <a:p>
            <a:pPr marL="177800" indent="-177800">
              <a:spcAft>
                <a:spcPts val="800"/>
              </a:spcAft>
              <a:buSzPct val="100000"/>
              <a:buChar char="•"/>
            </a:pPr>
            <a:r>
              <a:rPr lang="en-US" sz="1100" dirty="0">
                <a:solidFill>
                  <a:srgbClr val="334155"/>
                </a:solidFill>
                <a:latin typeface="Calibri" pitchFamily="34" charset="0"/>
                <a:ea typeface="Calibri" pitchFamily="34" charset="-122"/>
                <a:cs typeface="Calibri" pitchFamily="34" charset="-120"/>
              </a:rPr>
              <a:t>Noisier, needs guardrails</a:t>
            </a:r>
            <a:endParaRPr lang="en-US" sz="1100" dirty="0"/>
          </a:p>
        </p:txBody>
      </p:sp>
      <p:sp>
        <p:nvSpPr>
          <p:cNvPr id="13" name="Shape 10"/>
          <p:cNvSpPr/>
          <p:nvPr/>
        </p:nvSpPr>
        <p:spPr>
          <a:xfrm>
            <a:off x="6035040" y="1371600"/>
            <a:ext cx="2651760" cy="3108960"/>
          </a:xfrm>
          <a:prstGeom prst="roundRect">
            <a:avLst>
              <a:gd name="adj" fmla="val 2759"/>
            </a:avLst>
          </a:prstGeom>
          <a:solidFill>
            <a:srgbClr val="0E2A3B"/>
          </a:solidFill>
          <a:ln/>
          <a:effectLst>
            <a:outerShdw sx="100000" sy="100000" kx="0" ky="0" algn="bl" rotWithShape="0" blurRad="63500" dist="25400" dir="5400000">
              <a:srgbClr val="0F2233">
                <a:alpha val="10000"/>
              </a:srgbClr>
            </a:outerShdw>
          </a:effectLst>
        </p:spPr>
      </p:sp>
      <p:sp>
        <p:nvSpPr>
          <p:cNvPr id="14" name="Text 11"/>
          <p:cNvSpPr/>
          <p:nvPr/>
        </p:nvSpPr>
        <p:spPr>
          <a:xfrm>
            <a:off x="6217920" y="1481328"/>
            <a:ext cx="2377440" cy="320040"/>
          </a:xfrm>
          <a:prstGeom prst="rect">
            <a:avLst/>
          </a:prstGeom>
          <a:noFill/>
          <a:ln/>
        </p:spPr>
        <p:txBody>
          <a:bodyPr wrap="square" lIns="0" tIns="0" rIns="0" bIns="0" rtlCol="0" anchor="ctr"/>
          <a:lstStyle/>
          <a:p>
            <a:pPr indent="0" marL="0">
              <a:buNone/>
            </a:pPr>
            <a:r>
              <a:rPr lang="en-US" sz="1500" b="1" dirty="0">
                <a:solidFill>
                  <a:srgbClr val="5EEAD4"/>
                </a:solidFill>
                <a:latin typeface="Cambria" pitchFamily="34" charset="0"/>
                <a:ea typeface="Cambria" pitchFamily="34" charset="-122"/>
                <a:cs typeface="Cambria" pitchFamily="34" charset="-120"/>
              </a:rPr>
              <a:t>LLM-as-judge</a:t>
            </a:r>
            <a:endParaRPr lang="en-US" sz="1500" dirty="0"/>
          </a:p>
        </p:txBody>
      </p:sp>
      <p:sp>
        <p:nvSpPr>
          <p:cNvPr id="15" name="Text 12"/>
          <p:cNvSpPr/>
          <p:nvPr/>
        </p:nvSpPr>
        <p:spPr>
          <a:xfrm>
            <a:off x="6217920" y="1874520"/>
            <a:ext cx="2331720" cy="2468880"/>
          </a:xfrm>
          <a:prstGeom prst="rect">
            <a:avLst/>
          </a:prstGeom>
          <a:noFill/>
          <a:ln/>
        </p:spPr>
        <p:txBody>
          <a:bodyPr wrap="square" lIns="0" tIns="0" rIns="0" bIns="0" rtlCol="0" anchor="t"/>
          <a:lstStyle/>
          <a:p>
            <a:pPr marL="165100" indent="-165100">
              <a:spcAft>
                <a:spcPts val="800"/>
              </a:spcAft>
              <a:buSzPct val="100000"/>
              <a:buChar char="•"/>
            </a:pPr>
            <a:r>
              <a:rPr lang="en-US" sz="1100" dirty="0">
                <a:solidFill>
                  <a:srgbClr val="DCEAE6"/>
                </a:solidFill>
                <a:latin typeface="Calibri" pitchFamily="34" charset="0"/>
                <a:ea typeface="Calibri" pitchFamily="34" charset="-122"/>
                <a:cs typeface="Calibri" pitchFamily="34" charset="-120"/>
              </a:rPr>
              <a:t>Scores output vs a rubric</a:t>
            </a:r>
            <a:endParaRPr lang="en-US" sz="1100" dirty="0"/>
          </a:p>
          <a:p>
            <a:pPr marL="165100" indent="-165100">
              <a:spcAft>
                <a:spcPts val="800"/>
              </a:spcAft>
              <a:buSzPct val="100000"/>
              <a:buChar char="•"/>
            </a:pPr>
            <a:r>
              <a:rPr lang="en-US" sz="1100" dirty="0">
                <a:solidFill>
                  <a:srgbClr val="DCEAE6"/>
                </a:solidFill>
                <a:latin typeface="Calibri" pitchFamily="34" charset="0"/>
                <a:ea typeface="Calibri" pitchFamily="34" charset="-122"/>
                <a:cs typeface="Calibri" pitchFamily="34" charset="-120"/>
              </a:rPr>
              <a:t>Scales eval to 100% traffic</a:t>
            </a:r>
            <a:endParaRPr lang="en-US" sz="1100" dirty="0"/>
          </a:p>
          <a:p>
            <a:pPr marL="165100" indent="-165100">
              <a:spcAft>
                <a:spcPts val="800"/>
              </a:spcAft>
              <a:buSzPct val="100000"/>
              <a:buChar char="•"/>
            </a:pPr>
            <a:r>
              <a:rPr lang="en-US" sz="1100" dirty="0">
                <a:solidFill>
                  <a:srgbClr val="DCEAE6"/>
                </a:solidFill>
                <a:latin typeface="Calibri" pitchFamily="34" charset="0"/>
                <a:ea typeface="Calibri" pitchFamily="34" charset="-122"/>
                <a:cs typeface="Calibri" pitchFamily="34" charset="-120"/>
              </a:rPr>
              <a:t>Use a strong model as judge</a:t>
            </a:r>
            <a:endParaRPr lang="en-US" sz="1100" dirty="0"/>
          </a:p>
          <a:p>
            <a:pPr marL="165100" indent="-165100">
              <a:spcAft>
                <a:spcPts val="800"/>
              </a:spcAft>
              <a:buSzPct val="100000"/>
              <a:buChar char="•"/>
            </a:pPr>
            <a:r>
              <a:rPr lang="en-US" sz="1100" dirty="0">
                <a:solidFill>
                  <a:srgbClr val="DCEAE6"/>
                </a:solidFill>
                <a:latin typeface="Calibri" pitchFamily="34" charset="0"/>
                <a:ea typeface="Calibri" pitchFamily="34" charset="-122"/>
                <a:cs typeface="Calibri" pitchFamily="34" charset="-120"/>
              </a:rPr>
              <a:t>⚠ position &amp; verbosity bias</a:t>
            </a:r>
            <a:endParaRPr lang="en-US" sz="1100" dirty="0"/>
          </a:p>
          <a:p>
            <a:pPr marL="165100" indent="-165100">
              <a:spcAft>
                <a:spcPts val="800"/>
              </a:spcAft>
              <a:buSzPct val="100000"/>
              <a:buChar char="•"/>
            </a:pPr>
            <a:r>
              <a:rPr lang="en-US" sz="1100" dirty="0">
                <a:solidFill>
                  <a:srgbClr val="DCEAE6"/>
                </a:solidFill>
                <a:latin typeface="Calibri" pitchFamily="34" charset="0"/>
                <a:ea typeface="Calibri" pitchFamily="34" charset="-122"/>
                <a:cs typeface="Calibri" pitchFamily="34" charset="-120"/>
              </a:rPr>
              <a:t>⚠ validate vs human labels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2A3B"/>
        </a:solidFill>
      </p:bgPr>
    </p:bg>
    <p:spTree>
      <p:nvGrpSpPr>
        <p:cNvPr id="1" name=""/>
        <p:cNvGrpSpPr/>
        <p:nvPr/>
      </p:nvGrpSpPr>
      <p:grpSpPr>
        <a:xfrm>
          <a:off x="0" y="0"/>
          <a:ext cx="0" cy="0"/>
          <a:chOff x="0" y="0"/>
          <a:chExt cx="0" cy="0"/>
        </a:xfrm>
      </p:grpSpPr>
      <p:sp>
        <p:nvSpPr>
          <p:cNvPr id="2" name="Shape 0"/>
          <p:cNvSpPr/>
          <p:nvPr/>
        </p:nvSpPr>
        <p:spPr>
          <a:xfrm>
            <a:off x="640080" y="502920"/>
            <a:ext cx="822960" cy="822960"/>
          </a:xfrm>
          <a:prstGeom prst="ellipse">
            <a:avLst/>
          </a:prstGeom>
          <a:solidFill>
            <a:srgbClr val="0D9488"/>
          </a:solidFill>
          <a:ln/>
        </p:spPr>
      </p:sp>
      <p:pic>
        <p:nvPicPr>
          <p:cNvPr id="3" name="Image 0" descr="preencoded.png">    </p:cNvPr>
          <p:cNvPicPr>
            <a:picLocks noChangeAspect="1"/>
          </p:cNvPicPr>
          <p:nvPr/>
        </p:nvPicPr>
        <p:blipFill>
          <a:blip r:embed="rId1"/>
          <a:stretch>
            <a:fillRect/>
          </a:stretch>
        </p:blipFill>
        <p:spPr>
          <a:xfrm>
            <a:off x="862279" y="725119"/>
            <a:ext cx="378562" cy="378562"/>
          </a:xfrm>
          <a:prstGeom prst="rect">
            <a:avLst/>
          </a:prstGeom>
        </p:spPr>
      </p:pic>
      <p:sp>
        <p:nvSpPr>
          <p:cNvPr id="4" name="Text 1"/>
          <p:cNvSpPr/>
          <p:nvPr/>
        </p:nvSpPr>
        <p:spPr>
          <a:xfrm>
            <a:off x="713232" y="1463040"/>
            <a:ext cx="5486400" cy="320040"/>
          </a:xfrm>
          <a:prstGeom prst="rect">
            <a:avLst/>
          </a:prstGeom>
          <a:noFill/>
          <a:ln/>
        </p:spPr>
        <p:txBody>
          <a:bodyPr wrap="square" lIns="0" tIns="0" rIns="0" bIns="0" rtlCol="0" anchor="ctr"/>
          <a:lstStyle/>
          <a:p>
            <a:pPr indent="0" marL="0">
              <a:buNone/>
            </a:pPr>
            <a:r>
              <a:rPr lang="en-US" sz="1300" b="1" spc="300" kern="0" dirty="0">
                <a:solidFill>
                  <a:srgbClr val="5EEAD4"/>
                </a:solidFill>
                <a:latin typeface="Calibri" pitchFamily="34" charset="0"/>
                <a:ea typeface="Calibri" pitchFamily="34" charset="-122"/>
                <a:cs typeface="Calibri" pitchFamily="34" charset="-120"/>
              </a:rPr>
              <a:t>HANDS-ON</a:t>
            </a:r>
            <a:endParaRPr lang="en-US" sz="1300" dirty="0"/>
          </a:p>
        </p:txBody>
      </p:sp>
      <p:sp>
        <p:nvSpPr>
          <p:cNvPr id="5" name="Text 2"/>
          <p:cNvSpPr/>
          <p:nvPr/>
        </p:nvSpPr>
        <p:spPr>
          <a:xfrm>
            <a:off x="658368" y="1783080"/>
            <a:ext cx="804672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Colab 1 — Observability &amp; Guardrails Toolkit</a:t>
            </a:r>
            <a:endParaRPr lang="en-US" sz="2800" dirty="0"/>
          </a:p>
        </p:txBody>
      </p:sp>
      <p:sp>
        <p:nvSpPr>
          <p:cNvPr id="6" name="Text 3"/>
          <p:cNvSpPr/>
          <p:nvPr/>
        </p:nvSpPr>
        <p:spPr>
          <a:xfrm>
            <a:off x="685800" y="2468880"/>
            <a:ext cx="7863840" cy="548640"/>
          </a:xfrm>
          <a:prstGeom prst="rect">
            <a:avLst/>
          </a:prstGeom>
          <a:noFill/>
          <a:ln/>
        </p:spPr>
        <p:txBody>
          <a:bodyPr wrap="square" lIns="0" tIns="0" rIns="0" bIns="0" rtlCol="0" anchor="ctr"/>
          <a:lstStyle/>
          <a:p>
            <a:pPr indent="0" marL="0">
              <a:buNone/>
            </a:pPr>
            <a:r>
              <a:rPr lang="en-US" sz="1350" dirty="0">
                <a:solidFill>
                  <a:srgbClr val="CFE6E1"/>
                </a:solidFill>
                <a:latin typeface="Calibri" pitchFamily="34" charset="0"/>
                <a:ea typeface="Calibri" pitchFamily="34" charset="-122"/>
                <a:cs typeface="Calibri" pitchFamily="34" charset="-120"/>
              </a:rPr>
              <a:t>You'll instrument a small research → summarise → notify pipeline with the exact tools we just covered, then reuse them in the capstone.</a:t>
            </a:r>
            <a:endParaRPr lang="en-US" sz="1350" dirty="0"/>
          </a:p>
        </p:txBody>
      </p:sp>
      <p:sp>
        <p:nvSpPr>
          <p:cNvPr id="7" name="Shape 4"/>
          <p:cNvSpPr/>
          <p:nvPr/>
        </p:nvSpPr>
        <p:spPr>
          <a:xfrm>
            <a:off x="640080" y="3200400"/>
            <a:ext cx="2670048" cy="1417320"/>
          </a:xfrm>
          <a:prstGeom prst="roundRect">
            <a:avLst>
              <a:gd name="adj" fmla="val 5161"/>
            </a:avLst>
          </a:prstGeom>
          <a:solidFill>
            <a:srgbClr val="14405A"/>
          </a:solidFill>
          <a:ln/>
        </p:spPr>
      </p:sp>
      <p:sp>
        <p:nvSpPr>
          <p:cNvPr id="8" name="Shape 5"/>
          <p:cNvSpPr/>
          <p:nvPr/>
        </p:nvSpPr>
        <p:spPr>
          <a:xfrm>
            <a:off x="841248" y="3383280"/>
            <a:ext cx="502920" cy="502920"/>
          </a:xfrm>
          <a:prstGeom prst="ellipse">
            <a:avLst/>
          </a:prstGeom>
          <a:solidFill>
            <a:srgbClr val="0D9488"/>
          </a:solidFill>
          <a:ln/>
        </p:spPr>
      </p:sp>
      <p:pic>
        <p:nvPicPr>
          <p:cNvPr id="9" name="Image 1" descr="preencoded.png">    </p:cNvPr>
          <p:cNvPicPr>
            <a:picLocks noChangeAspect="1"/>
          </p:cNvPicPr>
          <p:nvPr/>
        </p:nvPicPr>
        <p:blipFill>
          <a:blip r:embed="rId2"/>
          <a:stretch>
            <a:fillRect/>
          </a:stretch>
        </p:blipFill>
        <p:spPr>
          <a:xfrm>
            <a:off x="977036" y="3519068"/>
            <a:ext cx="231343" cy="231343"/>
          </a:xfrm>
          <a:prstGeom prst="rect">
            <a:avLst/>
          </a:prstGeom>
        </p:spPr>
      </p:pic>
      <p:sp>
        <p:nvSpPr>
          <p:cNvPr id="10" name="Text 6"/>
          <p:cNvSpPr/>
          <p:nvPr/>
        </p:nvSpPr>
        <p:spPr>
          <a:xfrm>
            <a:off x="1463040" y="3401568"/>
            <a:ext cx="1755648"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Trace &amp; log</a:t>
            </a:r>
            <a:endParaRPr lang="en-US" sz="1400" dirty="0"/>
          </a:p>
        </p:txBody>
      </p:sp>
      <p:sp>
        <p:nvSpPr>
          <p:cNvPr id="11" name="Text 7"/>
          <p:cNvSpPr/>
          <p:nvPr/>
        </p:nvSpPr>
        <p:spPr>
          <a:xfrm>
            <a:off x="841248" y="3950208"/>
            <a:ext cx="2267712" cy="548640"/>
          </a:xfrm>
          <a:prstGeom prst="rect">
            <a:avLst/>
          </a:prstGeom>
          <a:noFill/>
          <a:ln/>
        </p:spPr>
        <p:txBody>
          <a:bodyPr wrap="square" lIns="0" tIns="0" rIns="0" bIns="0" rtlCol="0" anchor="t"/>
          <a:lstStyle/>
          <a:p>
            <a:pPr indent="0" marL="0">
              <a:buNone/>
            </a:pPr>
            <a:r>
              <a:rPr lang="en-US" sz="1050" dirty="0">
                <a:solidFill>
                  <a:srgbClr val="B9CCD4"/>
                </a:solidFill>
                <a:latin typeface="Calibri" pitchFamily="34" charset="0"/>
                <a:ea typeface="Calibri" pitchFamily="34" charset="-122"/>
                <a:cs typeface="Calibri" pitchFamily="34" charset="-120"/>
              </a:rPr>
              <a:t>Span context manager, JSON logger, call telemetry</a:t>
            </a:r>
            <a:endParaRPr lang="en-US" sz="1050" dirty="0"/>
          </a:p>
        </p:txBody>
      </p:sp>
      <p:sp>
        <p:nvSpPr>
          <p:cNvPr id="12" name="Shape 8"/>
          <p:cNvSpPr/>
          <p:nvPr/>
        </p:nvSpPr>
        <p:spPr>
          <a:xfrm>
            <a:off x="3474720" y="3200400"/>
            <a:ext cx="2670048" cy="1417320"/>
          </a:xfrm>
          <a:prstGeom prst="roundRect">
            <a:avLst>
              <a:gd name="adj" fmla="val 5161"/>
            </a:avLst>
          </a:prstGeom>
          <a:solidFill>
            <a:srgbClr val="14405A"/>
          </a:solidFill>
          <a:ln/>
        </p:spPr>
      </p:sp>
      <p:sp>
        <p:nvSpPr>
          <p:cNvPr id="13" name="Shape 9"/>
          <p:cNvSpPr/>
          <p:nvPr/>
        </p:nvSpPr>
        <p:spPr>
          <a:xfrm>
            <a:off x="3675888" y="3383280"/>
            <a:ext cx="502920" cy="502920"/>
          </a:xfrm>
          <a:prstGeom prst="ellipse">
            <a:avLst/>
          </a:prstGeom>
          <a:solidFill>
            <a:srgbClr val="0D9488"/>
          </a:solidFill>
          <a:ln/>
        </p:spPr>
      </p:sp>
      <p:pic>
        <p:nvPicPr>
          <p:cNvPr id="14" name="Image 2" descr="preencoded.png">    </p:cNvPr>
          <p:cNvPicPr>
            <a:picLocks noChangeAspect="1"/>
          </p:cNvPicPr>
          <p:nvPr/>
        </p:nvPicPr>
        <p:blipFill>
          <a:blip r:embed="rId3"/>
          <a:stretch>
            <a:fillRect/>
          </a:stretch>
        </p:blipFill>
        <p:spPr>
          <a:xfrm>
            <a:off x="3811676" y="3519068"/>
            <a:ext cx="231343" cy="231343"/>
          </a:xfrm>
          <a:prstGeom prst="rect">
            <a:avLst/>
          </a:prstGeom>
        </p:spPr>
      </p:pic>
      <p:sp>
        <p:nvSpPr>
          <p:cNvPr id="15" name="Text 10"/>
          <p:cNvSpPr/>
          <p:nvPr/>
        </p:nvSpPr>
        <p:spPr>
          <a:xfrm>
            <a:off x="4297680" y="3401568"/>
            <a:ext cx="1755648"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Guardrails</a:t>
            </a:r>
            <a:endParaRPr lang="en-US" sz="1400" dirty="0"/>
          </a:p>
        </p:txBody>
      </p:sp>
      <p:sp>
        <p:nvSpPr>
          <p:cNvPr id="16" name="Text 11"/>
          <p:cNvSpPr/>
          <p:nvPr/>
        </p:nvSpPr>
        <p:spPr>
          <a:xfrm>
            <a:off x="3675888" y="3950208"/>
            <a:ext cx="2267712" cy="548640"/>
          </a:xfrm>
          <a:prstGeom prst="rect">
            <a:avLst/>
          </a:prstGeom>
          <a:noFill/>
          <a:ln/>
        </p:spPr>
        <p:txBody>
          <a:bodyPr wrap="square" lIns="0" tIns="0" rIns="0" bIns="0" rtlCol="0" anchor="t"/>
          <a:lstStyle/>
          <a:p>
            <a:pPr indent="0" marL="0">
              <a:buNone/>
            </a:pPr>
            <a:r>
              <a:rPr lang="en-US" sz="1050" dirty="0">
                <a:solidFill>
                  <a:srgbClr val="B9CCD4"/>
                </a:solidFill>
                <a:latin typeface="Calibri" pitchFamily="34" charset="0"/>
                <a:ea typeface="Calibri" pitchFamily="34" charset="-122"/>
                <a:cs typeface="Calibri" pitchFamily="34" charset="-120"/>
              </a:rPr>
              <a:t>Input validation, injection check, PII redaction</a:t>
            </a:r>
            <a:endParaRPr lang="en-US" sz="1050" dirty="0"/>
          </a:p>
        </p:txBody>
      </p:sp>
      <p:sp>
        <p:nvSpPr>
          <p:cNvPr id="17" name="Shape 12"/>
          <p:cNvSpPr/>
          <p:nvPr/>
        </p:nvSpPr>
        <p:spPr>
          <a:xfrm>
            <a:off x="6309360" y="3200400"/>
            <a:ext cx="2670048" cy="1417320"/>
          </a:xfrm>
          <a:prstGeom prst="roundRect">
            <a:avLst>
              <a:gd name="adj" fmla="val 5161"/>
            </a:avLst>
          </a:prstGeom>
          <a:solidFill>
            <a:srgbClr val="14405A"/>
          </a:solidFill>
          <a:ln/>
        </p:spPr>
      </p:sp>
      <p:sp>
        <p:nvSpPr>
          <p:cNvPr id="18" name="Shape 13"/>
          <p:cNvSpPr/>
          <p:nvPr/>
        </p:nvSpPr>
        <p:spPr>
          <a:xfrm>
            <a:off x="6510528" y="3383280"/>
            <a:ext cx="502920" cy="502920"/>
          </a:xfrm>
          <a:prstGeom prst="ellipse">
            <a:avLst/>
          </a:prstGeom>
          <a:solidFill>
            <a:srgbClr val="0D9488"/>
          </a:solidFill>
          <a:ln/>
        </p:spPr>
      </p:sp>
      <p:pic>
        <p:nvPicPr>
          <p:cNvPr id="19" name="Image 3" descr="preencoded.png">    </p:cNvPr>
          <p:cNvPicPr>
            <a:picLocks noChangeAspect="1"/>
          </p:cNvPicPr>
          <p:nvPr/>
        </p:nvPicPr>
        <p:blipFill>
          <a:blip r:embed="rId4"/>
          <a:stretch>
            <a:fillRect/>
          </a:stretch>
        </p:blipFill>
        <p:spPr>
          <a:xfrm>
            <a:off x="6646316" y="3519068"/>
            <a:ext cx="231343" cy="231343"/>
          </a:xfrm>
          <a:prstGeom prst="rect">
            <a:avLst/>
          </a:prstGeom>
        </p:spPr>
      </p:pic>
      <p:sp>
        <p:nvSpPr>
          <p:cNvPr id="20" name="Text 14"/>
          <p:cNvSpPr/>
          <p:nvPr/>
        </p:nvSpPr>
        <p:spPr>
          <a:xfrm>
            <a:off x="7132320" y="3401568"/>
            <a:ext cx="1755648"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Feedback</a:t>
            </a:r>
            <a:endParaRPr lang="en-US" sz="1400" dirty="0"/>
          </a:p>
        </p:txBody>
      </p:sp>
      <p:sp>
        <p:nvSpPr>
          <p:cNvPr id="21" name="Text 15"/>
          <p:cNvSpPr/>
          <p:nvPr/>
        </p:nvSpPr>
        <p:spPr>
          <a:xfrm>
            <a:off x="6510528" y="3950208"/>
            <a:ext cx="2267712" cy="548640"/>
          </a:xfrm>
          <a:prstGeom prst="rect">
            <a:avLst/>
          </a:prstGeom>
          <a:noFill/>
          <a:ln/>
        </p:spPr>
        <p:txBody>
          <a:bodyPr wrap="square" lIns="0" tIns="0" rIns="0" bIns="0" rtlCol="0" anchor="t"/>
          <a:lstStyle/>
          <a:p>
            <a:pPr indent="0" marL="0">
              <a:buNone/>
            </a:pPr>
            <a:r>
              <a:rPr lang="en-US" sz="1050" dirty="0">
                <a:solidFill>
                  <a:srgbClr val="B9CCD4"/>
                </a:solidFill>
                <a:latin typeface="Calibri" pitchFamily="34" charset="0"/>
                <a:ea typeface="Calibri" pitchFamily="34" charset="-122"/>
                <a:cs typeface="Calibri" pitchFamily="34" charset="-120"/>
              </a:rPr>
              <a:t>LLM-as-judge eval + a tiny metrics dashboard</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2A3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309360" y="-365760"/>
            <a:ext cx="3840480" cy="3840480"/>
          </a:xfrm>
          <a:prstGeom prst="rect">
            <a:avLst/>
          </a:prstGeom>
        </p:spPr>
      </p:pic>
      <p:sp>
        <p:nvSpPr>
          <p:cNvPr id="3" name="Shape 0"/>
          <p:cNvSpPr/>
          <p:nvPr/>
        </p:nvSpPr>
        <p:spPr>
          <a:xfrm>
            <a:off x="6309360" y="-365760"/>
            <a:ext cx="3840480" cy="3840480"/>
          </a:xfrm>
          <a:prstGeom prst="rect">
            <a:avLst/>
          </a:prstGeom>
          <a:solidFill>
            <a:srgbClr val="0E2A3B">
              <a:alpha val="78000"/>
            </a:srgbClr>
          </a:solidFill>
          <a:ln/>
        </p:spPr>
      </p:sp>
      <p:sp>
        <p:nvSpPr>
          <p:cNvPr id="4" name="Shape 1"/>
          <p:cNvSpPr/>
          <p:nvPr/>
        </p:nvSpPr>
        <p:spPr>
          <a:xfrm>
            <a:off x="640080" y="1371600"/>
            <a:ext cx="914400" cy="914400"/>
          </a:xfrm>
          <a:prstGeom prst="ellipse">
            <a:avLst/>
          </a:prstGeom>
          <a:solidFill>
            <a:srgbClr val="0D9488"/>
          </a:solidFill>
          <a:ln/>
        </p:spPr>
      </p:sp>
      <p:pic>
        <p:nvPicPr>
          <p:cNvPr id="5" name="Image 1" descr="preencoded.png">    </p:cNvPr>
          <p:cNvPicPr>
            <a:picLocks noChangeAspect="1"/>
          </p:cNvPicPr>
          <p:nvPr/>
        </p:nvPicPr>
        <p:blipFill>
          <a:blip r:embed="rId2"/>
          <a:stretch>
            <a:fillRect/>
          </a:stretch>
        </p:blipFill>
        <p:spPr>
          <a:xfrm>
            <a:off x="886968" y="1618488"/>
            <a:ext cx="420624" cy="420624"/>
          </a:xfrm>
          <a:prstGeom prst="rect">
            <a:avLst/>
          </a:prstGeom>
        </p:spPr>
      </p:pic>
      <p:sp>
        <p:nvSpPr>
          <p:cNvPr id="6" name="Text 2"/>
          <p:cNvSpPr/>
          <p:nvPr/>
        </p:nvSpPr>
        <p:spPr>
          <a:xfrm>
            <a:off x="685800" y="2468880"/>
            <a:ext cx="7315200" cy="365760"/>
          </a:xfrm>
          <a:prstGeom prst="rect">
            <a:avLst/>
          </a:prstGeom>
          <a:noFill/>
          <a:ln/>
        </p:spPr>
        <p:txBody>
          <a:bodyPr wrap="square" lIns="0" tIns="0" rIns="0" bIns="0" rtlCol="0" anchor="ctr"/>
          <a:lstStyle/>
          <a:p>
            <a:pPr indent="0" marL="0">
              <a:buNone/>
            </a:pPr>
            <a:r>
              <a:rPr lang="en-US" sz="1400" b="1" spc="300" kern="0" dirty="0">
                <a:solidFill>
                  <a:srgbClr val="5EEAD4"/>
                </a:solidFill>
                <a:latin typeface="Calibri" pitchFamily="34" charset="0"/>
                <a:ea typeface="Calibri" pitchFamily="34" charset="-122"/>
                <a:cs typeface="Calibri" pitchFamily="34" charset="-120"/>
              </a:rPr>
              <a:t>MODULE 2 · HOURS 2:00–4:00</a:t>
            </a:r>
            <a:endParaRPr lang="en-US" sz="1400" dirty="0"/>
          </a:p>
        </p:txBody>
      </p:sp>
      <p:sp>
        <p:nvSpPr>
          <p:cNvPr id="7" name="Text 3"/>
          <p:cNvSpPr/>
          <p:nvPr/>
        </p:nvSpPr>
        <p:spPr>
          <a:xfrm>
            <a:off x="640080" y="2788920"/>
            <a:ext cx="804672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Governance &amp; Safety</a:t>
            </a:r>
            <a:endParaRPr lang="en-US" sz="3800" dirty="0"/>
          </a:p>
        </p:txBody>
      </p:sp>
      <p:sp>
        <p:nvSpPr>
          <p:cNvPr id="8" name="Text 4"/>
          <p:cNvSpPr/>
          <p:nvPr/>
        </p:nvSpPr>
        <p:spPr>
          <a:xfrm>
            <a:off x="685800" y="3794760"/>
            <a:ext cx="7863840" cy="640080"/>
          </a:xfrm>
          <a:prstGeom prst="rect">
            <a:avLst/>
          </a:prstGeom>
          <a:noFill/>
          <a:ln/>
        </p:spPr>
        <p:txBody>
          <a:bodyPr wrap="square" lIns="0" tIns="0" rIns="0" bIns="0" rtlCol="0" anchor="ctr"/>
          <a:lstStyle/>
          <a:p>
            <a:pPr indent="0" marL="0">
              <a:buNone/>
            </a:pPr>
            <a:r>
              <a:rPr lang="en-US" sz="1400" dirty="0">
                <a:solidFill>
                  <a:srgbClr val="C9D6DF"/>
                </a:solidFill>
                <a:latin typeface="Calibri" pitchFamily="34" charset="0"/>
                <a:ea typeface="Calibri" pitchFamily="34" charset="-122"/>
                <a:cs typeface="Calibri" pitchFamily="34" charset="-120"/>
              </a:rPr>
              <a:t>Guardrails, compliance, Claude's safety layers and prompt-response auditing — the controls that make an agent safe to put in front of real customer data.</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17</a:t>
            </a:r>
            <a:endParaRPr lang="en-US" sz="850" dirty="0"/>
          </a:p>
        </p:txBody>
      </p:sp>
      <p:sp>
        <p:nvSpPr>
          <p:cNvPr id="4" name="Shape 2"/>
          <p:cNvSpPr/>
          <p:nvPr/>
        </p:nvSpPr>
        <p:spPr>
          <a:xfrm>
            <a:off x="457200" y="384048"/>
            <a:ext cx="566928" cy="566928"/>
          </a:xfrm>
          <a:prstGeom prst="ellipse">
            <a:avLst/>
          </a:prstGeom>
          <a:solidFill>
            <a:srgbClr val="F59E0B"/>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Why Governance? The Risk Landscape</a:t>
            </a:r>
            <a:endParaRPr lang="en-US" sz="2600" dirty="0"/>
          </a:p>
        </p:txBody>
      </p:sp>
      <p:sp>
        <p:nvSpPr>
          <p:cNvPr id="7" name="Shape 4"/>
          <p:cNvSpPr/>
          <p:nvPr/>
        </p:nvSpPr>
        <p:spPr>
          <a:xfrm>
            <a:off x="457200" y="1371600"/>
            <a:ext cx="2670048" cy="1371600"/>
          </a:xfrm>
          <a:prstGeom prst="roundRect">
            <a:avLst>
              <a:gd name="adj" fmla="val 5333"/>
            </a:avLst>
          </a:prstGeom>
          <a:solidFill>
            <a:srgbClr val="FBE7E7"/>
          </a:solidFill>
          <a:ln/>
          <a:effectLst>
            <a:outerShdw sx="100000" sy="100000" kx="0" ky="0" algn="bl" rotWithShape="0" blurRad="63500" dist="25400" dir="5400000">
              <a:srgbClr val="0F2233">
                <a:alpha val="10000"/>
              </a:srgbClr>
            </a:outerShdw>
          </a:effectLst>
        </p:spPr>
      </p:sp>
      <p:sp>
        <p:nvSpPr>
          <p:cNvPr id="8" name="Shape 5"/>
          <p:cNvSpPr/>
          <p:nvPr/>
        </p:nvSpPr>
        <p:spPr>
          <a:xfrm>
            <a:off x="658368" y="1591056"/>
            <a:ext cx="530352" cy="530352"/>
          </a:xfrm>
          <a:prstGeom prst="ellipse">
            <a:avLst/>
          </a:prstGeom>
          <a:solidFill>
            <a:srgbClr val="F59E0B"/>
          </a:solidFill>
          <a:ln/>
        </p:spPr>
      </p:sp>
      <p:pic>
        <p:nvPicPr>
          <p:cNvPr id="9" name="Image 1" descr="preencoded.png">    </p:cNvPr>
          <p:cNvPicPr>
            <a:picLocks noChangeAspect="1"/>
          </p:cNvPicPr>
          <p:nvPr/>
        </p:nvPicPr>
        <p:blipFill>
          <a:blip r:embed="rId2"/>
          <a:stretch>
            <a:fillRect/>
          </a:stretch>
        </p:blipFill>
        <p:spPr>
          <a:xfrm>
            <a:off x="801563" y="1734251"/>
            <a:ext cx="243962" cy="243962"/>
          </a:xfrm>
          <a:prstGeom prst="rect">
            <a:avLst/>
          </a:prstGeom>
        </p:spPr>
      </p:pic>
      <p:sp>
        <p:nvSpPr>
          <p:cNvPr id="10" name="Text 6"/>
          <p:cNvSpPr/>
          <p:nvPr/>
        </p:nvSpPr>
        <p:spPr>
          <a:xfrm>
            <a:off x="1280160" y="1591056"/>
            <a:ext cx="1755648" cy="502920"/>
          </a:xfrm>
          <a:prstGeom prst="rect">
            <a:avLst/>
          </a:prstGeom>
          <a:noFill/>
          <a:ln/>
        </p:spPr>
        <p:txBody>
          <a:bodyPr wrap="square" lIns="0" tIns="0" rIns="0" bIns="0" rtlCol="0" anchor="ctr"/>
          <a:lstStyle/>
          <a:p>
            <a:pPr indent="0" marL="0">
              <a:buNone/>
            </a:pPr>
            <a:r>
              <a:rPr lang="en-US" sz="1400" b="1" dirty="0">
                <a:solidFill>
                  <a:srgbClr val="0F2233"/>
                </a:solidFill>
                <a:latin typeface="Cambria" pitchFamily="34" charset="0"/>
                <a:ea typeface="Cambria" pitchFamily="34" charset="-122"/>
                <a:cs typeface="Cambria" pitchFamily="34" charset="-120"/>
              </a:rPr>
              <a:t>Prompt injection</a:t>
            </a:r>
            <a:endParaRPr lang="en-US" sz="1400" dirty="0"/>
          </a:p>
        </p:txBody>
      </p:sp>
      <p:sp>
        <p:nvSpPr>
          <p:cNvPr id="11" name="Text 7"/>
          <p:cNvSpPr/>
          <p:nvPr/>
        </p:nvSpPr>
        <p:spPr>
          <a:xfrm>
            <a:off x="658368" y="2148840"/>
            <a:ext cx="2267712" cy="502920"/>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Hostile content hijacks the agent's instructions or tools.</a:t>
            </a:r>
            <a:endParaRPr lang="en-US" sz="1050" dirty="0"/>
          </a:p>
        </p:txBody>
      </p:sp>
      <p:sp>
        <p:nvSpPr>
          <p:cNvPr id="12" name="Shape 8"/>
          <p:cNvSpPr/>
          <p:nvPr/>
        </p:nvSpPr>
        <p:spPr>
          <a:xfrm>
            <a:off x="3291840" y="1371600"/>
            <a:ext cx="2670048" cy="1371600"/>
          </a:xfrm>
          <a:prstGeom prst="roundRect">
            <a:avLst>
              <a:gd name="adj" fmla="val 5333"/>
            </a:avLst>
          </a:prstGeom>
          <a:solidFill>
            <a:srgbClr val="FFFFFF"/>
          </a:solidFill>
          <a:ln/>
          <a:effectLst>
            <a:outerShdw sx="100000" sy="100000" kx="0" ky="0" algn="bl" rotWithShape="0" blurRad="63500" dist="25400" dir="5400000">
              <a:srgbClr val="0F2233">
                <a:alpha val="10000"/>
              </a:srgbClr>
            </a:outerShdw>
          </a:effectLst>
        </p:spPr>
      </p:sp>
      <p:sp>
        <p:nvSpPr>
          <p:cNvPr id="13" name="Shape 9"/>
          <p:cNvSpPr/>
          <p:nvPr/>
        </p:nvSpPr>
        <p:spPr>
          <a:xfrm>
            <a:off x="3493008" y="1591056"/>
            <a:ext cx="530352" cy="530352"/>
          </a:xfrm>
          <a:prstGeom prst="ellipse">
            <a:avLst/>
          </a:prstGeom>
          <a:solidFill>
            <a:srgbClr val="F59E0B"/>
          </a:solidFill>
          <a:ln/>
        </p:spPr>
      </p:sp>
      <p:pic>
        <p:nvPicPr>
          <p:cNvPr id="14" name="Image 2" descr="preencoded.png">    </p:cNvPr>
          <p:cNvPicPr>
            <a:picLocks noChangeAspect="1"/>
          </p:cNvPicPr>
          <p:nvPr/>
        </p:nvPicPr>
        <p:blipFill>
          <a:blip r:embed="rId3"/>
          <a:stretch>
            <a:fillRect/>
          </a:stretch>
        </p:blipFill>
        <p:spPr>
          <a:xfrm>
            <a:off x="3636203" y="1734251"/>
            <a:ext cx="243962" cy="243962"/>
          </a:xfrm>
          <a:prstGeom prst="rect">
            <a:avLst/>
          </a:prstGeom>
        </p:spPr>
      </p:pic>
      <p:sp>
        <p:nvSpPr>
          <p:cNvPr id="15" name="Text 10"/>
          <p:cNvSpPr/>
          <p:nvPr/>
        </p:nvSpPr>
        <p:spPr>
          <a:xfrm>
            <a:off x="4114800" y="1591056"/>
            <a:ext cx="1755648" cy="502920"/>
          </a:xfrm>
          <a:prstGeom prst="rect">
            <a:avLst/>
          </a:prstGeom>
          <a:noFill/>
          <a:ln/>
        </p:spPr>
        <p:txBody>
          <a:bodyPr wrap="square" lIns="0" tIns="0" rIns="0" bIns="0" rtlCol="0" anchor="ctr"/>
          <a:lstStyle/>
          <a:p>
            <a:pPr indent="0" marL="0">
              <a:buNone/>
            </a:pPr>
            <a:r>
              <a:rPr lang="en-US" sz="1400" b="1" dirty="0">
                <a:solidFill>
                  <a:srgbClr val="0F2233"/>
                </a:solidFill>
                <a:latin typeface="Cambria" pitchFamily="34" charset="0"/>
                <a:ea typeface="Cambria" pitchFamily="34" charset="-122"/>
                <a:cs typeface="Cambria" pitchFamily="34" charset="-120"/>
              </a:rPr>
              <a:t>Data leakage</a:t>
            </a:r>
            <a:endParaRPr lang="en-US" sz="1400" dirty="0"/>
          </a:p>
        </p:txBody>
      </p:sp>
      <p:sp>
        <p:nvSpPr>
          <p:cNvPr id="16" name="Text 11"/>
          <p:cNvSpPr/>
          <p:nvPr/>
        </p:nvSpPr>
        <p:spPr>
          <a:xfrm>
            <a:off x="3493008" y="2148840"/>
            <a:ext cx="2267712" cy="502920"/>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PII / secrets exposed in logs, prompts or outputs.</a:t>
            </a:r>
            <a:endParaRPr lang="en-US" sz="1050" dirty="0"/>
          </a:p>
        </p:txBody>
      </p:sp>
      <p:sp>
        <p:nvSpPr>
          <p:cNvPr id="17" name="Shape 12"/>
          <p:cNvSpPr/>
          <p:nvPr/>
        </p:nvSpPr>
        <p:spPr>
          <a:xfrm>
            <a:off x="6126480" y="1371600"/>
            <a:ext cx="2670048" cy="1371600"/>
          </a:xfrm>
          <a:prstGeom prst="roundRect">
            <a:avLst>
              <a:gd name="adj" fmla="val 5333"/>
            </a:avLst>
          </a:prstGeom>
          <a:solidFill>
            <a:srgbClr val="FFFFFF"/>
          </a:solidFill>
          <a:ln/>
          <a:effectLst>
            <a:outerShdw sx="100000" sy="100000" kx="0" ky="0" algn="bl" rotWithShape="0" blurRad="63500" dist="25400" dir="5400000">
              <a:srgbClr val="0F2233">
                <a:alpha val="10000"/>
              </a:srgbClr>
            </a:outerShdw>
          </a:effectLst>
        </p:spPr>
      </p:sp>
      <p:sp>
        <p:nvSpPr>
          <p:cNvPr id="18" name="Shape 13"/>
          <p:cNvSpPr/>
          <p:nvPr/>
        </p:nvSpPr>
        <p:spPr>
          <a:xfrm>
            <a:off x="6327648" y="1591056"/>
            <a:ext cx="530352" cy="530352"/>
          </a:xfrm>
          <a:prstGeom prst="ellipse">
            <a:avLst/>
          </a:prstGeom>
          <a:solidFill>
            <a:srgbClr val="F59E0B"/>
          </a:solidFill>
          <a:ln/>
        </p:spPr>
      </p:sp>
      <p:pic>
        <p:nvPicPr>
          <p:cNvPr id="19" name="Image 3" descr="preencoded.png">    </p:cNvPr>
          <p:cNvPicPr>
            <a:picLocks noChangeAspect="1"/>
          </p:cNvPicPr>
          <p:nvPr/>
        </p:nvPicPr>
        <p:blipFill>
          <a:blip r:embed="rId4"/>
          <a:stretch>
            <a:fillRect/>
          </a:stretch>
        </p:blipFill>
        <p:spPr>
          <a:xfrm>
            <a:off x="6470843" y="1734251"/>
            <a:ext cx="243962" cy="243962"/>
          </a:xfrm>
          <a:prstGeom prst="rect">
            <a:avLst/>
          </a:prstGeom>
        </p:spPr>
      </p:pic>
      <p:sp>
        <p:nvSpPr>
          <p:cNvPr id="20" name="Text 14"/>
          <p:cNvSpPr/>
          <p:nvPr/>
        </p:nvSpPr>
        <p:spPr>
          <a:xfrm>
            <a:off x="6949440" y="1591056"/>
            <a:ext cx="1755648" cy="502920"/>
          </a:xfrm>
          <a:prstGeom prst="rect">
            <a:avLst/>
          </a:prstGeom>
          <a:noFill/>
          <a:ln/>
        </p:spPr>
        <p:txBody>
          <a:bodyPr wrap="square" lIns="0" tIns="0" rIns="0" bIns="0" rtlCol="0" anchor="ctr"/>
          <a:lstStyle/>
          <a:p>
            <a:pPr indent="0" marL="0">
              <a:buNone/>
            </a:pPr>
            <a:r>
              <a:rPr lang="en-US" sz="1400" b="1" dirty="0">
                <a:solidFill>
                  <a:srgbClr val="0F2233"/>
                </a:solidFill>
                <a:latin typeface="Cambria" pitchFamily="34" charset="0"/>
                <a:ea typeface="Cambria" pitchFamily="34" charset="-122"/>
                <a:cs typeface="Cambria" pitchFamily="34" charset="-120"/>
              </a:rPr>
              <a:t>Harmful output</a:t>
            </a:r>
            <a:endParaRPr lang="en-US" sz="1400" dirty="0"/>
          </a:p>
        </p:txBody>
      </p:sp>
      <p:sp>
        <p:nvSpPr>
          <p:cNvPr id="21" name="Text 15"/>
          <p:cNvSpPr/>
          <p:nvPr/>
        </p:nvSpPr>
        <p:spPr>
          <a:xfrm>
            <a:off x="6327648" y="2148840"/>
            <a:ext cx="2267712" cy="502920"/>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Unsafe, biased or off-brand content reaches a user.</a:t>
            </a:r>
            <a:endParaRPr lang="en-US" sz="1050" dirty="0"/>
          </a:p>
        </p:txBody>
      </p:sp>
      <p:sp>
        <p:nvSpPr>
          <p:cNvPr id="22" name="Shape 16"/>
          <p:cNvSpPr/>
          <p:nvPr/>
        </p:nvSpPr>
        <p:spPr>
          <a:xfrm>
            <a:off x="457200" y="2944368"/>
            <a:ext cx="2670048" cy="1371600"/>
          </a:xfrm>
          <a:prstGeom prst="roundRect">
            <a:avLst>
              <a:gd name="adj" fmla="val 5333"/>
            </a:avLst>
          </a:prstGeom>
          <a:solidFill>
            <a:srgbClr val="FBE7E7"/>
          </a:solidFill>
          <a:ln/>
          <a:effectLst>
            <a:outerShdw sx="100000" sy="100000" kx="0" ky="0" algn="bl" rotWithShape="0" blurRad="63500" dist="25400" dir="5400000">
              <a:srgbClr val="0F2233">
                <a:alpha val="10000"/>
              </a:srgbClr>
            </a:outerShdw>
          </a:effectLst>
        </p:spPr>
      </p:sp>
      <p:sp>
        <p:nvSpPr>
          <p:cNvPr id="23" name="Shape 17"/>
          <p:cNvSpPr/>
          <p:nvPr/>
        </p:nvSpPr>
        <p:spPr>
          <a:xfrm>
            <a:off x="658368" y="3163824"/>
            <a:ext cx="530352" cy="530352"/>
          </a:xfrm>
          <a:prstGeom prst="ellipse">
            <a:avLst/>
          </a:prstGeom>
          <a:solidFill>
            <a:srgbClr val="F59E0B"/>
          </a:solidFill>
          <a:ln/>
        </p:spPr>
      </p:sp>
      <p:pic>
        <p:nvPicPr>
          <p:cNvPr id="24" name="Image 4" descr="preencoded.png">    </p:cNvPr>
          <p:cNvPicPr>
            <a:picLocks noChangeAspect="1"/>
          </p:cNvPicPr>
          <p:nvPr/>
        </p:nvPicPr>
        <p:blipFill>
          <a:blip r:embed="rId5"/>
          <a:stretch>
            <a:fillRect/>
          </a:stretch>
        </p:blipFill>
        <p:spPr>
          <a:xfrm>
            <a:off x="801563" y="3307019"/>
            <a:ext cx="243962" cy="243962"/>
          </a:xfrm>
          <a:prstGeom prst="rect">
            <a:avLst/>
          </a:prstGeom>
        </p:spPr>
      </p:pic>
      <p:sp>
        <p:nvSpPr>
          <p:cNvPr id="25" name="Text 18"/>
          <p:cNvSpPr/>
          <p:nvPr/>
        </p:nvSpPr>
        <p:spPr>
          <a:xfrm>
            <a:off x="1280160" y="3163824"/>
            <a:ext cx="1755648" cy="502920"/>
          </a:xfrm>
          <a:prstGeom prst="rect">
            <a:avLst/>
          </a:prstGeom>
          <a:noFill/>
          <a:ln/>
        </p:spPr>
        <p:txBody>
          <a:bodyPr wrap="square" lIns="0" tIns="0" rIns="0" bIns="0" rtlCol="0" anchor="ctr"/>
          <a:lstStyle/>
          <a:p>
            <a:pPr indent="0" marL="0">
              <a:buNone/>
            </a:pPr>
            <a:r>
              <a:rPr lang="en-US" sz="1400" b="1" dirty="0">
                <a:solidFill>
                  <a:srgbClr val="0F2233"/>
                </a:solidFill>
                <a:latin typeface="Cambria" pitchFamily="34" charset="0"/>
                <a:ea typeface="Cambria" pitchFamily="34" charset="-122"/>
                <a:cs typeface="Cambria" pitchFamily="34" charset="-120"/>
              </a:rPr>
              <a:t>Non-compliance</a:t>
            </a:r>
            <a:endParaRPr lang="en-US" sz="1400" dirty="0"/>
          </a:p>
        </p:txBody>
      </p:sp>
      <p:sp>
        <p:nvSpPr>
          <p:cNvPr id="26" name="Text 19"/>
          <p:cNvSpPr/>
          <p:nvPr/>
        </p:nvSpPr>
        <p:spPr>
          <a:xfrm>
            <a:off x="658368" y="3721608"/>
            <a:ext cx="2267712" cy="502920"/>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GDPR / CAN-SPAM / CCPA violations → fines &amp; bans.</a:t>
            </a:r>
            <a:endParaRPr lang="en-US" sz="1050" dirty="0"/>
          </a:p>
        </p:txBody>
      </p:sp>
      <p:sp>
        <p:nvSpPr>
          <p:cNvPr id="27" name="Shape 20"/>
          <p:cNvSpPr/>
          <p:nvPr/>
        </p:nvSpPr>
        <p:spPr>
          <a:xfrm>
            <a:off x="3291840" y="2944368"/>
            <a:ext cx="2670048" cy="1371600"/>
          </a:xfrm>
          <a:prstGeom prst="roundRect">
            <a:avLst>
              <a:gd name="adj" fmla="val 5333"/>
            </a:avLst>
          </a:prstGeom>
          <a:solidFill>
            <a:srgbClr val="FFFFFF"/>
          </a:solidFill>
          <a:ln/>
          <a:effectLst>
            <a:outerShdw sx="100000" sy="100000" kx="0" ky="0" algn="bl" rotWithShape="0" blurRad="63500" dist="25400" dir="5400000">
              <a:srgbClr val="0F2233">
                <a:alpha val="10000"/>
              </a:srgbClr>
            </a:outerShdw>
          </a:effectLst>
        </p:spPr>
      </p:sp>
      <p:sp>
        <p:nvSpPr>
          <p:cNvPr id="28" name="Shape 21"/>
          <p:cNvSpPr/>
          <p:nvPr/>
        </p:nvSpPr>
        <p:spPr>
          <a:xfrm>
            <a:off x="3493008" y="3163824"/>
            <a:ext cx="530352" cy="530352"/>
          </a:xfrm>
          <a:prstGeom prst="ellipse">
            <a:avLst/>
          </a:prstGeom>
          <a:solidFill>
            <a:srgbClr val="F59E0B"/>
          </a:solidFill>
          <a:ln/>
        </p:spPr>
      </p:sp>
      <p:pic>
        <p:nvPicPr>
          <p:cNvPr id="29" name="Image 5" descr="preencoded.png">    </p:cNvPr>
          <p:cNvPicPr>
            <a:picLocks noChangeAspect="1"/>
          </p:cNvPicPr>
          <p:nvPr/>
        </p:nvPicPr>
        <p:blipFill>
          <a:blip r:embed="rId6"/>
          <a:stretch>
            <a:fillRect/>
          </a:stretch>
        </p:blipFill>
        <p:spPr>
          <a:xfrm>
            <a:off x="3636203" y="3307019"/>
            <a:ext cx="243962" cy="243962"/>
          </a:xfrm>
          <a:prstGeom prst="rect">
            <a:avLst/>
          </a:prstGeom>
        </p:spPr>
      </p:pic>
      <p:sp>
        <p:nvSpPr>
          <p:cNvPr id="30" name="Text 22"/>
          <p:cNvSpPr/>
          <p:nvPr/>
        </p:nvSpPr>
        <p:spPr>
          <a:xfrm>
            <a:off x="4114800" y="3163824"/>
            <a:ext cx="1755648" cy="502920"/>
          </a:xfrm>
          <a:prstGeom prst="rect">
            <a:avLst/>
          </a:prstGeom>
          <a:noFill/>
          <a:ln/>
        </p:spPr>
        <p:txBody>
          <a:bodyPr wrap="square" lIns="0" tIns="0" rIns="0" bIns="0" rtlCol="0" anchor="ctr"/>
          <a:lstStyle/>
          <a:p>
            <a:pPr indent="0" marL="0">
              <a:buNone/>
            </a:pPr>
            <a:r>
              <a:rPr lang="en-US" sz="1400" b="1" dirty="0">
                <a:solidFill>
                  <a:srgbClr val="0F2233"/>
                </a:solidFill>
                <a:latin typeface="Cambria" pitchFamily="34" charset="0"/>
                <a:ea typeface="Cambria" pitchFamily="34" charset="-122"/>
                <a:cs typeface="Cambria" pitchFamily="34" charset="-120"/>
              </a:rPr>
              <a:t>Tool misuse</a:t>
            </a:r>
            <a:endParaRPr lang="en-US" sz="1400" dirty="0"/>
          </a:p>
        </p:txBody>
      </p:sp>
      <p:sp>
        <p:nvSpPr>
          <p:cNvPr id="31" name="Text 23"/>
          <p:cNvSpPr/>
          <p:nvPr/>
        </p:nvSpPr>
        <p:spPr>
          <a:xfrm>
            <a:off x="3493008" y="3721608"/>
            <a:ext cx="2267712" cy="502920"/>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Agent calls a destructive tool with bad arguments.</a:t>
            </a:r>
            <a:endParaRPr lang="en-US" sz="1050" dirty="0"/>
          </a:p>
        </p:txBody>
      </p:sp>
      <p:sp>
        <p:nvSpPr>
          <p:cNvPr id="32" name="Shape 24"/>
          <p:cNvSpPr/>
          <p:nvPr/>
        </p:nvSpPr>
        <p:spPr>
          <a:xfrm>
            <a:off x="6126480" y="2944368"/>
            <a:ext cx="2670048" cy="1371600"/>
          </a:xfrm>
          <a:prstGeom prst="roundRect">
            <a:avLst>
              <a:gd name="adj" fmla="val 5333"/>
            </a:avLst>
          </a:prstGeom>
          <a:solidFill>
            <a:srgbClr val="FFFFFF"/>
          </a:solidFill>
          <a:ln/>
          <a:effectLst>
            <a:outerShdw sx="100000" sy="100000" kx="0" ky="0" algn="bl" rotWithShape="0" blurRad="63500" dist="25400" dir="5400000">
              <a:srgbClr val="0F2233">
                <a:alpha val="10000"/>
              </a:srgbClr>
            </a:outerShdw>
          </a:effectLst>
        </p:spPr>
      </p:sp>
      <p:sp>
        <p:nvSpPr>
          <p:cNvPr id="33" name="Shape 25"/>
          <p:cNvSpPr/>
          <p:nvPr/>
        </p:nvSpPr>
        <p:spPr>
          <a:xfrm>
            <a:off x="6327648" y="3163824"/>
            <a:ext cx="530352" cy="530352"/>
          </a:xfrm>
          <a:prstGeom prst="ellipse">
            <a:avLst/>
          </a:prstGeom>
          <a:solidFill>
            <a:srgbClr val="F59E0B"/>
          </a:solidFill>
          <a:ln/>
        </p:spPr>
      </p:sp>
      <p:pic>
        <p:nvPicPr>
          <p:cNvPr id="34" name="Image 6" descr="preencoded.png">    </p:cNvPr>
          <p:cNvPicPr>
            <a:picLocks noChangeAspect="1"/>
          </p:cNvPicPr>
          <p:nvPr/>
        </p:nvPicPr>
        <p:blipFill>
          <a:blip r:embed="rId7"/>
          <a:stretch>
            <a:fillRect/>
          </a:stretch>
        </p:blipFill>
        <p:spPr>
          <a:xfrm>
            <a:off x="6470843" y="3307019"/>
            <a:ext cx="243962" cy="243962"/>
          </a:xfrm>
          <a:prstGeom prst="rect">
            <a:avLst/>
          </a:prstGeom>
        </p:spPr>
      </p:pic>
      <p:sp>
        <p:nvSpPr>
          <p:cNvPr id="35" name="Text 26"/>
          <p:cNvSpPr/>
          <p:nvPr/>
        </p:nvSpPr>
        <p:spPr>
          <a:xfrm>
            <a:off x="6949440" y="3163824"/>
            <a:ext cx="1755648" cy="502920"/>
          </a:xfrm>
          <a:prstGeom prst="rect">
            <a:avLst/>
          </a:prstGeom>
          <a:noFill/>
          <a:ln/>
        </p:spPr>
        <p:txBody>
          <a:bodyPr wrap="square" lIns="0" tIns="0" rIns="0" bIns="0" rtlCol="0" anchor="ctr"/>
          <a:lstStyle/>
          <a:p>
            <a:pPr indent="0" marL="0">
              <a:buNone/>
            </a:pPr>
            <a:r>
              <a:rPr lang="en-US" sz="1400" b="1" dirty="0">
                <a:solidFill>
                  <a:srgbClr val="0F2233"/>
                </a:solidFill>
                <a:latin typeface="Cambria" pitchFamily="34" charset="0"/>
                <a:ea typeface="Cambria" pitchFamily="34" charset="-122"/>
                <a:cs typeface="Cambria" pitchFamily="34" charset="-120"/>
              </a:rPr>
              <a:t>Unaccountability</a:t>
            </a:r>
            <a:endParaRPr lang="en-US" sz="1400" dirty="0"/>
          </a:p>
        </p:txBody>
      </p:sp>
      <p:sp>
        <p:nvSpPr>
          <p:cNvPr id="36" name="Text 27"/>
          <p:cNvSpPr/>
          <p:nvPr/>
        </p:nvSpPr>
        <p:spPr>
          <a:xfrm>
            <a:off x="6327648" y="3721608"/>
            <a:ext cx="2267712" cy="502920"/>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No record of what the system did or why.</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18</a:t>
            </a:r>
            <a:endParaRPr lang="en-US" sz="850" dirty="0"/>
          </a:p>
        </p:txBody>
      </p:sp>
      <p:sp>
        <p:nvSpPr>
          <p:cNvPr id="4" name="Shape 2"/>
          <p:cNvSpPr/>
          <p:nvPr/>
        </p:nvSpPr>
        <p:spPr>
          <a:xfrm>
            <a:off x="457200" y="384048"/>
            <a:ext cx="566928" cy="566928"/>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Guardrails: A Taxonomy</a:t>
            </a:r>
            <a:endParaRPr lang="en-US" sz="2600" dirty="0"/>
          </a:p>
        </p:txBody>
      </p:sp>
      <p:sp>
        <p:nvSpPr>
          <p:cNvPr id="7" name="Shape 4"/>
          <p:cNvSpPr/>
          <p:nvPr/>
        </p:nvSpPr>
        <p:spPr>
          <a:xfrm>
            <a:off x="457200" y="1371600"/>
            <a:ext cx="4069080" cy="1481328"/>
          </a:xfrm>
          <a:prstGeom prst="roundRect">
            <a:avLst>
              <a:gd name="adj" fmla="val 4938"/>
            </a:avLst>
          </a:prstGeom>
          <a:solidFill>
            <a:srgbClr val="FFFFFF"/>
          </a:solidFill>
          <a:ln/>
          <a:effectLst>
            <a:outerShdw sx="100000" sy="100000" kx="0" ky="0" algn="bl" rotWithShape="0" blurRad="63500" dist="25400" dir="5400000">
              <a:srgbClr val="0F2233">
                <a:alpha val="10000"/>
              </a:srgbClr>
            </a:outerShdw>
          </a:effectLst>
        </p:spPr>
      </p:sp>
      <p:sp>
        <p:nvSpPr>
          <p:cNvPr id="8" name="Shape 5"/>
          <p:cNvSpPr/>
          <p:nvPr/>
        </p:nvSpPr>
        <p:spPr>
          <a:xfrm>
            <a:off x="658368" y="1572768"/>
            <a:ext cx="502920" cy="502920"/>
          </a:xfrm>
          <a:prstGeom prst="ellipse">
            <a:avLst/>
          </a:prstGeom>
          <a:solidFill>
            <a:srgbClr val="0D9488"/>
          </a:solidFill>
          <a:ln/>
        </p:spPr>
      </p:sp>
      <p:pic>
        <p:nvPicPr>
          <p:cNvPr id="9" name="Image 1" descr="preencoded.png">    </p:cNvPr>
          <p:cNvPicPr>
            <a:picLocks noChangeAspect="1"/>
          </p:cNvPicPr>
          <p:nvPr/>
        </p:nvPicPr>
        <p:blipFill>
          <a:blip r:embed="rId2"/>
          <a:stretch>
            <a:fillRect/>
          </a:stretch>
        </p:blipFill>
        <p:spPr>
          <a:xfrm>
            <a:off x="794156" y="1708556"/>
            <a:ext cx="231343" cy="231343"/>
          </a:xfrm>
          <a:prstGeom prst="rect">
            <a:avLst/>
          </a:prstGeom>
        </p:spPr>
      </p:pic>
      <p:sp>
        <p:nvSpPr>
          <p:cNvPr id="10" name="Text 6"/>
          <p:cNvSpPr/>
          <p:nvPr/>
        </p:nvSpPr>
        <p:spPr>
          <a:xfrm>
            <a:off x="1261872" y="1554480"/>
            <a:ext cx="3154680" cy="292608"/>
          </a:xfrm>
          <a:prstGeom prst="rect">
            <a:avLst/>
          </a:prstGeom>
          <a:noFill/>
          <a:ln/>
        </p:spPr>
        <p:txBody>
          <a:bodyPr wrap="square" lIns="0" tIns="0" rIns="0" bIns="0" rtlCol="0" anchor="ctr"/>
          <a:lstStyle/>
          <a:p>
            <a:pPr indent="0" marL="0">
              <a:buNone/>
            </a:pPr>
            <a:r>
              <a:rPr lang="en-US" sz="1500" b="1" dirty="0">
                <a:solidFill>
                  <a:srgbClr val="0F2233"/>
                </a:solidFill>
                <a:latin typeface="Cambria" pitchFamily="34" charset="0"/>
                <a:ea typeface="Cambria" pitchFamily="34" charset="-122"/>
                <a:cs typeface="Cambria" pitchFamily="34" charset="-120"/>
              </a:rPr>
              <a:t>Input guardrails</a:t>
            </a:r>
            <a:endParaRPr lang="en-US" sz="1500" dirty="0"/>
          </a:p>
        </p:txBody>
      </p:sp>
      <p:sp>
        <p:nvSpPr>
          <p:cNvPr id="11" name="Text 7"/>
          <p:cNvSpPr/>
          <p:nvPr/>
        </p:nvSpPr>
        <p:spPr>
          <a:xfrm>
            <a:off x="1261872" y="1847088"/>
            <a:ext cx="3154680" cy="256032"/>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Before the model sees it</a:t>
            </a:r>
            <a:endParaRPr lang="en-US" sz="950" dirty="0"/>
          </a:p>
        </p:txBody>
      </p:sp>
      <p:sp>
        <p:nvSpPr>
          <p:cNvPr id="12" name="Text 8"/>
          <p:cNvSpPr/>
          <p:nvPr/>
        </p:nvSpPr>
        <p:spPr>
          <a:xfrm>
            <a:off x="685800" y="2148840"/>
            <a:ext cx="3657600" cy="640080"/>
          </a:xfrm>
          <a:prstGeom prst="rect">
            <a:avLst/>
          </a:prstGeom>
          <a:noFill/>
          <a:ln/>
        </p:spPr>
        <p:txBody>
          <a:bodyPr wrap="square" lIns="0" tIns="0" rIns="0" bIns="0" rtlCol="0" anchor="t"/>
          <a:lstStyle/>
          <a:p>
            <a:pPr marL="139700" indent="-139700">
              <a:spcAft>
                <a:spcPts val="200"/>
              </a:spcAft>
              <a:buSzPct val="100000"/>
              <a:buChar char="•"/>
            </a:pPr>
            <a:r>
              <a:rPr lang="en-US" sz="980" dirty="0">
                <a:solidFill>
                  <a:srgbClr val="334155"/>
                </a:solidFill>
                <a:latin typeface="Calibri" pitchFamily="34" charset="0"/>
                <a:ea typeface="Calibri" pitchFamily="34" charset="-122"/>
                <a:cs typeface="Calibri" pitchFamily="34" charset="-120"/>
              </a:rPr>
              <a:t>Schema &amp; type validation</a:t>
            </a:r>
            <a:endParaRPr lang="en-US" sz="980" dirty="0"/>
          </a:p>
          <a:p>
            <a:pPr marL="139700" indent="-139700">
              <a:spcAft>
                <a:spcPts val="200"/>
              </a:spcAft>
              <a:buSzPct val="100000"/>
              <a:buChar char="•"/>
            </a:pPr>
            <a:r>
              <a:rPr lang="en-US" sz="980" dirty="0">
                <a:solidFill>
                  <a:srgbClr val="334155"/>
                </a:solidFill>
                <a:latin typeface="Calibri" pitchFamily="34" charset="0"/>
                <a:ea typeface="Calibri" pitchFamily="34" charset="-122"/>
                <a:cs typeface="Calibri" pitchFamily="34" charset="-120"/>
              </a:rPr>
              <a:t>Prompt-injection detection</a:t>
            </a:r>
            <a:endParaRPr lang="en-US" sz="980" dirty="0"/>
          </a:p>
          <a:p>
            <a:pPr marL="139700" indent="-139700">
              <a:spcAft>
                <a:spcPts val="200"/>
              </a:spcAft>
              <a:buSzPct val="100000"/>
              <a:buChar char="•"/>
            </a:pPr>
            <a:r>
              <a:rPr lang="en-US" sz="980" dirty="0">
                <a:solidFill>
                  <a:srgbClr val="334155"/>
                </a:solidFill>
                <a:latin typeface="Calibri" pitchFamily="34" charset="0"/>
                <a:ea typeface="Calibri" pitchFamily="34" charset="-122"/>
                <a:cs typeface="Calibri" pitchFamily="34" charset="-120"/>
              </a:rPr>
              <a:t>Topic / scope limiting</a:t>
            </a:r>
            <a:endParaRPr lang="en-US" sz="980" dirty="0"/>
          </a:p>
          <a:p>
            <a:pPr marL="139700" indent="-139700">
              <a:spcAft>
                <a:spcPts val="200"/>
              </a:spcAft>
              <a:buSzPct val="100000"/>
              <a:buChar char="•"/>
            </a:pPr>
            <a:r>
              <a:rPr lang="en-US" sz="980" dirty="0">
                <a:solidFill>
                  <a:srgbClr val="334155"/>
                </a:solidFill>
                <a:latin typeface="Calibri" pitchFamily="34" charset="0"/>
                <a:ea typeface="Calibri" pitchFamily="34" charset="-122"/>
                <a:cs typeface="Calibri" pitchFamily="34" charset="-120"/>
              </a:rPr>
              <a:t>Rate &amp; size limits</a:t>
            </a:r>
            <a:endParaRPr lang="en-US" sz="980" dirty="0"/>
          </a:p>
        </p:txBody>
      </p:sp>
      <p:sp>
        <p:nvSpPr>
          <p:cNvPr id="13" name="Shape 9"/>
          <p:cNvSpPr/>
          <p:nvPr/>
        </p:nvSpPr>
        <p:spPr>
          <a:xfrm>
            <a:off x="4690872" y="1371600"/>
            <a:ext cx="4069080" cy="1481328"/>
          </a:xfrm>
          <a:prstGeom prst="roundRect">
            <a:avLst>
              <a:gd name="adj" fmla="val 4938"/>
            </a:avLst>
          </a:prstGeom>
          <a:solidFill>
            <a:srgbClr val="FFFFFF"/>
          </a:solidFill>
          <a:ln/>
          <a:effectLst>
            <a:outerShdw sx="100000" sy="100000" kx="0" ky="0" algn="bl" rotWithShape="0" blurRad="63500" dist="25400" dir="5400000">
              <a:srgbClr val="0F2233">
                <a:alpha val="10000"/>
              </a:srgbClr>
            </a:outerShdw>
          </a:effectLst>
        </p:spPr>
      </p:sp>
      <p:sp>
        <p:nvSpPr>
          <p:cNvPr id="14" name="Shape 10"/>
          <p:cNvSpPr/>
          <p:nvPr/>
        </p:nvSpPr>
        <p:spPr>
          <a:xfrm>
            <a:off x="4892040" y="1572768"/>
            <a:ext cx="502920" cy="502920"/>
          </a:xfrm>
          <a:prstGeom prst="ellipse">
            <a:avLst/>
          </a:prstGeom>
          <a:solidFill>
            <a:srgbClr val="F59E0B"/>
          </a:solidFill>
          <a:ln/>
        </p:spPr>
      </p:sp>
      <p:pic>
        <p:nvPicPr>
          <p:cNvPr id="15" name="Image 2" descr="preencoded.png">    </p:cNvPr>
          <p:cNvPicPr>
            <a:picLocks noChangeAspect="1"/>
          </p:cNvPicPr>
          <p:nvPr/>
        </p:nvPicPr>
        <p:blipFill>
          <a:blip r:embed="rId3"/>
          <a:stretch>
            <a:fillRect/>
          </a:stretch>
        </p:blipFill>
        <p:spPr>
          <a:xfrm>
            <a:off x="5027828" y="1708556"/>
            <a:ext cx="231343" cy="231343"/>
          </a:xfrm>
          <a:prstGeom prst="rect">
            <a:avLst/>
          </a:prstGeom>
        </p:spPr>
      </p:pic>
      <p:sp>
        <p:nvSpPr>
          <p:cNvPr id="16" name="Text 11"/>
          <p:cNvSpPr/>
          <p:nvPr/>
        </p:nvSpPr>
        <p:spPr>
          <a:xfrm>
            <a:off x="5495544" y="1554480"/>
            <a:ext cx="3154680" cy="292608"/>
          </a:xfrm>
          <a:prstGeom prst="rect">
            <a:avLst/>
          </a:prstGeom>
          <a:noFill/>
          <a:ln/>
        </p:spPr>
        <p:txBody>
          <a:bodyPr wrap="square" lIns="0" tIns="0" rIns="0" bIns="0" rtlCol="0" anchor="ctr"/>
          <a:lstStyle/>
          <a:p>
            <a:pPr indent="0" marL="0">
              <a:buNone/>
            </a:pPr>
            <a:r>
              <a:rPr lang="en-US" sz="1500" b="1" dirty="0">
                <a:solidFill>
                  <a:srgbClr val="0F2233"/>
                </a:solidFill>
                <a:latin typeface="Cambria" pitchFamily="34" charset="0"/>
                <a:ea typeface="Cambria" pitchFamily="34" charset="-122"/>
                <a:cs typeface="Cambria" pitchFamily="34" charset="-120"/>
              </a:rPr>
              <a:t>Output guardrails</a:t>
            </a:r>
            <a:endParaRPr lang="en-US" sz="1500" dirty="0"/>
          </a:p>
        </p:txBody>
      </p:sp>
      <p:sp>
        <p:nvSpPr>
          <p:cNvPr id="17" name="Text 12"/>
          <p:cNvSpPr/>
          <p:nvPr/>
        </p:nvSpPr>
        <p:spPr>
          <a:xfrm>
            <a:off x="5495544" y="1847088"/>
            <a:ext cx="3154680" cy="256032"/>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After the model responds</a:t>
            </a:r>
            <a:endParaRPr lang="en-US" sz="950" dirty="0"/>
          </a:p>
        </p:txBody>
      </p:sp>
      <p:sp>
        <p:nvSpPr>
          <p:cNvPr id="18" name="Text 13"/>
          <p:cNvSpPr/>
          <p:nvPr/>
        </p:nvSpPr>
        <p:spPr>
          <a:xfrm>
            <a:off x="4919472" y="2148840"/>
            <a:ext cx="3657600" cy="640080"/>
          </a:xfrm>
          <a:prstGeom prst="rect">
            <a:avLst/>
          </a:prstGeom>
          <a:noFill/>
          <a:ln/>
        </p:spPr>
        <p:txBody>
          <a:bodyPr wrap="square" lIns="0" tIns="0" rIns="0" bIns="0" rtlCol="0" anchor="t"/>
          <a:lstStyle/>
          <a:p>
            <a:pPr marL="139700" indent="-139700">
              <a:spcAft>
                <a:spcPts val="200"/>
              </a:spcAft>
              <a:buSzPct val="100000"/>
              <a:buChar char="•"/>
            </a:pPr>
            <a:r>
              <a:rPr lang="en-US" sz="980" dirty="0">
                <a:solidFill>
                  <a:srgbClr val="334155"/>
                </a:solidFill>
                <a:latin typeface="Calibri" pitchFamily="34" charset="0"/>
                <a:ea typeface="Calibri" pitchFamily="34" charset="-122"/>
                <a:cs typeface="Calibri" pitchFamily="34" charset="-120"/>
              </a:rPr>
              <a:t>PII / toxicity screening</a:t>
            </a:r>
            <a:endParaRPr lang="en-US" sz="980" dirty="0"/>
          </a:p>
          <a:p>
            <a:pPr marL="139700" indent="-139700">
              <a:spcAft>
                <a:spcPts val="200"/>
              </a:spcAft>
              <a:buSzPct val="100000"/>
              <a:buChar char="•"/>
            </a:pPr>
            <a:r>
              <a:rPr lang="en-US" sz="980" dirty="0">
                <a:solidFill>
                  <a:srgbClr val="334155"/>
                </a:solidFill>
                <a:latin typeface="Calibri" pitchFamily="34" charset="0"/>
                <a:ea typeface="Calibri" pitchFamily="34" charset="-122"/>
                <a:cs typeface="Calibri" pitchFamily="34" charset="-120"/>
              </a:rPr>
              <a:t>Grounding / hallucination check</a:t>
            </a:r>
            <a:endParaRPr lang="en-US" sz="980" dirty="0"/>
          </a:p>
          <a:p>
            <a:pPr marL="139700" indent="-139700">
              <a:spcAft>
                <a:spcPts val="200"/>
              </a:spcAft>
              <a:buSzPct val="100000"/>
              <a:buChar char="•"/>
            </a:pPr>
            <a:r>
              <a:rPr lang="en-US" sz="980" dirty="0">
                <a:solidFill>
                  <a:srgbClr val="334155"/>
                </a:solidFill>
                <a:latin typeface="Calibri" pitchFamily="34" charset="0"/>
                <a:ea typeface="Calibri" pitchFamily="34" charset="-122"/>
                <a:cs typeface="Calibri" pitchFamily="34" charset="-120"/>
              </a:rPr>
              <a:t>JSON schema validation</a:t>
            </a:r>
            <a:endParaRPr lang="en-US" sz="980" dirty="0"/>
          </a:p>
          <a:p>
            <a:pPr marL="139700" indent="-139700">
              <a:spcAft>
                <a:spcPts val="200"/>
              </a:spcAft>
              <a:buSzPct val="100000"/>
              <a:buChar char="•"/>
            </a:pPr>
            <a:r>
              <a:rPr lang="en-US" sz="980" dirty="0">
                <a:solidFill>
                  <a:srgbClr val="334155"/>
                </a:solidFill>
                <a:latin typeface="Calibri" pitchFamily="34" charset="0"/>
                <a:ea typeface="Calibri" pitchFamily="34" charset="-122"/>
                <a:cs typeface="Calibri" pitchFamily="34" charset="-120"/>
              </a:rPr>
              <a:t>Policy &amp; brand checks</a:t>
            </a:r>
            <a:endParaRPr lang="en-US" sz="980" dirty="0"/>
          </a:p>
        </p:txBody>
      </p:sp>
      <p:sp>
        <p:nvSpPr>
          <p:cNvPr id="19" name="Shape 14"/>
          <p:cNvSpPr/>
          <p:nvPr/>
        </p:nvSpPr>
        <p:spPr>
          <a:xfrm>
            <a:off x="457200" y="3035808"/>
            <a:ext cx="4069080" cy="1481328"/>
          </a:xfrm>
          <a:prstGeom prst="roundRect">
            <a:avLst>
              <a:gd name="adj" fmla="val 4938"/>
            </a:avLst>
          </a:prstGeom>
          <a:solidFill>
            <a:srgbClr val="FFFFFF"/>
          </a:solidFill>
          <a:ln/>
          <a:effectLst>
            <a:outerShdw sx="100000" sy="100000" kx="0" ky="0" algn="bl" rotWithShape="0" blurRad="63500" dist="25400" dir="5400000">
              <a:srgbClr val="0F2233">
                <a:alpha val="10000"/>
              </a:srgbClr>
            </a:outerShdw>
          </a:effectLst>
        </p:spPr>
      </p:sp>
      <p:sp>
        <p:nvSpPr>
          <p:cNvPr id="20" name="Shape 15"/>
          <p:cNvSpPr/>
          <p:nvPr/>
        </p:nvSpPr>
        <p:spPr>
          <a:xfrm>
            <a:off x="658368" y="3236976"/>
            <a:ext cx="502920" cy="502920"/>
          </a:xfrm>
          <a:prstGeom prst="ellipse">
            <a:avLst/>
          </a:prstGeom>
          <a:solidFill>
            <a:srgbClr val="0D9488"/>
          </a:solidFill>
          <a:ln/>
        </p:spPr>
      </p:sp>
      <p:pic>
        <p:nvPicPr>
          <p:cNvPr id="21" name="Image 3" descr="preencoded.png">    </p:cNvPr>
          <p:cNvPicPr>
            <a:picLocks noChangeAspect="1"/>
          </p:cNvPicPr>
          <p:nvPr/>
        </p:nvPicPr>
        <p:blipFill>
          <a:blip r:embed="rId4"/>
          <a:stretch>
            <a:fillRect/>
          </a:stretch>
        </p:blipFill>
        <p:spPr>
          <a:xfrm>
            <a:off x="794156" y="3372764"/>
            <a:ext cx="231343" cy="231343"/>
          </a:xfrm>
          <a:prstGeom prst="rect">
            <a:avLst/>
          </a:prstGeom>
        </p:spPr>
      </p:pic>
      <p:sp>
        <p:nvSpPr>
          <p:cNvPr id="22" name="Text 16"/>
          <p:cNvSpPr/>
          <p:nvPr/>
        </p:nvSpPr>
        <p:spPr>
          <a:xfrm>
            <a:off x="1261872" y="3218688"/>
            <a:ext cx="3154680" cy="292608"/>
          </a:xfrm>
          <a:prstGeom prst="rect">
            <a:avLst/>
          </a:prstGeom>
          <a:noFill/>
          <a:ln/>
        </p:spPr>
        <p:txBody>
          <a:bodyPr wrap="square" lIns="0" tIns="0" rIns="0" bIns="0" rtlCol="0" anchor="ctr"/>
          <a:lstStyle/>
          <a:p>
            <a:pPr indent="0" marL="0">
              <a:buNone/>
            </a:pPr>
            <a:r>
              <a:rPr lang="en-US" sz="1500" b="1" dirty="0">
                <a:solidFill>
                  <a:srgbClr val="0F2233"/>
                </a:solidFill>
                <a:latin typeface="Cambria" pitchFamily="34" charset="0"/>
                <a:ea typeface="Cambria" pitchFamily="34" charset="-122"/>
                <a:cs typeface="Cambria" pitchFamily="34" charset="-120"/>
              </a:rPr>
              <a:t>Behavioural guardrails</a:t>
            </a:r>
            <a:endParaRPr lang="en-US" sz="1500" dirty="0"/>
          </a:p>
        </p:txBody>
      </p:sp>
      <p:sp>
        <p:nvSpPr>
          <p:cNvPr id="23" name="Text 17"/>
          <p:cNvSpPr/>
          <p:nvPr/>
        </p:nvSpPr>
        <p:spPr>
          <a:xfrm>
            <a:off x="1261872" y="3511296"/>
            <a:ext cx="3154680" cy="256032"/>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How the agent acts</a:t>
            </a:r>
            <a:endParaRPr lang="en-US" sz="950" dirty="0"/>
          </a:p>
        </p:txBody>
      </p:sp>
      <p:sp>
        <p:nvSpPr>
          <p:cNvPr id="24" name="Text 18"/>
          <p:cNvSpPr/>
          <p:nvPr/>
        </p:nvSpPr>
        <p:spPr>
          <a:xfrm>
            <a:off x="685800" y="3813048"/>
            <a:ext cx="3657600" cy="640080"/>
          </a:xfrm>
          <a:prstGeom prst="rect">
            <a:avLst/>
          </a:prstGeom>
          <a:noFill/>
          <a:ln/>
        </p:spPr>
        <p:txBody>
          <a:bodyPr wrap="square" lIns="0" tIns="0" rIns="0" bIns="0" rtlCol="0" anchor="t"/>
          <a:lstStyle/>
          <a:p>
            <a:pPr marL="139700" indent="-139700">
              <a:spcAft>
                <a:spcPts val="200"/>
              </a:spcAft>
              <a:buSzPct val="100000"/>
              <a:buChar char="•"/>
            </a:pPr>
            <a:r>
              <a:rPr lang="en-US" sz="980" dirty="0">
                <a:solidFill>
                  <a:srgbClr val="334155"/>
                </a:solidFill>
                <a:latin typeface="Calibri" pitchFamily="34" charset="0"/>
                <a:ea typeface="Calibri" pitchFamily="34" charset="-122"/>
                <a:cs typeface="Calibri" pitchFamily="34" charset="-120"/>
              </a:rPr>
              <a:t>System-prompt constraints</a:t>
            </a:r>
            <a:endParaRPr lang="en-US" sz="980" dirty="0"/>
          </a:p>
          <a:p>
            <a:pPr marL="139700" indent="-139700">
              <a:spcAft>
                <a:spcPts val="200"/>
              </a:spcAft>
              <a:buSzPct val="100000"/>
              <a:buChar char="•"/>
            </a:pPr>
            <a:r>
              <a:rPr lang="en-US" sz="980" dirty="0">
                <a:solidFill>
                  <a:srgbClr val="334155"/>
                </a:solidFill>
                <a:latin typeface="Calibri" pitchFamily="34" charset="0"/>
                <a:ea typeface="Calibri" pitchFamily="34" charset="-122"/>
                <a:cs typeface="Calibri" pitchFamily="34" charset="-120"/>
              </a:rPr>
              <a:t>Allowed-action lists</a:t>
            </a:r>
            <a:endParaRPr lang="en-US" sz="980" dirty="0"/>
          </a:p>
          <a:p>
            <a:pPr marL="139700" indent="-139700">
              <a:spcAft>
                <a:spcPts val="200"/>
              </a:spcAft>
              <a:buSzPct val="100000"/>
              <a:buChar char="•"/>
            </a:pPr>
            <a:r>
              <a:rPr lang="en-US" sz="980" dirty="0">
                <a:solidFill>
                  <a:srgbClr val="334155"/>
                </a:solidFill>
                <a:latin typeface="Calibri" pitchFamily="34" charset="0"/>
                <a:ea typeface="Calibri" pitchFamily="34" charset="-122"/>
                <a:cs typeface="Calibri" pitchFamily="34" charset="-120"/>
              </a:rPr>
              <a:t>Max steps / max cost</a:t>
            </a:r>
            <a:endParaRPr lang="en-US" sz="980" dirty="0"/>
          </a:p>
          <a:p>
            <a:pPr marL="139700" indent="-139700">
              <a:spcAft>
                <a:spcPts val="200"/>
              </a:spcAft>
              <a:buSzPct val="100000"/>
              <a:buChar char="•"/>
            </a:pPr>
            <a:r>
              <a:rPr lang="en-US" sz="980" dirty="0">
                <a:solidFill>
                  <a:srgbClr val="334155"/>
                </a:solidFill>
                <a:latin typeface="Calibri" pitchFamily="34" charset="0"/>
                <a:ea typeface="Calibri" pitchFamily="34" charset="-122"/>
                <a:cs typeface="Calibri" pitchFamily="34" charset="-120"/>
              </a:rPr>
              <a:t>Human approval gates</a:t>
            </a:r>
            <a:endParaRPr lang="en-US" sz="980" dirty="0"/>
          </a:p>
        </p:txBody>
      </p:sp>
      <p:sp>
        <p:nvSpPr>
          <p:cNvPr id="25" name="Shape 19"/>
          <p:cNvSpPr/>
          <p:nvPr/>
        </p:nvSpPr>
        <p:spPr>
          <a:xfrm>
            <a:off x="4690872" y="3035808"/>
            <a:ext cx="4069080" cy="1481328"/>
          </a:xfrm>
          <a:prstGeom prst="roundRect">
            <a:avLst>
              <a:gd name="adj" fmla="val 4938"/>
            </a:avLst>
          </a:prstGeom>
          <a:solidFill>
            <a:srgbClr val="FFFFFF"/>
          </a:solidFill>
          <a:ln/>
          <a:effectLst>
            <a:outerShdw sx="100000" sy="100000" kx="0" ky="0" algn="bl" rotWithShape="0" blurRad="63500" dist="25400" dir="5400000">
              <a:srgbClr val="0F2233">
                <a:alpha val="10000"/>
              </a:srgbClr>
            </a:outerShdw>
          </a:effectLst>
        </p:spPr>
      </p:sp>
      <p:sp>
        <p:nvSpPr>
          <p:cNvPr id="26" name="Shape 20"/>
          <p:cNvSpPr/>
          <p:nvPr/>
        </p:nvSpPr>
        <p:spPr>
          <a:xfrm>
            <a:off x="4892040" y="3236976"/>
            <a:ext cx="502920" cy="502920"/>
          </a:xfrm>
          <a:prstGeom prst="ellipse">
            <a:avLst/>
          </a:prstGeom>
          <a:solidFill>
            <a:srgbClr val="F59E0B"/>
          </a:solidFill>
          <a:ln/>
        </p:spPr>
      </p:sp>
      <p:pic>
        <p:nvPicPr>
          <p:cNvPr id="27" name="Image 4" descr="preencoded.png">    </p:cNvPr>
          <p:cNvPicPr>
            <a:picLocks noChangeAspect="1"/>
          </p:cNvPicPr>
          <p:nvPr/>
        </p:nvPicPr>
        <p:blipFill>
          <a:blip r:embed="rId5"/>
          <a:stretch>
            <a:fillRect/>
          </a:stretch>
        </p:blipFill>
        <p:spPr>
          <a:xfrm>
            <a:off x="5027828" y="3372764"/>
            <a:ext cx="231343" cy="231343"/>
          </a:xfrm>
          <a:prstGeom prst="rect">
            <a:avLst/>
          </a:prstGeom>
        </p:spPr>
      </p:pic>
      <p:sp>
        <p:nvSpPr>
          <p:cNvPr id="28" name="Text 21"/>
          <p:cNvSpPr/>
          <p:nvPr/>
        </p:nvSpPr>
        <p:spPr>
          <a:xfrm>
            <a:off x="5495544" y="3218688"/>
            <a:ext cx="3154680" cy="292608"/>
          </a:xfrm>
          <a:prstGeom prst="rect">
            <a:avLst/>
          </a:prstGeom>
          <a:noFill/>
          <a:ln/>
        </p:spPr>
        <p:txBody>
          <a:bodyPr wrap="square" lIns="0" tIns="0" rIns="0" bIns="0" rtlCol="0" anchor="ctr"/>
          <a:lstStyle/>
          <a:p>
            <a:pPr indent="0" marL="0">
              <a:buNone/>
            </a:pPr>
            <a:r>
              <a:rPr lang="en-US" sz="1500" b="1" dirty="0">
                <a:solidFill>
                  <a:srgbClr val="0F2233"/>
                </a:solidFill>
                <a:latin typeface="Cambria" pitchFamily="34" charset="0"/>
                <a:ea typeface="Cambria" pitchFamily="34" charset="-122"/>
                <a:cs typeface="Cambria" pitchFamily="34" charset="-120"/>
              </a:rPr>
              <a:t>Tool guardrails</a:t>
            </a:r>
            <a:endParaRPr lang="en-US" sz="1500" dirty="0"/>
          </a:p>
        </p:txBody>
      </p:sp>
      <p:sp>
        <p:nvSpPr>
          <p:cNvPr id="29" name="Text 22"/>
          <p:cNvSpPr/>
          <p:nvPr/>
        </p:nvSpPr>
        <p:spPr>
          <a:xfrm>
            <a:off x="5495544" y="3511296"/>
            <a:ext cx="3154680" cy="256032"/>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What it can touch</a:t>
            </a:r>
            <a:endParaRPr lang="en-US" sz="950" dirty="0"/>
          </a:p>
        </p:txBody>
      </p:sp>
      <p:sp>
        <p:nvSpPr>
          <p:cNvPr id="30" name="Text 23"/>
          <p:cNvSpPr/>
          <p:nvPr/>
        </p:nvSpPr>
        <p:spPr>
          <a:xfrm>
            <a:off x="4919472" y="3813048"/>
            <a:ext cx="3657600" cy="640080"/>
          </a:xfrm>
          <a:prstGeom prst="rect">
            <a:avLst/>
          </a:prstGeom>
          <a:noFill/>
          <a:ln/>
        </p:spPr>
        <p:txBody>
          <a:bodyPr wrap="square" lIns="0" tIns="0" rIns="0" bIns="0" rtlCol="0" anchor="t"/>
          <a:lstStyle/>
          <a:p>
            <a:pPr marL="139700" indent="-139700">
              <a:spcAft>
                <a:spcPts val="200"/>
              </a:spcAft>
              <a:buSzPct val="100000"/>
              <a:buChar char="•"/>
            </a:pPr>
            <a:r>
              <a:rPr lang="en-US" sz="980" dirty="0">
                <a:solidFill>
                  <a:srgbClr val="334155"/>
                </a:solidFill>
                <a:latin typeface="Calibri" pitchFamily="34" charset="0"/>
                <a:ea typeface="Calibri" pitchFamily="34" charset="-122"/>
                <a:cs typeface="Calibri" pitchFamily="34" charset="-120"/>
              </a:rPr>
              <a:t>Least-privilege tool access</a:t>
            </a:r>
            <a:endParaRPr lang="en-US" sz="980" dirty="0"/>
          </a:p>
          <a:p>
            <a:pPr marL="139700" indent="-139700">
              <a:spcAft>
                <a:spcPts val="200"/>
              </a:spcAft>
              <a:buSzPct val="100000"/>
              <a:buChar char="•"/>
            </a:pPr>
            <a:r>
              <a:rPr lang="en-US" sz="980" dirty="0">
                <a:solidFill>
                  <a:srgbClr val="334155"/>
                </a:solidFill>
                <a:latin typeface="Calibri" pitchFamily="34" charset="0"/>
                <a:ea typeface="Calibri" pitchFamily="34" charset="-122"/>
                <a:cs typeface="Calibri" pitchFamily="34" charset="-120"/>
              </a:rPr>
              <a:t>Argument validation</a:t>
            </a:r>
            <a:endParaRPr lang="en-US" sz="980" dirty="0"/>
          </a:p>
          <a:p>
            <a:pPr marL="139700" indent="-139700">
              <a:spcAft>
                <a:spcPts val="200"/>
              </a:spcAft>
              <a:buSzPct val="100000"/>
              <a:buChar char="•"/>
            </a:pPr>
            <a:r>
              <a:rPr lang="en-US" sz="980" dirty="0">
                <a:solidFill>
                  <a:srgbClr val="334155"/>
                </a:solidFill>
                <a:latin typeface="Calibri" pitchFamily="34" charset="0"/>
                <a:ea typeface="Calibri" pitchFamily="34" charset="-122"/>
                <a:cs typeface="Calibri" pitchFamily="34" charset="-120"/>
              </a:rPr>
              <a:t>Sandboxed execution</a:t>
            </a:r>
            <a:endParaRPr lang="en-US" sz="980" dirty="0"/>
          </a:p>
          <a:p>
            <a:pPr marL="139700" indent="-139700">
              <a:spcAft>
                <a:spcPts val="200"/>
              </a:spcAft>
              <a:buSzPct val="100000"/>
              <a:buChar char="•"/>
            </a:pPr>
            <a:r>
              <a:rPr lang="en-US" sz="980" dirty="0">
                <a:solidFill>
                  <a:srgbClr val="334155"/>
                </a:solidFill>
                <a:latin typeface="Calibri" pitchFamily="34" charset="0"/>
                <a:ea typeface="Calibri" pitchFamily="34" charset="-122"/>
                <a:cs typeface="Calibri" pitchFamily="34" charset="-120"/>
              </a:rPr>
              <a:t>Dry-run / confirm writes</a:t>
            </a:r>
            <a:endParaRPr lang="en-US" sz="9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19</a:t>
            </a:r>
            <a:endParaRPr lang="en-US" sz="850" dirty="0"/>
          </a:p>
        </p:txBody>
      </p:sp>
      <p:sp>
        <p:nvSpPr>
          <p:cNvPr id="4" name="Shape 2"/>
          <p:cNvSpPr/>
          <p:nvPr/>
        </p:nvSpPr>
        <p:spPr>
          <a:xfrm>
            <a:off x="457200" y="384048"/>
            <a:ext cx="566928" cy="566928"/>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Input Guardrails in Practice</a:t>
            </a:r>
            <a:endParaRPr lang="en-US" sz="2600" dirty="0"/>
          </a:p>
        </p:txBody>
      </p:sp>
      <p:sp>
        <p:nvSpPr>
          <p:cNvPr id="7" name="Shape 4"/>
          <p:cNvSpPr/>
          <p:nvPr/>
        </p:nvSpPr>
        <p:spPr>
          <a:xfrm>
            <a:off x="457200" y="1371600"/>
            <a:ext cx="3931920" cy="3246120"/>
          </a:xfrm>
          <a:prstGeom prst="roundRect">
            <a:avLst>
              <a:gd name="adj" fmla="val 2254"/>
            </a:avLst>
          </a:prstGeom>
          <a:solidFill>
            <a:srgbClr val="F1F5F9"/>
          </a:solidFill>
          <a:ln/>
          <a:effectLst>
            <a:outerShdw sx="100000" sy="100000" kx="0" ky="0" algn="bl" rotWithShape="0" blurRad="63500" dist="25400" dir="5400000">
              <a:srgbClr val="0F2233">
                <a:alpha val="10000"/>
              </a:srgbClr>
            </a:outerShdw>
          </a:effectLst>
        </p:spPr>
      </p:sp>
      <p:sp>
        <p:nvSpPr>
          <p:cNvPr id="8" name="Text 5"/>
          <p:cNvSpPr/>
          <p:nvPr/>
        </p:nvSpPr>
        <p:spPr>
          <a:xfrm>
            <a:off x="658368" y="1481328"/>
            <a:ext cx="3657600" cy="320040"/>
          </a:xfrm>
          <a:prstGeom prst="rect">
            <a:avLst/>
          </a:prstGeom>
          <a:noFill/>
          <a:ln/>
        </p:spPr>
        <p:txBody>
          <a:bodyPr wrap="square" lIns="0" tIns="0" rIns="0" bIns="0" rtlCol="0" anchor="ctr"/>
          <a:lstStyle/>
          <a:p>
            <a:pPr indent="0" marL="0">
              <a:buNone/>
            </a:pPr>
            <a:r>
              <a:rPr lang="en-US" sz="1250" b="1" dirty="0">
                <a:solidFill>
                  <a:srgbClr val="64748B"/>
                </a:solidFill>
                <a:latin typeface="Calibri" pitchFamily="34" charset="0"/>
                <a:ea typeface="Calibri" pitchFamily="34" charset="-122"/>
                <a:cs typeface="Calibri" pitchFamily="34" charset="-120"/>
              </a:rPr>
              <a:t>Check before you spend a token</a:t>
            </a:r>
            <a:endParaRPr lang="en-US" sz="1250" dirty="0"/>
          </a:p>
        </p:txBody>
      </p:sp>
      <p:sp>
        <p:nvSpPr>
          <p:cNvPr id="9" name="Text 6"/>
          <p:cNvSpPr/>
          <p:nvPr/>
        </p:nvSpPr>
        <p:spPr>
          <a:xfrm>
            <a:off x="658368" y="1828800"/>
            <a:ext cx="3566160" cy="2651760"/>
          </a:xfrm>
          <a:prstGeom prst="rect">
            <a:avLst/>
          </a:prstGeom>
          <a:noFill/>
          <a:ln/>
        </p:spPr>
        <p:txBody>
          <a:bodyPr wrap="square" lIns="0" tIns="0" rIns="0" bIns="0" rtlCol="0" anchor="t"/>
          <a:lstStyle/>
          <a:p>
            <a:pPr marL="177800" indent="-177800">
              <a:spcAft>
                <a:spcPts val="400"/>
              </a:spcAft>
              <a:buSzPct val="100000"/>
              <a:buChar char="•"/>
            </a:pPr>
            <a:r>
              <a:rPr lang="en-US" sz="1200" b="1" dirty="0">
                <a:solidFill>
                  <a:srgbClr val="334155"/>
                </a:solidFill>
                <a:latin typeface="Calibri" pitchFamily="34" charset="0"/>
                <a:ea typeface="Calibri" pitchFamily="34" charset="-122"/>
                <a:cs typeface="Calibri" pitchFamily="34" charset="-120"/>
              </a:rPr>
              <a:t>Validate structure &amp; types</a:t>
            </a:r>
            <a:endParaRPr lang="en-US" sz="1200" dirty="0"/>
          </a:p>
          <a:p>
            <a:pPr lvl="1" marL="355600" indent="-1778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reject malformed leads early (Pydantic)</a:t>
            </a:r>
            <a:endParaRPr lang="en-US" sz="1200" dirty="0"/>
          </a:p>
          <a:p>
            <a:pPr marL="177800" indent="-177800">
              <a:spcAft>
                <a:spcPts val="400"/>
              </a:spcAft>
              <a:buSzPct val="100000"/>
              <a:buChar char="•"/>
            </a:pPr>
            <a:r>
              <a:rPr lang="en-US" sz="1200" b="1" dirty="0">
                <a:solidFill>
                  <a:srgbClr val="334155"/>
                </a:solidFill>
                <a:latin typeface="Calibri" pitchFamily="34" charset="0"/>
                <a:ea typeface="Calibri" pitchFamily="34" charset="-122"/>
                <a:cs typeface="Calibri" pitchFamily="34" charset="-120"/>
              </a:rPr>
              <a:t>Scope the request</a:t>
            </a:r>
            <a:endParaRPr lang="en-US" sz="1200" dirty="0"/>
          </a:p>
          <a:p>
            <a:pPr lvl="1" marL="355600" indent="-1778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is this even a lead-gen task?</a:t>
            </a:r>
            <a:endParaRPr lang="en-US" sz="1200" dirty="0"/>
          </a:p>
          <a:p>
            <a:pPr marL="177800" indent="-177800">
              <a:spcAft>
                <a:spcPts val="400"/>
              </a:spcAft>
              <a:buSzPct val="100000"/>
              <a:buChar char="•"/>
            </a:pPr>
            <a:r>
              <a:rPr lang="en-US" sz="1200" b="1" dirty="0">
                <a:solidFill>
                  <a:srgbClr val="334155"/>
                </a:solidFill>
                <a:latin typeface="Calibri" pitchFamily="34" charset="0"/>
                <a:ea typeface="Calibri" pitchFamily="34" charset="-122"/>
                <a:cs typeface="Calibri" pitchFamily="34" charset="-120"/>
              </a:rPr>
              <a:t>Detect injection</a:t>
            </a:r>
            <a:endParaRPr lang="en-US" sz="1200" dirty="0"/>
          </a:p>
          <a:p>
            <a:pPr lvl="1" marL="355600" indent="-1778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scan untrusted text for instruction-like content</a:t>
            </a:r>
            <a:endParaRPr lang="en-US" sz="1200" dirty="0"/>
          </a:p>
          <a:p>
            <a:pPr marL="177800" indent="-177800">
              <a:spcAft>
                <a:spcPts val="400"/>
              </a:spcAft>
              <a:buSzPct val="100000"/>
              <a:buChar char="•"/>
            </a:pPr>
            <a:r>
              <a:rPr lang="en-US" sz="1200" b="1" dirty="0">
                <a:solidFill>
                  <a:srgbClr val="334155"/>
                </a:solidFill>
                <a:latin typeface="Calibri" pitchFamily="34" charset="0"/>
                <a:ea typeface="Calibri" pitchFamily="34" charset="-122"/>
                <a:cs typeface="Calibri" pitchFamily="34" charset="-120"/>
              </a:rPr>
              <a:t>Bound the input</a:t>
            </a:r>
            <a:endParaRPr lang="en-US" sz="1200" dirty="0"/>
          </a:p>
          <a:p>
            <a:pPr lvl="1" marL="355600" indent="-1778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size, rate, and cost caps per caller</a:t>
            </a:r>
            <a:endParaRPr lang="en-US" sz="1200" dirty="0"/>
          </a:p>
        </p:txBody>
      </p:sp>
      <p:sp>
        <p:nvSpPr>
          <p:cNvPr id="10" name="Shape 7"/>
          <p:cNvSpPr/>
          <p:nvPr/>
        </p:nvSpPr>
        <p:spPr>
          <a:xfrm>
            <a:off x="4572000" y="1371600"/>
            <a:ext cx="4114800" cy="3246120"/>
          </a:xfrm>
          <a:prstGeom prst="roundRect">
            <a:avLst>
              <a:gd name="adj" fmla="val 2254"/>
            </a:avLst>
          </a:prstGeom>
          <a:solidFill>
            <a:srgbClr val="0E2A3B"/>
          </a:solidFill>
          <a:ln/>
          <a:effectLst>
            <a:outerShdw sx="100000" sy="100000" kx="0" ky="0" algn="bl" rotWithShape="0" blurRad="63500" dist="25400" dir="5400000">
              <a:srgbClr val="0F2233">
                <a:alpha val="10000"/>
              </a:srgbClr>
            </a:outerShdw>
          </a:effectLst>
        </p:spPr>
      </p:sp>
      <p:sp>
        <p:nvSpPr>
          <p:cNvPr id="11" name="Text 8"/>
          <p:cNvSpPr/>
          <p:nvPr/>
        </p:nvSpPr>
        <p:spPr>
          <a:xfrm>
            <a:off x="4773168" y="1463040"/>
            <a:ext cx="3657600" cy="292608"/>
          </a:xfrm>
          <a:prstGeom prst="rect">
            <a:avLst/>
          </a:prstGeom>
          <a:noFill/>
          <a:ln/>
        </p:spPr>
        <p:txBody>
          <a:bodyPr wrap="square" lIns="0" tIns="0" rIns="0" bIns="0" rtlCol="0" anchor="ctr"/>
          <a:lstStyle/>
          <a:p>
            <a:pPr indent="0" marL="0">
              <a:buNone/>
            </a:pPr>
            <a:r>
              <a:rPr lang="en-US" sz="950" b="1" dirty="0">
                <a:solidFill>
                  <a:srgbClr val="5EEAD4"/>
                </a:solidFill>
                <a:latin typeface="Courier New" pitchFamily="34" charset="0"/>
                <a:ea typeface="Courier New" pitchFamily="34" charset="-122"/>
                <a:cs typeface="Courier New" pitchFamily="34" charset="-120"/>
              </a:rPr>
              <a:t>injection heuristic (illustrative)</a:t>
            </a:r>
            <a:endParaRPr lang="en-US" sz="950" dirty="0"/>
          </a:p>
        </p:txBody>
      </p:sp>
      <p:sp>
        <p:nvSpPr>
          <p:cNvPr id="12" name="Text 9"/>
          <p:cNvSpPr/>
          <p:nvPr/>
        </p:nvSpPr>
        <p:spPr>
          <a:xfrm>
            <a:off x="4773168" y="1783080"/>
            <a:ext cx="3749040" cy="2743200"/>
          </a:xfrm>
          <a:prstGeom prst="rect">
            <a:avLst/>
          </a:prstGeom>
          <a:noFill/>
          <a:ln/>
        </p:spPr>
        <p:txBody>
          <a:bodyPr wrap="square" lIns="0" tIns="0" rIns="0" bIns="0" rtlCol="0" anchor="t"/>
          <a:lstStyle/>
          <a:p>
            <a:pPr indent="0" marL="0">
              <a:buNone/>
            </a:pPr>
            <a:r>
              <a:rPr lang="en-US" sz="1050" dirty="0">
                <a:solidFill>
                  <a:srgbClr val="BFE3DC"/>
                </a:solidFill>
                <a:latin typeface="Courier New" pitchFamily="34" charset="0"/>
                <a:ea typeface="Courier New" pitchFamily="34" charset="-122"/>
                <a:cs typeface="Courier New" pitchFamily="34" charset="-120"/>
              </a:rPr>
              <a:t>SUSPICIOUS = [</a:t>
            </a:r>
            <a:endParaRPr lang="en-US" sz="1050" dirty="0"/>
          </a:p>
          <a:p>
            <a:pPr indent="0" marL="0">
              <a:buNone/>
            </a:pPr>
            <a:r>
              <a:rPr lang="en-US" sz="1050" dirty="0">
                <a:solidFill>
                  <a:srgbClr val="BFE3DC"/>
                </a:solidFill>
                <a:latin typeface="Courier New" pitchFamily="34" charset="0"/>
                <a:ea typeface="Courier New" pitchFamily="34" charset="-122"/>
                <a:cs typeface="Courier New" pitchFamily="34" charset="-120"/>
              </a:rPr>
              <a:t>  "ignore previous", "disregard",</a:t>
            </a:r>
            <a:endParaRPr lang="en-US" sz="1050" dirty="0"/>
          </a:p>
          <a:p>
            <a:pPr indent="0" marL="0">
              <a:buNone/>
            </a:pPr>
            <a:r>
              <a:rPr lang="en-US" sz="1050" dirty="0">
                <a:solidFill>
                  <a:srgbClr val="BFE3DC"/>
                </a:solidFill>
                <a:latin typeface="Courier New" pitchFamily="34" charset="0"/>
                <a:ea typeface="Courier New" pitchFamily="34" charset="-122"/>
                <a:cs typeface="Courier New" pitchFamily="34" charset="-120"/>
              </a:rPr>
              <a:t>  "you are now", "system prompt",</a:t>
            </a:r>
            <a:endParaRPr lang="en-US" sz="1050" dirty="0"/>
          </a:p>
          <a:p>
            <a:pPr indent="0" marL="0">
              <a:buNone/>
            </a:pPr>
            <a:r>
              <a:rPr lang="en-US" sz="1050" dirty="0">
                <a:solidFill>
                  <a:srgbClr val="BFE3DC"/>
                </a:solidFill>
                <a:latin typeface="Courier New" pitchFamily="34" charset="0"/>
                <a:ea typeface="Courier New" pitchFamily="34" charset="-122"/>
                <a:cs typeface="Courier New" pitchFamily="34" charset="-120"/>
              </a:rPr>
              <a:t>  "reveal", "exfiltrate",</a:t>
            </a:r>
            <a:endParaRPr lang="en-US" sz="1050" dirty="0"/>
          </a:p>
          <a:p>
            <a:pPr indent="0" marL="0">
              <a:buNone/>
            </a:pPr>
            <a:r>
              <a:rPr lang="en-US" sz="1050" dirty="0">
                <a:solidFill>
                  <a:srgbClr val="BFE3DC"/>
                </a:solidFill>
                <a:latin typeface="Courier New" pitchFamily="34" charset="0"/>
                <a:ea typeface="Courier New" pitchFamily="34" charset="-122"/>
                <a:cs typeface="Courier New" pitchFamily="34" charset="-120"/>
              </a:rPr>
              <a:t>]</a:t>
            </a:r>
            <a:endParaRPr lang="en-US" sz="1050" dirty="0"/>
          </a:p>
          <a:p>
            <a:pPr indent="0" marL="0">
              <a:buNone/>
            </a:pPr>
            <a:endParaRPr lang="en-US" sz="1050" dirty="0"/>
          </a:p>
          <a:p>
            <a:pPr indent="0" marL="0">
              <a:buNone/>
            </a:pPr>
            <a:r>
              <a:rPr lang="en-US" sz="1050" dirty="0">
                <a:solidFill>
                  <a:srgbClr val="BFE3DC"/>
                </a:solidFill>
                <a:latin typeface="Courier New" pitchFamily="34" charset="0"/>
                <a:ea typeface="Courier New" pitchFamily="34" charset="-122"/>
                <a:cs typeface="Courier New" pitchFamily="34" charset="-120"/>
              </a:rPr>
              <a:t>def screen_input(text: str):</a:t>
            </a:r>
            <a:endParaRPr lang="en-US" sz="1050" dirty="0"/>
          </a:p>
          <a:p>
            <a:pPr indent="0" marL="0">
              <a:buNone/>
            </a:pPr>
            <a:r>
              <a:rPr lang="en-US" sz="1050" dirty="0">
                <a:solidFill>
                  <a:srgbClr val="BFE3DC"/>
                </a:solidFill>
                <a:latin typeface="Courier New" pitchFamily="34" charset="0"/>
                <a:ea typeface="Courier New" pitchFamily="34" charset="-122"/>
                <a:cs typeface="Courier New" pitchFamily="34" charset="-120"/>
              </a:rPr>
              <a:t>    low = text.lower()</a:t>
            </a:r>
            <a:endParaRPr lang="en-US" sz="1050" dirty="0"/>
          </a:p>
          <a:p>
            <a:pPr indent="0" marL="0">
              <a:buNone/>
            </a:pPr>
            <a:r>
              <a:rPr lang="en-US" sz="1050" dirty="0">
                <a:solidFill>
                  <a:srgbClr val="BFE3DC"/>
                </a:solidFill>
                <a:latin typeface="Courier New" pitchFamily="34" charset="0"/>
                <a:ea typeface="Courier New" pitchFamily="34" charset="-122"/>
                <a:cs typeface="Courier New" pitchFamily="34" charset="-120"/>
              </a:rPr>
              <a:t>    hits = [p for p in SUSPICIOUS</a:t>
            </a:r>
            <a:endParaRPr lang="en-US" sz="1050" dirty="0"/>
          </a:p>
          <a:p>
            <a:pPr indent="0" marL="0">
              <a:buNone/>
            </a:pPr>
            <a:r>
              <a:rPr lang="en-US" sz="1050" dirty="0">
                <a:solidFill>
                  <a:srgbClr val="BFE3DC"/>
                </a:solidFill>
                <a:latin typeface="Courier New" pitchFamily="34" charset="0"/>
                <a:ea typeface="Courier New" pitchFamily="34" charset="-122"/>
                <a:cs typeface="Courier New" pitchFamily="34" charset="-120"/>
              </a:rPr>
              <a:t>            if p in low]</a:t>
            </a:r>
            <a:endParaRPr lang="en-US" sz="1050" dirty="0"/>
          </a:p>
          <a:p>
            <a:pPr indent="0" marL="0">
              <a:buNone/>
            </a:pPr>
            <a:r>
              <a:rPr lang="en-US" sz="1050" dirty="0">
                <a:solidFill>
                  <a:srgbClr val="BFE3DC"/>
                </a:solidFill>
                <a:latin typeface="Courier New" pitchFamily="34" charset="0"/>
                <a:ea typeface="Courier New" pitchFamily="34" charset="-122"/>
                <a:cs typeface="Courier New" pitchFamily="34" charset="-120"/>
              </a:rPr>
              <a:t>    if hits:</a:t>
            </a:r>
            <a:endParaRPr lang="en-US" sz="1050" dirty="0"/>
          </a:p>
          <a:p>
            <a:pPr indent="0" marL="0">
              <a:buNone/>
            </a:pPr>
            <a:r>
              <a:rPr lang="en-US" sz="1050" dirty="0">
                <a:solidFill>
                  <a:srgbClr val="BFE3DC"/>
                </a:solidFill>
                <a:latin typeface="Courier New" pitchFamily="34" charset="0"/>
                <a:ea typeface="Courier New" pitchFamily="34" charset="-122"/>
                <a:cs typeface="Courier New" pitchFamily="34" charset="-120"/>
              </a:rPr>
              <a:t>        raise GuardrailBlock(</a:t>
            </a:r>
            <a:endParaRPr lang="en-US" sz="1050" dirty="0"/>
          </a:p>
          <a:p>
            <a:pPr indent="0" marL="0">
              <a:buNone/>
            </a:pPr>
            <a:r>
              <a:rPr lang="en-US" sz="1050" dirty="0">
                <a:solidFill>
                  <a:srgbClr val="BFE3DC"/>
                </a:solidFill>
                <a:latin typeface="Courier New" pitchFamily="34" charset="0"/>
                <a:ea typeface="Courier New" pitchFamily="34" charset="-122"/>
                <a:cs typeface="Courier New" pitchFamily="34" charset="-120"/>
              </a:rPr>
              <a:t>          "input.injection", hits)</a:t>
            </a:r>
            <a:endParaRPr lang="en-US" sz="1050" dirty="0"/>
          </a:p>
        </p:txBody>
      </p:sp>
      <p:sp>
        <p:nvSpPr>
          <p:cNvPr id="13" name="Text 10"/>
          <p:cNvSpPr/>
          <p:nvPr/>
        </p:nvSpPr>
        <p:spPr>
          <a:xfrm>
            <a:off x="457200" y="4690872"/>
            <a:ext cx="8229600" cy="274320"/>
          </a:xfrm>
          <a:prstGeom prst="rect">
            <a:avLst/>
          </a:prstGeom>
          <a:noFill/>
          <a:ln/>
        </p:spPr>
        <p:txBody>
          <a:bodyPr wrap="square" lIns="0" tIns="0" rIns="0" bIns="0" rtlCol="0" anchor="ctr"/>
          <a:lstStyle/>
          <a:p>
            <a:pPr algn="ctr" indent="0" marL="0">
              <a:buNone/>
            </a:pPr>
            <a:r>
              <a:rPr lang="en-US" sz="950" i="1" dirty="0">
                <a:solidFill>
                  <a:srgbClr val="64748B"/>
                </a:solidFill>
                <a:latin typeface="Calibri" pitchFamily="34" charset="0"/>
                <a:ea typeface="Calibri" pitchFamily="34" charset="-122"/>
                <a:cs typeface="Calibri" pitchFamily="34" charset="-120"/>
              </a:rPr>
              <a:t>Heuristics are a first line only — pair with an LLM/classifier check and least-privilege tools.</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20</a:t>
            </a:r>
            <a:endParaRPr lang="en-US" sz="850" dirty="0"/>
          </a:p>
        </p:txBody>
      </p:sp>
      <p:sp>
        <p:nvSpPr>
          <p:cNvPr id="4" name="Shape 2"/>
          <p:cNvSpPr/>
          <p:nvPr/>
        </p:nvSpPr>
        <p:spPr>
          <a:xfrm>
            <a:off x="457200" y="384048"/>
            <a:ext cx="566928" cy="566928"/>
          </a:xfrm>
          <a:prstGeom prst="ellipse">
            <a:avLst/>
          </a:prstGeom>
          <a:solidFill>
            <a:srgbClr val="F59E0B"/>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Output Guardrails in Practice</a:t>
            </a:r>
            <a:endParaRPr lang="en-US" sz="2600" dirty="0"/>
          </a:p>
        </p:txBody>
      </p:sp>
      <p:sp>
        <p:nvSpPr>
          <p:cNvPr id="7" name="Shape 4"/>
          <p:cNvSpPr/>
          <p:nvPr/>
        </p:nvSpPr>
        <p:spPr>
          <a:xfrm>
            <a:off x="457200" y="1371600"/>
            <a:ext cx="4069080" cy="1188720"/>
          </a:xfrm>
          <a:prstGeom prst="roundRect">
            <a:avLst>
              <a:gd name="adj" fmla="val 6154"/>
            </a:avLst>
          </a:prstGeom>
          <a:solidFill>
            <a:srgbClr val="FFFFFF"/>
          </a:solidFill>
          <a:ln/>
          <a:effectLst>
            <a:outerShdw sx="100000" sy="100000" kx="0" ky="0" algn="bl" rotWithShape="0" blurRad="63500" dist="25400" dir="5400000">
              <a:srgbClr val="0F2233">
                <a:alpha val="10000"/>
              </a:srgbClr>
            </a:outerShdw>
          </a:effectLst>
        </p:spPr>
      </p:sp>
      <p:sp>
        <p:nvSpPr>
          <p:cNvPr id="8" name="Shape 5"/>
          <p:cNvSpPr/>
          <p:nvPr/>
        </p:nvSpPr>
        <p:spPr>
          <a:xfrm>
            <a:off x="658368" y="1572768"/>
            <a:ext cx="548640" cy="548640"/>
          </a:xfrm>
          <a:prstGeom prst="ellipse">
            <a:avLst/>
          </a:prstGeom>
          <a:solidFill>
            <a:srgbClr val="0D9488"/>
          </a:solidFill>
          <a:ln/>
        </p:spPr>
      </p:sp>
      <p:pic>
        <p:nvPicPr>
          <p:cNvPr id="9" name="Image 1" descr="preencoded.png">    </p:cNvPr>
          <p:cNvPicPr>
            <a:picLocks noChangeAspect="1"/>
          </p:cNvPicPr>
          <p:nvPr/>
        </p:nvPicPr>
        <p:blipFill>
          <a:blip r:embed="rId2"/>
          <a:stretch>
            <a:fillRect/>
          </a:stretch>
        </p:blipFill>
        <p:spPr>
          <a:xfrm>
            <a:off x="806501" y="1720901"/>
            <a:ext cx="252374" cy="252374"/>
          </a:xfrm>
          <a:prstGeom prst="rect">
            <a:avLst/>
          </a:prstGeom>
        </p:spPr>
      </p:pic>
      <p:sp>
        <p:nvSpPr>
          <p:cNvPr id="10" name="Text 6"/>
          <p:cNvSpPr/>
          <p:nvPr/>
        </p:nvSpPr>
        <p:spPr>
          <a:xfrm>
            <a:off x="1325880" y="1554480"/>
            <a:ext cx="3063240" cy="365760"/>
          </a:xfrm>
          <a:prstGeom prst="rect">
            <a:avLst/>
          </a:prstGeom>
          <a:noFill/>
          <a:ln/>
        </p:spPr>
        <p:txBody>
          <a:bodyPr wrap="square" lIns="0" tIns="0" rIns="0" bIns="0" rtlCol="0" anchor="ctr"/>
          <a:lstStyle/>
          <a:p>
            <a:pPr indent="0" marL="0">
              <a:buNone/>
            </a:pPr>
            <a:r>
              <a:rPr lang="en-US" sz="1500" b="1" dirty="0">
                <a:solidFill>
                  <a:srgbClr val="0F2233"/>
                </a:solidFill>
                <a:latin typeface="Cambria" pitchFamily="34" charset="0"/>
                <a:ea typeface="Cambria" pitchFamily="34" charset="-122"/>
                <a:cs typeface="Cambria" pitchFamily="34" charset="-120"/>
              </a:rPr>
              <a:t>PII screen</a:t>
            </a:r>
            <a:endParaRPr lang="en-US" sz="1500" dirty="0"/>
          </a:p>
        </p:txBody>
      </p:sp>
      <p:sp>
        <p:nvSpPr>
          <p:cNvPr id="11" name="Text 7"/>
          <p:cNvSpPr/>
          <p:nvPr/>
        </p:nvSpPr>
        <p:spPr>
          <a:xfrm>
            <a:off x="1325880" y="1938528"/>
            <a:ext cx="3063240" cy="50292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Redact emails, phones, IDs before logging or sending.</a:t>
            </a:r>
            <a:endParaRPr lang="en-US" sz="1100" dirty="0"/>
          </a:p>
        </p:txBody>
      </p:sp>
      <p:sp>
        <p:nvSpPr>
          <p:cNvPr id="12" name="Shape 8"/>
          <p:cNvSpPr/>
          <p:nvPr/>
        </p:nvSpPr>
        <p:spPr>
          <a:xfrm>
            <a:off x="4690872" y="1371600"/>
            <a:ext cx="4069080" cy="1188720"/>
          </a:xfrm>
          <a:prstGeom prst="roundRect">
            <a:avLst>
              <a:gd name="adj" fmla="val 6154"/>
            </a:avLst>
          </a:prstGeom>
          <a:solidFill>
            <a:srgbClr val="FFFFFF"/>
          </a:solidFill>
          <a:ln/>
          <a:effectLst>
            <a:outerShdw sx="100000" sy="100000" kx="0" ky="0" algn="bl" rotWithShape="0" blurRad="63500" dist="25400" dir="5400000">
              <a:srgbClr val="0F2233">
                <a:alpha val="10000"/>
              </a:srgbClr>
            </a:outerShdw>
          </a:effectLst>
        </p:spPr>
      </p:sp>
      <p:sp>
        <p:nvSpPr>
          <p:cNvPr id="13" name="Shape 9"/>
          <p:cNvSpPr/>
          <p:nvPr/>
        </p:nvSpPr>
        <p:spPr>
          <a:xfrm>
            <a:off x="4892040" y="1572768"/>
            <a:ext cx="548640" cy="548640"/>
          </a:xfrm>
          <a:prstGeom prst="ellipse">
            <a:avLst/>
          </a:prstGeom>
          <a:solidFill>
            <a:srgbClr val="F59E0B"/>
          </a:solidFill>
          <a:ln/>
        </p:spPr>
      </p:sp>
      <p:pic>
        <p:nvPicPr>
          <p:cNvPr id="14" name="Image 2" descr="preencoded.png">    </p:cNvPr>
          <p:cNvPicPr>
            <a:picLocks noChangeAspect="1"/>
          </p:cNvPicPr>
          <p:nvPr/>
        </p:nvPicPr>
        <p:blipFill>
          <a:blip r:embed="rId3"/>
          <a:stretch>
            <a:fillRect/>
          </a:stretch>
        </p:blipFill>
        <p:spPr>
          <a:xfrm>
            <a:off x="5040173" y="1720901"/>
            <a:ext cx="252374" cy="252374"/>
          </a:xfrm>
          <a:prstGeom prst="rect">
            <a:avLst/>
          </a:prstGeom>
        </p:spPr>
      </p:pic>
      <p:sp>
        <p:nvSpPr>
          <p:cNvPr id="15" name="Text 10"/>
          <p:cNvSpPr/>
          <p:nvPr/>
        </p:nvSpPr>
        <p:spPr>
          <a:xfrm>
            <a:off x="5559552" y="1554480"/>
            <a:ext cx="3063240" cy="365760"/>
          </a:xfrm>
          <a:prstGeom prst="rect">
            <a:avLst/>
          </a:prstGeom>
          <a:noFill/>
          <a:ln/>
        </p:spPr>
        <p:txBody>
          <a:bodyPr wrap="square" lIns="0" tIns="0" rIns="0" bIns="0" rtlCol="0" anchor="ctr"/>
          <a:lstStyle/>
          <a:p>
            <a:pPr indent="0" marL="0">
              <a:buNone/>
            </a:pPr>
            <a:r>
              <a:rPr lang="en-US" sz="1500" b="1" dirty="0">
                <a:solidFill>
                  <a:srgbClr val="0F2233"/>
                </a:solidFill>
                <a:latin typeface="Cambria" pitchFamily="34" charset="0"/>
                <a:ea typeface="Cambria" pitchFamily="34" charset="-122"/>
                <a:cs typeface="Cambria" pitchFamily="34" charset="-120"/>
              </a:rPr>
              <a:t>Grounding check</a:t>
            </a:r>
            <a:endParaRPr lang="en-US" sz="1500" dirty="0"/>
          </a:p>
        </p:txBody>
      </p:sp>
      <p:sp>
        <p:nvSpPr>
          <p:cNvPr id="16" name="Text 11"/>
          <p:cNvSpPr/>
          <p:nvPr/>
        </p:nvSpPr>
        <p:spPr>
          <a:xfrm>
            <a:off x="5559552" y="1938528"/>
            <a:ext cx="3063240" cy="50292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Does the brief only use facts present in the source?</a:t>
            </a:r>
            <a:endParaRPr lang="en-US" sz="1100" dirty="0"/>
          </a:p>
        </p:txBody>
      </p:sp>
      <p:sp>
        <p:nvSpPr>
          <p:cNvPr id="17" name="Shape 12"/>
          <p:cNvSpPr/>
          <p:nvPr/>
        </p:nvSpPr>
        <p:spPr>
          <a:xfrm>
            <a:off x="457200" y="2743200"/>
            <a:ext cx="4069080" cy="1188720"/>
          </a:xfrm>
          <a:prstGeom prst="roundRect">
            <a:avLst>
              <a:gd name="adj" fmla="val 6154"/>
            </a:avLst>
          </a:prstGeom>
          <a:solidFill>
            <a:srgbClr val="FFFFFF"/>
          </a:solidFill>
          <a:ln/>
          <a:effectLst>
            <a:outerShdw sx="100000" sy="100000" kx="0" ky="0" algn="bl" rotWithShape="0" blurRad="63500" dist="25400" dir="5400000">
              <a:srgbClr val="0F2233">
                <a:alpha val="10000"/>
              </a:srgbClr>
            </a:outerShdw>
          </a:effectLst>
        </p:spPr>
      </p:sp>
      <p:sp>
        <p:nvSpPr>
          <p:cNvPr id="18" name="Shape 13"/>
          <p:cNvSpPr/>
          <p:nvPr/>
        </p:nvSpPr>
        <p:spPr>
          <a:xfrm>
            <a:off x="658368" y="2944368"/>
            <a:ext cx="548640" cy="548640"/>
          </a:xfrm>
          <a:prstGeom prst="ellipse">
            <a:avLst/>
          </a:prstGeom>
          <a:solidFill>
            <a:srgbClr val="0D9488"/>
          </a:solidFill>
          <a:ln/>
        </p:spPr>
      </p:sp>
      <p:pic>
        <p:nvPicPr>
          <p:cNvPr id="19" name="Image 3" descr="preencoded.png">    </p:cNvPr>
          <p:cNvPicPr>
            <a:picLocks noChangeAspect="1"/>
          </p:cNvPicPr>
          <p:nvPr/>
        </p:nvPicPr>
        <p:blipFill>
          <a:blip r:embed="rId4"/>
          <a:stretch>
            <a:fillRect/>
          </a:stretch>
        </p:blipFill>
        <p:spPr>
          <a:xfrm>
            <a:off x="806501" y="3092501"/>
            <a:ext cx="252374" cy="252374"/>
          </a:xfrm>
          <a:prstGeom prst="rect">
            <a:avLst/>
          </a:prstGeom>
        </p:spPr>
      </p:pic>
      <p:sp>
        <p:nvSpPr>
          <p:cNvPr id="20" name="Text 14"/>
          <p:cNvSpPr/>
          <p:nvPr/>
        </p:nvSpPr>
        <p:spPr>
          <a:xfrm>
            <a:off x="1325880" y="2926080"/>
            <a:ext cx="3063240" cy="365760"/>
          </a:xfrm>
          <a:prstGeom prst="rect">
            <a:avLst/>
          </a:prstGeom>
          <a:noFill/>
          <a:ln/>
        </p:spPr>
        <p:txBody>
          <a:bodyPr wrap="square" lIns="0" tIns="0" rIns="0" bIns="0" rtlCol="0" anchor="ctr"/>
          <a:lstStyle/>
          <a:p>
            <a:pPr indent="0" marL="0">
              <a:buNone/>
            </a:pPr>
            <a:r>
              <a:rPr lang="en-US" sz="1500" b="1" dirty="0">
                <a:solidFill>
                  <a:srgbClr val="0F2233"/>
                </a:solidFill>
                <a:latin typeface="Cambria" pitchFamily="34" charset="0"/>
                <a:ea typeface="Cambria" pitchFamily="34" charset="-122"/>
                <a:cs typeface="Cambria" pitchFamily="34" charset="-120"/>
              </a:rPr>
              <a:t>Schema validation</a:t>
            </a:r>
            <a:endParaRPr lang="en-US" sz="1500" dirty="0"/>
          </a:p>
        </p:txBody>
      </p:sp>
      <p:sp>
        <p:nvSpPr>
          <p:cNvPr id="21" name="Text 15"/>
          <p:cNvSpPr/>
          <p:nvPr/>
        </p:nvSpPr>
        <p:spPr>
          <a:xfrm>
            <a:off x="1325880" y="3310128"/>
            <a:ext cx="3063240" cy="50292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Parse to a strict JSON schema; repair or reject.</a:t>
            </a:r>
            <a:endParaRPr lang="en-US" sz="1100" dirty="0"/>
          </a:p>
        </p:txBody>
      </p:sp>
      <p:sp>
        <p:nvSpPr>
          <p:cNvPr id="22" name="Shape 16"/>
          <p:cNvSpPr/>
          <p:nvPr/>
        </p:nvSpPr>
        <p:spPr>
          <a:xfrm>
            <a:off x="4690872" y="2743200"/>
            <a:ext cx="4069080" cy="1188720"/>
          </a:xfrm>
          <a:prstGeom prst="roundRect">
            <a:avLst>
              <a:gd name="adj" fmla="val 6154"/>
            </a:avLst>
          </a:prstGeom>
          <a:solidFill>
            <a:srgbClr val="FFFFFF"/>
          </a:solidFill>
          <a:ln/>
          <a:effectLst>
            <a:outerShdw sx="100000" sy="100000" kx="0" ky="0" algn="bl" rotWithShape="0" blurRad="63500" dist="25400" dir="5400000">
              <a:srgbClr val="0F2233">
                <a:alpha val="10000"/>
              </a:srgbClr>
            </a:outerShdw>
          </a:effectLst>
        </p:spPr>
      </p:sp>
      <p:sp>
        <p:nvSpPr>
          <p:cNvPr id="23" name="Shape 17"/>
          <p:cNvSpPr/>
          <p:nvPr/>
        </p:nvSpPr>
        <p:spPr>
          <a:xfrm>
            <a:off x="4892040" y="2944368"/>
            <a:ext cx="548640" cy="548640"/>
          </a:xfrm>
          <a:prstGeom prst="ellipse">
            <a:avLst/>
          </a:prstGeom>
          <a:solidFill>
            <a:srgbClr val="F59E0B"/>
          </a:solidFill>
          <a:ln/>
        </p:spPr>
      </p:sp>
      <p:pic>
        <p:nvPicPr>
          <p:cNvPr id="24" name="Image 4" descr="preencoded.png">    </p:cNvPr>
          <p:cNvPicPr>
            <a:picLocks noChangeAspect="1"/>
          </p:cNvPicPr>
          <p:nvPr/>
        </p:nvPicPr>
        <p:blipFill>
          <a:blip r:embed="rId5"/>
          <a:stretch>
            <a:fillRect/>
          </a:stretch>
        </p:blipFill>
        <p:spPr>
          <a:xfrm>
            <a:off x="5040173" y="3092501"/>
            <a:ext cx="252374" cy="252374"/>
          </a:xfrm>
          <a:prstGeom prst="rect">
            <a:avLst/>
          </a:prstGeom>
        </p:spPr>
      </p:pic>
      <p:sp>
        <p:nvSpPr>
          <p:cNvPr id="25" name="Text 18"/>
          <p:cNvSpPr/>
          <p:nvPr/>
        </p:nvSpPr>
        <p:spPr>
          <a:xfrm>
            <a:off x="5559552" y="2926080"/>
            <a:ext cx="3063240" cy="365760"/>
          </a:xfrm>
          <a:prstGeom prst="rect">
            <a:avLst/>
          </a:prstGeom>
          <a:noFill/>
          <a:ln/>
        </p:spPr>
        <p:txBody>
          <a:bodyPr wrap="square" lIns="0" tIns="0" rIns="0" bIns="0" rtlCol="0" anchor="ctr"/>
          <a:lstStyle/>
          <a:p>
            <a:pPr indent="0" marL="0">
              <a:buNone/>
            </a:pPr>
            <a:r>
              <a:rPr lang="en-US" sz="1500" b="1" dirty="0">
                <a:solidFill>
                  <a:srgbClr val="0F2233"/>
                </a:solidFill>
                <a:latin typeface="Cambria" pitchFamily="34" charset="0"/>
                <a:ea typeface="Cambria" pitchFamily="34" charset="-122"/>
                <a:cs typeface="Cambria" pitchFamily="34" charset="-120"/>
              </a:rPr>
              <a:t>Policy &amp; brand</a:t>
            </a:r>
            <a:endParaRPr lang="en-US" sz="1500" dirty="0"/>
          </a:p>
        </p:txBody>
      </p:sp>
      <p:sp>
        <p:nvSpPr>
          <p:cNvPr id="26" name="Text 19"/>
          <p:cNvSpPr/>
          <p:nvPr/>
        </p:nvSpPr>
        <p:spPr>
          <a:xfrm>
            <a:off x="5559552" y="3310128"/>
            <a:ext cx="3063240" cy="50292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No prohibited claims, tone, or restricted topics.</a:t>
            </a:r>
            <a:endParaRPr lang="en-US" sz="1100" dirty="0"/>
          </a:p>
        </p:txBody>
      </p:sp>
      <p:sp>
        <p:nvSpPr>
          <p:cNvPr id="27" name="Shape 20"/>
          <p:cNvSpPr/>
          <p:nvPr/>
        </p:nvSpPr>
        <p:spPr>
          <a:xfrm>
            <a:off x="457200" y="4160520"/>
            <a:ext cx="8229600" cy="502920"/>
          </a:xfrm>
          <a:prstGeom prst="roundRect">
            <a:avLst>
              <a:gd name="adj" fmla="val 14545"/>
            </a:avLst>
          </a:prstGeom>
          <a:solidFill>
            <a:srgbClr val="0E2A3B"/>
          </a:solidFill>
          <a:ln/>
        </p:spPr>
      </p:sp>
      <p:sp>
        <p:nvSpPr>
          <p:cNvPr id="28" name="Text 21"/>
          <p:cNvSpPr/>
          <p:nvPr/>
        </p:nvSpPr>
        <p:spPr>
          <a:xfrm>
            <a:off x="658368" y="4160520"/>
            <a:ext cx="7863840" cy="502920"/>
          </a:xfrm>
          <a:prstGeom prst="rect">
            <a:avLst/>
          </a:prstGeom>
          <a:noFill/>
          <a:ln/>
        </p:spPr>
        <p:txBody>
          <a:bodyPr wrap="square" lIns="0" tIns="0" rIns="0" bIns="0" rtlCol="0" anchor="ctr"/>
          <a:lstStyle/>
          <a:p>
            <a:pPr indent="0" marL="0">
              <a:buNone/>
            </a:pPr>
            <a:r>
              <a:rPr lang="en-US" sz="1150" b="1" dirty="0">
                <a:solidFill>
                  <a:srgbClr val="5EEAD4"/>
                </a:solidFill>
                <a:latin typeface="Calibri" pitchFamily="34" charset="0"/>
                <a:ea typeface="Calibri" pitchFamily="34" charset="-122"/>
                <a:cs typeface="Calibri" pitchFamily="34" charset="-120"/>
              </a:rPr>
              <a:t>On block: </a:t>
            </a:r>
            <a:pPr indent="0" marL="0">
              <a:buNone/>
            </a:pPr>
            <a:r>
              <a:rPr lang="en-US" sz="1150" dirty="0">
                <a:solidFill>
                  <a:srgbClr val="DCEAE6"/>
                </a:solidFill>
                <a:latin typeface="Calibri" pitchFamily="34" charset="0"/>
                <a:ea typeface="Calibri" pitchFamily="34" charset="-122"/>
                <a:cs typeface="Calibri" pitchFamily="34" charset="-120"/>
              </a:rPr>
              <a:t>log the event with trace_id → retry with a corrective prompt → fall back to a safe default → escalate to human. Never fail silently.</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21</a:t>
            </a:r>
            <a:endParaRPr lang="en-US" sz="850" dirty="0"/>
          </a:p>
        </p:txBody>
      </p:sp>
      <p:sp>
        <p:nvSpPr>
          <p:cNvPr id="4" name="Shape 2"/>
          <p:cNvSpPr/>
          <p:nvPr/>
        </p:nvSpPr>
        <p:spPr>
          <a:xfrm>
            <a:off x="457200" y="384048"/>
            <a:ext cx="566928" cy="566928"/>
          </a:xfrm>
          <a:prstGeom prst="ellipse">
            <a:avLst/>
          </a:prstGeom>
          <a:solidFill>
            <a:srgbClr val="F59E0B"/>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Prompt Injection: The Agent's #1 Threat</a:t>
            </a:r>
            <a:endParaRPr lang="en-US" sz="2600" dirty="0"/>
          </a:p>
        </p:txBody>
      </p:sp>
      <p:sp>
        <p:nvSpPr>
          <p:cNvPr id="7" name="Shape 4"/>
          <p:cNvSpPr/>
          <p:nvPr/>
        </p:nvSpPr>
        <p:spPr>
          <a:xfrm>
            <a:off x="457200" y="1371600"/>
            <a:ext cx="4069080" cy="3246120"/>
          </a:xfrm>
          <a:prstGeom prst="roundRect">
            <a:avLst>
              <a:gd name="adj" fmla="val 2254"/>
            </a:avLst>
          </a:prstGeom>
          <a:solidFill>
            <a:srgbClr val="FBE7E7"/>
          </a:solidFill>
          <a:ln/>
          <a:effectLst>
            <a:outerShdw sx="100000" sy="100000" kx="0" ky="0" algn="bl" rotWithShape="0" blurRad="63500" dist="25400" dir="5400000">
              <a:srgbClr val="0F2233">
                <a:alpha val="10000"/>
              </a:srgbClr>
            </a:outerShdw>
          </a:effectLst>
        </p:spPr>
      </p:sp>
      <p:sp>
        <p:nvSpPr>
          <p:cNvPr id="8" name="Text 5"/>
          <p:cNvSpPr/>
          <p:nvPr/>
        </p:nvSpPr>
        <p:spPr>
          <a:xfrm>
            <a:off x="658368" y="1481328"/>
            <a:ext cx="3657600" cy="320040"/>
          </a:xfrm>
          <a:prstGeom prst="rect">
            <a:avLst/>
          </a:prstGeom>
          <a:noFill/>
          <a:ln/>
        </p:spPr>
        <p:txBody>
          <a:bodyPr wrap="square" lIns="0" tIns="0" rIns="0" bIns="0" rtlCol="0" anchor="ctr"/>
          <a:lstStyle/>
          <a:p>
            <a:pPr indent="0" marL="0">
              <a:buNone/>
            </a:pPr>
            <a:r>
              <a:rPr lang="en-US" sz="1500" b="1" dirty="0">
                <a:solidFill>
                  <a:srgbClr val="DC2626"/>
                </a:solidFill>
                <a:latin typeface="Cambria" pitchFamily="34" charset="0"/>
                <a:ea typeface="Cambria" pitchFamily="34" charset="-122"/>
                <a:cs typeface="Cambria" pitchFamily="34" charset="-120"/>
              </a:rPr>
              <a:t>The attack</a:t>
            </a:r>
            <a:endParaRPr lang="en-US" sz="1500" dirty="0"/>
          </a:p>
        </p:txBody>
      </p:sp>
      <p:sp>
        <p:nvSpPr>
          <p:cNvPr id="9" name="Text 6"/>
          <p:cNvSpPr/>
          <p:nvPr/>
        </p:nvSpPr>
        <p:spPr>
          <a:xfrm>
            <a:off x="658368" y="1828800"/>
            <a:ext cx="3657600" cy="2651760"/>
          </a:xfrm>
          <a:prstGeom prst="rect">
            <a:avLst/>
          </a:prstGeom>
          <a:noFill/>
          <a:ln/>
        </p:spPr>
        <p:txBody>
          <a:bodyPr wrap="square" lIns="0" tIns="0" rIns="0" bIns="0" rtlCol="0" anchor="t"/>
          <a:lstStyle/>
          <a:p>
            <a:pPr marL="177800" indent="-177800">
              <a:spcAft>
                <a:spcPts val="500"/>
              </a:spcAft>
              <a:buSzPct val="100000"/>
              <a:buChar char="•"/>
            </a:pPr>
            <a:r>
              <a:rPr lang="en-US" sz="1200" b="1" dirty="0">
                <a:solidFill>
                  <a:srgbClr val="334155"/>
                </a:solidFill>
                <a:latin typeface="Calibri" pitchFamily="34" charset="0"/>
                <a:ea typeface="Calibri" pitchFamily="34" charset="-122"/>
                <a:cs typeface="Calibri" pitchFamily="34" charset="-120"/>
              </a:rPr>
              <a:t>Direct</a:t>
            </a:r>
            <a:endParaRPr lang="en-US" sz="1200" dirty="0"/>
          </a:p>
          <a:p>
            <a:pPr lvl="1" marL="355600" indent="-177800">
              <a:spcAft>
                <a:spcPts val="500"/>
              </a:spcAft>
              <a:buSzPct val="100000"/>
              <a:buChar char="•"/>
            </a:pPr>
            <a:r>
              <a:rPr lang="en-US" sz="1050" dirty="0">
                <a:solidFill>
                  <a:srgbClr val="334155"/>
                </a:solidFill>
                <a:latin typeface="Calibri" pitchFamily="34" charset="0"/>
                <a:ea typeface="Calibri" pitchFamily="34" charset="-122"/>
                <a:cs typeface="Calibri" pitchFamily="34" charset="-120"/>
              </a:rPr>
              <a:t>user types 'ignore your rules…'</a:t>
            </a:r>
            <a:endParaRPr lang="en-US" sz="1200" dirty="0"/>
          </a:p>
          <a:p>
            <a:pPr marL="177800" indent="-177800">
              <a:spcAft>
                <a:spcPts val="500"/>
              </a:spcAft>
              <a:buSzPct val="100000"/>
              <a:buChar char="•"/>
            </a:pPr>
            <a:r>
              <a:rPr lang="en-US" sz="1200" b="1" dirty="0">
                <a:solidFill>
                  <a:srgbClr val="334155"/>
                </a:solidFill>
                <a:latin typeface="Calibri" pitchFamily="34" charset="0"/>
                <a:ea typeface="Calibri" pitchFamily="34" charset="-122"/>
                <a:cs typeface="Calibri" pitchFamily="34" charset="-120"/>
              </a:rPr>
              <a:t>Indirect</a:t>
            </a:r>
            <a:endParaRPr lang="en-US" sz="1200" dirty="0"/>
          </a:p>
          <a:p>
            <a:pPr lvl="1" marL="355600" indent="-177800">
              <a:spcAft>
                <a:spcPts val="500"/>
              </a:spcAft>
              <a:buSzPct val="100000"/>
              <a:buChar char="•"/>
            </a:pPr>
            <a:r>
              <a:rPr lang="en-US" sz="1050" dirty="0">
                <a:solidFill>
                  <a:srgbClr val="334155"/>
                </a:solidFill>
                <a:latin typeface="Calibri" pitchFamily="34" charset="0"/>
                <a:ea typeface="Calibri" pitchFamily="34" charset="-122"/>
                <a:cs typeface="Calibri" pitchFamily="34" charset="-120"/>
              </a:rPr>
              <a:t>a scraped web page / lead bio contains hidden instructions the agent obeys</a:t>
            </a:r>
            <a:endParaRPr lang="en-US" sz="1200" dirty="0"/>
          </a:p>
          <a:p>
            <a:pPr marL="177800" indent="-177800">
              <a:spcAft>
                <a:spcPts val="500"/>
              </a:spcAft>
              <a:buSzPct val="100000"/>
              <a:buChar char="•"/>
            </a:pPr>
            <a:r>
              <a:rPr lang="en-US" sz="1200" b="1" dirty="0">
                <a:solidFill>
                  <a:srgbClr val="334155"/>
                </a:solidFill>
                <a:latin typeface="Calibri" pitchFamily="34" charset="0"/>
                <a:ea typeface="Calibri" pitchFamily="34" charset="-122"/>
                <a:cs typeface="Calibri" pitchFamily="34" charset="-120"/>
              </a:rPr>
              <a:t>Goal</a:t>
            </a:r>
            <a:endParaRPr lang="en-US" sz="1200" dirty="0"/>
          </a:p>
          <a:p>
            <a:pPr lvl="1" marL="355600" indent="-177800">
              <a:spcAft>
                <a:spcPts val="500"/>
              </a:spcAft>
              <a:buSzPct val="100000"/>
              <a:buChar char="•"/>
            </a:pPr>
            <a:r>
              <a:rPr lang="en-US" sz="1050" dirty="0">
                <a:solidFill>
                  <a:srgbClr val="334155"/>
                </a:solidFill>
                <a:latin typeface="Calibri" pitchFamily="34" charset="0"/>
                <a:ea typeface="Calibri" pitchFamily="34" charset="-122"/>
                <a:cs typeface="Calibri" pitchFamily="34" charset="-120"/>
              </a:rPr>
              <a:t>exfiltrate data, abuse tools, change behaviour</a:t>
            </a:r>
            <a:endParaRPr lang="en-US" sz="1200" dirty="0"/>
          </a:p>
        </p:txBody>
      </p:sp>
      <p:sp>
        <p:nvSpPr>
          <p:cNvPr id="10" name="Shape 7"/>
          <p:cNvSpPr/>
          <p:nvPr/>
        </p:nvSpPr>
        <p:spPr>
          <a:xfrm>
            <a:off x="4617720" y="1371600"/>
            <a:ext cx="4069080" cy="3246120"/>
          </a:xfrm>
          <a:prstGeom prst="roundRect">
            <a:avLst>
              <a:gd name="adj" fmla="val 2254"/>
            </a:avLst>
          </a:prstGeom>
          <a:solidFill>
            <a:srgbClr val="0E2A3B"/>
          </a:solidFill>
          <a:ln/>
          <a:effectLst>
            <a:outerShdw sx="100000" sy="100000" kx="0" ky="0" algn="bl" rotWithShape="0" blurRad="63500" dist="25400" dir="5400000">
              <a:srgbClr val="0F2233">
                <a:alpha val="10000"/>
              </a:srgbClr>
            </a:outerShdw>
          </a:effectLst>
        </p:spPr>
      </p:sp>
      <p:sp>
        <p:nvSpPr>
          <p:cNvPr id="11" name="Text 8"/>
          <p:cNvSpPr/>
          <p:nvPr/>
        </p:nvSpPr>
        <p:spPr>
          <a:xfrm>
            <a:off x="4818888" y="1481328"/>
            <a:ext cx="3657600" cy="320040"/>
          </a:xfrm>
          <a:prstGeom prst="rect">
            <a:avLst/>
          </a:prstGeom>
          <a:noFill/>
          <a:ln/>
        </p:spPr>
        <p:txBody>
          <a:bodyPr wrap="square" lIns="0" tIns="0" rIns="0" bIns="0" rtlCol="0" anchor="ctr"/>
          <a:lstStyle/>
          <a:p>
            <a:pPr indent="0" marL="0">
              <a:buNone/>
            </a:pPr>
            <a:r>
              <a:rPr lang="en-US" sz="1500" b="1" dirty="0">
                <a:solidFill>
                  <a:srgbClr val="5EEAD4"/>
                </a:solidFill>
                <a:latin typeface="Cambria" pitchFamily="34" charset="0"/>
                <a:ea typeface="Cambria" pitchFamily="34" charset="-122"/>
                <a:cs typeface="Cambria" pitchFamily="34" charset="-120"/>
              </a:rPr>
              <a:t>The defences (layered)</a:t>
            </a:r>
            <a:endParaRPr lang="en-US" sz="1500" dirty="0"/>
          </a:p>
        </p:txBody>
      </p:sp>
      <p:sp>
        <p:nvSpPr>
          <p:cNvPr id="12" name="Text 9"/>
          <p:cNvSpPr/>
          <p:nvPr/>
        </p:nvSpPr>
        <p:spPr>
          <a:xfrm>
            <a:off x="4818888" y="1828800"/>
            <a:ext cx="3657600" cy="2651760"/>
          </a:xfrm>
          <a:prstGeom prst="rect">
            <a:avLst/>
          </a:prstGeom>
          <a:noFill/>
          <a:ln/>
        </p:spPr>
        <p:txBody>
          <a:bodyPr wrap="square" lIns="0" tIns="0" rIns="0" bIns="0" rtlCol="0" anchor="t"/>
          <a:lstStyle/>
          <a:p>
            <a:pPr marL="165100" indent="-165100">
              <a:spcAft>
                <a:spcPts val="700"/>
              </a:spcAft>
              <a:buSzPct val="100000"/>
              <a:buChar char="•"/>
            </a:pPr>
            <a:r>
              <a:rPr lang="en-US" sz="1150" dirty="0">
                <a:solidFill>
                  <a:srgbClr val="DCEAE6"/>
                </a:solidFill>
                <a:latin typeface="Calibri" pitchFamily="34" charset="0"/>
                <a:ea typeface="Calibri" pitchFamily="34" charset="-122"/>
                <a:cs typeface="Calibri" pitchFamily="34" charset="-120"/>
              </a:rPr>
              <a:t>Treat retrieved content as DATA, never instructions</a:t>
            </a:r>
            <a:endParaRPr lang="en-US" sz="1150" dirty="0"/>
          </a:p>
          <a:p>
            <a:pPr marL="165100" indent="-165100">
              <a:spcAft>
                <a:spcPts val="700"/>
              </a:spcAft>
              <a:buSzPct val="100000"/>
              <a:buChar char="•"/>
            </a:pPr>
            <a:r>
              <a:rPr lang="en-US" sz="1150" dirty="0">
                <a:solidFill>
                  <a:srgbClr val="DCEAE6"/>
                </a:solidFill>
                <a:latin typeface="Calibri" pitchFamily="34" charset="0"/>
                <a:ea typeface="Calibri" pitchFamily="34" charset="-122"/>
                <a:cs typeface="Calibri" pitchFamily="34" charset="-120"/>
              </a:rPr>
              <a:t>Delimit &amp; label untrusted text in the prompt</a:t>
            </a:r>
            <a:endParaRPr lang="en-US" sz="1150" dirty="0"/>
          </a:p>
          <a:p>
            <a:pPr marL="165100" indent="-165100">
              <a:spcAft>
                <a:spcPts val="700"/>
              </a:spcAft>
              <a:buSzPct val="100000"/>
              <a:buChar char="•"/>
            </a:pPr>
            <a:r>
              <a:rPr lang="en-US" sz="1150" dirty="0">
                <a:solidFill>
                  <a:srgbClr val="DCEAE6"/>
                </a:solidFill>
                <a:latin typeface="Calibri" pitchFamily="34" charset="0"/>
                <a:ea typeface="Calibri" pitchFamily="34" charset="-122"/>
                <a:cs typeface="Calibri" pitchFamily="34" charset="-120"/>
              </a:rPr>
              <a:t>Least-privilege tools + arg validation</a:t>
            </a:r>
            <a:endParaRPr lang="en-US" sz="1150" dirty="0"/>
          </a:p>
          <a:p>
            <a:pPr marL="165100" indent="-165100">
              <a:spcAft>
                <a:spcPts val="700"/>
              </a:spcAft>
              <a:buSzPct val="100000"/>
              <a:buChar char="•"/>
            </a:pPr>
            <a:r>
              <a:rPr lang="en-US" sz="1150" dirty="0">
                <a:solidFill>
                  <a:srgbClr val="DCEAE6"/>
                </a:solidFill>
                <a:latin typeface="Calibri" pitchFamily="34" charset="0"/>
                <a:ea typeface="Calibri" pitchFamily="34" charset="-122"/>
                <a:cs typeface="Calibri" pitchFamily="34" charset="-120"/>
              </a:rPr>
              <a:t>Input screening + output guardrails</a:t>
            </a:r>
            <a:endParaRPr lang="en-US" sz="1150" dirty="0"/>
          </a:p>
          <a:p>
            <a:pPr marL="165100" indent="-165100">
              <a:spcAft>
                <a:spcPts val="700"/>
              </a:spcAft>
              <a:buSzPct val="100000"/>
              <a:buChar char="•"/>
            </a:pPr>
            <a:r>
              <a:rPr lang="en-US" sz="1150" dirty="0">
                <a:solidFill>
                  <a:srgbClr val="DCEAE6"/>
                </a:solidFill>
                <a:latin typeface="Calibri" pitchFamily="34" charset="0"/>
                <a:ea typeface="Calibri" pitchFamily="34" charset="-122"/>
                <a:cs typeface="Calibri" pitchFamily="34" charset="-120"/>
              </a:rPr>
              <a:t>Human approval for irreversible actions</a:t>
            </a:r>
            <a:endParaRPr lang="en-US" sz="1150" dirty="0"/>
          </a:p>
          <a:p>
            <a:pPr marL="165100" indent="-165100">
              <a:spcAft>
                <a:spcPts val="700"/>
              </a:spcAft>
              <a:buSzPct val="100000"/>
              <a:buChar char="•"/>
            </a:pPr>
            <a:r>
              <a:rPr lang="en-US" sz="1150" dirty="0">
                <a:solidFill>
                  <a:srgbClr val="DCEAE6"/>
                </a:solidFill>
                <a:latin typeface="Calibri" pitchFamily="34" charset="0"/>
                <a:ea typeface="Calibri" pitchFamily="34" charset="-122"/>
                <a:cs typeface="Calibri" pitchFamily="34" charset="-120"/>
              </a:rPr>
              <a:t>Log every block to the audit trail</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22</a:t>
            </a:r>
            <a:endParaRPr lang="en-US" sz="850" dirty="0"/>
          </a:p>
        </p:txBody>
      </p:sp>
      <p:sp>
        <p:nvSpPr>
          <p:cNvPr id="4" name="Shape 2"/>
          <p:cNvSpPr/>
          <p:nvPr/>
        </p:nvSpPr>
        <p:spPr>
          <a:xfrm>
            <a:off x="457200" y="384048"/>
            <a:ext cx="566928" cy="566928"/>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PII &amp; Data Handling</a:t>
            </a:r>
            <a:endParaRPr lang="en-US" sz="2600" dirty="0"/>
          </a:p>
        </p:txBody>
      </p:sp>
      <p:sp>
        <p:nvSpPr>
          <p:cNvPr id="7" name="Shape 4"/>
          <p:cNvSpPr/>
          <p:nvPr/>
        </p:nvSpPr>
        <p:spPr>
          <a:xfrm>
            <a:off x="457200" y="1417320"/>
            <a:ext cx="2697480" cy="2286000"/>
          </a:xfrm>
          <a:prstGeom prst="roundRect">
            <a:avLst>
              <a:gd name="adj" fmla="val 3200"/>
            </a:avLst>
          </a:prstGeom>
          <a:solidFill>
            <a:srgbClr val="FFFFFF"/>
          </a:solidFill>
          <a:ln/>
          <a:effectLst>
            <a:outerShdw sx="100000" sy="100000" kx="0" ky="0" algn="bl" rotWithShape="0" blurRad="63500" dist="25400" dir="5400000">
              <a:srgbClr val="0F2233">
                <a:alpha val="10000"/>
              </a:srgbClr>
            </a:outerShdw>
          </a:effectLst>
        </p:spPr>
      </p:sp>
      <p:sp>
        <p:nvSpPr>
          <p:cNvPr id="8" name="Shape 5"/>
          <p:cNvSpPr/>
          <p:nvPr/>
        </p:nvSpPr>
        <p:spPr>
          <a:xfrm>
            <a:off x="1476756" y="1627632"/>
            <a:ext cx="658368" cy="658368"/>
          </a:xfrm>
          <a:prstGeom prst="ellipse">
            <a:avLst/>
          </a:prstGeom>
          <a:solidFill>
            <a:srgbClr val="0D9488"/>
          </a:solidFill>
          <a:ln/>
        </p:spPr>
      </p:sp>
      <p:pic>
        <p:nvPicPr>
          <p:cNvPr id="9" name="Image 1" descr="preencoded.png">    </p:cNvPr>
          <p:cNvPicPr>
            <a:picLocks noChangeAspect="1"/>
          </p:cNvPicPr>
          <p:nvPr/>
        </p:nvPicPr>
        <p:blipFill>
          <a:blip r:embed="rId2"/>
          <a:stretch>
            <a:fillRect/>
          </a:stretch>
        </p:blipFill>
        <p:spPr>
          <a:xfrm>
            <a:off x="1654515" y="1805391"/>
            <a:ext cx="302849" cy="302849"/>
          </a:xfrm>
          <a:prstGeom prst="rect">
            <a:avLst/>
          </a:prstGeom>
        </p:spPr>
      </p:pic>
      <p:sp>
        <p:nvSpPr>
          <p:cNvPr id="10" name="Text 6"/>
          <p:cNvSpPr/>
          <p:nvPr/>
        </p:nvSpPr>
        <p:spPr>
          <a:xfrm>
            <a:off x="457200" y="2377440"/>
            <a:ext cx="2697480" cy="365760"/>
          </a:xfrm>
          <a:prstGeom prst="rect">
            <a:avLst/>
          </a:prstGeom>
          <a:noFill/>
          <a:ln/>
        </p:spPr>
        <p:txBody>
          <a:bodyPr wrap="square" lIns="0" tIns="0" rIns="0" bIns="0" rtlCol="0" anchor="ctr"/>
          <a:lstStyle/>
          <a:p>
            <a:pPr algn="ctr" indent="0" marL="0">
              <a:buNone/>
            </a:pPr>
            <a:r>
              <a:rPr lang="en-US" sz="1700" b="1" dirty="0">
                <a:solidFill>
                  <a:srgbClr val="0F2233"/>
                </a:solidFill>
                <a:latin typeface="Cambria" pitchFamily="34" charset="0"/>
                <a:ea typeface="Cambria" pitchFamily="34" charset="-122"/>
                <a:cs typeface="Cambria" pitchFamily="34" charset="-120"/>
              </a:rPr>
              <a:t>Minimise</a:t>
            </a:r>
            <a:endParaRPr lang="en-US" sz="1700" dirty="0"/>
          </a:p>
        </p:txBody>
      </p:sp>
      <p:sp>
        <p:nvSpPr>
          <p:cNvPr id="11" name="Text 7"/>
          <p:cNvSpPr/>
          <p:nvPr/>
        </p:nvSpPr>
        <p:spPr>
          <a:xfrm>
            <a:off x="640080" y="2788920"/>
            <a:ext cx="2331720" cy="868680"/>
          </a:xfrm>
          <a:prstGeom prst="rect">
            <a:avLst/>
          </a:prstGeom>
          <a:noFill/>
          <a:ln/>
        </p:spPr>
        <p:txBody>
          <a:bodyPr wrap="square" lIns="0" tIns="0" rIns="0" bIns="0" rtlCol="0" anchor="t"/>
          <a:lstStyle/>
          <a:p>
            <a:pPr algn="ctr" indent="0" marL="0">
              <a:buNone/>
            </a:pPr>
            <a:r>
              <a:rPr lang="en-US" sz="1100" dirty="0">
                <a:solidFill>
                  <a:srgbClr val="334155"/>
                </a:solidFill>
                <a:latin typeface="Calibri" pitchFamily="34" charset="0"/>
                <a:ea typeface="Calibri" pitchFamily="34" charset="-122"/>
                <a:cs typeface="Calibri" pitchFamily="34" charset="-120"/>
              </a:rPr>
              <a:t>Collect only the fields you need to qualify and contact. Less data = less risk.</a:t>
            </a:r>
            <a:endParaRPr lang="en-US" sz="1100" dirty="0"/>
          </a:p>
        </p:txBody>
      </p:sp>
      <p:sp>
        <p:nvSpPr>
          <p:cNvPr id="12" name="Shape 8"/>
          <p:cNvSpPr/>
          <p:nvPr/>
        </p:nvSpPr>
        <p:spPr>
          <a:xfrm>
            <a:off x="3337560" y="1417320"/>
            <a:ext cx="2697480" cy="2286000"/>
          </a:xfrm>
          <a:prstGeom prst="roundRect">
            <a:avLst>
              <a:gd name="adj" fmla="val 3200"/>
            </a:avLst>
          </a:prstGeom>
          <a:solidFill>
            <a:srgbClr val="FFFFFF"/>
          </a:solidFill>
          <a:ln/>
          <a:effectLst>
            <a:outerShdw sx="100000" sy="100000" kx="0" ky="0" algn="bl" rotWithShape="0" blurRad="63500" dist="25400" dir="5400000">
              <a:srgbClr val="0F2233">
                <a:alpha val="10000"/>
              </a:srgbClr>
            </a:outerShdw>
          </a:effectLst>
        </p:spPr>
      </p:sp>
      <p:sp>
        <p:nvSpPr>
          <p:cNvPr id="13" name="Shape 9"/>
          <p:cNvSpPr/>
          <p:nvPr/>
        </p:nvSpPr>
        <p:spPr>
          <a:xfrm>
            <a:off x="4357116" y="1627632"/>
            <a:ext cx="658368" cy="658368"/>
          </a:xfrm>
          <a:prstGeom prst="ellipse">
            <a:avLst/>
          </a:prstGeom>
          <a:solidFill>
            <a:srgbClr val="F59E0B"/>
          </a:solidFill>
          <a:ln/>
        </p:spPr>
      </p:sp>
      <p:pic>
        <p:nvPicPr>
          <p:cNvPr id="14" name="Image 2" descr="preencoded.png">    </p:cNvPr>
          <p:cNvPicPr>
            <a:picLocks noChangeAspect="1"/>
          </p:cNvPicPr>
          <p:nvPr/>
        </p:nvPicPr>
        <p:blipFill>
          <a:blip r:embed="rId3"/>
          <a:stretch>
            <a:fillRect/>
          </a:stretch>
        </p:blipFill>
        <p:spPr>
          <a:xfrm>
            <a:off x="4534875" y="1805391"/>
            <a:ext cx="302849" cy="302849"/>
          </a:xfrm>
          <a:prstGeom prst="rect">
            <a:avLst/>
          </a:prstGeom>
        </p:spPr>
      </p:pic>
      <p:sp>
        <p:nvSpPr>
          <p:cNvPr id="15" name="Text 10"/>
          <p:cNvSpPr/>
          <p:nvPr/>
        </p:nvSpPr>
        <p:spPr>
          <a:xfrm>
            <a:off x="3337560" y="2377440"/>
            <a:ext cx="2697480" cy="365760"/>
          </a:xfrm>
          <a:prstGeom prst="rect">
            <a:avLst/>
          </a:prstGeom>
          <a:noFill/>
          <a:ln/>
        </p:spPr>
        <p:txBody>
          <a:bodyPr wrap="square" lIns="0" tIns="0" rIns="0" bIns="0" rtlCol="0" anchor="ctr"/>
          <a:lstStyle/>
          <a:p>
            <a:pPr algn="ctr" indent="0" marL="0">
              <a:buNone/>
            </a:pPr>
            <a:r>
              <a:rPr lang="en-US" sz="1700" b="1" dirty="0">
                <a:solidFill>
                  <a:srgbClr val="0F2233"/>
                </a:solidFill>
                <a:latin typeface="Cambria" pitchFamily="34" charset="0"/>
                <a:ea typeface="Cambria" pitchFamily="34" charset="-122"/>
                <a:cs typeface="Cambria" pitchFamily="34" charset="-120"/>
              </a:rPr>
              <a:t>Protect</a:t>
            </a:r>
            <a:endParaRPr lang="en-US" sz="1700" dirty="0"/>
          </a:p>
        </p:txBody>
      </p:sp>
      <p:sp>
        <p:nvSpPr>
          <p:cNvPr id="16" name="Text 11"/>
          <p:cNvSpPr/>
          <p:nvPr/>
        </p:nvSpPr>
        <p:spPr>
          <a:xfrm>
            <a:off x="3520440" y="2788920"/>
            <a:ext cx="2331720" cy="868680"/>
          </a:xfrm>
          <a:prstGeom prst="rect">
            <a:avLst/>
          </a:prstGeom>
          <a:noFill/>
          <a:ln/>
        </p:spPr>
        <p:txBody>
          <a:bodyPr wrap="square" lIns="0" tIns="0" rIns="0" bIns="0" rtlCol="0" anchor="t"/>
          <a:lstStyle/>
          <a:p>
            <a:pPr algn="ctr" indent="0" marL="0">
              <a:buNone/>
            </a:pPr>
            <a:r>
              <a:rPr lang="en-US" sz="1100" dirty="0">
                <a:solidFill>
                  <a:srgbClr val="334155"/>
                </a:solidFill>
                <a:latin typeface="Calibri" pitchFamily="34" charset="0"/>
                <a:ea typeface="Calibri" pitchFamily="34" charset="-122"/>
                <a:cs typeface="Calibri" pitchFamily="34" charset="-120"/>
              </a:rPr>
              <a:t>Redact before logging, encrypt at rest &amp; in transit, restrict who can read it.</a:t>
            </a:r>
            <a:endParaRPr lang="en-US" sz="1100" dirty="0"/>
          </a:p>
        </p:txBody>
      </p:sp>
      <p:sp>
        <p:nvSpPr>
          <p:cNvPr id="17" name="Shape 12"/>
          <p:cNvSpPr/>
          <p:nvPr/>
        </p:nvSpPr>
        <p:spPr>
          <a:xfrm>
            <a:off x="6217920" y="1417320"/>
            <a:ext cx="2697480" cy="2286000"/>
          </a:xfrm>
          <a:prstGeom prst="roundRect">
            <a:avLst>
              <a:gd name="adj" fmla="val 3200"/>
            </a:avLst>
          </a:prstGeom>
          <a:solidFill>
            <a:srgbClr val="FFFFFF"/>
          </a:solidFill>
          <a:ln/>
          <a:effectLst>
            <a:outerShdw sx="100000" sy="100000" kx="0" ky="0" algn="bl" rotWithShape="0" blurRad="63500" dist="25400" dir="5400000">
              <a:srgbClr val="0F2233">
                <a:alpha val="10000"/>
              </a:srgbClr>
            </a:outerShdw>
          </a:effectLst>
        </p:spPr>
      </p:sp>
      <p:sp>
        <p:nvSpPr>
          <p:cNvPr id="18" name="Shape 13"/>
          <p:cNvSpPr/>
          <p:nvPr/>
        </p:nvSpPr>
        <p:spPr>
          <a:xfrm>
            <a:off x="7237476" y="1627632"/>
            <a:ext cx="658368" cy="658368"/>
          </a:xfrm>
          <a:prstGeom prst="ellipse">
            <a:avLst/>
          </a:prstGeom>
          <a:solidFill>
            <a:srgbClr val="0D9488"/>
          </a:solidFill>
          <a:ln/>
        </p:spPr>
      </p:sp>
      <p:pic>
        <p:nvPicPr>
          <p:cNvPr id="19" name="Image 3" descr="preencoded.png">    </p:cNvPr>
          <p:cNvPicPr>
            <a:picLocks noChangeAspect="1"/>
          </p:cNvPicPr>
          <p:nvPr/>
        </p:nvPicPr>
        <p:blipFill>
          <a:blip r:embed="rId4"/>
          <a:stretch>
            <a:fillRect/>
          </a:stretch>
        </p:blipFill>
        <p:spPr>
          <a:xfrm>
            <a:off x="7415235" y="1805391"/>
            <a:ext cx="302849" cy="302849"/>
          </a:xfrm>
          <a:prstGeom prst="rect">
            <a:avLst/>
          </a:prstGeom>
        </p:spPr>
      </p:pic>
      <p:sp>
        <p:nvSpPr>
          <p:cNvPr id="20" name="Text 14"/>
          <p:cNvSpPr/>
          <p:nvPr/>
        </p:nvSpPr>
        <p:spPr>
          <a:xfrm>
            <a:off x="6217920" y="2377440"/>
            <a:ext cx="2697480" cy="365760"/>
          </a:xfrm>
          <a:prstGeom prst="rect">
            <a:avLst/>
          </a:prstGeom>
          <a:noFill/>
          <a:ln/>
        </p:spPr>
        <p:txBody>
          <a:bodyPr wrap="square" lIns="0" tIns="0" rIns="0" bIns="0" rtlCol="0" anchor="ctr"/>
          <a:lstStyle/>
          <a:p>
            <a:pPr algn="ctr" indent="0" marL="0">
              <a:buNone/>
            </a:pPr>
            <a:r>
              <a:rPr lang="en-US" sz="1700" b="1" dirty="0">
                <a:solidFill>
                  <a:srgbClr val="0F2233"/>
                </a:solidFill>
                <a:latin typeface="Cambria" pitchFamily="34" charset="0"/>
                <a:ea typeface="Cambria" pitchFamily="34" charset="-122"/>
                <a:cs typeface="Cambria" pitchFamily="34" charset="-120"/>
              </a:rPr>
              <a:t>Retain &amp; delete</a:t>
            </a:r>
            <a:endParaRPr lang="en-US" sz="1700" dirty="0"/>
          </a:p>
        </p:txBody>
      </p:sp>
      <p:sp>
        <p:nvSpPr>
          <p:cNvPr id="21" name="Text 15"/>
          <p:cNvSpPr/>
          <p:nvPr/>
        </p:nvSpPr>
        <p:spPr>
          <a:xfrm>
            <a:off x="6400800" y="2788920"/>
            <a:ext cx="2331720" cy="868680"/>
          </a:xfrm>
          <a:prstGeom prst="rect">
            <a:avLst/>
          </a:prstGeom>
          <a:noFill/>
          <a:ln/>
        </p:spPr>
        <p:txBody>
          <a:bodyPr wrap="square" lIns="0" tIns="0" rIns="0" bIns="0" rtlCol="0" anchor="t"/>
          <a:lstStyle/>
          <a:p>
            <a:pPr algn="ctr" indent="0" marL="0">
              <a:buNone/>
            </a:pPr>
            <a:r>
              <a:rPr lang="en-US" sz="1100" dirty="0">
                <a:solidFill>
                  <a:srgbClr val="334155"/>
                </a:solidFill>
                <a:latin typeface="Calibri" pitchFamily="34" charset="0"/>
                <a:ea typeface="Calibri" pitchFamily="34" charset="-122"/>
                <a:cs typeface="Calibri" pitchFamily="34" charset="-120"/>
              </a:rPr>
              <a:t>Set a retention clock; honour deletion/opt-out requests; record consent basis.</a:t>
            </a:r>
            <a:endParaRPr lang="en-US" sz="1100" dirty="0"/>
          </a:p>
        </p:txBody>
      </p:sp>
      <p:sp>
        <p:nvSpPr>
          <p:cNvPr id="22" name="Shape 16"/>
          <p:cNvSpPr/>
          <p:nvPr/>
        </p:nvSpPr>
        <p:spPr>
          <a:xfrm>
            <a:off x="457200" y="3931920"/>
            <a:ext cx="8229600" cy="713232"/>
          </a:xfrm>
          <a:prstGeom prst="roundRect">
            <a:avLst>
              <a:gd name="adj" fmla="val 10256"/>
            </a:avLst>
          </a:prstGeom>
          <a:solidFill>
            <a:srgbClr val="F1F5F9"/>
          </a:solidFill>
          <a:ln/>
        </p:spPr>
      </p:sp>
      <p:sp>
        <p:nvSpPr>
          <p:cNvPr id="23" name="Text 17"/>
          <p:cNvSpPr/>
          <p:nvPr/>
        </p:nvSpPr>
        <p:spPr>
          <a:xfrm>
            <a:off x="658368" y="3931920"/>
            <a:ext cx="7863840" cy="713232"/>
          </a:xfrm>
          <a:prstGeom prst="rect">
            <a:avLst/>
          </a:prstGeom>
          <a:noFill/>
          <a:ln/>
        </p:spPr>
        <p:txBody>
          <a:bodyPr wrap="square" lIns="0" tIns="0" rIns="0" bIns="0" rtlCol="0" anchor="ctr"/>
          <a:lstStyle/>
          <a:p>
            <a:pPr indent="0" marL="0">
              <a:buNone/>
            </a:pPr>
            <a:r>
              <a:rPr lang="en-US" sz="1150" b="1" dirty="0">
                <a:solidFill>
                  <a:srgbClr val="0D9488"/>
                </a:solidFill>
                <a:latin typeface="Calibri" pitchFamily="34" charset="0"/>
                <a:ea typeface="Calibri" pitchFamily="34" charset="-122"/>
                <a:cs typeface="Calibri" pitchFamily="34" charset="-120"/>
              </a:rPr>
              <a:t>Redaction pattern:  </a:t>
            </a:r>
            <a:pPr indent="0" marL="0">
              <a:buNone/>
            </a:pPr>
            <a:r>
              <a:rPr lang="en-US" sz="1150" dirty="0">
                <a:solidFill>
                  <a:srgbClr val="334155"/>
                </a:solidFill>
                <a:latin typeface="Calibri" pitchFamily="34" charset="0"/>
                <a:ea typeface="Calibri" pitchFamily="34" charset="-122"/>
                <a:cs typeface="Calibri" pitchFamily="34" charset="-120"/>
              </a:rPr>
              <a:t>detect (regex + NER) → replace with typed token </a:t>
            </a:r>
            <a:pPr indent="0" marL="0">
              <a:buNone/>
            </a:pPr>
            <a:r>
              <a:rPr lang="en-US" sz="1150" b="1" dirty="0">
                <a:solidFill>
                  <a:srgbClr val="0E2A3B"/>
                </a:solidFill>
                <a:latin typeface="Courier New" pitchFamily="34" charset="0"/>
                <a:ea typeface="Courier New" pitchFamily="34" charset="-122"/>
                <a:cs typeface="Courier New" pitchFamily="34" charset="-120"/>
              </a:rPr>
              <a:t>&lt;EMAIL_1&gt; </a:t>
            </a:r>
            <a:pPr indent="0" marL="0">
              <a:buNone/>
            </a:pPr>
            <a:r>
              <a:rPr lang="en-US" sz="1150" dirty="0">
                <a:solidFill>
                  <a:srgbClr val="334155"/>
                </a:solidFill>
                <a:latin typeface="Calibri" pitchFamily="34" charset="0"/>
                <a:ea typeface="Calibri" pitchFamily="34" charset="-122"/>
                <a:cs typeface="Calibri" pitchFamily="34" charset="-120"/>
              </a:rPr>
              <a:t>→ keep a sealed map for authorised re-identification only.</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23</a:t>
            </a:r>
            <a:endParaRPr lang="en-US" sz="850" dirty="0"/>
          </a:p>
        </p:txBody>
      </p:sp>
      <p:sp>
        <p:nvSpPr>
          <p:cNvPr id="4" name="Shape 2"/>
          <p:cNvSpPr/>
          <p:nvPr/>
        </p:nvSpPr>
        <p:spPr>
          <a:xfrm>
            <a:off x="457200" y="384048"/>
            <a:ext cx="566928" cy="566928"/>
          </a:xfrm>
          <a:prstGeom prst="ellipse">
            <a:avLst/>
          </a:prstGeom>
          <a:solidFill>
            <a:srgbClr val="F59E0B"/>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Compliance for Lead Generation</a:t>
            </a:r>
            <a:endParaRPr lang="en-US" sz="2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8229600" cy="914400"/>
        </p:xfrm>
        <a:graphic>
          <a:graphicData uri="http://schemas.openxmlformats.org/drawingml/2006/table">
            <a:tbl>
              <a:tblPr/>
              <a:tblGrid>
                <a:gridCol w="1371600"/>
                <a:gridCol w="1828800"/>
                <a:gridCol w="5029200"/>
              </a:tblGrid>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Regime</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2A3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Scope</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2A3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demands of your agent</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2A3B"/>
                    </a:solidFill>
                  </a:tcPr>
                </a:tc>
              </a:tr>
              <a:tr h="658368">
                <a:tc>
                  <a:txBody>
                    <a:bodyPr/>
                    <a:lstStyle/>
                    <a:p>
                      <a:pPr indent="0" marL="0">
                        <a:buNone/>
                      </a:pPr>
                      <a:r>
                        <a:rPr lang="en-US" sz="1080" dirty="0">
                          <a:solidFill>
                            <a:srgbClr val="334155"/>
                          </a:solidFill>
                          <a:latin typeface="Calibri" pitchFamily="34" charset="0"/>
                          <a:ea typeface="Calibri" pitchFamily="34" charset="-122"/>
                          <a:cs typeface="Calibri" pitchFamily="34" charset="-120"/>
                        </a:rPr>
                        <a:t>GDPR</a:t>
                      </a:r>
                      <a:endParaRPr lang="en-US" sz="108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80" dirty="0">
                          <a:solidFill>
                            <a:srgbClr val="334155"/>
                          </a:solidFill>
                          <a:latin typeface="Calibri" pitchFamily="34" charset="0"/>
                          <a:ea typeface="Calibri" pitchFamily="34" charset="-122"/>
                          <a:cs typeface="Calibri" pitchFamily="34" charset="-120"/>
                        </a:rPr>
                        <a:t>EU personal data</a:t>
                      </a:r>
                      <a:endParaRPr lang="en-US" sz="108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80" dirty="0">
                          <a:solidFill>
                            <a:srgbClr val="334155"/>
                          </a:solidFill>
                          <a:latin typeface="Calibri" pitchFamily="34" charset="0"/>
                          <a:ea typeface="Calibri" pitchFamily="34" charset="-122"/>
                          <a:cs typeface="Calibri" pitchFamily="34" charset="-120"/>
                        </a:rPr>
                        <a:t>Lawful basis, data minimisation, right to erasure &amp; access, records of processing</a:t>
                      </a:r>
                      <a:endParaRPr lang="en-US" sz="108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658368">
                <a:tc>
                  <a:txBody>
                    <a:bodyPr/>
                    <a:lstStyle/>
                    <a:p>
                      <a:pPr indent="0" marL="0">
                        <a:buNone/>
                      </a:pPr>
                      <a:r>
                        <a:rPr lang="en-US" sz="1080" dirty="0">
                          <a:solidFill>
                            <a:srgbClr val="334155"/>
                          </a:solidFill>
                          <a:latin typeface="Calibri" pitchFamily="34" charset="0"/>
                          <a:ea typeface="Calibri" pitchFamily="34" charset="-122"/>
                          <a:cs typeface="Calibri" pitchFamily="34" charset="-120"/>
                        </a:rPr>
                        <a:t>CAN-SPAM</a:t>
                      </a:r>
                      <a:endParaRPr lang="en-US" sz="108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80" dirty="0">
                          <a:solidFill>
                            <a:srgbClr val="334155"/>
                          </a:solidFill>
                          <a:latin typeface="Calibri" pitchFamily="34" charset="0"/>
                          <a:ea typeface="Calibri" pitchFamily="34" charset="-122"/>
                          <a:cs typeface="Calibri" pitchFamily="34" charset="-120"/>
                        </a:rPr>
                        <a:t>US commercial email</a:t>
                      </a:r>
                      <a:endParaRPr lang="en-US" sz="108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80" dirty="0">
                          <a:solidFill>
                            <a:srgbClr val="334155"/>
                          </a:solidFill>
                          <a:latin typeface="Calibri" pitchFamily="34" charset="0"/>
                          <a:ea typeface="Calibri" pitchFamily="34" charset="-122"/>
                          <a:cs typeface="Calibri" pitchFamily="34" charset="-120"/>
                        </a:rPr>
                        <a:t>Truthful headers, valid physical address, working one-click opt-out, honour it ≤10 days</a:t>
                      </a:r>
                      <a:endParaRPr lang="en-US" sz="108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48640">
                <a:tc>
                  <a:txBody>
                    <a:bodyPr/>
                    <a:lstStyle/>
                    <a:p>
                      <a:pPr indent="0" marL="0">
                        <a:buNone/>
                      </a:pPr>
                      <a:r>
                        <a:rPr lang="en-US" sz="1080" dirty="0">
                          <a:solidFill>
                            <a:srgbClr val="334155"/>
                          </a:solidFill>
                          <a:latin typeface="Calibri" pitchFamily="34" charset="0"/>
                          <a:ea typeface="Calibri" pitchFamily="34" charset="-122"/>
                          <a:cs typeface="Calibri" pitchFamily="34" charset="-120"/>
                        </a:rPr>
                        <a:t>CCPA / CPRA</a:t>
                      </a:r>
                      <a:endParaRPr lang="en-US" sz="108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80" dirty="0">
                          <a:solidFill>
                            <a:srgbClr val="334155"/>
                          </a:solidFill>
                          <a:latin typeface="Calibri" pitchFamily="34" charset="0"/>
                          <a:ea typeface="Calibri" pitchFamily="34" charset="-122"/>
                          <a:cs typeface="Calibri" pitchFamily="34" charset="-120"/>
                        </a:rPr>
                        <a:t>California residents</a:t>
                      </a:r>
                      <a:endParaRPr lang="en-US" sz="108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80" dirty="0">
                          <a:solidFill>
                            <a:srgbClr val="334155"/>
                          </a:solidFill>
                          <a:latin typeface="Calibri" pitchFamily="34" charset="0"/>
                          <a:ea typeface="Calibri" pitchFamily="34" charset="-122"/>
                          <a:cs typeface="Calibri" pitchFamily="34" charset="-120"/>
                        </a:rPr>
                        <a:t>Disclosure, opt-out of 'sale/share', deletion on request</a:t>
                      </a:r>
                      <a:endParaRPr lang="en-US" sz="108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48640">
                <a:tc>
                  <a:txBody>
                    <a:bodyPr/>
                    <a:lstStyle/>
                    <a:p>
                      <a:pPr indent="0" marL="0">
                        <a:buNone/>
                      </a:pPr>
                      <a:r>
                        <a:rPr lang="en-US" sz="1080" dirty="0">
                          <a:solidFill>
                            <a:srgbClr val="334155"/>
                          </a:solidFill>
                          <a:latin typeface="Calibri" pitchFamily="34" charset="0"/>
                          <a:ea typeface="Calibri" pitchFamily="34" charset="-122"/>
                          <a:cs typeface="Calibri" pitchFamily="34" charset="-120"/>
                        </a:rPr>
                        <a:t>CASL</a:t>
                      </a:r>
                      <a:endParaRPr lang="en-US" sz="108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80" dirty="0">
                          <a:solidFill>
                            <a:srgbClr val="334155"/>
                          </a:solidFill>
                          <a:latin typeface="Calibri" pitchFamily="34" charset="0"/>
                          <a:ea typeface="Calibri" pitchFamily="34" charset="-122"/>
                          <a:cs typeface="Calibri" pitchFamily="34" charset="-120"/>
                        </a:rPr>
                        <a:t>Canada e-messages</a:t>
                      </a:r>
                      <a:endParaRPr lang="en-US" sz="108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80" dirty="0">
                          <a:solidFill>
                            <a:srgbClr val="334155"/>
                          </a:solidFill>
                          <a:latin typeface="Calibri" pitchFamily="34" charset="0"/>
                          <a:ea typeface="Calibri" pitchFamily="34" charset="-122"/>
                          <a:cs typeface="Calibri" pitchFamily="34" charset="-120"/>
                        </a:rPr>
                        <a:t>Consent before contact, identification, unsubscribe mechanism</a:t>
                      </a:r>
                      <a:endParaRPr lang="en-US" sz="108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8" name="Text 4"/>
          <p:cNvSpPr/>
          <p:nvPr/>
        </p:nvSpPr>
        <p:spPr>
          <a:xfrm>
            <a:off x="457200" y="4572000"/>
            <a:ext cx="8229600" cy="320040"/>
          </a:xfrm>
          <a:prstGeom prst="rect">
            <a:avLst/>
          </a:prstGeom>
          <a:noFill/>
          <a:ln/>
        </p:spPr>
        <p:txBody>
          <a:bodyPr wrap="square" lIns="0" tIns="0" rIns="0" bIns="0" rtlCol="0" anchor="ctr"/>
          <a:lstStyle/>
          <a:p>
            <a:pPr algn="ctr" indent="0" marL="0">
              <a:buNone/>
            </a:pPr>
            <a:r>
              <a:rPr lang="en-US" sz="1050" b="1" dirty="0">
                <a:solidFill>
                  <a:srgbClr val="F59E0B"/>
                </a:solidFill>
                <a:latin typeface="Calibri" pitchFamily="34" charset="0"/>
                <a:ea typeface="Calibri" pitchFamily="34" charset="-122"/>
                <a:cs typeface="Calibri" pitchFamily="34" charset="-120"/>
              </a:rPr>
              <a:t>⚠  </a:t>
            </a:r>
            <a:pPr algn="ctr" indent="0" marL="0">
              <a:buNone/>
            </a:pPr>
            <a:r>
              <a:rPr lang="en-US" sz="1050" b="1" dirty="0">
                <a:solidFill>
                  <a:srgbClr val="0F2233"/>
                </a:solidFill>
                <a:latin typeface="Calibri" pitchFamily="34" charset="0"/>
                <a:ea typeface="Calibri" pitchFamily="34" charset="-122"/>
                <a:cs typeface="Calibri" pitchFamily="34" charset="-120"/>
              </a:rPr>
              <a:t>Not legal advice. </a:t>
            </a:r>
            <a:pPr algn="ctr" indent="0" marL="0">
              <a:buNone/>
            </a:pPr>
            <a:r>
              <a:rPr lang="en-US" sz="1050" i="1" dirty="0">
                <a:solidFill>
                  <a:srgbClr val="64748B"/>
                </a:solidFill>
                <a:latin typeface="Calibri" pitchFamily="34" charset="0"/>
                <a:ea typeface="Calibri" pitchFamily="34" charset="-122"/>
                <a:cs typeface="Calibri" pitchFamily="34" charset="-120"/>
              </a:rPr>
              <a:t>Build these as enforceable guardrails (consent flag, suppression list, opt-out link) — not as a policy PDF nobody reads.</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24</a:t>
            </a:r>
            <a:endParaRPr lang="en-US" sz="850" dirty="0"/>
          </a:p>
        </p:txBody>
      </p:sp>
      <p:sp>
        <p:nvSpPr>
          <p:cNvPr id="4" name="Shape 2"/>
          <p:cNvSpPr/>
          <p:nvPr/>
        </p:nvSpPr>
        <p:spPr>
          <a:xfrm>
            <a:off x="457200" y="384048"/>
            <a:ext cx="566928" cy="566928"/>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Claude's Safety Layers</a:t>
            </a:r>
            <a:endParaRPr lang="en-US" sz="2600" dirty="0"/>
          </a:p>
        </p:txBody>
      </p:sp>
      <p:sp>
        <p:nvSpPr>
          <p:cNvPr id="7" name="Text 4"/>
          <p:cNvSpPr/>
          <p:nvPr/>
        </p:nvSpPr>
        <p:spPr>
          <a:xfrm>
            <a:off x="1170432" y="950976"/>
            <a:ext cx="7498080" cy="32004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Defence in depth is built into the model and the platform — you add the application layer.</a:t>
            </a:r>
            <a:endParaRPr lang="en-US" sz="1200" dirty="0"/>
          </a:p>
        </p:txBody>
      </p:sp>
      <p:sp>
        <p:nvSpPr>
          <p:cNvPr id="8" name="Shape 5"/>
          <p:cNvSpPr/>
          <p:nvPr/>
        </p:nvSpPr>
        <p:spPr>
          <a:xfrm>
            <a:off x="457200" y="1417320"/>
            <a:ext cx="8229600" cy="566928"/>
          </a:xfrm>
          <a:prstGeom prst="roundRect">
            <a:avLst>
              <a:gd name="adj" fmla="val 12903"/>
            </a:avLst>
          </a:prstGeom>
          <a:solidFill>
            <a:srgbClr val="0E2A3B"/>
          </a:solidFill>
          <a:ln/>
        </p:spPr>
      </p:sp>
      <p:sp>
        <p:nvSpPr>
          <p:cNvPr id="9" name="Text 6"/>
          <p:cNvSpPr/>
          <p:nvPr/>
        </p:nvSpPr>
        <p:spPr>
          <a:xfrm>
            <a:off x="640080" y="1417320"/>
            <a:ext cx="3017520"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Training &amp; alignment</a:t>
            </a:r>
            <a:endParaRPr lang="en-US" sz="1250" dirty="0"/>
          </a:p>
        </p:txBody>
      </p:sp>
      <p:sp>
        <p:nvSpPr>
          <p:cNvPr id="10" name="Text 7"/>
          <p:cNvSpPr/>
          <p:nvPr/>
        </p:nvSpPr>
        <p:spPr>
          <a:xfrm>
            <a:off x="3657600" y="1417320"/>
            <a:ext cx="4846320" cy="566928"/>
          </a:xfrm>
          <a:prstGeom prst="rect">
            <a:avLst/>
          </a:prstGeom>
          <a:noFill/>
          <a:ln/>
        </p:spPr>
        <p:txBody>
          <a:bodyPr wrap="square" lIns="0" tIns="0" rIns="0" bIns="0" rtlCol="0" anchor="ctr"/>
          <a:lstStyle/>
          <a:p>
            <a:pPr indent="0" marL="0">
              <a:buNone/>
            </a:pPr>
            <a:r>
              <a:rPr lang="en-US" sz="1050" dirty="0">
                <a:solidFill>
                  <a:srgbClr val="E6EEF1"/>
                </a:solidFill>
                <a:latin typeface="Calibri" pitchFamily="34" charset="0"/>
                <a:ea typeface="Calibri" pitchFamily="34" charset="-122"/>
                <a:cs typeface="Calibri" pitchFamily="34" charset="-120"/>
              </a:rPr>
              <a:t>Constitutional AI, RLHF &amp; harmlessness training shape default behaviour</a:t>
            </a:r>
            <a:endParaRPr lang="en-US" sz="1050" dirty="0"/>
          </a:p>
        </p:txBody>
      </p:sp>
      <p:sp>
        <p:nvSpPr>
          <p:cNvPr id="11" name="Shape 8"/>
          <p:cNvSpPr/>
          <p:nvPr/>
        </p:nvSpPr>
        <p:spPr>
          <a:xfrm>
            <a:off x="777240" y="2039112"/>
            <a:ext cx="7589520" cy="566928"/>
          </a:xfrm>
          <a:prstGeom prst="roundRect">
            <a:avLst>
              <a:gd name="adj" fmla="val 12903"/>
            </a:avLst>
          </a:prstGeom>
          <a:solidFill>
            <a:srgbClr val="14405A"/>
          </a:solidFill>
          <a:ln/>
        </p:spPr>
      </p:sp>
      <p:sp>
        <p:nvSpPr>
          <p:cNvPr id="12" name="Text 9"/>
          <p:cNvSpPr/>
          <p:nvPr/>
        </p:nvSpPr>
        <p:spPr>
          <a:xfrm>
            <a:off x="960120" y="2039112"/>
            <a:ext cx="3017520"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System prompt &amp; policy</a:t>
            </a:r>
            <a:endParaRPr lang="en-US" sz="1250" dirty="0"/>
          </a:p>
        </p:txBody>
      </p:sp>
      <p:sp>
        <p:nvSpPr>
          <p:cNvPr id="13" name="Text 10"/>
          <p:cNvSpPr/>
          <p:nvPr/>
        </p:nvSpPr>
        <p:spPr>
          <a:xfrm>
            <a:off x="3977640" y="2039112"/>
            <a:ext cx="4206240" cy="566928"/>
          </a:xfrm>
          <a:prstGeom prst="rect">
            <a:avLst/>
          </a:prstGeom>
          <a:noFill/>
          <a:ln/>
        </p:spPr>
        <p:txBody>
          <a:bodyPr wrap="square" lIns="0" tIns="0" rIns="0" bIns="0" rtlCol="0" anchor="ctr"/>
          <a:lstStyle/>
          <a:p>
            <a:pPr indent="0" marL="0">
              <a:buNone/>
            </a:pPr>
            <a:r>
              <a:rPr lang="en-US" sz="1050" dirty="0">
                <a:solidFill>
                  <a:srgbClr val="E6EEF1"/>
                </a:solidFill>
                <a:latin typeface="Calibri" pitchFamily="34" charset="0"/>
                <a:ea typeface="Calibri" pitchFamily="34" charset="-122"/>
                <a:cs typeface="Calibri" pitchFamily="34" charset="-120"/>
              </a:rPr>
              <a:t>Your instructions, role and constraints steer each deployment</a:t>
            </a:r>
            <a:endParaRPr lang="en-US" sz="1050" dirty="0"/>
          </a:p>
        </p:txBody>
      </p:sp>
      <p:sp>
        <p:nvSpPr>
          <p:cNvPr id="14" name="Shape 11"/>
          <p:cNvSpPr/>
          <p:nvPr/>
        </p:nvSpPr>
        <p:spPr>
          <a:xfrm>
            <a:off x="1097280" y="2660904"/>
            <a:ext cx="6949440" cy="566928"/>
          </a:xfrm>
          <a:prstGeom prst="roundRect">
            <a:avLst>
              <a:gd name="adj" fmla="val 12903"/>
            </a:avLst>
          </a:prstGeom>
          <a:solidFill>
            <a:srgbClr val="0D9488"/>
          </a:solidFill>
          <a:ln/>
        </p:spPr>
      </p:sp>
      <p:sp>
        <p:nvSpPr>
          <p:cNvPr id="15" name="Text 12"/>
          <p:cNvSpPr/>
          <p:nvPr/>
        </p:nvSpPr>
        <p:spPr>
          <a:xfrm>
            <a:off x="1280160" y="2660904"/>
            <a:ext cx="3017520"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Usage policies &amp; tiers</a:t>
            </a:r>
            <a:endParaRPr lang="en-US" sz="1250" dirty="0"/>
          </a:p>
        </p:txBody>
      </p:sp>
      <p:sp>
        <p:nvSpPr>
          <p:cNvPr id="16" name="Text 13"/>
          <p:cNvSpPr/>
          <p:nvPr/>
        </p:nvSpPr>
        <p:spPr>
          <a:xfrm>
            <a:off x="4297680" y="2660904"/>
            <a:ext cx="3566160" cy="566928"/>
          </a:xfrm>
          <a:prstGeom prst="rect">
            <a:avLst/>
          </a:prstGeom>
          <a:noFill/>
          <a:ln/>
        </p:spPr>
        <p:txBody>
          <a:bodyPr wrap="square" lIns="0" tIns="0" rIns="0" bIns="0" rtlCol="0" anchor="ctr"/>
          <a:lstStyle/>
          <a:p>
            <a:pPr indent="0" marL="0">
              <a:buNone/>
            </a:pPr>
            <a:r>
              <a:rPr lang="en-US" sz="1050" dirty="0">
                <a:solidFill>
                  <a:srgbClr val="E6EEF1"/>
                </a:solidFill>
                <a:latin typeface="Calibri" pitchFamily="34" charset="0"/>
                <a:ea typeface="Calibri" pitchFamily="34" charset="-122"/>
                <a:cs typeface="Calibri" pitchFamily="34" charset="-120"/>
              </a:rPr>
              <a:t>Acceptable-use policy; safety-tiered model variants for sensitive domains</a:t>
            </a:r>
            <a:endParaRPr lang="en-US" sz="1050" dirty="0"/>
          </a:p>
        </p:txBody>
      </p:sp>
      <p:sp>
        <p:nvSpPr>
          <p:cNvPr id="17" name="Shape 14"/>
          <p:cNvSpPr/>
          <p:nvPr/>
        </p:nvSpPr>
        <p:spPr>
          <a:xfrm>
            <a:off x="1417320" y="3282696"/>
            <a:ext cx="6309360" cy="566928"/>
          </a:xfrm>
          <a:prstGeom prst="roundRect">
            <a:avLst>
              <a:gd name="adj" fmla="val 12903"/>
            </a:avLst>
          </a:prstGeom>
          <a:solidFill>
            <a:srgbClr val="0F6F66"/>
          </a:solidFill>
          <a:ln/>
        </p:spPr>
      </p:sp>
      <p:sp>
        <p:nvSpPr>
          <p:cNvPr id="18" name="Text 15"/>
          <p:cNvSpPr/>
          <p:nvPr/>
        </p:nvSpPr>
        <p:spPr>
          <a:xfrm>
            <a:off x="1600200" y="3282696"/>
            <a:ext cx="3017520"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Platform classifiers</a:t>
            </a:r>
            <a:endParaRPr lang="en-US" sz="1250" dirty="0"/>
          </a:p>
        </p:txBody>
      </p:sp>
      <p:sp>
        <p:nvSpPr>
          <p:cNvPr id="19" name="Text 16"/>
          <p:cNvSpPr/>
          <p:nvPr/>
        </p:nvSpPr>
        <p:spPr>
          <a:xfrm>
            <a:off x="4617720" y="3282696"/>
            <a:ext cx="2926080" cy="566928"/>
          </a:xfrm>
          <a:prstGeom prst="rect">
            <a:avLst/>
          </a:prstGeom>
          <a:noFill/>
          <a:ln/>
        </p:spPr>
        <p:txBody>
          <a:bodyPr wrap="square" lIns="0" tIns="0" rIns="0" bIns="0" rtlCol="0" anchor="ctr"/>
          <a:lstStyle/>
          <a:p>
            <a:pPr indent="0" marL="0">
              <a:buNone/>
            </a:pPr>
            <a:r>
              <a:rPr lang="en-US" sz="1050" dirty="0">
                <a:solidFill>
                  <a:srgbClr val="E6EEF1"/>
                </a:solidFill>
                <a:latin typeface="Calibri" pitchFamily="34" charset="0"/>
                <a:ea typeface="Calibri" pitchFamily="34" charset="-122"/>
                <a:cs typeface="Calibri" pitchFamily="34" charset="-120"/>
              </a:rPr>
              <a:t>Input/output classifiers flag disallowed content at the API edge</a:t>
            </a:r>
            <a:endParaRPr lang="en-US" sz="1050" dirty="0"/>
          </a:p>
        </p:txBody>
      </p:sp>
      <p:sp>
        <p:nvSpPr>
          <p:cNvPr id="20" name="Shape 17"/>
          <p:cNvSpPr/>
          <p:nvPr/>
        </p:nvSpPr>
        <p:spPr>
          <a:xfrm>
            <a:off x="1737360" y="3904488"/>
            <a:ext cx="5669280" cy="566928"/>
          </a:xfrm>
          <a:prstGeom prst="roundRect">
            <a:avLst>
              <a:gd name="adj" fmla="val 12903"/>
            </a:avLst>
          </a:prstGeom>
          <a:solidFill>
            <a:srgbClr val="F59E0B"/>
          </a:solidFill>
          <a:ln/>
        </p:spPr>
      </p:sp>
      <p:sp>
        <p:nvSpPr>
          <p:cNvPr id="21" name="Text 18"/>
          <p:cNvSpPr/>
          <p:nvPr/>
        </p:nvSpPr>
        <p:spPr>
          <a:xfrm>
            <a:off x="1920240" y="3904488"/>
            <a:ext cx="3017520"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YOUR application layer</a:t>
            </a:r>
            <a:endParaRPr lang="en-US" sz="1250" dirty="0"/>
          </a:p>
        </p:txBody>
      </p:sp>
      <p:sp>
        <p:nvSpPr>
          <p:cNvPr id="22" name="Text 19"/>
          <p:cNvSpPr/>
          <p:nvPr/>
        </p:nvSpPr>
        <p:spPr>
          <a:xfrm>
            <a:off x="4937760" y="3904488"/>
            <a:ext cx="2286000" cy="566928"/>
          </a:xfrm>
          <a:prstGeom prst="rect">
            <a:avLst/>
          </a:prstGeom>
          <a:noFill/>
          <a:ln/>
        </p:spPr>
        <p:txBody>
          <a:bodyPr wrap="square" lIns="0" tIns="0" rIns="0" bIns="0" rtlCol="0" anchor="ctr"/>
          <a:lstStyle/>
          <a:p>
            <a:pPr indent="0" marL="0">
              <a:buNone/>
            </a:pPr>
            <a:r>
              <a:rPr lang="en-US" sz="1050" dirty="0">
                <a:solidFill>
                  <a:srgbClr val="E6EEF1"/>
                </a:solidFill>
                <a:latin typeface="Calibri" pitchFamily="34" charset="0"/>
                <a:ea typeface="Calibri" pitchFamily="34" charset="-122"/>
                <a:cs typeface="Calibri" pitchFamily="34" charset="-120"/>
              </a:rPr>
              <a:t>App guardrails, tool scoping, auditing — what this workshop adds</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25</a:t>
            </a:r>
            <a:endParaRPr lang="en-US" sz="850" dirty="0"/>
          </a:p>
        </p:txBody>
      </p:sp>
      <p:sp>
        <p:nvSpPr>
          <p:cNvPr id="4" name="Shape 2"/>
          <p:cNvSpPr/>
          <p:nvPr/>
        </p:nvSpPr>
        <p:spPr>
          <a:xfrm>
            <a:off x="457200" y="384048"/>
            <a:ext cx="566928" cy="566928"/>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Using Claude Safely in Production</a:t>
            </a:r>
            <a:endParaRPr lang="en-US" sz="2600" dirty="0"/>
          </a:p>
        </p:txBody>
      </p:sp>
      <p:sp>
        <p:nvSpPr>
          <p:cNvPr id="7" name="Shape 4"/>
          <p:cNvSpPr/>
          <p:nvPr/>
        </p:nvSpPr>
        <p:spPr>
          <a:xfrm>
            <a:off x="457200" y="1371600"/>
            <a:ext cx="2670048" cy="1371600"/>
          </a:xfrm>
          <a:prstGeom prst="roundRect">
            <a:avLst>
              <a:gd name="adj" fmla="val 5333"/>
            </a:avLst>
          </a:prstGeom>
          <a:solidFill>
            <a:srgbClr val="FFFFFF"/>
          </a:solidFill>
          <a:ln/>
          <a:effectLst>
            <a:outerShdw sx="100000" sy="100000" kx="0" ky="0" algn="bl" rotWithShape="0" blurRad="63500" dist="25400" dir="5400000">
              <a:srgbClr val="0F2233">
                <a:alpha val="10000"/>
              </a:srgbClr>
            </a:outerShdw>
          </a:effectLst>
        </p:spPr>
      </p:sp>
      <p:sp>
        <p:nvSpPr>
          <p:cNvPr id="8" name="Shape 5"/>
          <p:cNvSpPr/>
          <p:nvPr/>
        </p:nvSpPr>
        <p:spPr>
          <a:xfrm>
            <a:off x="658368" y="1591056"/>
            <a:ext cx="512064" cy="512064"/>
          </a:xfrm>
          <a:prstGeom prst="ellipse">
            <a:avLst/>
          </a:prstGeom>
          <a:solidFill>
            <a:srgbClr val="0D9488"/>
          </a:solidFill>
          <a:ln/>
        </p:spPr>
      </p:sp>
      <p:pic>
        <p:nvPicPr>
          <p:cNvPr id="9" name="Image 1" descr="preencoded.png">    </p:cNvPr>
          <p:cNvPicPr>
            <a:picLocks noChangeAspect="1"/>
          </p:cNvPicPr>
          <p:nvPr/>
        </p:nvPicPr>
        <p:blipFill>
          <a:blip r:embed="rId2"/>
          <a:stretch>
            <a:fillRect/>
          </a:stretch>
        </p:blipFill>
        <p:spPr>
          <a:xfrm>
            <a:off x="796625" y="1729313"/>
            <a:ext cx="235549" cy="235549"/>
          </a:xfrm>
          <a:prstGeom prst="rect">
            <a:avLst/>
          </a:prstGeom>
        </p:spPr>
      </p:pic>
      <p:sp>
        <p:nvSpPr>
          <p:cNvPr id="10" name="Text 6"/>
          <p:cNvSpPr/>
          <p:nvPr/>
        </p:nvSpPr>
        <p:spPr>
          <a:xfrm>
            <a:off x="1261872" y="1572768"/>
            <a:ext cx="1755648" cy="502920"/>
          </a:xfrm>
          <a:prstGeom prst="rect">
            <a:avLst/>
          </a:prstGeom>
          <a:noFill/>
          <a:ln/>
        </p:spPr>
        <p:txBody>
          <a:bodyPr wrap="square" lIns="0" tIns="0" rIns="0" bIns="0" rtlCol="0" anchor="ctr"/>
          <a:lstStyle/>
          <a:p>
            <a:pPr indent="0" marL="0">
              <a:buNone/>
            </a:pPr>
            <a:r>
              <a:rPr lang="en-US" sz="1300" b="1" dirty="0">
                <a:solidFill>
                  <a:srgbClr val="0F2233"/>
                </a:solidFill>
                <a:latin typeface="Cambria" pitchFamily="34" charset="0"/>
                <a:ea typeface="Cambria" pitchFamily="34" charset="-122"/>
                <a:cs typeface="Cambria" pitchFamily="34" charset="-120"/>
              </a:rPr>
              <a:t>System prompt as policy</a:t>
            </a:r>
            <a:endParaRPr lang="en-US" sz="1300" dirty="0"/>
          </a:p>
        </p:txBody>
      </p:sp>
      <p:sp>
        <p:nvSpPr>
          <p:cNvPr id="11" name="Text 7"/>
          <p:cNvSpPr/>
          <p:nvPr/>
        </p:nvSpPr>
        <p:spPr>
          <a:xfrm>
            <a:off x="658368" y="2148840"/>
            <a:ext cx="2267712" cy="548640"/>
          </a:xfrm>
          <a:prstGeom prst="rect">
            <a:avLst/>
          </a:prstGeom>
          <a:noFill/>
          <a:ln/>
        </p:spPr>
        <p:txBody>
          <a:bodyPr wrap="square" lIns="0" tIns="0" rIns="0" bIns="0" rtlCol="0" anchor="t"/>
          <a:lstStyle/>
          <a:p>
            <a:pPr indent="0" marL="0">
              <a:buNone/>
            </a:pPr>
            <a:r>
              <a:rPr lang="en-US" sz="1030" dirty="0">
                <a:solidFill>
                  <a:srgbClr val="334155"/>
                </a:solidFill>
                <a:latin typeface="Calibri" pitchFamily="34" charset="0"/>
                <a:ea typeface="Calibri" pitchFamily="34" charset="-122"/>
                <a:cs typeface="Calibri" pitchFamily="34" charset="-120"/>
              </a:rPr>
              <a:t>Encode role, allowed scope, refusal rules and output format explicitly.</a:t>
            </a:r>
            <a:endParaRPr lang="en-US" sz="1030" dirty="0"/>
          </a:p>
        </p:txBody>
      </p:sp>
      <p:sp>
        <p:nvSpPr>
          <p:cNvPr id="12" name="Shape 8"/>
          <p:cNvSpPr/>
          <p:nvPr/>
        </p:nvSpPr>
        <p:spPr>
          <a:xfrm>
            <a:off x="3291840" y="1371600"/>
            <a:ext cx="2670048" cy="1371600"/>
          </a:xfrm>
          <a:prstGeom prst="roundRect">
            <a:avLst>
              <a:gd name="adj" fmla="val 5333"/>
            </a:avLst>
          </a:prstGeom>
          <a:solidFill>
            <a:srgbClr val="FFFFFF"/>
          </a:solidFill>
          <a:ln/>
          <a:effectLst>
            <a:outerShdw sx="100000" sy="100000" kx="0" ky="0" algn="bl" rotWithShape="0" blurRad="63500" dist="25400" dir="5400000">
              <a:srgbClr val="0F2233">
                <a:alpha val="10000"/>
              </a:srgbClr>
            </a:outerShdw>
          </a:effectLst>
        </p:spPr>
      </p:sp>
      <p:sp>
        <p:nvSpPr>
          <p:cNvPr id="13" name="Shape 9"/>
          <p:cNvSpPr/>
          <p:nvPr/>
        </p:nvSpPr>
        <p:spPr>
          <a:xfrm>
            <a:off x="3493008" y="1591056"/>
            <a:ext cx="512064" cy="512064"/>
          </a:xfrm>
          <a:prstGeom prst="ellipse">
            <a:avLst/>
          </a:prstGeom>
          <a:solidFill>
            <a:srgbClr val="F59E0B"/>
          </a:solidFill>
          <a:ln/>
        </p:spPr>
      </p:sp>
      <p:pic>
        <p:nvPicPr>
          <p:cNvPr id="14" name="Image 2" descr="preencoded.png">    </p:cNvPr>
          <p:cNvPicPr>
            <a:picLocks noChangeAspect="1"/>
          </p:cNvPicPr>
          <p:nvPr/>
        </p:nvPicPr>
        <p:blipFill>
          <a:blip r:embed="rId3"/>
          <a:stretch>
            <a:fillRect/>
          </a:stretch>
        </p:blipFill>
        <p:spPr>
          <a:xfrm>
            <a:off x="3631265" y="1729313"/>
            <a:ext cx="235549" cy="235549"/>
          </a:xfrm>
          <a:prstGeom prst="rect">
            <a:avLst/>
          </a:prstGeom>
        </p:spPr>
      </p:pic>
      <p:sp>
        <p:nvSpPr>
          <p:cNvPr id="15" name="Text 10"/>
          <p:cNvSpPr/>
          <p:nvPr/>
        </p:nvSpPr>
        <p:spPr>
          <a:xfrm>
            <a:off x="4096512" y="1572768"/>
            <a:ext cx="1755648" cy="502920"/>
          </a:xfrm>
          <a:prstGeom prst="rect">
            <a:avLst/>
          </a:prstGeom>
          <a:noFill/>
          <a:ln/>
        </p:spPr>
        <p:txBody>
          <a:bodyPr wrap="square" lIns="0" tIns="0" rIns="0" bIns="0" rtlCol="0" anchor="ctr"/>
          <a:lstStyle/>
          <a:p>
            <a:pPr indent="0" marL="0">
              <a:buNone/>
            </a:pPr>
            <a:r>
              <a:rPr lang="en-US" sz="1300" b="1" dirty="0">
                <a:solidFill>
                  <a:srgbClr val="0F2233"/>
                </a:solidFill>
                <a:latin typeface="Cambria" pitchFamily="34" charset="0"/>
                <a:ea typeface="Cambria" pitchFamily="34" charset="-122"/>
                <a:cs typeface="Cambria" pitchFamily="34" charset="-120"/>
              </a:rPr>
              <a:t>Model tiering</a:t>
            </a:r>
            <a:endParaRPr lang="en-US" sz="1300" dirty="0"/>
          </a:p>
        </p:txBody>
      </p:sp>
      <p:sp>
        <p:nvSpPr>
          <p:cNvPr id="16" name="Text 11"/>
          <p:cNvSpPr/>
          <p:nvPr/>
        </p:nvSpPr>
        <p:spPr>
          <a:xfrm>
            <a:off x="3493008" y="2148840"/>
            <a:ext cx="2267712" cy="548640"/>
          </a:xfrm>
          <a:prstGeom prst="rect">
            <a:avLst/>
          </a:prstGeom>
          <a:noFill/>
          <a:ln/>
        </p:spPr>
        <p:txBody>
          <a:bodyPr wrap="square" lIns="0" tIns="0" rIns="0" bIns="0" rtlCol="0" anchor="t"/>
          <a:lstStyle/>
          <a:p>
            <a:pPr indent="0" marL="0">
              <a:buNone/>
            </a:pPr>
            <a:r>
              <a:rPr lang="en-US" sz="1030" dirty="0">
                <a:solidFill>
                  <a:srgbClr val="334155"/>
                </a:solidFill>
                <a:latin typeface="Calibri" pitchFamily="34" charset="0"/>
                <a:ea typeface="Calibri" pitchFamily="34" charset="-122"/>
                <a:cs typeface="Calibri" pitchFamily="34" charset="-120"/>
              </a:rPr>
              <a:t>Stronger models for risky judgement; cheaper, faster ones for routine steps.</a:t>
            </a:r>
            <a:endParaRPr lang="en-US" sz="1030" dirty="0"/>
          </a:p>
        </p:txBody>
      </p:sp>
      <p:sp>
        <p:nvSpPr>
          <p:cNvPr id="17" name="Shape 12"/>
          <p:cNvSpPr/>
          <p:nvPr/>
        </p:nvSpPr>
        <p:spPr>
          <a:xfrm>
            <a:off x="6126480" y="1371600"/>
            <a:ext cx="2670048" cy="1371600"/>
          </a:xfrm>
          <a:prstGeom prst="roundRect">
            <a:avLst>
              <a:gd name="adj" fmla="val 5333"/>
            </a:avLst>
          </a:prstGeom>
          <a:solidFill>
            <a:srgbClr val="FFFFFF"/>
          </a:solidFill>
          <a:ln/>
          <a:effectLst>
            <a:outerShdw sx="100000" sy="100000" kx="0" ky="0" algn="bl" rotWithShape="0" blurRad="63500" dist="25400" dir="5400000">
              <a:srgbClr val="0F2233">
                <a:alpha val="10000"/>
              </a:srgbClr>
            </a:outerShdw>
          </a:effectLst>
        </p:spPr>
      </p:sp>
      <p:sp>
        <p:nvSpPr>
          <p:cNvPr id="18" name="Shape 13"/>
          <p:cNvSpPr/>
          <p:nvPr/>
        </p:nvSpPr>
        <p:spPr>
          <a:xfrm>
            <a:off x="6327648" y="1591056"/>
            <a:ext cx="512064" cy="512064"/>
          </a:xfrm>
          <a:prstGeom prst="ellipse">
            <a:avLst/>
          </a:prstGeom>
          <a:solidFill>
            <a:srgbClr val="0D9488"/>
          </a:solidFill>
          <a:ln/>
        </p:spPr>
      </p:sp>
      <p:pic>
        <p:nvPicPr>
          <p:cNvPr id="19" name="Image 3" descr="preencoded.png">    </p:cNvPr>
          <p:cNvPicPr>
            <a:picLocks noChangeAspect="1"/>
          </p:cNvPicPr>
          <p:nvPr/>
        </p:nvPicPr>
        <p:blipFill>
          <a:blip r:embed="rId4"/>
          <a:stretch>
            <a:fillRect/>
          </a:stretch>
        </p:blipFill>
        <p:spPr>
          <a:xfrm>
            <a:off x="6465905" y="1729313"/>
            <a:ext cx="235549" cy="235549"/>
          </a:xfrm>
          <a:prstGeom prst="rect">
            <a:avLst/>
          </a:prstGeom>
        </p:spPr>
      </p:pic>
      <p:sp>
        <p:nvSpPr>
          <p:cNvPr id="20" name="Text 14"/>
          <p:cNvSpPr/>
          <p:nvPr/>
        </p:nvSpPr>
        <p:spPr>
          <a:xfrm>
            <a:off x="6931152" y="1572768"/>
            <a:ext cx="1755648" cy="502920"/>
          </a:xfrm>
          <a:prstGeom prst="rect">
            <a:avLst/>
          </a:prstGeom>
          <a:noFill/>
          <a:ln/>
        </p:spPr>
        <p:txBody>
          <a:bodyPr wrap="square" lIns="0" tIns="0" rIns="0" bIns="0" rtlCol="0" anchor="ctr"/>
          <a:lstStyle/>
          <a:p>
            <a:pPr indent="0" marL="0">
              <a:buNone/>
            </a:pPr>
            <a:r>
              <a:rPr lang="en-US" sz="1300" b="1" dirty="0">
                <a:solidFill>
                  <a:srgbClr val="0F2233"/>
                </a:solidFill>
                <a:latin typeface="Cambria" pitchFamily="34" charset="0"/>
                <a:ea typeface="Cambria" pitchFamily="34" charset="-122"/>
                <a:cs typeface="Cambria" pitchFamily="34" charset="-120"/>
              </a:rPr>
              <a:t>Structured outputs</a:t>
            </a:r>
            <a:endParaRPr lang="en-US" sz="1300" dirty="0"/>
          </a:p>
        </p:txBody>
      </p:sp>
      <p:sp>
        <p:nvSpPr>
          <p:cNvPr id="21" name="Text 15"/>
          <p:cNvSpPr/>
          <p:nvPr/>
        </p:nvSpPr>
        <p:spPr>
          <a:xfrm>
            <a:off x="6327648" y="2148840"/>
            <a:ext cx="2267712" cy="548640"/>
          </a:xfrm>
          <a:prstGeom prst="rect">
            <a:avLst/>
          </a:prstGeom>
          <a:noFill/>
          <a:ln/>
        </p:spPr>
        <p:txBody>
          <a:bodyPr wrap="square" lIns="0" tIns="0" rIns="0" bIns="0" rtlCol="0" anchor="t"/>
          <a:lstStyle/>
          <a:p>
            <a:pPr indent="0" marL="0">
              <a:buNone/>
            </a:pPr>
            <a:r>
              <a:rPr lang="en-US" sz="1030" dirty="0">
                <a:solidFill>
                  <a:srgbClr val="334155"/>
                </a:solidFill>
                <a:latin typeface="Calibri" pitchFamily="34" charset="0"/>
                <a:ea typeface="Calibri" pitchFamily="34" charset="-122"/>
                <a:cs typeface="Calibri" pitchFamily="34" charset="-120"/>
              </a:rPr>
              <a:t>Force tool-use / JSON schemas so outputs are validatable, not free text.</a:t>
            </a:r>
            <a:endParaRPr lang="en-US" sz="1030" dirty="0"/>
          </a:p>
        </p:txBody>
      </p:sp>
      <p:sp>
        <p:nvSpPr>
          <p:cNvPr id="22" name="Shape 16"/>
          <p:cNvSpPr/>
          <p:nvPr/>
        </p:nvSpPr>
        <p:spPr>
          <a:xfrm>
            <a:off x="457200" y="2944368"/>
            <a:ext cx="2670048" cy="1371600"/>
          </a:xfrm>
          <a:prstGeom prst="roundRect">
            <a:avLst>
              <a:gd name="adj" fmla="val 5333"/>
            </a:avLst>
          </a:prstGeom>
          <a:solidFill>
            <a:srgbClr val="FFFFFF"/>
          </a:solidFill>
          <a:ln/>
          <a:effectLst>
            <a:outerShdw sx="100000" sy="100000" kx="0" ky="0" algn="bl" rotWithShape="0" blurRad="63500" dist="25400" dir="5400000">
              <a:srgbClr val="0F2233">
                <a:alpha val="10000"/>
              </a:srgbClr>
            </a:outerShdw>
          </a:effectLst>
        </p:spPr>
      </p:sp>
      <p:sp>
        <p:nvSpPr>
          <p:cNvPr id="23" name="Shape 17"/>
          <p:cNvSpPr/>
          <p:nvPr/>
        </p:nvSpPr>
        <p:spPr>
          <a:xfrm>
            <a:off x="658368" y="3163824"/>
            <a:ext cx="512064" cy="512064"/>
          </a:xfrm>
          <a:prstGeom prst="ellipse">
            <a:avLst/>
          </a:prstGeom>
          <a:solidFill>
            <a:srgbClr val="F59E0B"/>
          </a:solidFill>
          <a:ln/>
        </p:spPr>
      </p:sp>
      <p:pic>
        <p:nvPicPr>
          <p:cNvPr id="24" name="Image 4" descr="preencoded.png">    </p:cNvPr>
          <p:cNvPicPr>
            <a:picLocks noChangeAspect="1"/>
          </p:cNvPicPr>
          <p:nvPr/>
        </p:nvPicPr>
        <p:blipFill>
          <a:blip r:embed="rId5"/>
          <a:stretch>
            <a:fillRect/>
          </a:stretch>
        </p:blipFill>
        <p:spPr>
          <a:xfrm>
            <a:off x="796625" y="3302081"/>
            <a:ext cx="235549" cy="235549"/>
          </a:xfrm>
          <a:prstGeom prst="rect">
            <a:avLst/>
          </a:prstGeom>
        </p:spPr>
      </p:pic>
      <p:sp>
        <p:nvSpPr>
          <p:cNvPr id="25" name="Text 18"/>
          <p:cNvSpPr/>
          <p:nvPr/>
        </p:nvSpPr>
        <p:spPr>
          <a:xfrm>
            <a:off x="1261872" y="3145536"/>
            <a:ext cx="1755648" cy="502920"/>
          </a:xfrm>
          <a:prstGeom prst="rect">
            <a:avLst/>
          </a:prstGeom>
          <a:noFill/>
          <a:ln/>
        </p:spPr>
        <p:txBody>
          <a:bodyPr wrap="square" lIns="0" tIns="0" rIns="0" bIns="0" rtlCol="0" anchor="ctr"/>
          <a:lstStyle/>
          <a:p>
            <a:pPr indent="0" marL="0">
              <a:buNone/>
            </a:pPr>
            <a:r>
              <a:rPr lang="en-US" sz="1300" b="1" dirty="0">
                <a:solidFill>
                  <a:srgbClr val="0F2233"/>
                </a:solidFill>
                <a:latin typeface="Cambria" pitchFamily="34" charset="0"/>
                <a:ea typeface="Cambria" pitchFamily="34" charset="-122"/>
                <a:cs typeface="Cambria" pitchFamily="34" charset="-120"/>
              </a:rPr>
              <a:t>Stop sequences &amp; limits</a:t>
            </a:r>
            <a:endParaRPr lang="en-US" sz="1300" dirty="0"/>
          </a:p>
        </p:txBody>
      </p:sp>
      <p:sp>
        <p:nvSpPr>
          <p:cNvPr id="26" name="Text 19"/>
          <p:cNvSpPr/>
          <p:nvPr/>
        </p:nvSpPr>
        <p:spPr>
          <a:xfrm>
            <a:off x="658368" y="3721608"/>
            <a:ext cx="2267712" cy="548640"/>
          </a:xfrm>
          <a:prstGeom prst="rect">
            <a:avLst/>
          </a:prstGeom>
          <a:noFill/>
          <a:ln/>
        </p:spPr>
        <p:txBody>
          <a:bodyPr wrap="square" lIns="0" tIns="0" rIns="0" bIns="0" rtlCol="0" anchor="t"/>
          <a:lstStyle/>
          <a:p>
            <a:pPr indent="0" marL="0">
              <a:buNone/>
            </a:pPr>
            <a:r>
              <a:rPr lang="en-US" sz="1030" dirty="0">
                <a:solidFill>
                  <a:srgbClr val="334155"/>
                </a:solidFill>
                <a:latin typeface="Calibri" pitchFamily="34" charset="0"/>
                <a:ea typeface="Calibri" pitchFamily="34" charset="-122"/>
                <a:cs typeface="Calibri" pitchFamily="34" charset="-120"/>
              </a:rPr>
              <a:t>Cap max tokens, set stop sequences, bound tool loops to prevent runaway cost.</a:t>
            </a:r>
            <a:endParaRPr lang="en-US" sz="1030" dirty="0"/>
          </a:p>
        </p:txBody>
      </p:sp>
      <p:sp>
        <p:nvSpPr>
          <p:cNvPr id="27" name="Shape 20"/>
          <p:cNvSpPr/>
          <p:nvPr/>
        </p:nvSpPr>
        <p:spPr>
          <a:xfrm>
            <a:off x="3291840" y="2944368"/>
            <a:ext cx="2670048" cy="1371600"/>
          </a:xfrm>
          <a:prstGeom prst="roundRect">
            <a:avLst>
              <a:gd name="adj" fmla="val 5333"/>
            </a:avLst>
          </a:prstGeom>
          <a:solidFill>
            <a:srgbClr val="FFFFFF"/>
          </a:solidFill>
          <a:ln/>
          <a:effectLst>
            <a:outerShdw sx="100000" sy="100000" kx="0" ky="0" algn="bl" rotWithShape="0" blurRad="63500" dist="25400" dir="5400000">
              <a:srgbClr val="0F2233">
                <a:alpha val="10000"/>
              </a:srgbClr>
            </a:outerShdw>
          </a:effectLst>
        </p:spPr>
      </p:sp>
      <p:sp>
        <p:nvSpPr>
          <p:cNvPr id="28" name="Shape 21"/>
          <p:cNvSpPr/>
          <p:nvPr/>
        </p:nvSpPr>
        <p:spPr>
          <a:xfrm>
            <a:off x="3493008" y="3163824"/>
            <a:ext cx="512064" cy="512064"/>
          </a:xfrm>
          <a:prstGeom prst="ellipse">
            <a:avLst/>
          </a:prstGeom>
          <a:solidFill>
            <a:srgbClr val="0D9488"/>
          </a:solidFill>
          <a:ln/>
        </p:spPr>
      </p:sp>
      <p:pic>
        <p:nvPicPr>
          <p:cNvPr id="29" name="Image 5" descr="preencoded.png">    </p:cNvPr>
          <p:cNvPicPr>
            <a:picLocks noChangeAspect="1"/>
          </p:cNvPicPr>
          <p:nvPr/>
        </p:nvPicPr>
        <p:blipFill>
          <a:blip r:embed="rId6"/>
          <a:stretch>
            <a:fillRect/>
          </a:stretch>
        </p:blipFill>
        <p:spPr>
          <a:xfrm>
            <a:off x="3631265" y="3302081"/>
            <a:ext cx="235549" cy="235549"/>
          </a:xfrm>
          <a:prstGeom prst="rect">
            <a:avLst/>
          </a:prstGeom>
        </p:spPr>
      </p:pic>
      <p:sp>
        <p:nvSpPr>
          <p:cNvPr id="30" name="Text 22"/>
          <p:cNvSpPr/>
          <p:nvPr/>
        </p:nvSpPr>
        <p:spPr>
          <a:xfrm>
            <a:off x="4096512" y="3145536"/>
            <a:ext cx="1755648" cy="502920"/>
          </a:xfrm>
          <a:prstGeom prst="rect">
            <a:avLst/>
          </a:prstGeom>
          <a:noFill/>
          <a:ln/>
        </p:spPr>
        <p:txBody>
          <a:bodyPr wrap="square" lIns="0" tIns="0" rIns="0" bIns="0" rtlCol="0" anchor="ctr"/>
          <a:lstStyle/>
          <a:p>
            <a:pPr indent="0" marL="0">
              <a:buNone/>
            </a:pPr>
            <a:r>
              <a:rPr lang="en-US" sz="1300" b="1" dirty="0">
                <a:solidFill>
                  <a:srgbClr val="0F2233"/>
                </a:solidFill>
                <a:latin typeface="Cambria" pitchFamily="34" charset="0"/>
                <a:ea typeface="Cambria" pitchFamily="34" charset="-122"/>
                <a:cs typeface="Cambria" pitchFamily="34" charset="-120"/>
              </a:rPr>
              <a:t>Log the contract</a:t>
            </a:r>
            <a:endParaRPr lang="en-US" sz="1300" dirty="0"/>
          </a:p>
        </p:txBody>
      </p:sp>
      <p:sp>
        <p:nvSpPr>
          <p:cNvPr id="31" name="Text 23"/>
          <p:cNvSpPr/>
          <p:nvPr/>
        </p:nvSpPr>
        <p:spPr>
          <a:xfrm>
            <a:off x="3493008" y="3721608"/>
            <a:ext cx="2267712" cy="548640"/>
          </a:xfrm>
          <a:prstGeom prst="rect">
            <a:avLst/>
          </a:prstGeom>
          <a:noFill/>
          <a:ln/>
        </p:spPr>
        <p:txBody>
          <a:bodyPr wrap="square" lIns="0" tIns="0" rIns="0" bIns="0" rtlCol="0" anchor="t"/>
          <a:lstStyle/>
          <a:p>
            <a:pPr indent="0" marL="0">
              <a:buNone/>
            </a:pPr>
            <a:r>
              <a:rPr lang="en-US" sz="1030" dirty="0">
                <a:solidFill>
                  <a:srgbClr val="334155"/>
                </a:solidFill>
                <a:latin typeface="Calibri" pitchFamily="34" charset="0"/>
                <a:ea typeface="Calibri" pitchFamily="34" charset="-122"/>
                <a:cs typeface="Calibri" pitchFamily="34" charset="-120"/>
              </a:rPr>
              <a:t>Persist model, version, prompt hash &amp; params for every call (auditing).</a:t>
            </a:r>
            <a:endParaRPr lang="en-US" sz="1030" dirty="0"/>
          </a:p>
        </p:txBody>
      </p:sp>
      <p:sp>
        <p:nvSpPr>
          <p:cNvPr id="32" name="Shape 24"/>
          <p:cNvSpPr/>
          <p:nvPr/>
        </p:nvSpPr>
        <p:spPr>
          <a:xfrm>
            <a:off x="6126480" y="2944368"/>
            <a:ext cx="2670048" cy="1371600"/>
          </a:xfrm>
          <a:prstGeom prst="roundRect">
            <a:avLst>
              <a:gd name="adj" fmla="val 5333"/>
            </a:avLst>
          </a:prstGeom>
          <a:solidFill>
            <a:srgbClr val="FFFFFF"/>
          </a:solidFill>
          <a:ln/>
          <a:effectLst>
            <a:outerShdw sx="100000" sy="100000" kx="0" ky="0" algn="bl" rotWithShape="0" blurRad="63500" dist="25400" dir="5400000">
              <a:srgbClr val="0F2233">
                <a:alpha val="10000"/>
              </a:srgbClr>
            </a:outerShdw>
          </a:effectLst>
        </p:spPr>
      </p:sp>
      <p:sp>
        <p:nvSpPr>
          <p:cNvPr id="33" name="Shape 25"/>
          <p:cNvSpPr/>
          <p:nvPr/>
        </p:nvSpPr>
        <p:spPr>
          <a:xfrm>
            <a:off x="6327648" y="3163824"/>
            <a:ext cx="512064" cy="512064"/>
          </a:xfrm>
          <a:prstGeom prst="ellipse">
            <a:avLst/>
          </a:prstGeom>
          <a:solidFill>
            <a:srgbClr val="F59E0B"/>
          </a:solidFill>
          <a:ln/>
        </p:spPr>
      </p:sp>
      <p:pic>
        <p:nvPicPr>
          <p:cNvPr id="34" name="Image 6" descr="preencoded.png">    </p:cNvPr>
          <p:cNvPicPr>
            <a:picLocks noChangeAspect="1"/>
          </p:cNvPicPr>
          <p:nvPr/>
        </p:nvPicPr>
        <p:blipFill>
          <a:blip r:embed="rId7"/>
          <a:stretch>
            <a:fillRect/>
          </a:stretch>
        </p:blipFill>
        <p:spPr>
          <a:xfrm>
            <a:off x="6465905" y="3302081"/>
            <a:ext cx="235549" cy="235549"/>
          </a:xfrm>
          <a:prstGeom prst="rect">
            <a:avLst/>
          </a:prstGeom>
        </p:spPr>
      </p:pic>
      <p:sp>
        <p:nvSpPr>
          <p:cNvPr id="35" name="Text 26"/>
          <p:cNvSpPr/>
          <p:nvPr/>
        </p:nvSpPr>
        <p:spPr>
          <a:xfrm>
            <a:off x="6931152" y="3145536"/>
            <a:ext cx="1755648" cy="502920"/>
          </a:xfrm>
          <a:prstGeom prst="rect">
            <a:avLst/>
          </a:prstGeom>
          <a:noFill/>
          <a:ln/>
        </p:spPr>
        <p:txBody>
          <a:bodyPr wrap="square" lIns="0" tIns="0" rIns="0" bIns="0" rtlCol="0" anchor="ctr"/>
          <a:lstStyle/>
          <a:p>
            <a:pPr indent="0" marL="0">
              <a:buNone/>
            </a:pPr>
            <a:r>
              <a:rPr lang="en-US" sz="1300" b="1" dirty="0">
                <a:solidFill>
                  <a:srgbClr val="0F2233"/>
                </a:solidFill>
                <a:latin typeface="Cambria" pitchFamily="34" charset="0"/>
                <a:ea typeface="Cambria" pitchFamily="34" charset="-122"/>
                <a:cs typeface="Cambria" pitchFamily="34" charset="-120"/>
              </a:rPr>
              <a:t>Human gates</a:t>
            </a:r>
            <a:endParaRPr lang="en-US" sz="1300" dirty="0"/>
          </a:p>
        </p:txBody>
      </p:sp>
      <p:sp>
        <p:nvSpPr>
          <p:cNvPr id="36" name="Text 27"/>
          <p:cNvSpPr/>
          <p:nvPr/>
        </p:nvSpPr>
        <p:spPr>
          <a:xfrm>
            <a:off x="6327648" y="3721608"/>
            <a:ext cx="2267712" cy="548640"/>
          </a:xfrm>
          <a:prstGeom prst="rect">
            <a:avLst/>
          </a:prstGeom>
          <a:noFill/>
          <a:ln/>
        </p:spPr>
        <p:txBody>
          <a:bodyPr wrap="square" lIns="0" tIns="0" rIns="0" bIns="0" rtlCol="0" anchor="t"/>
          <a:lstStyle/>
          <a:p>
            <a:pPr indent="0" marL="0">
              <a:buNone/>
            </a:pPr>
            <a:r>
              <a:rPr lang="en-US" sz="1030" dirty="0">
                <a:solidFill>
                  <a:srgbClr val="334155"/>
                </a:solidFill>
                <a:latin typeface="Calibri" pitchFamily="34" charset="0"/>
                <a:ea typeface="Calibri" pitchFamily="34" charset="-122"/>
                <a:cs typeface="Calibri" pitchFamily="34" charset="-120"/>
              </a:rPr>
              <a:t>Require approval before irreversible or high-volume outbound actions.</a:t>
            </a:r>
            <a:endParaRPr lang="en-US" sz="103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26</a:t>
            </a:r>
            <a:endParaRPr lang="en-US" sz="850" dirty="0"/>
          </a:p>
        </p:txBody>
      </p:sp>
      <p:sp>
        <p:nvSpPr>
          <p:cNvPr id="4" name="Shape 2"/>
          <p:cNvSpPr/>
          <p:nvPr/>
        </p:nvSpPr>
        <p:spPr>
          <a:xfrm>
            <a:off x="457200" y="384048"/>
            <a:ext cx="566928" cy="566928"/>
          </a:xfrm>
          <a:prstGeom prst="ellipse">
            <a:avLst/>
          </a:prstGeom>
          <a:solidFill>
            <a:srgbClr val="F59E0B"/>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Prompt-Response Auditing</a:t>
            </a:r>
            <a:endParaRPr lang="en-US" sz="2600" dirty="0"/>
          </a:p>
        </p:txBody>
      </p:sp>
      <p:sp>
        <p:nvSpPr>
          <p:cNvPr id="7" name="Shape 4"/>
          <p:cNvSpPr/>
          <p:nvPr/>
        </p:nvSpPr>
        <p:spPr>
          <a:xfrm>
            <a:off x="457200" y="1371600"/>
            <a:ext cx="3931920" cy="3246120"/>
          </a:xfrm>
          <a:prstGeom prst="roundRect">
            <a:avLst>
              <a:gd name="adj" fmla="val 2254"/>
            </a:avLst>
          </a:prstGeom>
          <a:solidFill>
            <a:srgbClr val="F1F5F9"/>
          </a:solidFill>
          <a:ln/>
          <a:effectLst>
            <a:outerShdw sx="100000" sy="100000" kx="0" ky="0" algn="bl" rotWithShape="0" blurRad="63500" dist="25400" dir="5400000">
              <a:srgbClr val="0F2233">
                <a:alpha val="10000"/>
              </a:srgbClr>
            </a:outerShdw>
          </a:effectLst>
        </p:spPr>
      </p:sp>
      <p:sp>
        <p:nvSpPr>
          <p:cNvPr id="8" name="Text 5"/>
          <p:cNvSpPr/>
          <p:nvPr/>
        </p:nvSpPr>
        <p:spPr>
          <a:xfrm>
            <a:off x="658368" y="1481328"/>
            <a:ext cx="3657600" cy="320040"/>
          </a:xfrm>
          <a:prstGeom prst="rect">
            <a:avLst/>
          </a:prstGeom>
          <a:noFill/>
          <a:ln/>
        </p:spPr>
        <p:txBody>
          <a:bodyPr wrap="square" lIns="0" tIns="0" rIns="0" bIns="0" rtlCol="0" anchor="ctr"/>
          <a:lstStyle/>
          <a:p>
            <a:pPr indent="0" marL="0">
              <a:buNone/>
            </a:pPr>
            <a:r>
              <a:rPr lang="en-US" sz="1250" b="1" dirty="0">
                <a:solidFill>
                  <a:srgbClr val="64748B"/>
                </a:solidFill>
                <a:latin typeface="Calibri" pitchFamily="34" charset="0"/>
                <a:ea typeface="Calibri" pitchFamily="34" charset="-122"/>
                <a:cs typeface="Calibri" pitchFamily="34" charset="-120"/>
              </a:rPr>
              <a:t>Why audit?</a:t>
            </a:r>
            <a:endParaRPr lang="en-US" sz="1250" dirty="0"/>
          </a:p>
        </p:txBody>
      </p:sp>
      <p:sp>
        <p:nvSpPr>
          <p:cNvPr id="9" name="Text 6"/>
          <p:cNvSpPr/>
          <p:nvPr/>
        </p:nvSpPr>
        <p:spPr>
          <a:xfrm>
            <a:off x="658368" y="1874520"/>
            <a:ext cx="3566160" cy="2651760"/>
          </a:xfrm>
          <a:prstGeom prst="rect">
            <a:avLst/>
          </a:prstGeom>
          <a:noFill/>
          <a:ln/>
        </p:spPr>
        <p:txBody>
          <a:bodyPr wrap="square" lIns="0" tIns="0" rIns="0" bIns="0" rtlCol="0" anchor="t"/>
          <a:lstStyle/>
          <a:p>
            <a:pPr marL="177800" indent="-177800">
              <a:spcAft>
                <a:spcPts val="1100"/>
              </a:spcAft>
              <a:buSzPct val="100000"/>
              <a:buChar char="•"/>
            </a:pPr>
            <a:r>
              <a:rPr lang="en-US" sz="1200" dirty="0">
                <a:solidFill>
                  <a:srgbClr val="334155"/>
                </a:solidFill>
                <a:latin typeface="Calibri" pitchFamily="34" charset="0"/>
                <a:ea typeface="Calibri" pitchFamily="34" charset="-122"/>
                <a:cs typeface="Calibri" pitchFamily="34" charset="-120"/>
              </a:rPr>
              <a:t>Reproduce &amp; explain any past decision</a:t>
            </a:r>
            <a:endParaRPr lang="en-US" sz="1200" dirty="0"/>
          </a:p>
          <a:p>
            <a:pPr marL="177800" indent="-177800">
              <a:spcAft>
                <a:spcPts val="1100"/>
              </a:spcAft>
              <a:buSzPct val="100000"/>
              <a:buChar char="•"/>
            </a:pPr>
            <a:r>
              <a:rPr lang="en-US" sz="1200" dirty="0">
                <a:solidFill>
                  <a:srgbClr val="334155"/>
                </a:solidFill>
                <a:latin typeface="Calibri" pitchFamily="34" charset="0"/>
                <a:ea typeface="Calibri" pitchFamily="34" charset="-122"/>
                <a:cs typeface="Calibri" pitchFamily="34" charset="-120"/>
              </a:rPr>
              <a:t>Prove compliance to a regulator/customer</a:t>
            </a:r>
            <a:endParaRPr lang="en-US" sz="1200" dirty="0"/>
          </a:p>
          <a:p>
            <a:pPr marL="177800" indent="-177800">
              <a:spcAft>
                <a:spcPts val="1100"/>
              </a:spcAft>
              <a:buSzPct val="100000"/>
              <a:buChar char="•"/>
            </a:pPr>
            <a:r>
              <a:rPr lang="en-US" sz="1200" dirty="0">
                <a:solidFill>
                  <a:srgbClr val="334155"/>
                </a:solidFill>
                <a:latin typeface="Calibri" pitchFamily="34" charset="0"/>
                <a:ea typeface="Calibri" pitchFamily="34" charset="-122"/>
                <a:cs typeface="Calibri" pitchFamily="34" charset="-120"/>
              </a:rPr>
              <a:t>Investigate incidents &amp; abuse</a:t>
            </a:r>
            <a:endParaRPr lang="en-US" sz="1200" dirty="0"/>
          </a:p>
          <a:p>
            <a:pPr marL="177800" indent="-177800">
              <a:spcAft>
                <a:spcPts val="1100"/>
              </a:spcAft>
              <a:buSzPct val="100000"/>
              <a:buChar char="•"/>
            </a:pPr>
            <a:r>
              <a:rPr lang="en-US" sz="1200" dirty="0">
                <a:solidFill>
                  <a:srgbClr val="334155"/>
                </a:solidFill>
                <a:latin typeface="Calibri" pitchFamily="34" charset="0"/>
                <a:ea typeface="Calibri" pitchFamily="34" charset="-122"/>
                <a:cs typeface="Calibri" pitchFamily="34" charset="-120"/>
              </a:rPr>
              <a:t>Detect prompt/version drift</a:t>
            </a:r>
            <a:endParaRPr lang="en-US" sz="1200" dirty="0"/>
          </a:p>
          <a:p>
            <a:pPr marL="177800" indent="-177800">
              <a:spcAft>
                <a:spcPts val="1100"/>
              </a:spcAft>
              <a:buSzPct val="100000"/>
              <a:buChar char="•"/>
            </a:pPr>
            <a:r>
              <a:rPr lang="en-US" sz="1200" dirty="0">
                <a:solidFill>
                  <a:srgbClr val="334155"/>
                </a:solidFill>
                <a:latin typeface="Calibri" pitchFamily="34" charset="0"/>
                <a:ea typeface="Calibri" pitchFamily="34" charset="-122"/>
                <a:cs typeface="Calibri" pitchFamily="34" charset="-120"/>
              </a:rPr>
              <a:t>Feed examples back into evaluation</a:t>
            </a:r>
            <a:endParaRPr lang="en-US" sz="1200" dirty="0"/>
          </a:p>
        </p:txBody>
      </p:sp>
      <p:sp>
        <p:nvSpPr>
          <p:cNvPr id="10" name="Shape 7"/>
          <p:cNvSpPr/>
          <p:nvPr/>
        </p:nvSpPr>
        <p:spPr>
          <a:xfrm>
            <a:off x="4572000" y="1371600"/>
            <a:ext cx="4114800" cy="3246120"/>
          </a:xfrm>
          <a:prstGeom prst="roundRect">
            <a:avLst>
              <a:gd name="adj" fmla="val 2254"/>
            </a:avLst>
          </a:prstGeom>
          <a:solidFill>
            <a:srgbClr val="0E2A3B"/>
          </a:solidFill>
          <a:ln/>
          <a:effectLst>
            <a:outerShdw sx="100000" sy="100000" kx="0" ky="0" algn="bl" rotWithShape="0" blurRad="63500" dist="25400" dir="5400000">
              <a:srgbClr val="0F2233">
                <a:alpha val="10000"/>
              </a:srgbClr>
            </a:outerShdw>
          </a:effectLst>
        </p:spPr>
      </p:sp>
      <p:sp>
        <p:nvSpPr>
          <p:cNvPr id="11" name="Text 8"/>
          <p:cNvSpPr/>
          <p:nvPr/>
        </p:nvSpPr>
        <p:spPr>
          <a:xfrm>
            <a:off x="4773168" y="1463040"/>
            <a:ext cx="3657600" cy="292608"/>
          </a:xfrm>
          <a:prstGeom prst="rect">
            <a:avLst/>
          </a:prstGeom>
          <a:noFill/>
          <a:ln/>
        </p:spPr>
        <p:txBody>
          <a:bodyPr wrap="square" lIns="0" tIns="0" rIns="0" bIns="0" rtlCol="0" anchor="ctr"/>
          <a:lstStyle/>
          <a:p>
            <a:pPr indent="0" marL="0">
              <a:buNone/>
            </a:pPr>
            <a:r>
              <a:rPr lang="en-US" sz="1000" b="1" dirty="0">
                <a:solidFill>
                  <a:srgbClr val="5EEAD4"/>
                </a:solidFill>
                <a:latin typeface="Courier New" pitchFamily="34" charset="0"/>
                <a:ea typeface="Courier New" pitchFamily="34" charset="-122"/>
                <a:cs typeface="Courier New" pitchFamily="34" charset="-120"/>
              </a:rPr>
              <a:t>An audit record</a:t>
            </a:r>
            <a:endParaRPr lang="en-US" sz="1000" dirty="0"/>
          </a:p>
        </p:txBody>
      </p:sp>
      <p:sp>
        <p:nvSpPr>
          <p:cNvPr id="12" name="Text 9"/>
          <p:cNvSpPr/>
          <p:nvPr/>
        </p:nvSpPr>
        <p:spPr>
          <a:xfrm>
            <a:off x="4773168" y="1783080"/>
            <a:ext cx="3749040" cy="274320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BFE3DC"/>
                </a:solidFill>
                <a:latin typeface="Courier New" pitchFamily="34" charset="0"/>
                <a:ea typeface="Courier New" pitchFamily="34" charset="-122"/>
                <a:cs typeface="Courier New" pitchFamily="34" charset="-120"/>
              </a:rPr>
              <a:t>trace_id, span_id, ts</a:t>
            </a:r>
            <a:endParaRPr lang="en-US" sz="1050" dirty="0"/>
          </a:p>
          <a:p>
            <a:pPr marL="152400" indent="-152400">
              <a:spcAft>
                <a:spcPts val="400"/>
              </a:spcAft>
              <a:buSzPct val="100000"/>
              <a:buChar char="•"/>
            </a:pPr>
            <a:r>
              <a:rPr lang="en-US" sz="1050" dirty="0">
                <a:solidFill>
                  <a:srgbClr val="BFE3DC"/>
                </a:solidFill>
                <a:latin typeface="Courier New" pitchFamily="34" charset="0"/>
                <a:ea typeface="Courier New" pitchFamily="34" charset="-122"/>
                <a:cs typeface="Courier New" pitchFamily="34" charset="-120"/>
              </a:rPr>
              <a:t>actor / tenant</a:t>
            </a:r>
            <a:endParaRPr lang="en-US" sz="1050" dirty="0"/>
          </a:p>
          <a:p>
            <a:pPr marL="152400" indent="-152400">
              <a:spcAft>
                <a:spcPts val="400"/>
              </a:spcAft>
              <a:buSzPct val="100000"/>
              <a:buChar char="•"/>
            </a:pPr>
            <a:r>
              <a:rPr lang="en-US" sz="1050" dirty="0">
                <a:solidFill>
                  <a:srgbClr val="BFE3DC"/>
                </a:solidFill>
                <a:latin typeface="Courier New" pitchFamily="34" charset="0"/>
                <a:ea typeface="Courier New" pitchFamily="34" charset="-122"/>
                <a:cs typeface="Courier New" pitchFamily="34" charset="-120"/>
              </a:rPr>
              <a:t>agent + version</a:t>
            </a:r>
            <a:endParaRPr lang="en-US" sz="1050" dirty="0"/>
          </a:p>
          <a:p>
            <a:pPr marL="152400" indent="-152400">
              <a:spcAft>
                <a:spcPts val="400"/>
              </a:spcAft>
              <a:buSzPct val="100000"/>
              <a:buChar char="•"/>
            </a:pPr>
            <a:r>
              <a:rPr lang="en-US" sz="1050" dirty="0">
                <a:solidFill>
                  <a:srgbClr val="BFE3DC"/>
                </a:solidFill>
                <a:latin typeface="Courier New" pitchFamily="34" charset="0"/>
                <a:ea typeface="Courier New" pitchFamily="34" charset="-122"/>
                <a:cs typeface="Courier New" pitchFamily="34" charset="-120"/>
              </a:rPr>
              <a:t>model + model_version</a:t>
            </a:r>
            <a:endParaRPr lang="en-US" sz="1050" dirty="0"/>
          </a:p>
          <a:p>
            <a:pPr marL="152400" indent="-152400">
              <a:spcAft>
                <a:spcPts val="400"/>
              </a:spcAft>
              <a:buSzPct val="100000"/>
              <a:buChar char="•"/>
            </a:pPr>
            <a:r>
              <a:rPr lang="en-US" sz="1050" dirty="0">
                <a:solidFill>
                  <a:srgbClr val="BFE3DC"/>
                </a:solidFill>
                <a:latin typeface="Courier New" pitchFamily="34" charset="0"/>
                <a:ea typeface="Courier New" pitchFamily="34" charset="-122"/>
                <a:cs typeface="Courier New" pitchFamily="34" charset="-120"/>
              </a:rPr>
              <a:t>prompt_hash  (redacted prompt)</a:t>
            </a:r>
            <a:endParaRPr lang="en-US" sz="1050" dirty="0"/>
          </a:p>
          <a:p>
            <a:pPr marL="152400" indent="-152400">
              <a:spcAft>
                <a:spcPts val="400"/>
              </a:spcAft>
              <a:buSzPct val="100000"/>
              <a:buChar char="•"/>
            </a:pPr>
            <a:r>
              <a:rPr lang="en-US" sz="1050" dirty="0">
                <a:solidFill>
                  <a:srgbClr val="BFE3DC"/>
                </a:solidFill>
                <a:latin typeface="Courier New" pitchFamily="34" charset="0"/>
                <a:ea typeface="Courier New" pitchFamily="34" charset="-122"/>
                <a:cs typeface="Courier New" pitchFamily="34" charset="-120"/>
              </a:rPr>
              <a:t>response_hash (redacted output)</a:t>
            </a:r>
            <a:endParaRPr lang="en-US" sz="1050" dirty="0"/>
          </a:p>
          <a:p>
            <a:pPr marL="152400" indent="-152400">
              <a:spcAft>
                <a:spcPts val="400"/>
              </a:spcAft>
              <a:buSzPct val="100000"/>
              <a:buChar char="•"/>
            </a:pPr>
            <a:r>
              <a:rPr lang="en-US" sz="1050" dirty="0">
                <a:solidFill>
                  <a:srgbClr val="BFE3DC"/>
                </a:solidFill>
                <a:latin typeface="Courier New" pitchFamily="34" charset="0"/>
                <a:ea typeface="Courier New" pitchFamily="34" charset="-122"/>
                <a:cs typeface="Courier New" pitchFamily="34" charset="-120"/>
              </a:rPr>
              <a:t>params: temp, max_tokens</a:t>
            </a:r>
            <a:endParaRPr lang="en-US" sz="1050" dirty="0"/>
          </a:p>
          <a:p>
            <a:pPr marL="152400" indent="-152400">
              <a:spcAft>
                <a:spcPts val="400"/>
              </a:spcAft>
              <a:buSzPct val="100000"/>
              <a:buChar char="•"/>
            </a:pPr>
            <a:r>
              <a:rPr lang="en-US" sz="1050" dirty="0">
                <a:solidFill>
                  <a:srgbClr val="BFE3DC"/>
                </a:solidFill>
                <a:latin typeface="Courier New" pitchFamily="34" charset="0"/>
                <a:ea typeface="Courier New" pitchFamily="34" charset="-122"/>
                <a:cs typeface="Courier New" pitchFamily="34" charset="-120"/>
              </a:rPr>
              <a:t>guardrail_flags[]</a:t>
            </a:r>
            <a:endParaRPr lang="en-US" sz="1050" dirty="0"/>
          </a:p>
          <a:p>
            <a:pPr marL="152400" indent="-152400">
              <a:spcAft>
                <a:spcPts val="400"/>
              </a:spcAft>
              <a:buSzPct val="100000"/>
              <a:buChar char="•"/>
            </a:pPr>
            <a:r>
              <a:rPr lang="en-US" sz="1050" dirty="0">
                <a:solidFill>
                  <a:srgbClr val="BFE3DC"/>
                </a:solidFill>
                <a:latin typeface="Courier New" pitchFamily="34" charset="0"/>
                <a:ea typeface="Courier New" pitchFamily="34" charset="-122"/>
                <a:cs typeface="Courier New" pitchFamily="34" charset="-120"/>
              </a:rPr>
              <a:t>decision + outcome</a:t>
            </a:r>
            <a:endParaRPr lang="en-US" sz="1050" dirty="0"/>
          </a:p>
          <a:p>
            <a:pPr marL="152400" indent="-152400">
              <a:spcAft>
                <a:spcPts val="400"/>
              </a:spcAft>
              <a:buSzPct val="100000"/>
              <a:buChar char="•"/>
            </a:pPr>
            <a:r>
              <a:rPr lang="en-US" sz="1050" dirty="0">
                <a:solidFill>
                  <a:srgbClr val="BFE3DC"/>
                </a:solidFill>
                <a:latin typeface="Courier New" pitchFamily="34" charset="0"/>
                <a:ea typeface="Courier New" pitchFamily="34" charset="-122"/>
                <a:cs typeface="Courier New" pitchFamily="34" charset="-120"/>
              </a:rPr>
              <a:t>prev_hash  ← chains records</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27</a:t>
            </a:r>
            <a:endParaRPr lang="en-US" sz="850" dirty="0"/>
          </a:p>
        </p:txBody>
      </p:sp>
      <p:sp>
        <p:nvSpPr>
          <p:cNvPr id="4" name="Shape 2"/>
          <p:cNvSpPr/>
          <p:nvPr/>
        </p:nvSpPr>
        <p:spPr>
          <a:xfrm>
            <a:off x="457200" y="384048"/>
            <a:ext cx="566928" cy="566928"/>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Audit Trail Architecture</a:t>
            </a:r>
            <a:endParaRPr lang="en-US" sz="2600" dirty="0"/>
          </a:p>
        </p:txBody>
      </p:sp>
      <p:sp>
        <p:nvSpPr>
          <p:cNvPr id="7" name="Shape 4"/>
          <p:cNvSpPr/>
          <p:nvPr/>
        </p:nvSpPr>
        <p:spPr>
          <a:xfrm>
            <a:off x="502920" y="1737360"/>
            <a:ext cx="1737360" cy="1005840"/>
          </a:xfrm>
          <a:prstGeom prst="roundRect">
            <a:avLst>
              <a:gd name="adj" fmla="val 7273"/>
            </a:avLst>
          </a:prstGeom>
          <a:solidFill>
            <a:srgbClr val="0D9488"/>
          </a:solidFill>
          <a:ln/>
          <a:effectLst>
            <a:outerShdw sx="100000" sy="100000" kx="0" ky="0" algn="bl" rotWithShape="0" blurRad="63500" dist="25400" dir="5400000">
              <a:srgbClr val="0F2233">
                <a:alpha val="10000"/>
              </a:srgbClr>
            </a:outerShdw>
          </a:effectLst>
        </p:spPr>
      </p:sp>
      <p:sp>
        <p:nvSpPr>
          <p:cNvPr id="8" name="Text 5"/>
          <p:cNvSpPr/>
          <p:nvPr/>
        </p:nvSpPr>
        <p:spPr>
          <a:xfrm>
            <a:off x="594360" y="1847088"/>
            <a:ext cx="1554480" cy="3200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Agents</a:t>
            </a:r>
            <a:endParaRPr lang="en-US" sz="1150" dirty="0"/>
          </a:p>
        </p:txBody>
      </p:sp>
      <p:sp>
        <p:nvSpPr>
          <p:cNvPr id="9" name="Text 6"/>
          <p:cNvSpPr/>
          <p:nvPr/>
        </p:nvSpPr>
        <p:spPr>
          <a:xfrm>
            <a:off x="594360" y="2194560"/>
            <a:ext cx="1554480" cy="457200"/>
          </a:xfrm>
          <a:prstGeom prst="rect">
            <a:avLst/>
          </a:prstGeom>
          <a:noFill/>
          <a:ln/>
        </p:spPr>
        <p:txBody>
          <a:bodyPr wrap="square" lIns="0" tIns="0" rIns="0" bIns="0" rtlCol="0" anchor="t"/>
          <a:lstStyle/>
          <a:p>
            <a:pPr algn="ctr" indent="0" marL="0">
              <a:buNone/>
            </a:pPr>
            <a:r>
              <a:rPr lang="en-US" sz="880" dirty="0">
                <a:solidFill>
                  <a:srgbClr val="C9D6DF"/>
                </a:solidFill>
                <a:latin typeface="Calibri" pitchFamily="34" charset="0"/>
                <a:ea typeface="Calibri" pitchFamily="34" charset="-122"/>
                <a:cs typeface="Calibri" pitchFamily="34" charset="-120"/>
              </a:rPr>
              <a:t>emit events</a:t>
            </a:r>
            <a:endParaRPr lang="en-US" sz="880" dirty="0"/>
          </a:p>
          <a:p>
            <a:pPr algn="ctr" indent="0" marL="0">
              <a:buNone/>
            </a:pPr>
            <a:r>
              <a:rPr lang="en-US" sz="880" dirty="0">
                <a:solidFill>
                  <a:srgbClr val="C9D6DF"/>
                </a:solidFill>
                <a:latin typeface="Calibri" pitchFamily="34" charset="0"/>
                <a:ea typeface="Calibri" pitchFamily="34" charset="-122"/>
                <a:cs typeface="Calibri" pitchFamily="34" charset="-120"/>
              </a:rPr>
              <a:t>+ redacted I/O</a:t>
            </a:r>
            <a:endParaRPr lang="en-US" sz="880" dirty="0"/>
          </a:p>
        </p:txBody>
      </p:sp>
      <p:sp>
        <p:nvSpPr>
          <p:cNvPr id="10" name="Shape 7"/>
          <p:cNvSpPr/>
          <p:nvPr/>
        </p:nvSpPr>
        <p:spPr>
          <a:xfrm>
            <a:off x="2286000" y="2148840"/>
            <a:ext cx="411480" cy="237744"/>
          </a:xfrm>
          <a:prstGeom prst="rightArrow">
            <a:avLst/>
          </a:prstGeom>
          <a:solidFill>
            <a:srgbClr val="F59E0B"/>
          </a:solidFill>
          <a:ln/>
        </p:spPr>
      </p:sp>
      <p:sp>
        <p:nvSpPr>
          <p:cNvPr id="11" name="Shape 8"/>
          <p:cNvSpPr/>
          <p:nvPr/>
        </p:nvSpPr>
        <p:spPr>
          <a:xfrm>
            <a:off x="2743200" y="1737360"/>
            <a:ext cx="1783080" cy="1005840"/>
          </a:xfrm>
          <a:prstGeom prst="roundRect">
            <a:avLst>
              <a:gd name="adj" fmla="val 7273"/>
            </a:avLst>
          </a:prstGeom>
          <a:solidFill>
            <a:srgbClr val="0E2A3B"/>
          </a:solidFill>
          <a:ln/>
          <a:effectLst>
            <a:outerShdw sx="100000" sy="100000" kx="0" ky="0" algn="bl" rotWithShape="0" blurRad="63500" dist="25400" dir="5400000">
              <a:srgbClr val="0F2233">
                <a:alpha val="10000"/>
              </a:srgbClr>
            </a:outerShdw>
          </a:effectLst>
        </p:spPr>
      </p:sp>
      <p:sp>
        <p:nvSpPr>
          <p:cNvPr id="12" name="Text 9"/>
          <p:cNvSpPr/>
          <p:nvPr/>
        </p:nvSpPr>
        <p:spPr>
          <a:xfrm>
            <a:off x="2834640" y="1847088"/>
            <a:ext cx="1600200" cy="3200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Audit middleware</a:t>
            </a:r>
            <a:endParaRPr lang="en-US" sz="1150" dirty="0"/>
          </a:p>
        </p:txBody>
      </p:sp>
      <p:sp>
        <p:nvSpPr>
          <p:cNvPr id="13" name="Text 10"/>
          <p:cNvSpPr/>
          <p:nvPr/>
        </p:nvSpPr>
        <p:spPr>
          <a:xfrm>
            <a:off x="2834640" y="2194560"/>
            <a:ext cx="1600200" cy="457200"/>
          </a:xfrm>
          <a:prstGeom prst="rect">
            <a:avLst/>
          </a:prstGeom>
          <a:noFill/>
          <a:ln/>
        </p:spPr>
        <p:txBody>
          <a:bodyPr wrap="square" lIns="0" tIns="0" rIns="0" bIns="0" rtlCol="0" anchor="t"/>
          <a:lstStyle/>
          <a:p>
            <a:pPr algn="ctr" indent="0" marL="0">
              <a:buNone/>
            </a:pPr>
            <a:r>
              <a:rPr lang="en-US" sz="880" dirty="0">
                <a:solidFill>
                  <a:srgbClr val="C9D6DF"/>
                </a:solidFill>
                <a:latin typeface="Calibri" pitchFamily="34" charset="0"/>
                <a:ea typeface="Calibri" pitchFamily="34" charset="-122"/>
                <a:cs typeface="Calibri" pitchFamily="34" charset="-120"/>
              </a:rPr>
              <a:t>hash, chain,</a:t>
            </a:r>
            <a:endParaRPr lang="en-US" sz="880" dirty="0"/>
          </a:p>
          <a:p>
            <a:pPr algn="ctr" indent="0" marL="0">
              <a:buNone/>
            </a:pPr>
            <a:r>
              <a:rPr lang="en-US" sz="880" dirty="0">
                <a:solidFill>
                  <a:srgbClr val="C9D6DF"/>
                </a:solidFill>
                <a:latin typeface="Calibri" pitchFamily="34" charset="0"/>
                <a:ea typeface="Calibri" pitchFamily="34" charset="-122"/>
                <a:cs typeface="Calibri" pitchFamily="34" charset="-120"/>
              </a:rPr>
              <a:t>redact, sign</a:t>
            </a:r>
            <a:endParaRPr lang="en-US" sz="880" dirty="0"/>
          </a:p>
        </p:txBody>
      </p:sp>
      <p:sp>
        <p:nvSpPr>
          <p:cNvPr id="14" name="Shape 11"/>
          <p:cNvSpPr/>
          <p:nvPr/>
        </p:nvSpPr>
        <p:spPr>
          <a:xfrm>
            <a:off x="4572000" y="2148840"/>
            <a:ext cx="411480" cy="237744"/>
          </a:xfrm>
          <a:prstGeom prst="rightArrow">
            <a:avLst/>
          </a:prstGeom>
          <a:solidFill>
            <a:srgbClr val="F59E0B"/>
          </a:solidFill>
          <a:ln/>
        </p:spPr>
      </p:sp>
      <p:sp>
        <p:nvSpPr>
          <p:cNvPr id="15" name="Shape 12"/>
          <p:cNvSpPr/>
          <p:nvPr/>
        </p:nvSpPr>
        <p:spPr>
          <a:xfrm>
            <a:off x="5029200" y="1737360"/>
            <a:ext cx="1783080" cy="1005840"/>
          </a:xfrm>
          <a:prstGeom prst="roundRect">
            <a:avLst>
              <a:gd name="adj" fmla="val 7273"/>
            </a:avLst>
          </a:prstGeom>
          <a:solidFill>
            <a:srgbClr val="14405A"/>
          </a:solidFill>
          <a:ln/>
          <a:effectLst>
            <a:outerShdw sx="100000" sy="100000" kx="0" ky="0" algn="bl" rotWithShape="0" blurRad="63500" dist="25400" dir="5400000">
              <a:srgbClr val="0F2233">
                <a:alpha val="10000"/>
              </a:srgbClr>
            </a:outerShdw>
          </a:effectLst>
        </p:spPr>
      </p:sp>
      <p:sp>
        <p:nvSpPr>
          <p:cNvPr id="16" name="Text 13"/>
          <p:cNvSpPr/>
          <p:nvPr/>
        </p:nvSpPr>
        <p:spPr>
          <a:xfrm>
            <a:off x="5120640" y="1847088"/>
            <a:ext cx="1600200" cy="3200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Append-only store</a:t>
            </a:r>
            <a:endParaRPr lang="en-US" sz="1150" dirty="0"/>
          </a:p>
        </p:txBody>
      </p:sp>
      <p:sp>
        <p:nvSpPr>
          <p:cNvPr id="17" name="Text 14"/>
          <p:cNvSpPr/>
          <p:nvPr/>
        </p:nvSpPr>
        <p:spPr>
          <a:xfrm>
            <a:off x="5120640" y="2194560"/>
            <a:ext cx="1600200" cy="457200"/>
          </a:xfrm>
          <a:prstGeom prst="rect">
            <a:avLst/>
          </a:prstGeom>
          <a:noFill/>
          <a:ln/>
        </p:spPr>
        <p:txBody>
          <a:bodyPr wrap="square" lIns="0" tIns="0" rIns="0" bIns="0" rtlCol="0" anchor="t"/>
          <a:lstStyle/>
          <a:p>
            <a:pPr algn="ctr" indent="0" marL="0">
              <a:buNone/>
            </a:pPr>
            <a:r>
              <a:rPr lang="en-US" sz="880" dirty="0">
                <a:solidFill>
                  <a:srgbClr val="C9D6DF"/>
                </a:solidFill>
                <a:latin typeface="Calibri" pitchFamily="34" charset="0"/>
                <a:ea typeface="Calibri" pitchFamily="34" charset="-122"/>
                <a:cs typeface="Calibri" pitchFamily="34" charset="-120"/>
              </a:rPr>
              <a:t>WORM / DB</a:t>
            </a:r>
            <a:endParaRPr lang="en-US" sz="880" dirty="0"/>
          </a:p>
          <a:p>
            <a:pPr algn="ctr" indent="0" marL="0">
              <a:buNone/>
            </a:pPr>
            <a:r>
              <a:rPr lang="en-US" sz="880" dirty="0">
                <a:solidFill>
                  <a:srgbClr val="C9D6DF"/>
                </a:solidFill>
                <a:latin typeface="Calibri" pitchFamily="34" charset="0"/>
                <a:ea typeface="Calibri" pitchFamily="34" charset="-122"/>
                <a:cs typeface="Calibri" pitchFamily="34" charset="-120"/>
              </a:rPr>
              <a:t>with prev_hash</a:t>
            </a:r>
            <a:endParaRPr lang="en-US" sz="880" dirty="0"/>
          </a:p>
        </p:txBody>
      </p:sp>
      <p:sp>
        <p:nvSpPr>
          <p:cNvPr id="18" name="Shape 15"/>
          <p:cNvSpPr/>
          <p:nvPr/>
        </p:nvSpPr>
        <p:spPr>
          <a:xfrm>
            <a:off x="6858000" y="2148840"/>
            <a:ext cx="411480" cy="237744"/>
          </a:xfrm>
          <a:prstGeom prst="rightArrow">
            <a:avLst/>
          </a:prstGeom>
          <a:solidFill>
            <a:srgbClr val="F59E0B"/>
          </a:solidFill>
          <a:ln/>
        </p:spPr>
      </p:sp>
      <p:sp>
        <p:nvSpPr>
          <p:cNvPr id="19" name="Shape 16"/>
          <p:cNvSpPr/>
          <p:nvPr/>
        </p:nvSpPr>
        <p:spPr>
          <a:xfrm>
            <a:off x="7315200" y="1737360"/>
            <a:ext cx="1325880" cy="1005840"/>
          </a:xfrm>
          <a:prstGeom prst="roundRect">
            <a:avLst>
              <a:gd name="adj" fmla="val 7273"/>
            </a:avLst>
          </a:prstGeom>
          <a:solidFill>
            <a:srgbClr val="0F6F66"/>
          </a:solidFill>
          <a:ln/>
          <a:effectLst>
            <a:outerShdw sx="100000" sy="100000" kx="0" ky="0" algn="bl" rotWithShape="0" blurRad="63500" dist="25400" dir="5400000">
              <a:srgbClr val="0F2233">
                <a:alpha val="10000"/>
              </a:srgbClr>
            </a:outerShdw>
          </a:effectLst>
        </p:spPr>
      </p:sp>
      <p:sp>
        <p:nvSpPr>
          <p:cNvPr id="20" name="Text 17"/>
          <p:cNvSpPr/>
          <p:nvPr/>
        </p:nvSpPr>
        <p:spPr>
          <a:xfrm>
            <a:off x="7406640" y="1847088"/>
            <a:ext cx="1143000" cy="3200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Consumers</a:t>
            </a:r>
            <a:endParaRPr lang="en-US" sz="1150" dirty="0"/>
          </a:p>
        </p:txBody>
      </p:sp>
      <p:sp>
        <p:nvSpPr>
          <p:cNvPr id="21" name="Text 18"/>
          <p:cNvSpPr/>
          <p:nvPr/>
        </p:nvSpPr>
        <p:spPr>
          <a:xfrm>
            <a:off x="7406640" y="2194560"/>
            <a:ext cx="1143000" cy="457200"/>
          </a:xfrm>
          <a:prstGeom prst="rect">
            <a:avLst/>
          </a:prstGeom>
          <a:noFill/>
          <a:ln/>
        </p:spPr>
        <p:txBody>
          <a:bodyPr wrap="square" lIns="0" tIns="0" rIns="0" bIns="0" rtlCol="0" anchor="t"/>
          <a:lstStyle/>
          <a:p>
            <a:pPr algn="ctr" indent="0" marL="0">
              <a:buNone/>
            </a:pPr>
            <a:r>
              <a:rPr lang="en-US" sz="880" dirty="0">
                <a:solidFill>
                  <a:srgbClr val="C9D6DF"/>
                </a:solidFill>
                <a:latin typeface="Calibri" pitchFamily="34" charset="0"/>
                <a:ea typeface="Calibri" pitchFamily="34" charset="-122"/>
                <a:cs typeface="Calibri" pitchFamily="34" charset="-120"/>
              </a:rPr>
              <a:t>audit UI,</a:t>
            </a:r>
            <a:endParaRPr lang="en-US" sz="880" dirty="0"/>
          </a:p>
          <a:p>
            <a:pPr algn="ctr" indent="0" marL="0">
              <a:buNone/>
            </a:pPr>
            <a:r>
              <a:rPr lang="en-US" sz="880" dirty="0">
                <a:solidFill>
                  <a:srgbClr val="C9D6DF"/>
                </a:solidFill>
                <a:latin typeface="Calibri" pitchFamily="34" charset="0"/>
                <a:ea typeface="Calibri" pitchFamily="34" charset="-122"/>
                <a:cs typeface="Calibri" pitchFamily="34" charset="-120"/>
              </a:rPr>
              <a:t>regulator export</a:t>
            </a:r>
            <a:endParaRPr lang="en-US" sz="880" dirty="0"/>
          </a:p>
        </p:txBody>
      </p:sp>
      <p:sp>
        <p:nvSpPr>
          <p:cNvPr id="22" name="Shape 19"/>
          <p:cNvSpPr/>
          <p:nvPr/>
        </p:nvSpPr>
        <p:spPr>
          <a:xfrm>
            <a:off x="502920" y="3200400"/>
            <a:ext cx="8138160" cy="1325880"/>
          </a:xfrm>
          <a:prstGeom prst="roundRect">
            <a:avLst>
              <a:gd name="adj" fmla="val 5517"/>
            </a:avLst>
          </a:prstGeom>
          <a:solidFill>
            <a:srgbClr val="F1F5F9"/>
          </a:solidFill>
          <a:ln/>
        </p:spPr>
      </p:sp>
      <p:sp>
        <p:nvSpPr>
          <p:cNvPr id="23" name="Text 20"/>
          <p:cNvSpPr/>
          <p:nvPr/>
        </p:nvSpPr>
        <p:spPr>
          <a:xfrm>
            <a:off x="685800" y="3291840"/>
            <a:ext cx="7772400" cy="292608"/>
          </a:xfrm>
          <a:prstGeom prst="rect">
            <a:avLst/>
          </a:prstGeom>
          <a:noFill/>
          <a:ln/>
        </p:spPr>
        <p:txBody>
          <a:bodyPr wrap="square" lIns="0" tIns="0" rIns="0" bIns="0" rtlCol="0" anchor="ctr"/>
          <a:lstStyle/>
          <a:p>
            <a:pPr indent="0" marL="0">
              <a:buNone/>
            </a:pPr>
            <a:r>
              <a:rPr lang="en-US" sz="1200" b="1" dirty="0">
                <a:solidFill>
                  <a:srgbClr val="0F2233"/>
                </a:solidFill>
                <a:latin typeface="Calibri" pitchFamily="34" charset="0"/>
                <a:ea typeface="Calibri" pitchFamily="34" charset="-122"/>
                <a:cs typeface="Calibri" pitchFamily="34" charset="-120"/>
              </a:rPr>
              <a:t>Properties to enforce</a:t>
            </a:r>
            <a:endParaRPr lang="en-US" sz="1200" dirty="0"/>
          </a:p>
        </p:txBody>
      </p:sp>
      <p:sp>
        <p:nvSpPr>
          <p:cNvPr id="24" name="Text 21"/>
          <p:cNvSpPr/>
          <p:nvPr/>
        </p:nvSpPr>
        <p:spPr>
          <a:xfrm>
            <a:off x="685800" y="3639312"/>
            <a:ext cx="1920240" cy="822960"/>
          </a:xfrm>
          <a:prstGeom prst="rect">
            <a:avLst/>
          </a:prstGeom>
          <a:noFill/>
          <a:ln/>
        </p:spPr>
        <p:txBody>
          <a:bodyPr wrap="square" lIns="0" tIns="0" rIns="0" bIns="0" rtlCol="0" anchor="t"/>
          <a:lstStyle/>
          <a:p>
            <a:pPr indent="0" marL="0">
              <a:buNone/>
            </a:pPr>
            <a:r>
              <a:rPr lang="en-US" sz="1000" b="1" dirty="0">
                <a:solidFill>
                  <a:srgbClr val="0D9488"/>
                </a:solidFill>
                <a:latin typeface="Calibri" pitchFamily="34" charset="0"/>
                <a:ea typeface="Calibri" pitchFamily="34" charset="-122"/>
                <a:cs typeface="Calibri" pitchFamily="34" charset="-120"/>
              </a:rPr>
              <a:t>Complete  </a:t>
            </a:r>
            <a:pPr indent="0" marL="0">
              <a:buNone/>
            </a:pPr>
            <a:r>
              <a:rPr lang="en-US" sz="1000" dirty="0">
                <a:solidFill>
                  <a:srgbClr val="334155"/>
                </a:solidFill>
                <a:latin typeface="Calibri" pitchFamily="34" charset="0"/>
                <a:ea typeface="Calibri" pitchFamily="34" charset="-122"/>
                <a:cs typeface="Calibri" pitchFamily="34" charset="-120"/>
              </a:rPr>
              <a:t>every decision, no sampling</a:t>
            </a:r>
            <a:endParaRPr lang="en-US" sz="1000" dirty="0"/>
          </a:p>
        </p:txBody>
      </p:sp>
      <p:sp>
        <p:nvSpPr>
          <p:cNvPr id="25" name="Text 22"/>
          <p:cNvSpPr/>
          <p:nvPr/>
        </p:nvSpPr>
        <p:spPr>
          <a:xfrm>
            <a:off x="2651760" y="3639312"/>
            <a:ext cx="1920240" cy="822960"/>
          </a:xfrm>
          <a:prstGeom prst="rect">
            <a:avLst/>
          </a:prstGeom>
          <a:noFill/>
          <a:ln/>
        </p:spPr>
        <p:txBody>
          <a:bodyPr wrap="square" lIns="0" tIns="0" rIns="0" bIns="0" rtlCol="0" anchor="t"/>
          <a:lstStyle/>
          <a:p>
            <a:pPr indent="0" marL="0">
              <a:buNone/>
            </a:pPr>
            <a:r>
              <a:rPr lang="en-US" sz="1000" b="1" dirty="0">
                <a:solidFill>
                  <a:srgbClr val="0D9488"/>
                </a:solidFill>
                <a:latin typeface="Calibri" pitchFamily="34" charset="0"/>
                <a:ea typeface="Calibri" pitchFamily="34" charset="-122"/>
                <a:cs typeface="Calibri" pitchFamily="34" charset="-120"/>
              </a:rPr>
              <a:t>Immutable  </a:t>
            </a:r>
            <a:pPr indent="0" marL="0">
              <a:buNone/>
            </a:pPr>
            <a:r>
              <a:rPr lang="en-US" sz="1000" dirty="0">
                <a:solidFill>
                  <a:srgbClr val="334155"/>
                </a:solidFill>
                <a:latin typeface="Calibri" pitchFamily="34" charset="0"/>
                <a:ea typeface="Calibri" pitchFamily="34" charset="-122"/>
                <a:cs typeface="Calibri" pitchFamily="34" charset="-120"/>
              </a:rPr>
              <a:t>append-only, hash-chained</a:t>
            </a:r>
            <a:endParaRPr lang="en-US" sz="1000" dirty="0"/>
          </a:p>
        </p:txBody>
      </p:sp>
      <p:sp>
        <p:nvSpPr>
          <p:cNvPr id="26" name="Text 23"/>
          <p:cNvSpPr/>
          <p:nvPr/>
        </p:nvSpPr>
        <p:spPr>
          <a:xfrm>
            <a:off x="4617720" y="3639312"/>
            <a:ext cx="1920240" cy="822960"/>
          </a:xfrm>
          <a:prstGeom prst="rect">
            <a:avLst/>
          </a:prstGeom>
          <a:noFill/>
          <a:ln/>
        </p:spPr>
        <p:txBody>
          <a:bodyPr wrap="square" lIns="0" tIns="0" rIns="0" bIns="0" rtlCol="0" anchor="t"/>
          <a:lstStyle/>
          <a:p>
            <a:pPr indent="0" marL="0">
              <a:buNone/>
            </a:pPr>
            <a:r>
              <a:rPr lang="en-US" sz="1000" b="1" dirty="0">
                <a:solidFill>
                  <a:srgbClr val="0D9488"/>
                </a:solidFill>
                <a:latin typeface="Calibri" pitchFamily="34" charset="0"/>
                <a:ea typeface="Calibri" pitchFamily="34" charset="-122"/>
                <a:cs typeface="Calibri" pitchFamily="34" charset="-120"/>
              </a:rPr>
              <a:t>Attributable  </a:t>
            </a:r>
            <a:pPr indent="0" marL="0">
              <a:buNone/>
            </a:pPr>
            <a:r>
              <a:rPr lang="en-US" sz="1000" dirty="0">
                <a:solidFill>
                  <a:srgbClr val="334155"/>
                </a:solidFill>
                <a:latin typeface="Calibri" pitchFamily="34" charset="0"/>
                <a:ea typeface="Calibri" pitchFamily="34" charset="-122"/>
                <a:cs typeface="Calibri" pitchFamily="34" charset="-120"/>
              </a:rPr>
              <a:t>actor, agent, version</a:t>
            </a:r>
            <a:endParaRPr lang="en-US" sz="1000" dirty="0"/>
          </a:p>
        </p:txBody>
      </p:sp>
      <p:sp>
        <p:nvSpPr>
          <p:cNvPr id="27" name="Text 24"/>
          <p:cNvSpPr/>
          <p:nvPr/>
        </p:nvSpPr>
        <p:spPr>
          <a:xfrm>
            <a:off x="6583680" y="3639312"/>
            <a:ext cx="1920240" cy="822960"/>
          </a:xfrm>
          <a:prstGeom prst="rect">
            <a:avLst/>
          </a:prstGeom>
          <a:noFill/>
          <a:ln/>
        </p:spPr>
        <p:txBody>
          <a:bodyPr wrap="square" lIns="0" tIns="0" rIns="0" bIns="0" rtlCol="0" anchor="t"/>
          <a:lstStyle/>
          <a:p>
            <a:pPr indent="0" marL="0">
              <a:buNone/>
            </a:pPr>
            <a:r>
              <a:rPr lang="en-US" sz="1000" b="1" dirty="0">
                <a:solidFill>
                  <a:srgbClr val="0D9488"/>
                </a:solidFill>
                <a:latin typeface="Calibri" pitchFamily="34" charset="0"/>
                <a:ea typeface="Calibri" pitchFamily="34" charset="-122"/>
                <a:cs typeface="Calibri" pitchFamily="34" charset="-120"/>
              </a:rPr>
              <a:t>Private  </a:t>
            </a:r>
            <a:pPr indent="0" marL="0">
              <a:buNone/>
            </a:pPr>
            <a:r>
              <a:rPr lang="en-US" sz="1000" dirty="0">
                <a:solidFill>
                  <a:srgbClr val="334155"/>
                </a:solidFill>
                <a:latin typeface="Calibri" pitchFamily="34" charset="0"/>
                <a:ea typeface="Calibri" pitchFamily="34" charset="-122"/>
                <a:cs typeface="Calibri" pitchFamily="34" charset="-120"/>
              </a:rPr>
              <a:t>redacted; access-controlled</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E2A3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309360" y="-365760"/>
            <a:ext cx="3840480" cy="3840480"/>
          </a:xfrm>
          <a:prstGeom prst="rect">
            <a:avLst/>
          </a:prstGeom>
        </p:spPr>
      </p:pic>
      <p:sp>
        <p:nvSpPr>
          <p:cNvPr id="3" name="Shape 0"/>
          <p:cNvSpPr/>
          <p:nvPr/>
        </p:nvSpPr>
        <p:spPr>
          <a:xfrm>
            <a:off x="6309360" y="-365760"/>
            <a:ext cx="3840480" cy="3840480"/>
          </a:xfrm>
          <a:prstGeom prst="rect">
            <a:avLst/>
          </a:prstGeom>
          <a:solidFill>
            <a:srgbClr val="0E2A3B">
              <a:alpha val="78000"/>
            </a:srgbClr>
          </a:solidFill>
          <a:ln/>
        </p:spPr>
      </p:sp>
      <p:sp>
        <p:nvSpPr>
          <p:cNvPr id="4" name="Shape 1"/>
          <p:cNvSpPr/>
          <p:nvPr/>
        </p:nvSpPr>
        <p:spPr>
          <a:xfrm>
            <a:off x="640080" y="1371600"/>
            <a:ext cx="914400" cy="914400"/>
          </a:xfrm>
          <a:prstGeom prst="ellipse">
            <a:avLst/>
          </a:prstGeom>
          <a:solidFill>
            <a:srgbClr val="0D9488"/>
          </a:solidFill>
          <a:ln/>
        </p:spPr>
      </p:sp>
      <p:pic>
        <p:nvPicPr>
          <p:cNvPr id="5" name="Image 1" descr="preencoded.png">    </p:cNvPr>
          <p:cNvPicPr>
            <a:picLocks noChangeAspect="1"/>
          </p:cNvPicPr>
          <p:nvPr/>
        </p:nvPicPr>
        <p:blipFill>
          <a:blip r:embed="rId2"/>
          <a:stretch>
            <a:fillRect/>
          </a:stretch>
        </p:blipFill>
        <p:spPr>
          <a:xfrm>
            <a:off x="886968" y="1618488"/>
            <a:ext cx="420624" cy="420624"/>
          </a:xfrm>
          <a:prstGeom prst="rect">
            <a:avLst/>
          </a:prstGeom>
        </p:spPr>
      </p:pic>
      <p:sp>
        <p:nvSpPr>
          <p:cNvPr id="6" name="Text 2"/>
          <p:cNvSpPr/>
          <p:nvPr/>
        </p:nvSpPr>
        <p:spPr>
          <a:xfrm>
            <a:off x="685800" y="2468880"/>
            <a:ext cx="7315200" cy="365760"/>
          </a:xfrm>
          <a:prstGeom prst="rect">
            <a:avLst/>
          </a:prstGeom>
          <a:noFill/>
          <a:ln/>
        </p:spPr>
        <p:txBody>
          <a:bodyPr wrap="square" lIns="0" tIns="0" rIns="0" bIns="0" rtlCol="0" anchor="ctr"/>
          <a:lstStyle/>
          <a:p>
            <a:pPr indent="0" marL="0">
              <a:buNone/>
            </a:pPr>
            <a:r>
              <a:rPr lang="en-US" sz="1400" b="1" spc="300" kern="0" dirty="0">
                <a:solidFill>
                  <a:srgbClr val="5EEAD4"/>
                </a:solidFill>
                <a:latin typeface="Calibri" pitchFamily="34" charset="0"/>
                <a:ea typeface="Calibri" pitchFamily="34" charset="-122"/>
                <a:cs typeface="Calibri" pitchFamily="34" charset="-120"/>
              </a:rPr>
              <a:t>MODULE 3 · HOURS 4:30–5:30</a:t>
            </a:r>
            <a:endParaRPr lang="en-US" sz="1400" dirty="0"/>
          </a:p>
        </p:txBody>
      </p:sp>
      <p:sp>
        <p:nvSpPr>
          <p:cNvPr id="7" name="Text 3"/>
          <p:cNvSpPr/>
          <p:nvPr/>
        </p:nvSpPr>
        <p:spPr>
          <a:xfrm>
            <a:off x="640080" y="2788920"/>
            <a:ext cx="804672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Multi-Agent Architecture</a:t>
            </a:r>
            <a:endParaRPr lang="en-US" sz="3800" dirty="0"/>
          </a:p>
        </p:txBody>
      </p:sp>
      <p:sp>
        <p:nvSpPr>
          <p:cNvPr id="8" name="Text 4"/>
          <p:cNvSpPr/>
          <p:nvPr/>
        </p:nvSpPr>
        <p:spPr>
          <a:xfrm>
            <a:off x="685800" y="3794760"/>
            <a:ext cx="7863840" cy="640080"/>
          </a:xfrm>
          <a:prstGeom prst="rect">
            <a:avLst/>
          </a:prstGeom>
          <a:noFill/>
          <a:ln/>
        </p:spPr>
        <p:txBody>
          <a:bodyPr wrap="square" lIns="0" tIns="0" rIns="0" bIns="0" rtlCol="0" anchor="ctr"/>
          <a:lstStyle/>
          <a:p>
            <a:pPr indent="0" marL="0">
              <a:buNone/>
            </a:pPr>
            <a:r>
              <a:rPr lang="en-US" sz="1400" dirty="0">
                <a:solidFill>
                  <a:srgbClr val="C9D6DF"/>
                </a:solidFill>
                <a:latin typeface="Calibri" pitchFamily="34" charset="0"/>
                <a:ea typeface="Calibri" pitchFamily="34" charset="-122"/>
                <a:cs typeface="Calibri" pitchFamily="34" charset="-120"/>
              </a:rPr>
              <a:t>When and how to split one agent into many — orchestration patterns, agent contracts, failure handling and the cost/latency levers that keep it affordable.</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29</a:t>
            </a:r>
            <a:endParaRPr lang="en-US" sz="850" dirty="0"/>
          </a:p>
        </p:txBody>
      </p:sp>
      <p:sp>
        <p:nvSpPr>
          <p:cNvPr id="4" name="Shape 2"/>
          <p:cNvSpPr/>
          <p:nvPr/>
        </p:nvSpPr>
        <p:spPr>
          <a:xfrm>
            <a:off x="457200" y="384048"/>
            <a:ext cx="566928" cy="566928"/>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Single Agent or Many?</a:t>
            </a:r>
            <a:endParaRPr lang="en-US" sz="2600" dirty="0"/>
          </a:p>
        </p:txBody>
      </p:sp>
      <p:sp>
        <p:nvSpPr>
          <p:cNvPr id="7" name="Shape 4"/>
          <p:cNvSpPr/>
          <p:nvPr/>
        </p:nvSpPr>
        <p:spPr>
          <a:xfrm>
            <a:off x="457200" y="1371600"/>
            <a:ext cx="4069080" cy="3246120"/>
          </a:xfrm>
          <a:prstGeom prst="roundRect">
            <a:avLst>
              <a:gd name="adj" fmla="val 2254"/>
            </a:avLst>
          </a:prstGeom>
          <a:solidFill>
            <a:srgbClr val="F1F5F9"/>
          </a:solidFill>
          <a:ln/>
          <a:effectLst>
            <a:outerShdw sx="100000" sy="100000" kx="0" ky="0" algn="bl" rotWithShape="0" blurRad="63500" dist="25400" dir="5400000">
              <a:srgbClr val="0F2233">
                <a:alpha val="10000"/>
              </a:srgbClr>
            </a:outerShdw>
          </a:effectLst>
        </p:spPr>
      </p:sp>
      <p:sp>
        <p:nvSpPr>
          <p:cNvPr id="8" name="Text 5"/>
          <p:cNvSpPr/>
          <p:nvPr/>
        </p:nvSpPr>
        <p:spPr>
          <a:xfrm>
            <a:off x="658368" y="1481328"/>
            <a:ext cx="3657600" cy="320040"/>
          </a:xfrm>
          <a:prstGeom prst="rect">
            <a:avLst/>
          </a:prstGeom>
          <a:noFill/>
          <a:ln/>
        </p:spPr>
        <p:txBody>
          <a:bodyPr wrap="square" lIns="0" tIns="0" rIns="0" bIns="0" rtlCol="0" anchor="ctr"/>
          <a:lstStyle/>
          <a:p>
            <a:pPr indent="0" marL="0">
              <a:buNone/>
            </a:pPr>
            <a:r>
              <a:rPr lang="en-US" sz="1500" b="1" dirty="0">
                <a:solidFill>
                  <a:srgbClr val="0D9488"/>
                </a:solidFill>
                <a:latin typeface="Cambria" pitchFamily="34" charset="0"/>
                <a:ea typeface="Cambria" pitchFamily="34" charset="-122"/>
                <a:cs typeface="Cambria" pitchFamily="34" charset="-120"/>
              </a:rPr>
              <a:t>Stay single when…</a:t>
            </a:r>
            <a:endParaRPr lang="en-US" sz="1500" dirty="0"/>
          </a:p>
        </p:txBody>
      </p:sp>
      <p:sp>
        <p:nvSpPr>
          <p:cNvPr id="9" name="Text 6"/>
          <p:cNvSpPr/>
          <p:nvPr/>
        </p:nvSpPr>
        <p:spPr>
          <a:xfrm>
            <a:off x="658368" y="1874520"/>
            <a:ext cx="3657600" cy="2651760"/>
          </a:xfrm>
          <a:prstGeom prst="rect">
            <a:avLst/>
          </a:prstGeom>
          <a:noFill/>
          <a:ln/>
        </p:spPr>
        <p:txBody>
          <a:bodyPr wrap="square" lIns="0" tIns="0" rIns="0" bIns="0" rtlCol="0" anchor="t"/>
          <a:lstStyle/>
          <a:p>
            <a:pPr marL="177800" indent="-177800">
              <a:spcAft>
                <a:spcPts val="1000"/>
              </a:spcAft>
              <a:buSzPct val="100000"/>
              <a:buChar char="•"/>
            </a:pPr>
            <a:r>
              <a:rPr lang="en-US" sz="1250" dirty="0">
                <a:solidFill>
                  <a:srgbClr val="334155"/>
                </a:solidFill>
                <a:latin typeface="Calibri" pitchFamily="34" charset="0"/>
                <a:ea typeface="Calibri" pitchFamily="34" charset="-122"/>
                <a:cs typeface="Calibri" pitchFamily="34" charset="-120"/>
              </a:rPr>
              <a:t>The task is one cohesive job</a:t>
            </a:r>
            <a:endParaRPr lang="en-US" sz="1250" dirty="0"/>
          </a:p>
          <a:p>
            <a:pPr marL="177800" indent="-177800">
              <a:spcAft>
                <a:spcPts val="1000"/>
              </a:spcAft>
              <a:buSzPct val="100000"/>
              <a:buChar char="•"/>
            </a:pPr>
            <a:r>
              <a:rPr lang="en-US" sz="1250" dirty="0">
                <a:solidFill>
                  <a:srgbClr val="334155"/>
                </a:solidFill>
                <a:latin typeface="Calibri" pitchFamily="34" charset="0"/>
                <a:ea typeface="Calibri" pitchFamily="34" charset="-122"/>
                <a:cs typeface="Calibri" pitchFamily="34" charset="-120"/>
              </a:rPr>
              <a:t>Tools are few and related</a:t>
            </a:r>
            <a:endParaRPr lang="en-US" sz="1250" dirty="0"/>
          </a:p>
          <a:p>
            <a:pPr marL="177800" indent="-177800">
              <a:spcAft>
                <a:spcPts val="1000"/>
              </a:spcAft>
              <a:buSzPct val="100000"/>
              <a:buChar char="•"/>
            </a:pPr>
            <a:r>
              <a:rPr lang="en-US" sz="1250" dirty="0">
                <a:solidFill>
                  <a:srgbClr val="334155"/>
                </a:solidFill>
                <a:latin typeface="Calibri" pitchFamily="34" charset="0"/>
                <a:ea typeface="Calibri" pitchFamily="34" charset="-122"/>
                <a:cs typeface="Calibri" pitchFamily="34" charset="-120"/>
              </a:rPr>
              <a:t>Latency budget is tight</a:t>
            </a:r>
            <a:endParaRPr lang="en-US" sz="1250" dirty="0"/>
          </a:p>
          <a:p>
            <a:pPr marL="177800" indent="-177800">
              <a:spcAft>
                <a:spcPts val="1000"/>
              </a:spcAft>
              <a:buSzPct val="100000"/>
              <a:buChar char="•"/>
            </a:pPr>
            <a:r>
              <a:rPr lang="en-US" sz="1250" dirty="0">
                <a:solidFill>
                  <a:srgbClr val="334155"/>
                </a:solidFill>
                <a:latin typeface="Calibri" pitchFamily="34" charset="0"/>
                <a:ea typeface="Calibri" pitchFamily="34" charset="-122"/>
                <a:cs typeface="Calibri" pitchFamily="34" charset="-120"/>
              </a:rPr>
              <a:t>One prompt stays readable</a:t>
            </a:r>
            <a:endParaRPr lang="en-US" sz="1250" dirty="0"/>
          </a:p>
          <a:p>
            <a:pPr marL="177800" indent="-177800">
              <a:spcAft>
                <a:spcPts val="1000"/>
              </a:spcAft>
              <a:buSzPct val="100000"/>
              <a:buChar char="•"/>
            </a:pPr>
            <a:r>
              <a:rPr lang="en-US" sz="1250" dirty="0">
                <a:solidFill>
                  <a:srgbClr val="334155"/>
                </a:solidFill>
                <a:latin typeface="Calibri" pitchFamily="34" charset="0"/>
                <a:ea typeface="Calibri" pitchFamily="34" charset="-122"/>
                <a:cs typeface="Calibri" pitchFamily="34" charset="-120"/>
              </a:rPr>
              <a:t>You can debug it in your head</a:t>
            </a:r>
            <a:endParaRPr lang="en-US" sz="1250" dirty="0"/>
          </a:p>
        </p:txBody>
      </p:sp>
      <p:sp>
        <p:nvSpPr>
          <p:cNvPr id="10" name="Shape 7"/>
          <p:cNvSpPr/>
          <p:nvPr/>
        </p:nvSpPr>
        <p:spPr>
          <a:xfrm>
            <a:off x="4617720" y="1371600"/>
            <a:ext cx="4069080" cy="3246120"/>
          </a:xfrm>
          <a:prstGeom prst="roundRect">
            <a:avLst>
              <a:gd name="adj" fmla="val 2254"/>
            </a:avLst>
          </a:prstGeom>
          <a:solidFill>
            <a:srgbClr val="0E2A3B"/>
          </a:solidFill>
          <a:ln/>
          <a:effectLst>
            <a:outerShdw sx="100000" sy="100000" kx="0" ky="0" algn="bl" rotWithShape="0" blurRad="63500" dist="25400" dir="5400000">
              <a:srgbClr val="0F2233">
                <a:alpha val="10000"/>
              </a:srgbClr>
            </a:outerShdw>
          </a:effectLst>
        </p:spPr>
      </p:sp>
      <p:sp>
        <p:nvSpPr>
          <p:cNvPr id="11" name="Text 8"/>
          <p:cNvSpPr/>
          <p:nvPr/>
        </p:nvSpPr>
        <p:spPr>
          <a:xfrm>
            <a:off x="4818888" y="1481328"/>
            <a:ext cx="3657600" cy="320040"/>
          </a:xfrm>
          <a:prstGeom prst="rect">
            <a:avLst/>
          </a:prstGeom>
          <a:noFill/>
          <a:ln/>
        </p:spPr>
        <p:txBody>
          <a:bodyPr wrap="square" lIns="0" tIns="0" rIns="0" bIns="0" rtlCol="0" anchor="ctr"/>
          <a:lstStyle/>
          <a:p>
            <a:pPr indent="0" marL="0">
              <a:buNone/>
            </a:pPr>
            <a:r>
              <a:rPr lang="en-US" sz="1500" b="1" dirty="0">
                <a:solidFill>
                  <a:srgbClr val="5EEAD4"/>
                </a:solidFill>
                <a:latin typeface="Cambria" pitchFamily="34" charset="0"/>
                <a:ea typeface="Cambria" pitchFamily="34" charset="-122"/>
                <a:cs typeface="Cambria" pitchFamily="34" charset="-120"/>
              </a:rPr>
              <a:t>Split into agents when…</a:t>
            </a:r>
            <a:endParaRPr lang="en-US" sz="1500" dirty="0"/>
          </a:p>
        </p:txBody>
      </p:sp>
      <p:sp>
        <p:nvSpPr>
          <p:cNvPr id="12" name="Text 9"/>
          <p:cNvSpPr/>
          <p:nvPr/>
        </p:nvSpPr>
        <p:spPr>
          <a:xfrm>
            <a:off x="4818888" y="1874520"/>
            <a:ext cx="3657600" cy="2651760"/>
          </a:xfrm>
          <a:prstGeom prst="rect">
            <a:avLst/>
          </a:prstGeom>
          <a:noFill/>
          <a:ln/>
        </p:spPr>
        <p:txBody>
          <a:bodyPr wrap="square" lIns="0" tIns="0" rIns="0" bIns="0" rtlCol="0" anchor="t"/>
          <a:lstStyle/>
          <a:p>
            <a:pPr marL="165100" indent="-165100">
              <a:spcAft>
                <a:spcPts val="1000"/>
              </a:spcAft>
              <a:buSzPct val="100000"/>
              <a:buChar char="•"/>
            </a:pPr>
            <a:r>
              <a:rPr lang="en-US" sz="1250" dirty="0">
                <a:solidFill>
                  <a:srgbClr val="DCEAE6"/>
                </a:solidFill>
                <a:latin typeface="Calibri" pitchFamily="34" charset="0"/>
                <a:ea typeface="Calibri" pitchFamily="34" charset="-122"/>
                <a:cs typeface="Calibri" pitchFamily="34" charset="-120"/>
              </a:rPr>
              <a:t>Distinct skills / personas (research vs writing)</a:t>
            </a:r>
            <a:endParaRPr lang="en-US" sz="1250" dirty="0"/>
          </a:p>
          <a:p>
            <a:pPr marL="165100" indent="-165100">
              <a:spcAft>
                <a:spcPts val="1000"/>
              </a:spcAft>
              <a:buSzPct val="100000"/>
              <a:buChar char="•"/>
            </a:pPr>
            <a:r>
              <a:rPr lang="en-US" sz="1250" dirty="0">
                <a:solidFill>
                  <a:srgbClr val="DCEAE6"/>
                </a:solidFill>
                <a:latin typeface="Calibri" pitchFamily="34" charset="0"/>
                <a:ea typeface="Calibri" pitchFamily="34" charset="-122"/>
                <a:cs typeface="Calibri" pitchFamily="34" charset="-120"/>
              </a:rPr>
              <a:t>Different models or tools per step</a:t>
            </a:r>
            <a:endParaRPr lang="en-US" sz="1250" dirty="0"/>
          </a:p>
          <a:p>
            <a:pPr marL="165100" indent="-165100">
              <a:spcAft>
                <a:spcPts val="1000"/>
              </a:spcAft>
              <a:buSzPct val="100000"/>
              <a:buChar char="•"/>
            </a:pPr>
            <a:r>
              <a:rPr lang="en-US" sz="1250" dirty="0">
                <a:solidFill>
                  <a:srgbClr val="DCEAE6"/>
                </a:solidFill>
                <a:latin typeface="Calibri" pitchFamily="34" charset="0"/>
                <a:ea typeface="Calibri" pitchFamily="34" charset="-122"/>
                <a:cs typeface="Calibri" pitchFamily="34" charset="-120"/>
              </a:rPr>
              <a:t>Steps need independent guardrails</a:t>
            </a:r>
            <a:endParaRPr lang="en-US" sz="1250" dirty="0"/>
          </a:p>
          <a:p>
            <a:pPr marL="165100" indent="-165100">
              <a:spcAft>
                <a:spcPts val="1000"/>
              </a:spcAft>
              <a:buSzPct val="100000"/>
              <a:buChar char="•"/>
            </a:pPr>
            <a:r>
              <a:rPr lang="en-US" sz="1250" dirty="0">
                <a:solidFill>
                  <a:srgbClr val="DCEAE6"/>
                </a:solidFill>
                <a:latin typeface="Calibri" pitchFamily="34" charset="0"/>
                <a:ea typeface="Calibri" pitchFamily="34" charset="-122"/>
                <a:cs typeface="Calibri" pitchFamily="34" charset="-120"/>
              </a:rPr>
              <a:t>Parallelisable sub-tasks</a:t>
            </a:r>
            <a:endParaRPr lang="en-US" sz="1250" dirty="0"/>
          </a:p>
          <a:p>
            <a:pPr marL="165100" indent="-165100">
              <a:spcAft>
                <a:spcPts val="1000"/>
              </a:spcAft>
              <a:buSzPct val="100000"/>
              <a:buChar char="•"/>
            </a:pPr>
            <a:r>
              <a:rPr lang="en-US" sz="1250" dirty="0">
                <a:solidFill>
                  <a:srgbClr val="DCEAE6"/>
                </a:solidFill>
                <a:latin typeface="Calibri" pitchFamily="34" charset="0"/>
                <a:ea typeface="Calibri" pitchFamily="34" charset="-122"/>
                <a:cs typeface="Calibri" pitchFamily="34" charset="-120"/>
              </a:rPr>
              <a:t>Separate teams own separate stages</a:t>
            </a:r>
            <a:endParaRPr lang="en-US" sz="1250" dirty="0"/>
          </a:p>
        </p:txBody>
      </p:sp>
      <p:sp>
        <p:nvSpPr>
          <p:cNvPr id="13" name="Text 10"/>
          <p:cNvSpPr/>
          <p:nvPr/>
        </p:nvSpPr>
        <p:spPr>
          <a:xfrm>
            <a:off x="457200" y="4681728"/>
            <a:ext cx="8229600" cy="27432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Cost of going multi-agent: more latency, more failure modes, more to observe. Earn it.</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30</a:t>
            </a:r>
            <a:endParaRPr lang="en-US" sz="850" dirty="0"/>
          </a:p>
        </p:txBody>
      </p:sp>
      <p:sp>
        <p:nvSpPr>
          <p:cNvPr id="4" name="Shape 2"/>
          <p:cNvSpPr/>
          <p:nvPr/>
        </p:nvSpPr>
        <p:spPr>
          <a:xfrm>
            <a:off x="457200" y="384048"/>
            <a:ext cx="566928" cy="566928"/>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Orchestration Patterns</a:t>
            </a:r>
            <a:endParaRPr lang="en-US" sz="2600" dirty="0"/>
          </a:p>
        </p:txBody>
      </p:sp>
      <p:sp>
        <p:nvSpPr>
          <p:cNvPr id="7" name="Shape 4"/>
          <p:cNvSpPr/>
          <p:nvPr/>
        </p:nvSpPr>
        <p:spPr>
          <a:xfrm>
            <a:off x="457200" y="1371600"/>
            <a:ext cx="4069080" cy="1481328"/>
          </a:xfrm>
          <a:prstGeom prst="roundRect">
            <a:avLst>
              <a:gd name="adj" fmla="val 4938"/>
            </a:avLst>
          </a:prstGeom>
          <a:solidFill>
            <a:srgbClr val="FFFFFF"/>
          </a:solidFill>
          <a:ln/>
          <a:effectLst>
            <a:outerShdw sx="100000" sy="100000" kx="0" ky="0" algn="bl" rotWithShape="0" blurRad="63500" dist="25400" dir="5400000">
              <a:srgbClr val="0F2233">
                <a:alpha val="10000"/>
              </a:srgbClr>
            </a:outerShdw>
          </a:effectLst>
        </p:spPr>
      </p:sp>
      <p:sp>
        <p:nvSpPr>
          <p:cNvPr id="8" name="Shape 5"/>
          <p:cNvSpPr/>
          <p:nvPr/>
        </p:nvSpPr>
        <p:spPr>
          <a:xfrm>
            <a:off x="685800" y="1627632"/>
            <a:ext cx="640080" cy="640080"/>
          </a:xfrm>
          <a:prstGeom prst="ellipse">
            <a:avLst/>
          </a:prstGeom>
          <a:solidFill>
            <a:srgbClr val="0D9488"/>
          </a:solidFill>
          <a:ln/>
        </p:spPr>
      </p:sp>
      <p:pic>
        <p:nvPicPr>
          <p:cNvPr id="9" name="Image 1" descr="preencoded.png">    </p:cNvPr>
          <p:cNvPicPr>
            <a:picLocks noChangeAspect="1"/>
          </p:cNvPicPr>
          <p:nvPr/>
        </p:nvPicPr>
        <p:blipFill>
          <a:blip r:embed="rId2"/>
          <a:stretch>
            <a:fillRect/>
          </a:stretch>
        </p:blipFill>
        <p:spPr>
          <a:xfrm>
            <a:off x="858622" y="1800454"/>
            <a:ext cx="294437" cy="294437"/>
          </a:xfrm>
          <a:prstGeom prst="rect">
            <a:avLst/>
          </a:prstGeom>
        </p:spPr>
      </p:pic>
      <p:sp>
        <p:nvSpPr>
          <p:cNvPr id="10" name="Text 6"/>
          <p:cNvSpPr/>
          <p:nvPr/>
        </p:nvSpPr>
        <p:spPr>
          <a:xfrm>
            <a:off x="1463040" y="1609344"/>
            <a:ext cx="2971800" cy="365760"/>
          </a:xfrm>
          <a:prstGeom prst="rect">
            <a:avLst/>
          </a:prstGeom>
          <a:noFill/>
          <a:ln/>
        </p:spPr>
        <p:txBody>
          <a:bodyPr wrap="square" lIns="0" tIns="0" rIns="0" bIns="0" rtlCol="0" anchor="ctr"/>
          <a:lstStyle/>
          <a:p>
            <a:pPr indent="0" marL="0">
              <a:buNone/>
            </a:pPr>
            <a:r>
              <a:rPr lang="en-US" sz="1600" b="1" dirty="0">
                <a:solidFill>
                  <a:srgbClr val="0F2233"/>
                </a:solidFill>
                <a:latin typeface="Cambria" pitchFamily="34" charset="0"/>
                <a:ea typeface="Cambria" pitchFamily="34" charset="-122"/>
                <a:cs typeface="Cambria" pitchFamily="34" charset="-120"/>
              </a:rPr>
              <a:t>Pipeline</a:t>
            </a:r>
            <a:endParaRPr lang="en-US" sz="1600" dirty="0"/>
          </a:p>
        </p:txBody>
      </p:sp>
      <p:sp>
        <p:nvSpPr>
          <p:cNvPr id="11" name="Text 7"/>
          <p:cNvSpPr/>
          <p:nvPr/>
        </p:nvSpPr>
        <p:spPr>
          <a:xfrm>
            <a:off x="1463040" y="2084832"/>
            <a:ext cx="2880360" cy="68580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Linear hand-off: A → B → C. Simple, debuggable. Our lead-gen base pattern.</a:t>
            </a:r>
            <a:endParaRPr lang="en-US" sz="1100" dirty="0"/>
          </a:p>
        </p:txBody>
      </p:sp>
      <p:sp>
        <p:nvSpPr>
          <p:cNvPr id="12" name="Shape 8"/>
          <p:cNvSpPr/>
          <p:nvPr/>
        </p:nvSpPr>
        <p:spPr>
          <a:xfrm>
            <a:off x="4690872" y="1371600"/>
            <a:ext cx="4069080" cy="1481328"/>
          </a:xfrm>
          <a:prstGeom prst="roundRect">
            <a:avLst>
              <a:gd name="adj" fmla="val 4938"/>
            </a:avLst>
          </a:prstGeom>
          <a:solidFill>
            <a:srgbClr val="FFFFFF"/>
          </a:solidFill>
          <a:ln/>
          <a:effectLst>
            <a:outerShdw sx="100000" sy="100000" kx="0" ky="0" algn="bl" rotWithShape="0" blurRad="63500" dist="25400" dir="5400000">
              <a:srgbClr val="0F2233">
                <a:alpha val="10000"/>
              </a:srgbClr>
            </a:outerShdw>
          </a:effectLst>
        </p:spPr>
      </p:sp>
      <p:sp>
        <p:nvSpPr>
          <p:cNvPr id="13" name="Shape 9"/>
          <p:cNvSpPr/>
          <p:nvPr/>
        </p:nvSpPr>
        <p:spPr>
          <a:xfrm>
            <a:off x="4919472" y="1627632"/>
            <a:ext cx="640080" cy="640080"/>
          </a:xfrm>
          <a:prstGeom prst="ellipse">
            <a:avLst/>
          </a:prstGeom>
          <a:solidFill>
            <a:srgbClr val="F59E0B"/>
          </a:solidFill>
          <a:ln/>
        </p:spPr>
      </p:sp>
      <p:pic>
        <p:nvPicPr>
          <p:cNvPr id="14" name="Image 2" descr="preencoded.png">    </p:cNvPr>
          <p:cNvPicPr>
            <a:picLocks noChangeAspect="1"/>
          </p:cNvPicPr>
          <p:nvPr/>
        </p:nvPicPr>
        <p:blipFill>
          <a:blip r:embed="rId3"/>
          <a:stretch>
            <a:fillRect/>
          </a:stretch>
        </p:blipFill>
        <p:spPr>
          <a:xfrm>
            <a:off x="5092294" y="1800454"/>
            <a:ext cx="294437" cy="294437"/>
          </a:xfrm>
          <a:prstGeom prst="rect">
            <a:avLst/>
          </a:prstGeom>
        </p:spPr>
      </p:pic>
      <p:sp>
        <p:nvSpPr>
          <p:cNvPr id="15" name="Text 10"/>
          <p:cNvSpPr/>
          <p:nvPr/>
        </p:nvSpPr>
        <p:spPr>
          <a:xfrm>
            <a:off x="5696712" y="1609344"/>
            <a:ext cx="2971800" cy="365760"/>
          </a:xfrm>
          <a:prstGeom prst="rect">
            <a:avLst/>
          </a:prstGeom>
          <a:noFill/>
          <a:ln/>
        </p:spPr>
        <p:txBody>
          <a:bodyPr wrap="square" lIns="0" tIns="0" rIns="0" bIns="0" rtlCol="0" anchor="ctr"/>
          <a:lstStyle/>
          <a:p>
            <a:pPr indent="0" marL="0">
              <a:buNone/>
            </a:pPr>
            <a:r>
              <a:rPr lang="en-US" sz="1600" b="1" dirty="0">
                <a:solidFill>
                  <a:srgbClr val="0F2233"/>
                </a:solidFill>
                <a:latin typeface="Cambria" pitchFamily="34" charset="0"/>
                <a:ea typeface="Cambria" pitchFamily="34" charset="-122"/>
                <a:cs typeface="Cambria" pitchFamily="34" charset="-120"/>
              </a:rPr>
              <a:t>Orchestrator-worker</a:t>
            </a:r>
            <a:endParaRPr lang="en-US" sz="1600" dirty="0"/>
          </a:p>
        </p:txBody>
      </p:sp>
      <p:sp>
        <p:nvSpPr>
          <p:cNvPr id="16" name="Text 11"/>
          <p:cNvSpPr/>
          <p:nvPr/>
        </p:nvSpPr>
        <p:spPr>
          <a:xfrm>
            <a:off x="5696712" y="2084832"/>
            <a:ext cx="2880360" cy="68580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A planner delegates sub-tasks to specialised workers, then synthesises.</a:t>
            </a:r>
            <a:endParaRPr lang="en-US" sz="1100" dirty="0"/>
          </a:p>
        </p:txBody>
      </p:sp>
      <p:sp>
        <p:nvSpPr>
          <p:cNvPr id="17" name="Shape 12"/>
          <p:cNvSpPr/>
          <p:nvPr/>
        </p:nvSpPr>
        <p:spPr>
          <a:xfrm>
            <a:off x="457200" y="3035808"/>
            <a:ext cx="4069080" cy="1481328"/>
          </a:xfrm>
          <a:prstGeom prst="roundRect">
            <a:avLst>
              <a:gd name="adj" fmla="val 4938"/>
            </a:avLst>
          </a:prstGeom>
          <a:solidFill>
            <a:srgbClr val="FFFFFF"/>
          </a:solidFill>
          <a:ln/>
          <a:effectLst>
            <a:outerShdw sx="100000" sy="100000" kx="0" ky="0" algn="bl" rotWithShape="0" blurRad="63500" dist="25400" dir="5400000">
              <a:srgbClr val="0F2233">
                <a:alpha val="10000"/>
              </a:srgbClr>
            </a:outerShdw>
          </a:effectLst>
        </p:spPr>
      </p:sp>
      <p:sp>
        <p:nvSpPr>
          <p:cNvPr id="18" name="Shape 13"/>
          <p:cNvSpPr/>
          <p:nvPr/>
        </p:nvSpPr>
        <p:spPr>
          <a:xfrm>
            <a:off x="685800" y="3291840"/>
            <a:ext cx="640080" cy="640080"/>
          </a:xfrm>
          <a:prstGeom prst="ellipse">
            <a:avLst/>
          </a:prstGeom>
          <a:solidFill>
            <a:srgbClr val="0D9488"/>
          </a:solidFill>
          <a:ln/>
        </p:spPr>
      </p:sp>
      <p:pic>
        <p:nvPicPr>
          <p:cNvPr id="19" name="Image 3" descr="preencoded.png">    </p:cNvPr>
          <p:cNvPicPr>
            <a:picLocks noChangeAspect="1"/>
          </p:cNvPicPr>
          <p:nvPr/>
        </p:nvPicPr>
        <p:blipFill>
          <a:blip r:embed="rId4"/>
          <a:stretch>
            <a:fillRect/>
          </a:stretch>
        </p:blipFill>
        <p:spPr>
          <a:xfrm>
            <a:off x="858622" y="3464662"/>
            <a:ext cx="294437" cy="294437"/>
          </a:xfrm>
          <a:prstGeom prst="rect">
            <a:avLst/>
          </a:prstGeom>
        </p:spPr>
      </p:pic>
      <p:sp>
        <p:nvSpPr>
          <p:cNvPr id="20" name="Text 14"/>
          <p:cNvSpPr/>
          <p:nvPr/>
        </p:nvSpPr>
        <p:spPr>
          <a:xfrm>
            <a:off x="1463040" y="3273552"/>
            <a:ext cx="2971800" cy="365760"/>
          </a:xfrm>
          <a:prstGeom prst="rect">
            <a:avLst/>
          </a:prstGeom>
          <a:noFill/>
          <a:ln/>
        </p:spPr>
        <p:txBody>
          <a:bodyPr wrap="square" lIns="0" tIns="0" rIns="0" bIns="0" rtlCol="0" anchor="ctr"/>
          <a:lstStyle/>
          <a:p>
            <a:pPr indent="0" marL="0">
              <a:buNone/>
            </a:pPr>
            <a:r>
              <a:rPr lang="en-US" sz="1600" b="1" dirty="0">
                <a:solidFill>
                  <a:srgbClr val="0F2233"/>
                </a:solidFill>
                <a:latin typeface="Cambria" pitchFamily="34" charset="0"/>
                <a:ea typeface="Cambria" pitchFamily="34" charset="-122"/>
                <a:cs typeface="Cambria" pitchFamily="34" charset="-120"/>
              </a:rPr>
              <a:t>Hierarchical</a:t>
            </a:r>
            <a:endParaRPr lang="en-US" sz="1600" dirty="0"/>
          </a:p>
        </p:txBody>
      </p:sp>
      <p:sp>
        <p:nvSpPr>
          <p:cNvPr id="21" name="Text 15"/>
          <p:cNvSpPr/>
          <p:nvPr/>
        </p:nvSpPr>
        <p:spPr>
          <a:xfrm>
            <a:off x="1463040" y="3749040"/>
            <a:ext cx="2880360" cy="68580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Managers of managers; sub-teams for complex, decomposable goals.</a:t>
            </a:r>
            <a:endParaRPr lang="en-US" sz="1100" dirty="0"/>
          </a:p>
        </p:txBody>
      </p:sp>
      <p:sp>
        <p:nvSpPr>
          <p:cNvPr id="22" name="Shape 16"/>
          <p:cNvSpPr/>
          <p:nvPr/>
        </p:nvSpPr>
        <p:spPr>
          <a:xfrm>
            <a:off x="4690872" y="3035808"/>
            <a:ext cx="4069080" cy="1481328"/>
          </a:xfrm>
          <a:prstGeom prst="roundRect">
            <a:avLst>
              <a:gd name="adj" fmla="val 4938"/>
            </a:avLst>
          </a:prstGeom>
          <a:solidFill>
            <a:srgbClr val="FFFFFF"/>
          </a:solidFill>
          <a:ln/>
          <a:effectLst>
            <a:outerShdw sx="100000" sy="100000" kx="0" ky="0" algn="bl" rotWithShape="0" blurRad="63500" dist="25400" dir="5400000">
              <a:srgbClr val="0F2233">
                <a:alpha val="10000"/>
              </a:srgbClr>
            </a:outerShdw>
          </a:effectLst>
        </p:spPr>
      </p:sp>
      <p:sp>
        <p:nvSpPr>
          <p:cNvPr id="23" name="Shape 17"/>
          <p:cNvSpPr/>
          <p:nvPr/>
        </p:nvSpPr>
        <p:spPr>
          <a:xfrm>
            <a:off x="4919472" y="3291840"/>
            <a:ext cx="640080" cy="640080"/>
          </a:xfrm>
          <a:prstGeom prst="ellipse">
            <a:avLst/>
          </a:prstGeom>
          <a:solidFill>
            <a:srgbClr val="F59E0B"/>
          </a:solidFill>
          <a:ln/>
        </p:spPr>
      </p:sp>
      <p:pic>
        <p:nvPicPr>
          <p:cNvPr id="24" name="Image 4" descr="preencoded.png">    </p:cNvPr>
          <p:cNvPicPr>
            <a:picLocks noChangeAspect="1"/>
          </p:cNvPicPr>
          <p:nvPr/>
        </p:nvPicPr>
        <p:blipFill>
          <a:blip r:embed="rId5"/>
          <a:stretch>
            <a:fillRect/>
          </a:stretch>
        </p:blipFill>
        <p:spPr>
          <a:xfrm>
            <a:off x="5092294" y="3464662"/>
            <a:ext cx="294437" cy="294437"/>
          </a:xfrm>
          <a:prstGeom prst="rect">
            <a:avLst/>
          </a:prstGeom>
        </p:spPr>
      </p:pic>
      <p:sp>
        <p:nvSpPr>
          <p:cNvPr id="25" name="Text 18"/>
          <p:cNvSpPr/>
          <p:nvPr/>
        </p:nvSpPr>
        <p:spPr>
          <a:xfrm>
            <a:off x="5696712" y="3273552"/>
            <a:ext cx="2971800" cy="365760"/>
          </a:xfrm>
          <a:prstGeom prst="rect">
            <a:avLst/>
          </a:prstGeom>
          <a:noFill/>
          <a:ln/>
        </p:spPr>
        <p:txBody>
          <a:bodyPr wrap="square" lIns="0" tIns="0" rIns="0" bIns="0" rtlCol="0" anchor="ctr"/>
          <a:lstStyle/>
          <a:p>
            <a:pPr indent="0" marL="0">
              <a:buNone/>
            </a:pPr>
            <a:r>
              <a:rPr lang="en-US" sz="1600" b="1" dirty="0">
                <a:solidFill>
                  <a:srgbClr val="0F2233"/>
                </a:solidFill>
                <a:latin typeface="Cambria" pitchFamily="34" charset="0"/>
                <a:ea typeface="Cambria" pitchFamily="34" charset="-122"/>
                <a:cs typeface="Cambria" pitchFamily="34" charset="-120"/>
              </a:rPr>
              <a:t>Blackboard / shared state</a:t>
            </a:r>
            <a:endParaRPr lang="en-US" sz="1600" dirty="0"/>
          </a:p>
        </p:txBody>
      </p:sp>
      <p:sp>
        <p:nvSpPr>
          <p:cNvPr id="26" name="Text 19"/>
          <p:cNvSpPr/>
          <p:nvPr/>
        </p:nvSpPr>
        <p:spPr>
          <a:xfrm>
            <a:off x="5696712" y="3749040"/>
            <a:ext cx="2880360" cy="68580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Agents read &amp; write a shared store; loosely coupled, event-driven.</a:t>
            </a:r>
            <a:endParaRPr lang="en-US" sz="1100" dirty="0"/>
          </a:p>
        </p:txBody>
      </p:sp>
      <p:sp>
        <p:nvSpPr>
          <p:cNvPr id="27" name="Text 20"/>
          <p:cNvSpPr/>
          <p:nvPr/>
        </p:nvSpPr>
        <p:spPr>
          <a:xfrm>
            <a:off x="457200" y="4617720"/>
            <a:ext cx="8229600" cy="274320"/>
          </a:xfrm>
          <a:prstGeom prst="rect">
            <a:avLst/>
          </a:prstGeom>
          <a:noFill/>
          <a:ln/>
        </p:spPr>
        <p:txBody>
          <a:bodyPr wrap="square" lIns="0" tIns="0" rIns="0" bIns="0" rtlCol="0" anchor="ctr"/>
          <a:lstStyle/>
          <a:p>
            <a:pPr algn="ctr" indent="0" marL="0">
              <a:buNone/>
            </a:pPr>
            <a:r>
              <a:rPr lang="en-US" sz="1050" i="1" dirty="0">
                <a:solidFill>
                  <a:srgbClr val="64748B"/>
                </a:solidFill>
                <a:latin typeface="Calibri" pitchFamily="34" charset="0"/>
                <a:ea typeface="Calibri" pitchFamily="34" charset="-122"/>
                <a:cs typeface="Calibri" pitchFamily="34" charset="-120"/>
              </a:rPr>
              <a:t>Start with a pipeline; promote to orchestrator-worker only when steps need dynamic planning.</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31</a:t>
            </a:r>
            <a:endParaRPr lang="en-US" sz="850" dirty="0"/>
          </a:p>
        </p:txBody>
      </p:sp>
      <p:sp>
        <p:nvSpPr>
          <p:cNvPr id="4" name="Shape 2"/>
          <p:cNvSpPr/>
          <p:nvPr/>
        </p:nvSpPr>
        <p:spPr>
          <a:xfrm>
            <a:off x="457200" y="384048"/>
            <a:ext cx="566928" cy="566928"/>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Reference Pipeline: Research → Summarise → Notify</a:t>
            </a:r>
            <a:endParaRPr lang="en-US" sz="2600" dirty="0"/>
          </a:p>
        </p:txBody>
      </p:sp>
      <p:sp>
        <p:nvSpPr>
          <p:cNvPr id="7" name="Shape 4"/>
          <p:cNvSpPr/>
          <p:nvPr/>
        </p:nvSpPr>
        <p:spPr>
          <a:xfrm>
            <a:off x="502920" y="1783080"/>
            <a:ext cx="2286000" cy="1234440"/>
          </a:xfrm>
          <a:prstGeom prst="roundRect">
            <a:avLst>
              <a:gd name="adj" fmla="val 5926"/>
            </a:avLst>
          </a:prstGeom>
          <a:solidFill>
            <a:srgbClr val="0D9488"/>
          </a:solidFill>
          <a:ln/>
          <a:effectLst>
            <a:outerShdw sx="100000" sy="100000" kx="0" ky="0" algn="bl" rotWithShape="0" blurRad="63500" dist="25400" dir="5400000">
              <a:srgbClr val="0F2233">
                <a:alpha val="10000"/>
              </a:srgbClr>
            </a:outerShdw>
          </a:effectLst>
        </p:spPr>
      </p:sp>
      <p:sp>
        <p:nvSpPr>
          <p:cNvPr id="8" name="Text 5"/>
          <p:cNvSpPr/>
          <p:nvPr/>
        </p:nvSpPr>
        <p:spPr>
          <a:xfrm>
            <a:off x="594360" y="1938528"/>
            <a:ext cx="2103120" cy="36576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Researcher</a:t>
            </a:r>
            <a:endParaRPr lang="en-US" sz="1350" dirty="0"/>
          </a:p>
        </p:txBody>
      </p:sp>
      <p:sp>
        <p:nvSpPr>
          <p:cNvPr id="9" name="Text 6"/>
          <p:cNvSpPr/>
          <p:nvPr/>
        </p:nvSpPr>
        <p:spPr>
          <a:xfrm>
            <a:off x="612648" y="2331720"/>
            <a:ext cx="2066544" cy="594360"/>
          </a:xfrm>
          <a:prstGeom prst="rect">
            <a:avLst/>
          </a:prstGeom>
          <a:noFill/>
          <a:ln/>
        </p:spPr>
        <p:txBody>
          <a:bodyPr wrap="square" lIns="0" tIns="0" rIns="0" bIns="0" rtlCol="0" anchor="t"/>
          <a:lstStyle/>
          <a:p>
            <a:pPr algn="ctr" indent="0" marL="0">
              <a:buNone/>
            </a:pPr>
            <a:r>
              <a:rPr lang="en-US" sz="950" dirty="0">
                <a:solidFill>
                  <a:srgbClr val="CFE6E1"/>
                </a:solidFill>
                <a:latin typeface="Calibri" pitchFamily="34" charset="0"/>
                <a:ea typeface="Calibri" pitchFamily="34" charset="-122"/>
                <a:cs typeface="Calibri" pitchFamily="34" charset="-120"/>
              </a:rPr>
              <a:t>gathers &amp; enriches</a:t>
            </a:r>
            <a:endParaRPr lang="en-US" sz="950" dirty="0"/>
          </a:p>
          <a:p>
            <a:pPr algn="ctr" indent="0" marL="0">
              <a:buNone/>
            </a:pPr>
            <a:r>
              <a:rPr lang="en-US" sz="950" dirty="0">
                <a:solidFill>
                  <a:srgbClr val="CFE6E1"/>
                </a:solidFill>
                <a:latin typeface="Calibri" pitchFamily="34" charset="0"/>
                <a:ea typeface="Calibri" pitchFamily="34" charset="-122"/>
                <a:cs typeface="Calibri" pitchFamily="34" charset="-120"/>
              </a:rPr>
              <a:t>facts (Haiku + tools)</a:t>
            </a:r>
            <a:endParaRPr lang="en-US" sz="950" dirty="0"/>
          </a:p>
        </p:txBody>
      </p:sp>
      <p:sp>
        <p:nvSpPr>
          <p:cNvPr id="10" name="Shape 7"/>
          <p:cNvSpPr/>
          <p:nvPr/>
        </p:nvSpPr>
        <p:spPr>
          <a:xfrm>
            <a:off x="2834640" y="2286000"/>
            <a:ext cx="502920" cy="237744"/>
          </a:xfrm>
          <a:prstGeom prst="rightArrow">
            <a:avLst/>
          </a:prstGeom>
          <a:solidFill>
            <a:srgbClr val="F59E0B"/>
          </a:solidFill>
          <a:ln/>
        </p:spPr>
      </p:sp>
      <p:sp>
        <p:nvSpPr>
          <p:cNvPr id="11" name="Shape 8"/>
          <p:cNvSpPr/>
          <p:nvPr/>
        </p:nvSpPr>
        <p:spPr>
          <a:xfrm>
            <a:off x="3383280" y="1783080"/>
            <a:ext cx="2286000" cy="1234440"/>
          </a:xfrm>
          <a:prstGeom prst="roundRect">
            <a:avLst>
              <a:gd name="adj" fmla="val 5926"/>
            </a:avLst>
          </a:prstGeom>
          <a:solidFill>
            <a:srgbClr val="14405A"/>
          </a:solidFill>
          <a:ln/>
          <a:effectLst>
            <a:outerShdw sx="100000" sy="100000" kx="0" ky="0" algn="bl" rotWithShape="0" blurRad="63500" dist="25400" dir="5400000">
              <a:srgbClr val="0F2233">
                <a:alpha val="10000"/>
              </a:srgbClr>
            </a:outerShdw>
          </a:effectLst>
        </p:spPr>
      </p:sp>
      <p:sp>
        <p:nvSpPr>
          <p:cNvPr id="12" name="Text 9"/>
          <p:cNvSpPr/>
          <p:nvPr/>
        </p:nvSpPr>
        <p:spPr>
          <a:xfrm>
            <a:off x="3474720" y="1938528"/>
            <a:ext cx="2103120" cy="36576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Summariser</a:t>
            </a:r>
            <a:endParaRPr lang="en-US" sz="1350" dirty="0"/>
          </a:p>
        </p:txBody>
      </p:sp>
      <p:sp>
        <p:nvSpPr>
          <p:cNvPr id="13" name="Text 10"/>
          <p:cNvSpPr/>
          <p:nvPr/>
        </p:nvSpPr>
        <p:spPr>
          <a:xfrm>
            <a:off x="3493008" y="2331720"/>
            <a:ext cx="2066544" cy="594360"/>
          </a:xfrm>
          <a:prstGeom prst="rect">
            <a:avLst/>
          </a:prstGeom>
          <a:noFill/>
          <a:ln/>
        </p:spPr>
        <p:txBody>
          <a:bodyPr wrap="square" lIns="0" tIns="0" rIns="0" bIns="0" rtlCol="0" anchor="t"/>
          <a:lstStyle/>
          <a:p>
            <a:pPr algn="ctr" indent="0" marL="0">
              <a:buNone/>
            </a:pPr>
            <a:r>
              <a:rPr lang="en-US" sz="950" dirty="0">
                <a:solidFill>
                  <a:srgbClr val="CFE6E1"/>
                </a:solidFill>
                <a:latin typeface="Calibri" pitchFamily="34" charset="0"/>
                <a:ea typeface="Calibri" pitchFamily="34" charset="-122"/>
                <a:cs typeface="Calibri" pitchFamily="34" charset="-120"/>
              </a:rPr>
              <a:t>distils to a brief</a:t>
            </a:r>
            <a:endParaRPr lang="en-US" sz="950" dirty="0"/>
          </a:p>
          <a:p>
            <a:pPr algn="ctr" indent="0" marL="0">
              <a:buNone/>
            </a:pPr>
            <a:r>
              <a:rPr lang="en-US" sz="950" dirty="0">
                <a:solidFill>
                  <a:srgbClr val="CFE6E1"/>
                </a:solidFill>
                <a:latin typeface="Calibri" pitchFamily="34" charset="0"/>
                <a:ea typeface="Calibri" pitchFamily="34" charset="-122"/>
                <a:cs typeface="Calibri" pitchFamily="34" charset="-120"/>
              </a:rPr>
              <a:t>(Sonnet)</a:t>
            </a:r>
            <a:endParaRPr lang="en-US" sz="950" dirty="0"/>
          </a:p>
        </p:txBody>
      </p:sp>
      <p:sp>
        <p:nvSpPr>
          <p:cNvPr id="14" name="Shape 11"/>
          <p:cNvSpPr/>
          <p:nvPr/>
        </p:nvSpPr>
        <p:spPr>
          <a:xfrm>
            <a:off x="5715000" y="2286000"/>
            <a:ext cx="502920" cy="237744"/>
          </a:xfrm>
          <a:prstGeom prst="rightArrow">
            <a:avLst/>
          </a:prstGeom>
          <a:solidFill>
            <a:srgbClr val="F59E0B"/>
          </a:solidFill>
          <a:ln/>
        </p:spPr>
      </p:sp>
      <p:sp>
        <p:nvSpPr>
          <p:cNvPr id="15" name="Shape 12"/>
          <p:cNvSpPr/>
          <p:nvPr/>
        </p:nvSpPr>
        <p:spPr>
          <a:xfrm>
            <a:off x="6263640" y="1783080"/>
            <a:ext cx="2286000" cy="1234440"/>
          </a:xfrm>
          <a:prstGeom prst="roundRect">
            <a:avLst>
              <a:gd name="adj" fmla="val 5926"/>
            </a:avLst>
          </a:prstGeom>
          <a:solidFill>
            <a:srgbClr val="0D9488"/>
          </a:solidFill>
          <a:ln/>
          <a:effectLst>
            <a:outerShdw sx="100000" sy="100000" kx="0" ky="0" algn="bl" rotWithShape="0" blurRad="63500" dist="25400" dir="5400000">
              <a:srgbClr val="0F2233">
                <a:alpha val="10000"/>
              </a:srgbClr>
            </a:outerShdw>
          </a:effectLst>
        </p:spPr>
      </p:sp>
      <p:sp>
        <p:nvSpPr>
          <p:cNvPr id="16" name="Text 13"/>
          <p:cNvSpPr/>
          <p:nvPr/>
        </p:nvSpPr>
        <p:spPr>
          <a:xfrm>
            <a:off x="6355080" y="1938528"/>
            <a:ext cx="2103120" cy="36576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Notifier</a:t>
            </a:r>
            <a:endParaRPr lang="en-US" sz="1350" dirty="0"/>
          </a:p>
        </p:txBody>
      </p:sp>
      <p:sp>
        <p:nvSpPr>
          <p:cNvPr id="17" name="Text 14"/>
          <p:cNvSpPr/>
          <p:nvPr/>
        </p:nvSpPr>
        <p:spPr>
          <a:xfrm>
            <a:off x="6373368" y="2331720"/>
            <a:ext cx="2066544" cy="594360"/>
          </a:xfrm>
          <a:prstGeom prst="rect">
            <a:avLst/>
          </a:prstGeom>
          <a:noFill/>
          <a:ln/>
        </p:spPr>
        <p:txBody>
          <a:bodyPr wrap="square" lIns="0" tIns="0" rIns="0" bIns="0" rtlCol="0" anchor="t"/>
          <a:lstStyle/>
          <a:p>
            <a:pPr algn="ctr" indent="0" marL="0">
              <a:buNone/>
            </a:pPr>
            <a:r>
              <a:rPr lang="en-US" sz="950" dirty="0">
                <a:solidFill>
                  <a:srgbClr val="CFE6E1"/>
                </a:solidFill>
                <a:latin typeface="Calibri" pitchFamily="34" charset="0"/>
                <a:ea typeface="Calibri" pitchFamily="34" charset="-122"/>
                <a:cs typeface="Calibri" pitchFamily="34" charset="-120"/>
              </a:rPr>
              <a:t>formats &amp; routes</a:t>
            </a:r>
            <a:endParaRPr lang="en-US" sz="950" dirty="0"/>
          </a:p>
          <a:p>
            <a:pPr algn="ctr" indent="0" marL="0">
              <a:buNone/>
            </a:pPr>
            <a:r>
              <a:rPr lang="en-US" sz="950" dirty="0">
                <a:solidFill>
                  <a:srgbClr val="CFE6E1"/>
                </a:solidFill>
                <a:latin typeface="Calibri" pitchFamily="34" charset="0"/>
                <a:ea typeface="Calibri" pitchFamily="34" charset="-122"/>
                <a:cs typeface="Calibri" pitchFamily="34" charset="-120"/>
              </a:rPr>
              <a:t>the alert</a:t>
            </a:r>
            <a:endParaRPr lang="en-US" sz="950" dirty="0"/>
          </a:p>
        </p:txBody>
      </p:sp>
      <p:sp>
        <p:nvSpPr>
          <p:cNvPr id="18" name="Shape 15"/>
          <p:cNvSpPr/>
          <p:nvPr/>
        </p:nvSpPr>
        <p:spPr>
          <a:xfrm>
            <a:off x="502920" y="3337560"/>
            <a:ext cx="8046720" cy="640080"/>
          </a:xfrm>
          <a:prstGeom prst="roundRect">
            <a:avLst>
              <a:gd name="adj" fmla="val 11429"/>
            </a:avLst>
          </a:prstGeom>
          <a:solidFill>
            <a:srgbClr val="0E2A3B"/>
          </a:solidFill>
          <a:ln/>
        </p:spPr>
      </p:sp>
      <p:sp>
        <p:nvSpPr>
          <p:cNvPr id="19" name="Text 16"/>
          <p:cNvSpPr/>
          <p:nvPr/>
        </p:nvSpPr>
        <p:spPr>
          <a:xfrm>
            <a:off x="685800" y="3337560"/>
            <a:ext cx="7680960" cy="640080"/>
          </a:xfrm>
          <a:prstGeom prst="rect">
            <a:avLst/>
          </a:prstGeom>
          <a:noFill/>
          <a:ln/>
        </p:spPr>
        <p:txBody>
          <a:bodyPr wrap="square" lIns="0" tIns="0" rIns="0" bIns="0" rtlCol="0" anchor="ctr"/>
          <a:lstStyle/>
          <a:p>
            <a:pPr indent="0" marL="0">
              <a:buNone/>
            </a:pPr>
            <a:r>
              <a:rPr lang="en-US" sz="1100" b="1" dirty="0">
                <a:solidFill>
                  <a:srgbClr val="5EEAD4"/>
                </a:solidFill>
                <a:latin typeface="Calibri" pitchFamily="34" charset="0"/>
                <a:ea typeface="Calibri" pitchFamily="34" charset="-122"/>
                <a:cs typeface="Calibri" pitchFamily="34" charset="-120"/>
              </a:rPr>
              <a:t>Cross-cutting:  </a:t>
            </a:r>
            <a:pPr indent="0" marL="0">
              <a:buNone/>
            </a:pPr>
            <a:r>
              <a:rPr lang="en-US" sz="1100" dirty="0">
                <a:solidFill>
                  <a:srgbClr val="DCEAE6"/>
                </a:solidFill>
                <a:latin typeface="Calibri" pitchFamily="34" charset="0"/>
                <a:ea typeface="Calibri" pitchFamily="34" charset="-122"/>
                <a:cs typeface="Calibri" pitchFamily="34" charset="-120"/>
              </a:rPr>
              <a:t>one trace_id through all three  ·  structured logs per span  ·  guardrails at each I/O  ·  audit record per call</a:t>
            </a:r>
            <a:endParaRPr lang="en-US" sz="1100" dirty="0"/>
          </a:p>
        </p:txBody>
      </p:sp>
      <p:sp>
        <p:nvSpPr>
          <p:cNvPr id="20" name="Shape 17"/>
          <p:cNvSpPr/>
          <p:nvPr/>
        </p:nvSpPr>
        <p:spPr>
          <a:xfrm>
            <a:off x="502920" y="4114800"/>
            <a:ext cx="8046720" cy="502920"/>
          </a:xfrm>
          <a:prstGeom prst="roundRect">
            <a:avLst>
              <a:gd name="adj" fmla="val 14545"/>
            </a:avLst>
          </a:prstGeom>
          <a:solidFill>
            <a:srgbClr val="E7F4F1"/>
          </a:solidFill>
          <a:ln/>
        </p:spPr>
      </p:sp>
      <p:sp>
        <p:nvSpPr>
          <p:cNvPr id="21" name="Text 18"/>
          <p:cNvSpPr/>
          <p:nvPr/>
        </p:nvSpPr>
        <p:spPr>
          <a:xfrm>
            <a:off x="685800" y="4114800"/>
            <a:ext cx="7680960" cy="502920"/>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Contract between stages:  </a:t>
            </a:r>
            <a:pPr indent="0" marL="0">
              <a:buNone/>
            </a:pPr>
            <a:r>
              <a:rPr lang="en-US" sz="1100" dirty="0">
                <a:solidFill>
                  <a:srgbClr val="334155"/>
                </a:solidFill>
                <a:latin typeface="Calibri" pitchFamily="34" charset="0"/>
                <a:ea typeface="Calibri" pitchFamily="34" charset="-122"/>
                <a:cs typeface="Calibri" pitchFamily="34" charset="-120"/>
              </a:rPr>
              <a:t>each agent emits a typed object the next one validates on input — schemas are the glue.</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32</a:t>
            </a:r>
            <a:endParaRPr lang="en-US" sz="850" dirty="0"/>
          </a:p>
        </p:txBody>
      </p:sp>
      <p:sp>
        <p:nvSpPr>
          <p:cNvPr id="4" name="Shape 2"/>
          <p:cNvSpPr/>
          <p:nvPr/>
        </p:nvSpPr>
        <p:spPr>
          <a:xfrm>
            <a:off x="457200" y="384048"/>
            <a:ext cx="566928" cy="566928"/>
          </a:xfrm>
          <a:prstGeom prst="ellipse">
            <a:avLst/>
          </a:prstGeom>
          <a:solidFill>
            <a:srgbClr val="F59E0B"/>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Agent Contracts: Schemas as the Glue</a:t>
            </a:r>
            <a:endParaRPr lang="en-US" sz="2600" dirty="0"/>
          </a:p>
        </p:txBody>
      </p:sp>
      <p:sp>
        <p:nvSpPr>
          <p:cNvPr id="7" name="Shape 4"/>
          <p:cNvSpPr/>
          <p:nvPr/>
        </p:nvSpPr>
        <p:spPr>
          <a:xfrm>
            <a:off x="457200" y="1371600"/>
            <a:ext cx="3931920" cy="3246120"/>
          </a:xfrm>
          <a:prstGeom prst="roundRect">
            <a:avLst>
              <a:gd name="adj" fmla="val 2254"/>
            </a:avLst>
          </a:prstGeom>
          <a:solidFill>
            <a:srgbClr val="F1F5F9"/>
          </a:solidFill>
          <a:ln/>
          <a:effectLst>
            <a:outerShdw sx="100000" sy="100000" kx="0" ky="0" algn="bl" rotWithShape="0" blurRad="63500" dist="25400" dir="5400000">
              <a:srgbClr val="0F2233">
                <a:alpha val="10000"/>
              </a:srgbClr>
            </a:outerShdw>
          </a:effectLst>
        </p:spPr>
      </p:sp>
      <p:sp>
        <p:nvSpPr>
          <p:cNvPr id="8" name="Text 5"/>
          <p:cNvSpPr/>
          <p:nvPr/>
        </p:nvSpPr>
        <p:spPr>
          <a:xfrm>
            <a:off x="658368" y="1481328"/>
            <a:ext cx="3657600" cy="320040"/>
          </a:xfrm>
          <a:prstGeom prst="rect">
            <a:avLst/>
          </a:prstGeom>
          <a:noFill/>
          <a:ln/>
        </p:spPr>
        <p:txBody>
          <a:bodyPr wrap="square" lIns="0" tIns="0" rIns="0" bIns="0" rtlCol="0" anchor="ctr"/>
          <a:lstStyle/>
          <a:p>
            <a:pPr indent="0" marL="0">
              <a:buNone/>
            </a:pPr>
            <a:r>
              <a:rPr lang="en-US" sz="1250" b="1" dirty="0">
                <a:solidFill>
                  <a:srgbClr val="64748B"/>
                </a:solidFill>
                <a:latin typeface="Calibri" pitchFamily="34" charset="0"/>
                <a:ea typeface="Calibri" pitchFamily="34" charset="-122"/>
                <a:cs typeface="Calibri" pitchFamily="34" charset="-120"/>
              </a:rPr>
              <a:t>Why typed contracts</a:t>
            </a:r>
            <a:endParaRPr lang="en-US" sz="1250" dirty="0"/>
          </a:p>
        </p:txBody>
      </p:sp>
      <p:sp>
        <p:nvSpPr>
          <p:cNvPr id="9" name="Text 6"/>
          <p:cNvSpPr/>
          <p:nvPr/>
        </p:nvSpPr>
        <p:spPr>
          <a:xfrm>
            <a:off x="658368" y="1874520"/>
            <a:ext cx="3566160" cy="2651760"/>
          </a:xfrm>
          <a:prstGeom prst="rect">
            <a:avLst/>
          </a:prstGeom>
          <a:noFill/>
          <a:ln/>
        </p:spPr>
        <p:txBody>
          <a:bodyPr wrap="square" lIns="0" tIns="0" rIns="0" bIns="0" rtlCol="0" anchor="t"/>
          <a:lstStyle/>
          <a:p>
            <a:pPr marL="177800" indent="-177800">
              <a:spcAft>
                <a:spcPts val="1000"/>
              </a:spcAft>
              <a:buSzPct val="100000"/>
              <a:buChar char="•"/>
            </a:pPr>
            <a:r>
              <a:rPr lang="en-US" sz="1200" dirty="0">
                <a:solidFill>
                  <a:srgbClr val="334155"/>
                </a:solidFill>
                <a:latin typeface="Calibri" pitchFamily="34" charset="0"/>
                <a:ea typeface="Calibri" pitchFamily="34" charset="-122"/>
                <a:cs typeface="Calibri" pitchFamily="34" charset="-120"/>
              </a:rPr>
              <a:t>Validate the hand-off, not vibes</a:t>
            </a:r>
            <a:endParaRPr lang="en-US" sz="1200" dirty="0"/>
          </a:p>
          <a:p>
            <a:pPr marL="177800" indent="-177800">
              <a:spcAft>
                <a:spcPts val="1000"/>
              </a:spcAft>
              <a:buSzPct val="100000"/>
              <a:buChar char="•"/>
            </a:pPr>
            <a:r>
              <a:rPr lang="en-US" sz="1200" dirty="0">
                <a:solidFill>
                  <a:srgbClr val="334155"/>
                </a:solidFill>
                <a:latin typeface="Calibri" pitchFamily="34" charset="0"/>
                <a:ea typeface="Calibri" pitchFamily="34" charset="-122"/>
                <a:cs typeface="Calibri" pitchFamily="34" charset="-120"/>
              </a:rPr>
              <a:t>Each agent guards its own input</a:t>
            </a:r>
            <a:endParaRPr lang="en-US" sz="1200" dirty="0"/>
          </a:p>
          <a:p>
            <a:pPr marL="177800" indent="-177800">
              <a:spcAft>
                <a:spcPts val="1000"/>
              </a:spcAft>
              <a:buSzPct val="100000"/>
              <a:buChar char="•"/>
            </a:pPr>
            <a:r>
              <a:rPr lang="en-US" sz="1200" dirty="0">
                <a:solidFill>
                  <a:srgbClr val="334155"/>
                </a:solidFill>
                <a:latin typeface="Calibri" pitchFamily="34" charset="0"/>
                <a:ea typeface="Calibri" pitchFamily="34" charset="-122"/>
                <a:cs typeface="Calibri" pitchFamily="34" charset="-120"/>
              </a:rPr>
              <a:t>Refactor one agent without breaking others</a:t>
            </a:r>
            <a:endParaRPr lang="en-US" sz="1200" dirty="0"/>
          </a:p>
          <a:p>
            <a:pPr marL="177800" indent="-177800">
              <a:spcAft>
                <a:spcPts val="1000"/>
              </a:spcAft>
              <a:buSzPct val="100000"/>
              <a:buChar char="•"/>
            </a:pPr>
            <a:r>
              <a:rPr lang="en-US" sz="1200" dirty="0">
                <a:solidFill>
                  <a:srgbClr val="334155"/>
                </a:solidFill>
                <a:latin typeface="Calibri" pitchFamily="34" charset="0"/>
                <a:ea typeface="Calibri" pitchFamily="34" charset="-122"/>
                <a:cs typeface="Calibri" pitchFamily="34" charset="-120"/>
              </a:rPr>
              <a:t>Schema = documentation + test</a:t>
            </a:r>
            <a:endParaRPr lang="en-US" sz="1200" dirty="0"/>
          </a:p>
          <a:p>
            <a:pPr marL="177800" indent="-177800">
              <a:spcAft>
                <a:spcPts val="1000"/>
              </a:spcAft>
              <a:buSzPct val="100000"/>
              <a:buChar char="•"/>
            </a:pPr>
            <a:r>
              <a:rPr lang="en-US" sz="1200" dirty="0">
                <a:solidFill>
                  <a:srgbClr val="334155"/>
                </a:solidFill>
                <a:latin typeface="Calibri" pitchFamily="34" charset="0"/>
                <a:ea typeface="Calibri" pitchFamily="34" charset="-122"/>
                <a:cs typeface="Calibri" pitchFamily="34" charset="-120"/>
              </a:rPr>
              <a:t>Enables structured-output / tool-use</a:t>
            </a:r>
            <a:endParaRPr lang="en-US" sz="1200" dirty="0"/>
          </a:p>
        </p:txBody>
      </p:sp>
      <p:sp>
        <p:nvSpPr>
          <p:cNvPr id="10" name="Shape 7"/>
          <p:cNvSpPr/>
          <p:nvPr/>
        </p:nvSpPr>
        <p:spPr>
          <a:xfrm>
            <a:off x="4572000" y="1371600"/>
            <a:ext cx="4114800" cy="3246120"/>
          </a:xfrm>
          <a:prstGeom prst="roundRect">
            <a:avLst>
              <a:gd name="adj" fmla="val 2254"/>
            </a:avLst>
          </a:prstGeom>
          <a:solidFill>
            <a:srgbClr val="0E2A3B"/>
          </a:solidFill>
          <a:ln/>
          <a:effectLst>
            <a:outerShdw sx="100000" sy="100000" kx="0" ky="0" algn="bl" rotWithShape="0" blurRad="63500" dist="25400" dir="5400000">
              <a:srgbClr val="0F2233">
                <a:alpha val="10000"/>
              </a:srgbClr>
            </a:outerShdw>
          </a:effectLst>
        </p:spPr>
      </p:sp>
      <p:sp>
        <p:nvSpPr>
          <p:cNvPr id="11" name="Text 8"/>
          <p:cNvSpPr/>
          <p:nvPr/>
        </p:nvSpPr>
        <p:spPr>
          <a:xfrm>
            <a:off x="4773168" y="1463040"/>
            <a:ext cx="3657600" cy="292608"/>
          </a:xfrm>
          <a:prstGeom prst="rect">
            <a:avLst/>
          </a:prstGeom>
          <a:noFill/>
          <a:ln/>
        </p:spPr>
        <p:txBody>
          <a:bodyPr wrap="square" lIns="0" tIns="0" rIns="0" bIns="0" rtlCol="0" anchor="ctr"/>
          <a:lstStyle/>
          <a:p>
            <a:pPr indent="0" marL="0">
              <a:buNone/>
            </a:pPr>
            <a:r>
              <a:rPr lang="en-US" sz="1000" b="1" dirty="0">
                <a:solidFill>
                  <a:srgbClr val="5EEAD4"/>
                </a:solidFill>
                <a:latin typeface="Courier New" pitchFamily="34" charset="0"/>
                <a:ea typeface="Courier New" pitchFamily="34" charset="-122"/>
                <a:cs typeface="Courier New" pitchFamily="34" charset="-120"/>
              </a:rPr>
              <a:t>pydantic contract</a:t>
            </a:r>
            <a:endParaRPr lang="en-US" sz="1000" dirty="0"/>
          </a:p>
        </p:txBody>
      </p:sp>
      <p:sp>
        <p:nvSpPr>
          <p:cNvPr id="12" name="Text 9"/>
          <p:cNvSpPr/>
          <p:nvPr/>
        </p:nvSpPr>
        <p:spPr>
          <a:xfrm>
            <a:off x="4773168" y="1783080"/>
            <a:ext cx="3749040" cy="2743200"/>
          </a:xfrm>
          <a:prstGeom prst="rect">
            <a:avLst/>
          </a:prstGeom>
          <a:noFill/>
          <a:ln/>
        </p:spPr>
        <p:txBody>
          <a:bodyPr wrap="square" lIns="0" tIns="0" rIns="0" bIns="0" rtlCol="0" anchor="t"/>
          <a:lstStyle/>
          <a:p>
            <a:pPr indent="0" marL="0">
              <a:buNone/>
            </a:pPr>
            <a:r>
              <a:rPr lang="en-US" sz="1050" dirty="0">
                <a:solidFill>
                  <a:srgbClr val="BFE3DC"/>
                </a:solidFill>
                <a:latin typeface="Courier New" pitchFamily="34" charset="0"/>
                <a:ea typeface="Courier New" pitchFamily="34" charset="-122"/>
                <a:cs typeface="Courier New" pitchFamily="34" charset="-120"/>
              </a:rPr>
              <a:t>class LeadProfile(BaseModel):</a:t>
            </a:r>
            <a:endParaRPr lang="en-US" sz="1050" dirty="0"/>
          </a:p>
          <a:p>
            <a:pPr indent="0" marL="0">
              <a:buNone/>
            </a:pPr>
            <a:r>
              <a:rPr lang="en-US" sz="1050" dirty="0">
                <a:solidFill>
                  <a:srgbClr val="BFE3DC"/>
                </a:solidFill>
                <a:latin typeface="Courier New" pitchFamily="34" charset="0"/>
                <a:ea typeface="Courier New" pitchFamily="34" charset="-122"/>
                <a:cs typeface="Courier New" pitchFamily="34" charset="-120"/>
              </a:rPr>
              <a:t>    lead_id: str</a:t>
            </a:r>
            <a:endParaRPr lang="en-US" sz="1050" dirty="0"/>
          </a:p>
          <a:p>
            <a:pPr indent="0" marL="0">
              <a:buNone/>
            </a:pPr>
            <a:r>
              <a:rPr lang="en-US" sz="1050" dirty="0">
                <a:solidFill>
                  <a:srgbClr val="BFE3DC"/>
                </a:solidFill>
                <a:latin typeface="Courier New" pitchFamily="34" charset="0"/>
                <a:ea typeface="Courier New" pitchFamily="34" charset="-122"/>
                <a:cs typeface="Courier New" pitchFamily="34" charset="-120"/>
              </a:rPr>
              <a:t>    company: str</a:t>
            </a:r>
            <a:endParaRPr lang="en-US" sz="1050" dirty="0"/>
          </a:p>
          <a:p>
            <a:pPr indent="0" marL="0">
              <a:buNone/>
            </a:pPr>
            <a:r>
              <a:rPr lang="en-US" sz="1050" dirty="0">
                <a:solidFill>
                  <a:srgbClr val="BFE3DC"/>
                </a:solidFill>
                <a:latin typeface="Courier New" pitchFamily="34" charset="0"/>
                <a:ea typeface="Courier New" pitchFamily="34" charset="-122"/>
                <a:cs typeface="Courier New" pitchFamily="34" charset="-120"/>
              </a:rPr>
              <a:t>    industry: str</a:t>
            </a:r>
            <a:endParaRPr lang="en-US" sz="1050" dirty="0"/>
          </a:p>
          <a:p>
            <a:pPr indent="0" marL="0">
              <a:buNone/>
            </a:pPr>
            <a:r>
              <a:rPr lang="en-US" sz="1050" dirty="0">
                <a:solidFill>
                  <a:srgbClr val="BFE3DC"/>
                </a:solidFill>
                <a:latin typeface="Courier New" pitchFamily="34" charset="0"/>
                <a:ea typeface="Courier New" pitchFamily="34" charset="-122"/>
                <a:cs typeface="Courier New" pitchFamily="34" charset="-120"/>
              </a:rPr>
              <a:t>    size: int</a:t>
            </a:r>
            <a:endParaRPr lang="en-US" sz="1050" dirty="0"/>
          </a:p>
          <a:p>
            <a:pPr indent="0" marL="0">
              <a:buNone/>
            </a:pPr>
            <a:r>
              <a:rPr lang="en-US" sz="1050" dirty="0">
                <a:solidFill>
                  <a:srgbClr val="BFE3DC"/>
                </a:solidFill>
                <a:latin typeface="Courier New" pitchFamily="34" charset="0"/>
                <a:ea typeface="Courier New" pitchFamily="34" charset="-122"/>
                <a:cs typeface="Courier New" pitchFamily="34" charset="-120"/>
              </a:rPr>
              <a:t>    pain_points: list[str]</a:t>
            </a:r>
            <a:endParaRPr lang="en-US" sz="1050" dirty="0"/>
          </a:p>
          <a:p>
            <a:pPr indent="0" marL="0">
              <a:buNone/>
            </a:pPr>
            <a:r>
              <a:rPr lang="en-US" sz="1050" dirty="0">
                <a:solidFill>
                  <a:srgbClr val="BFE3DC"/>
                </a:solidFill>
                <a:latin typeface="Courier New" pitchFamily="34" charset="0"/>
                <a:ea typeface="Courier New" pitchFamily="34" charset="-122"/>
                <a:cs typeface="Courier New" pitchFamily="34" charset="-120"/>
              </a:rPr>
              <a:t>    source: str</a:t>
            </a:r>
            <a:endParaRPr lang="en-US" sz="1050" dirty="0"/>
          </a:p>
          <a:p>
            <a:pPr indent="0" marL="0">
              <a:buNone/>
            </a:pPr>
            <a:r>
              <a:rPr lang="en-US" sz="1050" dirty="0">
                <a:solidFill>
                  <a:srgbClr val="BFE3DC"/>
                </a:solidFill>
                <a:latin typeface="Courier New" pitchFamily="34" charset="0"/>
                <a:ea typeface="Courier New" pitchFamily="34" charset="-122"/>
                <a:cs typeface="Courier New" pitchFamily="34" charset="-120"/>
              </a:rPr>
              <a:t>    consent_basis: str | None</a:t>
            </a:r>
            <a:endParaRPr lang="en-US" sz="1050" dirty="0"/>
          </a:p>
          <a:p>
            <a:pPr indent="0" marL="0">
              <a:buNone/>
            </a:pPr>
            <a:endParaRPr lang="en-US" sz="1050" dirty="0"/>
          </a:p>
          <a:p>
            <a:pPr indent="0" marL="0">
              <a:buNone/>
            </a:pPr>
            <a:r>
              <a:rPr lang="en-US" sz="1050" dirty="0">
                <a:solidFill>
                  <a:srgbClr val="BFE3DC"/>
                </a:solidFill>
                <a:latin typeface="Courier New" pitchFamily="34" charset="0"/>
                <a:ea typeface="Courier New" pitchFamily="34" charset="-122"/>
                <a:cs typeface="Courier New" pitchFamily="34" charset="-120"/>
              </a:rPr>
              <a:t>class QualifiedLead(LeadProfile):</a:t>
            </a:r>
            <a:endParaRPr lang="en-US" sz="1050" dirty="0"/>
          </a:p>
          <a:p>
            <a:pPr indent="0" marL="0">
              <a:buNone/>
            </a:pPr>
            <a:r>
              <a:rPr lang="en-US" sz="1050" dirty="0">
                <a:solidFill>
                  <a:srgbClr val="BFE3DC"/>
                </a:solidFill>
                <a:latin typeface="Courier New" pitchFamily="34" charset="0"/>
                <a:ea typeface="Courier New" pitchFamily="34" charset="-122"/>
                <a:cs typeface="Courier New" pitchFamily="34" charset="-120"/>
              </a:rPr>
              <a:t>    fit_score: int  # 0..100</a:t>
            </a:r>
            <a:endParaRPr lang="en-US" sz="1050" dirty="0"/>
          </a:p>
          <a:p>
            <a:pPr indent="0" marL="0">
              <a:buNone/>
            </a:pPr>
            <a:r>
              <a:rPr lang="en-US" sz="1050" dirty="0">
                <a:solidFill>
                  <a:srgbClr val="BFE3DC"/>
                </a:solidFill>
                <a:latin typeface="Courier New" pitchFamily="34" charset="0"/>
                <a:ea typeface="Courier New" pitchFamily="34" charset="-122"/>
                <a:cs typeface="Courier New" pitchFamily="34" charset="-120"/>
              </a:rPr>
              <a:t>    rationale: str</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33</a:t>
            </a:r>
            <a:endParaRPr lang="en-US" sz="850" dirty="0"/>
          </a:p>
        </p:txBody>
      </p:sp>
      <p:sp>
        <p:nvSpPr>
          <p:cNvPr id="4" name="Shape 2"/>
          <p:cNvSpPr/>
          <p:nvPr/>
        </p:nvSpPr>
        <p:spPr>
          <a:xfrm>
            <a:off x="457200" y="384048"/>
            <a:ext cx="566928" cy="566928"/>
          </a:xfrm>
          <a:prstGeom prst="ellipse">
            <a:avLst/>
          </a:prstGeom>
          <a:solidFill>
            <a:srgbClr val="F59E0B"/>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Designing for Failure</a:t>
            </a:r>
            <a:endParaRPr lang="en-US" sz="2600" dirty="0"/>
          </a:p>
        </p:txBody>
      </p:sp>
      <p:sp>
        <p:nvSpPr>
          <p:cNvPr id="7" name="Shape 4"/>
          <p:cNvSpPr/>
          <p:nvPr/>
        </p:nvSpPr>
        <p:spPr>
          <a:xfrm>
            <a:off x="457200" y="1371600"/>
            <a:ext cx="2670048" cy="1371600"/>
          </a:xfrm>
          <a:prstGeom prst="roundRect">
            <a:avLst>
              <a:gd name="adj" fmla="val 5333"/>
            </a:avLst>
          </a:prstGeom>
          <a:solidFill>
            <a:srgbClr val="FFFFFF"/>
          </a:solidFill>
          <a:ln/>
          <a:effectLst>
            <a:outerShdw sx="100000" sy="100000" kx="0" ky="0" algn="bl" rotWithShape="0" blurRad="63500" dist="25400" dir="5400000">
              <a:srgbClr val="0F2233">
                <a:alpha val="10000"/>
              </a:srgbClr>
            </a:outerShdw>
          </a:effectLst>
        </p:spPr>
      </p:sp>
      <p:sp>
        <p:nvSpPr>
          <p:cNvPr id="8" name="Shape 5"/>
          <p:cNvSpPr/>
          <p:nvPr/>
        </p:nvSpPr>
        <p:spPr>
          <a:xfrm>
            <a:off x="658368" y="1591056"/>
            <a:ext cx="512064" cy="512064"/>
          </a:xfrm>
          <a:prstGeom prst="ellipse">
            <a:avLst/>
          </a:prstGeom>
          <a:solidFill>
            <a:srgbClr val="0D9488"/>
          </a:solidFill>
          <a:ln/>
        </p:spPr>
      </p:sp>
      <p:pic>
        <p:nvPicPr>
          <p:cNvPr id="9" name="Image 1" descr="preencoded.png">    </p:cNvPr>
          <p:cNvPicPr>
            <a:picLocks noChangeAspect="1"/>
          </p:cNvPicPr>
          <p:nvPr/>
        </p:nvPicPr>
        <p:blipFill>
          <a:blip r:embed="rId2"/>
          <a:stretch>
            <a:fillRect/>
          </a:stretch>
        </p:blipFill>
        <p:spPr>
          <a:xfrm>
            <a:off x="796625" y="1729313"/>
            <a:ext cx="235549" cy="235549"/>
          </a:xfrm>
          <a:prstGeom prst="rect">
            <a:avLst/>
          </a:prstGeom>
        </p:spPr>
      </p:pic>
      <p:sp>
        <p:nvSpPr>
          <p:cNvPr id="10" name="Text 6"/>
          <p:cNvSpPr/>
          <p:nvPr/>
        </p:nvSpPr>
        <p:spPr>
          <a:xfrm>
            <a:off x="1261872" y="1572768"/>
            <a:ext cx="1755648" cy="502920"/>
          </a:xfrm>
          <a:prstGeom prst="rect">
            <a:avLst/>
          </a:prstGeom>
          <a:noFill/>
          <a:ln/>
        </p:spPr>
        <p:txBody>
          <a:bodyPr wrap="square" lIns="0" tIns="0" rIns="0" bIns="0" rtlCol="0" anchor="ctr"/>
          <a:lstStyle/>
          <a:p>
            <a:pPr indent="0" marL="0">
              <a:buNone/>
            </a:pPr>
            <a:r>
              <a:rPr lang="en-US" sz="1300" b="1" dirty="0">
                <a:solidFill>
                  <a:srgbClr val="0F2233"/>
                </a:solidFill>
                <a:latin typeface="Cambria" pitchFamily="34" charset="0"/>
                <a:ea typeface="Cambria" pitchFamily="34" charset="-122"/>
                <a:cs typeface="Cambria" pitchFamily="34" charset="-120"/>
              </a:rPr>
              <a:t>Retries with backoff</a:t>
            </a:r>
            <a:endParaRPr lang="en-US" sz="1300" dirty="0"/>
          </a:p>
        </p:txBody>
      </p:sp>
      <p:sp>
        <p:nvSpPr>
          <p:cNvPr id="11" name="Text 7"/>
          <p:cNvSpPr/>
          <p:nvPr/>
        </p:nvSpPr>
        <p:spPr>
          <a:xfrm>
            <a:off x="658368" y="2148840"/>
            <a:ext cx="2267712" cy="548640"/>
          </a:xfrm>
          <a:prstGeom prst="rect">
            <a:avLst/>
          </a:prstGeom>
          <a:noFill/>
          <a:ln/>
        </p:spPr>
        <p:txBody>
          <a:bodyPr wrap="square" lIns="0" tIns="0" rIns="0" bIns="0" rtlCol="0" anchor="t"/>
          <a:lstStyle/>
          <a:p>
            <a:pPr indent="0" marL="0">
              <a:buNone/>
            </a:pPr>
            <a:r>
              <a:rPr lang="en-US" sz="1030" dirty="0">
                <a:solidFill>
                  <a:srgbClr val="334155"/>
                </a:solidFill>
                <a:latin typeface="Calibri" pitchFamily="34" charset="0"/>
                <a:ea typeface="Calibri" pitchFamily="34" charset="-122"/>
                <a:cs typeface="Calibri" pitchFamily="34" charset="-120"/>
              </a:rPr>
              <a:t>Transient API/tool errors → retry with jitter, capped attempts.</a:t>
            </a:r>
            <a:endParaRPr lang="en-US" sz="1030" dirty="0"/>
          </a:p>
        </p:txBody>
      </p:sp>
      <p:sp>
        <p:nvSpPr>
          <p:cNvPr id="12" name="Shape 8"/>
          <p:cNvSpPr/>
          <p:nvPr/>
        </p:nvSpPr>
        <p:spPr>
          <a:xfrm>
            <a:off x="3291840" y="1371600"/>
            <a:ext cx="2670048" cy="1371600"/>
          </a:xfrm>
          <a:prstGeom prst="roundRect">
            <a:avLst>
              <a:gd name="adj" fmla="val 5333"/>
            </a:avLst>
          </a:prstGeom>
          <a:solidFill>
            <a:srgbClr val="FFFFFF"/>
          </a:solidFill>
          <a:ln/>
          <a:effectLst>
            <a:outerShdw sx="100000" sy="100000" kx="0" ky="0" algn="bl" rotWithShape="0" blurRad="63500" dist="25400" dir="5400000">
              <a:srgbClr val="0F2233">
                <a:alpha val="10000"/>
              </a:srgbClr>
            </a:outerShdw>
          </a:effectLst>
        </p:spPr>
      </p:sp>
      <p:sp>
        <p:nvSpPr>
          <p:cNvPr id="13" name="Shape 9"/>
          <p:cNvSpPr/>
          <p:nvPr/>
        </p:nvSpPr>
        <p:spPr>
          <a:xfrm>
            <a:off x="3493008" y="1591056"/>
            <a:ext cx="512064" cy="512064"/>
          </a:xfrm>
          <a:prstGeom prst="ellipse">
            <a:avLst/>
          </a:prstGeom>
          <a:solidFill>
            <a:srgbClr val="F59E0B"/>
          </a:solidFill>
          <a:ln/>
        </p:spPr>
      </p:sp>
      <p:pic>
        <p:nvPicPr>
          <p:cNvPr id="14" name="Image 2" descr="preencoded.png">    </p:cNvPr>
          <p:cNvPicPr>
            <a:picLocks noChangeAspect="1"/>
          </p:cNvPicPr>
          <p:nvPr/>
        </p:nvPicPr>
        <p:blipFill>
          <a:blip r:embed="rId3"/>
          <a:stretch>
            <a:fillRect/>
          </a:stretch>
        </p:blipFill>
        <p:spPr>
          <a:xfrm>
            <a:off x="3631265" y="1729313"/>
            <a:ext cx="235549" cy="235549"/>
          </a:xfrm>
          <a:prstGeom prst="rect">
            <a:avLst/>
          </a:prstGeom>
        </p:spPr>
      </p:pic>
      <p:sp>
        <p:nvSpPr>
          <p:cNvPr id="15" name="Text 10"/>
          <p:cNvSpPr/>
          <p:nvPr/>
        </p:nvSpPr>
        <p:spPr>
          <a:xfrm>
            <a:off x="4096512" y="1572768"/>
            <a:ext cx="1755648" cy="502920"/>
          </a:xfrm>
          <a:prstGeom prst="rect">
            <a:avLst/>
          </a:prstGeom>
          <a:noFill/>
          <a:ln/>
        </p:spPr>
        <p:txBody>
          <a:bodyPr wrap="square" lIns="0" tIns="0" rIns="0" bIns="0" rtlCol="0" anchor="ctr"/>
          <a:lstStyle/>
          <a:p>
            <a:pPr indent="0" marL="0">
              <a:buNone/>
            </a:pPr>
            <a:r>
              <a:rPr lang="en-US" sz="1300" b="1" dirty="0">
                <a:solidFill>
                  <a:srgbClr val="0F2233"/>
                </a:solidFill>
                <a:latin typeface="Cambria" pitchFamily="34" charset="0"/>
                <a:ea typeface="Cambria" pitchFamily="34" charset="-122"/>
                <a:cs typeface="Cambria" pitchFamily="34" charset="-120"/>
              </a:rPr>
              <a:t>Fallbacks</a:t>
            </a:r>
            <a:endParaRPr lang="en-US" sz="1300" dirty="0"/>
          </a:p>
        </p:txBody>
      </p:sp>
      <p:sp>
        <p:nvSpPr>
          <p:cNvPr id="16" name="Text 11"/>
          <p:cNvSpPr/>
          <p:nvPr/>
        </p:nvSpPr>
        <p:spPr>
          <a:xfrm>
            <a:off x="3493008" y="2148840"/>
            <a:ext cx="2267712" cy="548640"/>
          </a:xfrm>
          <a:prstGeom prst="rect">
            <a:avLst/>
          </a:prstGeom>
          <a:noFill/>
          <a:ln/>
        </p:spPr>
        <p:txBody>
          <a:bodyPr wrap="square" lIns="0" tIns="0" rIns="0" bIns="0" rtlCol="0" anchor="t"/>
          <a:lstStyle/>
          <a:p>
            <a:pPr indent="0" marL="0">
              <a:buNone/>
            </a:pPr>
            <a:r>
              <a:rPr lang="en-US" sz="1030" dirty="0">
                <a:solidFill>
                  <a:srgbClr val="334155"/>
                </a:solidFill>
                <a:latin typeface="Calibri" pitchFamily="34" charset="0"/>
                <a:ea typeface="Calibri" pitchFamily="34" charset="-122"/>
                <a:cs typeface="Calibri" pitchFamily="34" charset="-120"/>
              </a:rPr>
              <a:t>Model or tool down → cheaper model, cached result, or safe default.</a:t>
            </a:r>
            <a:endParaRPr lang="en-US" sz="1030" dirty="0"/>
          </a:p>
        </p:txBody>
      </p:sp>
      <p:sp>
        <p:nvSpPr>
          <p:cNvPr id="17" name="Shape 12"/>
          <p:cNvSpPr/>
          <p:nvPr/>
        </p:nvSpPr>
        <p:spPr>
          <a:xfrm>
            <a:off x="6126480" y="1371600"/>
            <a:ext cx="2670048" cy="1371600"/>
          </a:xfrm>
          <a:prstGeom prst="roundRect">
            <a:avLst>
              <a:gd name="adj" fmla="val 5333"/>
            </a:avLst>
          </a:prstGeom>
          <a:solidFill>
            <a:srgbClr val="FFFFFF"/>
          </a:solidFill>
          <a:ln/>
          <a:effectLst>
            <a:outerShdw sx="100000" sy="100000" kx="0" ky="0" algn="bl" rotWithShape="0" blurRad="63500" dist="25400" dir="5400000">
              <a:srgbClr val="0F2233">
                <a:alpha val="10000"/>
              </a:srgbClr>
            </a:outerShdw>
          </a:effectLst>
        </p:spPr>
      </p:sp>
      <p:sp>
        <p:nvSpPr>
          <p:cNvPr id="18" name="Shape 13"/>
          <p:cNvSpPr/>
          <p:nvPr/>
        </p:nvSpPr>
        <p:spPr>
          <a:xfrm>
            <a:off x="6327648" y="1591056"/>
            <a:ext cx="512064" cy="512064"/>
          </a:xfrm>
          <a:prstGeom prst="ellipse">
            <a:avLst/>
          </a:prstGeom>
          <a:solidFill>
            <a:srgbClr val="0D9488"/>
          </a:solidFill>
          <a:ln/>
        </p:spPr>
      </p:sp>
      <p:pic>
        <p:nvPicPr>
          <p:cNvPr id="19" name="Image 3" descr="preencoded.png">    </p:cNvPr>
          <p:cNvPicPr>
            <a:picLocks noChangeAspect="1"/>
          </p:cNvPicPr>
          <p:nvPr/>
        </p:nvPicPr>
        <p:blipFill>
          <a:blip r:embed="rId4"/>
          <a:stretch>
            <a:fillRect/>
          </a:stretch>
        </p:blipFill>
        <p:spPr>
          <a:xfrm>
            <a:off x="6465905" y="1729313"/>
            <a:ext cx="235549" cy="235549"/>
          </a:xfrm>
          <a:prstGeom prst="rect">
            <a:avLst/>
          </a:prstGeom>
        </p:spPr>
      </p:pic>
      <p:sp>
        <p:nvSpPr>
          <p:cNvPr id="20" name="Text 14"/>
          <p:cNvSpPr/>
          <p:nvPr/>
        </p:nvSpPr>
        <p:spPr>
          <a:xfrm>
            <a:off x="6931152" y="1572768"/>
            <a:ext cx="1755648" cy="502920"/>
          </a:xfrm>
          <a:prstGeom prst="rect">
            <a:avLst/>
          </a:prstGeom>
          <a:noFill/>
          <a:ln/>
        </p:spPr>
        <p:txBody>
          <a:bodyPr wrap="square" lIns="0" tIns="0" rIns="0" bIns="0" rtlCol="0" anchor="ctr"/>
          <a:lstStyle/>
          <a:p>
            <a:pPr indent="0" marL="0">
              <a:buNone/>
            </a:pPr>
            <a:r>
              <a:rPr lang="en-US" sz="1300" b="1" dirty="0">
                <a:solidFill>
                  <a:srgbClr val="0F2233"/>
                </a:solidFill>
                <a:latin typeface="Cambria" pitchFamily="34" charset="0"/>
                <a:ea typeface="Cambria" pitchFamily="34" charset="-122"/>
                <a:cs typeface="Cambria" pitchFamily="34" charset="-120"/>
              </a:rPr>
              <a:t>Circuit breakers</a:t>
            </a:r>
            <a:endParaRPr lang="en-US" sz="1300" dirty="0"/>
          </a:p>
        </p:txBody>
      </p:sp>
      <p:sp>
        <p:nvSpPr>
          <p:cNvPr id="21" name="Text 15"/>
          <p:cNvSpPr/>
          <p:nvPr/>
        </p:nvSpPr>
        <p:spPr>
          <a:xfrm>
            <a:off x="6327648" y="2148840"/>
            <a:ext cx="2267712" cy="548640"/>
          </a:xfrm>
          <a:prstGeom prst="rect">
            <a:avLst/>
          </a:prstGeom>
          <a:noFill/>
          <a:ln/>
        </p:spPr>
        <p:txBody>
          <a:bodyPr wrap="square" lIns="0" tIns="0" rIns="0" bIns="0" rtlCol="0" anchor="t"/>
          <a:lstStyle/>
          <a:p>
            <a:pPr indent="0" marL="0">
              <a:buNone/>
            </a:pPr>
            <a:r>
              <a:rPr lang="en-US" sz="1030" dirty="0">
                <a:solidFill>
                  <a:srgbClr val="334155"/>
                </a:solidFill>
                <a:latin typeface="Calibri" pitchFamily="34" charset="0"/>
                <a:ea typeface="Calibri" pitchFamily="34" charset="-122"/>
                <a:cs typeface="Calibri" pitchFamily="34" charset="-120"/>
              </a:rPr>
              <a:t>Repeated failures → stop calling, fail fast, alert.</a:t>
            </a:r>
            <a:endParaRPr lang="en-US" sz="1030" dirty="0"/>
          </a:p>
        </p:txBody>
      </p:sp>
      <p:sp>
        <p:nvSpPr>
          <p:cNvPr id="22" name="Shape 16"/>
          <p:cNvSpPr/>
          <p:nvPr/>
        </p:nvSpPr>
        <p:spPr>
          <a:xfrm>
            <a:off x="457200" y="2944368"/>
            <a:ext cx="2670048" cy="1371600"/>
          </a:xfrm>
          <a:prstGeom prst="roundRect">
            <a:avLst>
              <a:gd name="adj" fmla="val 5333"/>
            </a:avLst>
          </a:prstGeom>
          <a:solidFill>
            <a:srgbClr val="FFFFFF"/>
          </a:solidFill>
          <a:ln/>
          <a:effectLst>
            <a:outerShdw sx="100000" sy="100000" kx="0" ky="0" algn="bl" rotWithShape="0" blurRad="63500" dist="25400" dir="5400000">
              <a:srgbClr val="0F2233">
                <a:alpha val="10000"/>
              </a:srgbClr>
            </a:outerShdw>
          </a:effectLst>
        </p:spPr>
      </p:sp>
      <p:sp>
        <p:nvSpPr>
          <p:cNvPr id="23" name="Shape 17"/>
          <p:cNvSpPr/>
          <p:nvPr/>
        </p:nvSpPr>
        <p:spPr>
          <a:xfrm>
            <a:off x="658368" y="3163824"/>
            <a:ext cx="512064" cy="512064"/>
          </a:xfrm>
          <a:prstGeom prst="ellipse">
            <a:avLst/>
          </a:prstGeom>
          <a:solidFill>
            <a:srgbClr val="F59E0B"/>
          </a:solidFill>
          <a:ln/>
        </p:spPr>
      </p:sp>
      <p:pic>
        <p:nvPicPr>
          <p:cNvPr id="24" name="Image 4" descr="preencoded.png">    </p:cNvPr>
          <p:cNvPicPr>
            <a:picLocks noChangeAspect="1"/>
          </p:cNvPicPr>
          <p:nvPr/>
        </p:nvPicPr>
        <p:blipFill>
          <a:blip r:embed="rId5"/>
          <a:stretch>
            <a:fillRect/>
          </a:stretch>
        </p:blipFill>
        <p:spPr>
          <a:xfrm>
            <a:off x="796625" y="3302081"/>
            <a:ext cx="235549" cy="235549"/>
          </a:xfrm>
          <a:prstGeom prst="rect">
            <a:avLst/>
          </a:prstGeom>
        </p:spPr>
      </p:pic>
      <p:sp>
        <p:nvSpPr>
          <p:cNvPr id="25" name="Text 18"/>
          <p:cNvSpPr/>
          <p:nvPr/>
        </p:nvSpPr>
        <p:spPr>
          <a:xfrm>
            <a:off x="1261872" y="3145536"/>
            <a:ext cx="1755648" cy="502920"/>
          </a:xfrm>
          <a:prstGeom prst="rect">
            <a:avLst/>
          </a:prstGeom>
          <a:noFill/>
          <a:ln/>
        </p:spPr>
        <p:txBody>
          <a:bodyPr wrap="square" lIns="0" tIns="0" rIns="0" bIns="0" rtlCol="0" anchor="ctr"/>
          <a:lstStyle/>
          <a:p>
            <a:pPr indent="0" marL="0">
              <a:buNone/>
            </a:pPr>
            <a:r>
              <a:rPr lang="en-US" sz="1300" b="1" dirty="0">
                <a:solidFill>
                  <a:srgbClr val="0F2233"/>
                </a:solidFill>
                <a:latin typeface="Cambria" pitchFamily="34" charset="0"/>
                <a:ea typeface="Cambria" pitchFamily="34" charset="-122"/>
                <a:cs typeface="Cambria" pitchFamily="34" charset="-120"/>
              </a:rPr>
              <a:t>Dead-letter queue</a:t>
            </a:r>
            <a:endParaRPr lang="en-US" sz="1300" dirty="0"/>
          </a:p>
        </p:txBody>
      </p:sp>
      <p:sp>
        <p:nvSpPr>
          <p:cNvPr id="26" name="Text 19"/>
          <p:cNvSpPr/>
          <p:nvPr/>
        </p:nvSpPr>
        <p:spPr>
          <a:xfrm>
            <a:off x="658368" y="3721608"/>
            <a:ext cx="2267712" cy="548640"/>
          </a:xfrm>
          <a:prstGeom prst="rect">
            <a:avLst/>
          </a:prstGeom>
          <a:noFill/>
          <a:ln/>
        </p:spPr>
        <p:txBody>
          <a:bodyPr wrap="square" lIns="0" tIns="0" rIns="0" bIns="0" rtlCol="0" anchor="t"/>
          <a:lstStyle/>
          <a:p>
            <a:pPr indent="0" marL="0">
              <a:buNone/>
            </a:pPr>
            <a:r>
              <a:rPr lang="en-US" sz="1030" dirty="0">
                <a:solidFill>
                  <a:srgbClr val="334155"/>
                </a:solidFill>
                <a:latin typeface="Calibri" pitchFamily="34" charset="0"/>
                <a:ea typeface="Calibri" pitchFamily="34" charset="-122"/>
                <a:cs typeface="Calibri" pitchFamily="34" charset="-120"/>
              </a:rPr>
              <a:t>Un-processable leads parked for inspection, never silently dropped.</a:t>
            </a:r>
            <a:endParaRPr lang="en-US" sz="1030" dirty="0"/>
          </a:p>
        </p:txBody>
      </p:sp>
      <p:sp>
        <p:nvSpPr>
          <p:cNvPr id="27" name="Shape 20"/>
          <p:cNvSpPr/>
          <p:nvPr/>
        </p:nvSpPr>
        <p:spPr>
          <a:xfrm>
            <a:off x="3291840" y="2944368"/>
            <a:ext cx="2670048" cy="1371600"/>
          </a:xfrm>
          <a:prstGeom prst="roundRect">
            <a:avLst>
              <a:gd name="adj" fmla="val 5333"/>
            </a:avLst>
          </a:prstGeom>
          <a:solidFill>
            <a:srgbClr val="FFFFFF"/>
          </a:solidFill>
          <a:ln/>
          <a:effectLst>
            <a:outerShdw sx="100000" sy="100000" kx="0" ky="0" algn="bl" rotWithShape="0" blurRad="63500" dist="25400" dir="5400000">
              <a:srgbClr val="0F2233">
                <a:alpha val="10000"/>
              </a:srgbClr>
            </a:outerShdw>
          </a:effectLst>
        </p:spPr>
      </p:sp>
      <p:sp>
        <p:nvSpPr>
          <p:cNvPr id="28" name="Shape 21"/>
          <p:cNvSpPr/>
          <p:nvPr/>
        </p:nvSpPr>
        <p:spPr>
          <a:xfrm>
            <a:off x="3493008" y="3163824"/>
            <a:ext cx="512064" cy="512064"/>
          </a:xfrm>
          <a:prstGeom prst="ellipse">
            <a:avLst/>
          </a:prstGeom>
          <a:solidFill>
            <a:srgbClr val="0D9488"/>
          </a:solidFill>
          <a:ln/>
        </p:spPr>
      </p:sp>
      <p:pic>
        <p:nvPicPr>
          <p:cNvPr id="29" name="Image 5" descr="preencoded.png">    </p:cNvPr>
          <p:cNvPicPr>
            <a:picLocks noChangeAspect="1"/>
          </p:cNvPicPr>
          <p:nvPr/>
        </p:nvPicPr>
        <p:blipFill>
          <a:blip r:embed="rId6"/>
          <a:stretch>
            <a:fillRect/>
          </a:stretch>
        </p:blipFill>
        <p:spPr>
          <a:xfrm>
            <a:off x="3631265" y="3302081"/>
            <a:ext cx="235549" cy="235549"/>
          </a:xfrm>
          <a:prstGeom prst="rect">
            <a:avLst/>
          </a:prstGeom>
        </p:spPr>
      </p:pic>
      <p:sp>
        <p:nvSpPr>
          <p:cNvPr id="30" name="Text 22"/>
          <p:cNvSpPr/>
          <p:nvPr/>
        </p:nvSpPr>
        <p:spPr>
          <a:xfrm>
            <a:off x="4096512" y="3145536"/>
            <a:ext cx="1755648" cy="502920"/>
          </a:xfrm>
          <a:prstGeom prst="rect">
            <a:avLst/>
          </a:prstGeom>
          <a:noFill/>
          <a:ln/>
        </p:spPr>
        <p:txBody>
          <a:bodyPr wrap="square" lIns="0" tIns="0" rIns="0" bIns="0" rtlCol="0" anchor="ctr"/>
          <a:lstStyle/>
          <a:p>
            <a:pPr indent="0" marL="0">
              <a:buNone/>
            </a:pPr>
            <a:r>
              <a:rPr lang="en-US" sz="1300" b="1" dirty="0">
                <a:solidFill>
                  <a:srgbClr val="0F2233"/>
                </a:solidFill>
                <a:latin typeface="Cambria" pitchFamily="34" charset="0"/>
                <a:ea typeface="Cambria" pitchFamily="34" charset="-122"/>
                <a:cs typeface="Cambria" pitchFamily="34" charset="-120"/>
              </a:rPr>
              <a:t>Idempotency</a:t>
            </a:r>
            <a:endParaRPr lang="en-US" sz="1300" dirty="0"/>
          </a:p>
        </p:txBody>
      </p:sp>
      <p:sp>
        <p:nvSpPr>
          <p:cNvPr id="31" name="Text 23"/>
          <p:cNvSpPr/>
          <p:nvPr/>
        </p:nvSpPr>
        <p:spPr>
          <a:xfrm>
            <a:off x="3493008" y="3721608"/>
            <a:ext cx="2267712" cy="548640"/>
          </a:xfrm>
          <a:prstGeom prst="rect">
            <a:avLst/>
          </a:prstGeom>
          <a:noFill/>
          <a:ln/>
        </p:spPr>
        <p:txBody>
          <a:bodyPr wrap="square" lIns="0" tIns="0" rIns="0" bIns="0" rtlCol="0" anchor="t"/>
          <a:lstStyle/>
          <a:p>
            <a:pPr indent="0" marL="0">
              <a:buNone/>
            </a:pPr>
            <a:r>
              <a:rPr lang="en-US" sz="1030" dirty="0">
                <a:solidFill>
                  <a:srgbClr val="334155"/>
                </a:solidFill>
                <a:latin typeface="Calibri" pitchFamily="34" charset="0"/>
                <a:ea typeface="Calibri" pitchFamily="34" charset="-122"/>
                <a:cs typeface="Calibri" pitchFamily="34" charset="-120"/>
              </a:rPr>
              <a:t>Safe to re-run; don't double-notify the same lead.</a:t>
            </a:r>
            <a:endParaRPr lang="en-US" sz="1030" dirty="0"/>
          </a:p>
        </p:txBody>
      </p:sp>
      <p:sp>
        <p:nvSpPr>
          <p:cNvPr id="32" name="Shape 24"/>
          <p:cNvSpPr/>
          <p:nvPr/>
        </p:nvSpPr>
        <p:spPr>
          <a:xfrm>
            <a:off x="6126480" y="2944368"/>
            <a:ext cx="2670048" cy="1371600"/>
          </a:xfrm>
          <a:prstGeom prst="roundRect">
            <a:avLst>
              <a:gd name="adj" fmla="val 5333"/>
            </a:avLst>
          </a:prstGeom>
          <a:solidFill>
            <a:srgbClr val="FFFFFF"/>
          </a:solidFill>
          <a:ln/>
          <a:effectLst>
            <a:outerShdw sx="100000" sy="100000" kx="0" ky="0" algn="bl" rotWithShape="0" blurRad="63500" dist="25400" dir="5400000">
              <a:srgbClr val="0F2233">
                <a:alpha val="10000"/>
              </a:srgbClr>
            </a:outerShdw>
          </a:effectLst>
        </p:spPr>
      </p:sp>
      <p:sp>
        <p:nvSpPr>
          <p:cNvPr id="33" name="Shape 25"/>
          <p:cNvSpPr/>
          <p:nvPr/>
        </p:nvSpPr>
        <p:spPr>
          <a:xfrm>
            <a:off x="6327648" y="3163824"/>
            <a:ext cx="512064" cy="512064"/>
          </a:xfrm>
          <a:prstGeom prst="ellipse">
            <a:avLst/>
          </a:prstGeom>
          <a:solidFill>
            <a:srgbClr val="F59E0B"/>
          </a:solidFill>
          <a:ln/>
        </p:spPr>
      </p:sp>
      <p:pic>
        <p:nvPicPr>
          <p:cNvPr id="34" name="Image 6" descr="preencoded.png">    </p:cNvPr>
          <p:cNvPicPr>
            <a:picLocks noChangeAspect="1"/>
          </p:cNvPicPr>
          <p:nvPr/>
        </p:nvPicPr>
        <p:blipFill>
          <a:blip r:embed="rId7"/>
          <a:stretch>
            <a:fillRect/>
          </a:stretch>
        </p:blipFill>
        <p:spPr>
          <a:xfrm>
            <a:off x="6465905" y="3302081"/>
            <a:ext cx="235549" cy="235549"/>
          </a:xfrm>
          <a:prstGeom prst="rect">
            <a:avLst/>
          </a:prstGeom>
        </p:spPr>
      </p:pic>
      <p:sp>
        <p:nvSpPr>
          <p:cNvPr id="35" name="Text 26"/>
          <p:cNvSpPr/>
          <p:nvPr/>
        </p:nvSpPr>
        <p:spPr>
          <a:xfrm>
            <a:off x="6931152" y="3145536"/>
            <a:ext cx="1755648" cy="502920"/>
          </a:xfrm>
          <a:prstGeom prst="rect">
            <a:avLst/>
          </a:prstGeom>
          <a:noFill/>
          <a:ln/>
        </p:spPr>
        <p:txBody>
          <a:bodyPr wrap="square" lIns="0" tIns="0" rIns="0" bIns="0" rtlCol="0" anchor="ctr"/>
          <a:lstStyle/>
          <a:p>
            <a:pPr indent="0" marL="0">
              <a:buNone/>
            </a:pPr>
            <a:r>
              <a:rPr lang="en-US" sz="1300" b="1" dirty="0">
                <a:solidFill>
                  <a:srgbClr val="0F2233"/>
                </a:solidFill>
                <a:latin typeface="Cambria" pitchFamily="34" charset="0"/>
                <a:ea typeface="Cambria" pitchFamily="34" charset="-122"/>
                <a:cs typeface="Cambria" pitchFamily="34" charset="-120"/>
              </a:rPr>
              <a:t>Graceful degradation</a:t>
            </a:r>
            <a:endParaRPr lang="en-US" sz="1300" dirty="0"/>
          </a:p>
        </p:txBody>
      </p:sp>
      <p:sp>
        <p:nvSpPr>
          <p:cNvPr id="36" name="Text 27"/>
          <p:cNvSpPr/>
          <p:nvPr/>
        </p:nvSpPr>
        <p:spPr>
          <a:xfrm>
            <a:off x="6327648" y="3721608"/>
            <a:ext cx="2267712" cy="548640"/>
          </a:xfrm>
          <a:prstGeom prst="rect">
            <a:avLst/>
          </a:prstGeom>
          <a:noFill/>
          <a:ln/>
        </p:spPr>
        <p:txBody>
          <a:bodyPr wrap="square" lIns="0" tIns="0" rIns="0" bIns="0" rtlCol="0" anchor="t"/>
          <a:lstStyle/>
          <a:p>
            <a:pPr indent="0" marL="0">
              <a:buNone/>
            </a:pPr>
            <a:r>
              <a:rPr lang="en-US" sz="1030" dirty="0">
                <a:solidFill>
                  <a:srgbClr val="334155"/>
                </a:solidFill>
                <a:latin typeface="Calibri" pitchFamily="34" charset="0"/>
                <a:ea typeface="Calibri" pitchFamily="34" charset="-122"/>
                <a:cs typeface="Calibri" pitchFamily="34" charset="-120"/>
              </a:rPr>
              <a:t>Return partial results + flag, rather than a hard crash.</a:t>
            </a:r>
            <a:endParaRPr lang="en-US" sz="103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34</a:t>
            </a:r>
            <a:endParaRPr lang="en-US" sz="850" dirty="0"/>
          </a:p>
        </p:txBody>
      </p:sp>
      <p:sp>
        <p:nvSpPr>
          <p:cNvPr id="4" name="Shape 2"/>
          <p:cNvSpPr/>
          <p:nvPr/>
        </p:nvSpPr>
        <p:spPr>
          <a:xfrm>
            <a:off x="457200" y="384048"/>
            <a:ext cx="566928" cy="566928"/>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Controlling Cost &amp; Latency</a:t>
            </a:r>
            <a:endParaRPr lang="en-US" sz="2600" dirty="0"/>
          </a:p>
        </p:txBody>
      </p:sp>
      <p:sp>
        <p:nvSpPr>
          <p:cNvPr id="7" name="Shape 4"/>
          <p:cNvSpPr/>
          <p:nvPr/>
        </p:nvSpPr>
        <p:spPr>
          <a:xfrm>
            <a:off x="457200" y="1417320"/>
            <a:ext cx="2697480" cy="2240280"/>
          </a:xfrm>
          <a:prstGeom prst="roundRect">
            <a:avLst>
              <a:gd name="adj" fmla="val 3265"/>
            </a:avLst>
          </a:prstGeom>
          <a:solidFill>
            <a:srgbClr val="FFFFFF"/>
          </a:solidFill>
          <a:ln/>
          <a:effectLst>
            <a:outerShdw sx="100000" sy="100000" kx="0" ky="0" algn="bl" rotWithShape="0" blurRad="63500" dist="25400" dir="5400000">
              <a:srgbClr val="0F2233">
                <a:alpha val="10000"/>
              </a:srgbClr>
            </a:outerShdw>
          </a:effectLst>
        </p:spPr>
      </p:sp>
      <p:sp>
        <p:nvSpPr>
          <p:cNvPr id="8" name="Shape 5"/>
          <p:cNvSpPr/>
          <p:nvPr/>
        </p:nvSpPr>
        <p:spPr>
          <a:xfrm>
            <a:off x="1476756" y="1627632"/>
            <a:ext cx="658368" cy="658368"/>
          </a:xfrm>
          <a:prstGeom prst="ellipse">
            <a:avLst/>
          </a:prstGeom>
          <a:solidFill>
            <a:srgbClr val="0D9488"/>
          </a:solidFill>
          <a:ln/>
        </p:spPr>
      </p:sp>
      <p:pic>
        <p:nvPicPr>
          <p:cNvPr id="9" name="Image 1" descr="preencoded.png">    </p:cNvPr>
          <p:cNvPicPr>
            <a:picLocks noChangeAspect="1"/>
          </p:cNvPicPr>
          <p:nvPr/>
        </p:nvPicPr>
        <p:blipFill>
          <a:blip r:embed="rId2"/>
          <a:stretch>
            <a:fillRect/>
          </a:stretch>
        </p:blipFill>
        <p:spPr>
          <a:xfrm>
            <a:off x="1654515" y="1805391"/>
            <a:ext cx="302849" cy="302849"/>
          </a:xfrm>
          <a:prstGeom prst="rect">
            <a:avLst/>
          </a:prstGeom>
        </p:spPr>
      </p:pic>
      <p:sp>
        <p:nvSpPr>
          <p:cNvPr id="10" name="Text 6"/>
          <p:cNvSpPr/>
          <p:nvPr/>
        </p:nvSpPr>
        <p:spPr>
          <a:xfrm>
            <a:off x="457200" y="2377440"/>
            <a:ext cx="2697480" cy="365760"/>
          </a:xfrm>
          <a:prstGeom prst="rect">
            <a:avLst/>
          </a:prstGeom>
          <a:noFill/>
          <a:ln/>
        </p:spPr>
        <p:txBody>
          <a:bodyPr wrap="square" lIns="0" tIns="0" rIns="0" bIns="0" rtlCol="0" anchor="ctr"/>
          <a:lstStyle/>
          <a:p>
            <a:pPr algn="ctr" indent="0" marL="0">
              <a:buNone/>
            </a:pPr>
            <a:r>
              <a:rPr lang="en-US" sz="1600" b="1" dirty="0">
                <a:solidFill>
                  <a:srgbClr val="0F2233"/>
                </a:solidFill>
                <a:latin typeface="Cambria" pitchFamily="34" charset="0"/>
                <a:ea typeface="Cambria" pitchFamily="34" charset="-122"/>
                <a:cs typeface="Cambria" pitchFamily="34" charset="-120"/>
              </a:rPr>
              <a:t>Tier your models</a:t>
            </a:r>
            <a:endParaRPr lang="en-US" sz="1600" dirty="0"/>
          </a:p>
        </p:txBody>
      </p:sp>
      <p:sp>
        <p:nvSpPr>
          <p:cNvPr id="11" name="Text 7"/>
          <p:cNvSpPr/>
          <p:nvPr/>
        </p:nvSpPr>
        <p:spPr>
          <a:xfrm>
            <a:off x="640080" y="2761488"/>
            <a:ext cx="2331720" cy="868680"/>
          </a:xfrm>
          <a:prstGeom prst="rect">
            <a:avLst/>
          </a:prstGeom>
          <a:noFill/>
          <a:ln/>
        </p:spPr>
        <p:txBody>
          <a:bodyPr wrap="square" lIns="0" tIns="0" rIns="0" bIns="0" rtlCol="0" anchor="t"/>
          <a:lstStyle/>
          <a:p>
            <a:pPr algn="ctr" indent="0" marL="0">
              <a:buNone/>
            </a:pPr>
            <a:r>
              <a:rPr lang="en-US" sz="1080" dirty="0">
                <a:solidFill>
                  <a:srgbClr val="334155"/>
                </a:solidFill>
                <a:latin typeface="Calibri" pitchFamily="34" charset="0"/>
                <a:ea typeface="Calibri" pitchFamily="34" charset="-122"/>
                <a:cs typeface="Calibri" pitchFamily="34" charset="-120"/>
              </a:rPr>
              <a:t>Haiku for extraction &amp; routing, Sonnet for judgement. Most steps don't need your biggest model.</a:t>
            </a:r>
            <a:endParaRPr lang="en-US" sz="1080" dirty="0"/>
          </a:p>
        </p:txBody>
      </p:sp>
      <p:sp>
        <p:nvSpPr>
          <p:cNvPr id="12" name="Shape 8"/>
          <p:cNvSpPr/>
          <p:nvPr/>
        </p:nvSpPr>
        <p:spPr>
          <a:xfrm>
            <a:off x="3337560" y="1417320"/>
            <a:ext cx="2697480" cy="2240280"/>
          </a:xfrm>
          <a:prstGeom prst="roundRect">
            <a:avLst>
              <a:gd name="adj" fmla="val 3265"/>
            </a:avLst>
          </a:prstGeom>
          <a:solidFill>
            <a:srgbClr val="FFFFFF"/>
          </a:solidFill>
          <a:ln/>
          <a:effectLst>
            <a:outerShdw sx="100000" sy="100000" kx="0" ky="0" algn="bl" rotWithShape="0" blurRad="63500" dist="25400" dir="5400000">
              <a:srgbClr val="0F2233">
                <a:alpha val="10000"/>
              </a:srgbClr>
            </a:outerShdw>
          </a:effectLst>
        </p:spPr>
      </p:sp>
      <p:sp>
        <p:nvSpPr>
          <p:cNvPr id="13" name="Shape 9"/>
          <p:cNvSpPr/>
          <p:nvPr/>
        </p:nvSpPr>
        <p:spPr>
          <a:xfrm>
            <a:off x="4357116" y="1627632"/>
            <a:ext cx="658368" cy="658368"/>
          </a:xfrm>
          <a:prstGeom prst="ellipse">
            <a:avLst/>
          </a:prstGeom>
          <a:solidFill>
            <a:srgbClr val="F59E0B"/>
          </a:solidFill>
          <a:ln/>
        </p:spPr>
      </p:sp>
      <p:pic>
        <p:nvPicPr>
          <p:cNvPr id="14" name="Image 2" descr="preencoded.png">    </p:cNvPr>
          <p:cNvPicPr>
            <a:picLocks noChangeAspect="1"/>
          </p:cNvPicPr>
          <p:nvPr/>
        </p:nvPicPr>
        <p:blipFill>
          <a:blip r:embed="rId3"/>
          <a:stretch>
            <a:fillRect/>
          </a:stretch>
        </p:blipFill>
        <p:spPr>
          <a:xfrm>
            <a:off x="4534875" y="1805391"/>
            <a:ext cx="302849" cy="302849"/>
          </a:xfrm>
          <a:prstGeom prst="rect">
            <a:avLst/>
          </a:prstGeom>
        </p:spPr>
      </p:pic>
      <p:sp>
        <p:nvSpPr>
          <p:cNvPr id="15" name="Text 10"/>
          <p:cNvSpPr/>
          <p:nvPr/>
        </p:nvSpPr>
        <p:spPr>
          <a:xfrm>
            <a:off x="3337560" y="2377440"/>
            <a:ext cx="2697480" cy="365760"/>
          </a:xfrm>
          <a:prstGeom prst="rect">
            <a:avLst/>
          </a:prstGeom>
          <a:noFill/>
          <a:ln/>
        </p:spPr>
        <p:txBody>
          <a:bodyPr wrap="square" lIns="0" tIns="0" rIns="0" bIns="0" rtlCol="0" anchor="ctr"/>
          <a:lstStyle/>
          <a:p>
            <a:pPr algn="ctr" indent="0" marL="0">
              <a:buNone/>
            </a:pPr>
            <a:r>
              <a:rPr lang="en-US" sz="1600" b="1" dirty="0">
                <a:solidFill>
                  <a:srgbClr val="0F2233"/>
                </a:solidFill>
                <a:latin typeface="Cambria" pitchFamily="34" charset="0"/>
                <a:ea typeface="Cambria" pitchFamily="34" charset="-122"/>
                <a:cs typeface="Cambria" pitchFamily="34" charset="-120"/>
              </a:rPr>
              <a:t>Parallelise</a:t>
            </a:r>
            <a:endParaRPr lang="en-US" sz="1600" dirty="0"/>
          </a:p>
        </p:txBody>
      </p:sp>
      <p:sp>
        <p:nvSpPr>
          <p:cNvPr id="16" name="Text 11"/>
          <p:cNvSpPr/>
          <p:nvPr/>
        </p:nvSpPr>
        <p:spPr>
          <a:xfrm>
            <a:off x="3520440" y="2761488"/>
            <a:ext cx="2331720" cy="868680"/>
          </a:xfrm>
          <a:prstGeom prst="rect">
            <a:avLst/>
          </a:prstGeom>
          <a:noFill/>
          <a:ln/>
        </p:spPr>
        <p:txBody>
          <a:bodyPr wrap="square" lIns="0" tIns="0" rIns="0" bIns="0" rtlCol="0" anchor="t"/>
          <a:lstStyle/>
          <a:p>
            <a:pPr algn="ctr" indent="0" marL="0">
              <a:buNone/>
            </a:pPr>
            <a:r>
              <a:rPr lang="en-US" sz="1080" dirty="0">
                <a:solidFill>
                  <a:srgbClr val="334155"/>
                </a:solidFill>
                <a:latin typeface="Calibri" pitchFamily="34" charset="0"/>
                <a:ea typeface="Calibri" pitchFamily="34" charset="-122"/>
                <a:cs typeface="Calibri" pitchFamily="34" charset="-120"/>
              </a:rPr>
              <a:t>Independent leads (and independent sub-tasks) run concurrently, not in series.</a:t>
            </a:r>
            <a:endParaRPr lang="en-US" sz="1080" dirty="0"/>
          </a:p>
        </p:txBody>
      </p:sp>
      <p:sp>
        <p:nvSpPr>
          <p:cNvPr id="17" name="Shape 12"/>
          <p:cNvSpPr/>
          <p:nvPr/>
        </p:nvSpPr>
        <p:spPr>
          <a:xfrm>
            <a:off x="6217920" y="1417320"/>
            <a:ext cx="2697480" cy="2240280"/>
          </a:xfrm>
          <a:prstGeom prst="roundRect">
            <a:avLst>
              <a:gd name="adj" fmla="val 3265"/>
            </a:avLst>
          </a:prstGeom>
          <a:solidFill>
            <a:srgbClr val="FFFFFF"/>
          </a:solidFill>
          <a:ln/>
          <a:effectLst>
            <a:outerShdw sx="100000" sy="100000" kx="0" ky="0" algn="bl" rotWithShape="0" blurRad="63500" dist="25400" dir="5400000">
              <a:srgbClr val="0F2233">
                <a:alpha val="10000"/>
              </a:srgbClr>
            </a:outerShdw>
          </a:effectLst>
        </p:spPr>
      </p:sp>
      <p:sp>
        <p:nvSpPr>
          <p:cNvPr id="18" name="Shape 13"/>
          <p:cNvSpPr/>
          <p:nvPr/>
        </p:nvSpPr>
        <p:spPr>
          <a:xfrm>
            <a:off x="7237476" y="1627632"/>
            <a:ext cx="658368" cy="658368"/>
          </a:xfrm>
          <a:prstGeom prst="ellipse">
            <a:avLst/>
          </a:prstGeom>
          <a:solidFill>
            <a:srgbClr val="0D9488"/>
          </a:solidFill>
          <a:ln/>
        </p:spPr>
      </p:sp>
      <p:pic>
        <p:nvPicPr>
          <p:cNvPr id="19" name="Image 3" descr="preencoded.png">    </p:cNvPr>
          <p:cNvPicPr>
            <a:picLocks noChangeAspect="1"/>
          </p:cNvPicPr>
          <p:nvPr/>
        </p:nvPicPr>
        <p:blipFill>
          <a:blip r:embed="rId4"/>
          <a:stretch>
            <a:fillRect/>
          </a:stretch>
        </p:blipFill>
        <p:spPr>
          <a:xfrm>
            <a:off x="7415235" y="1805391"/>
            <a:ext cx="302849" cy="302849"/>
          </a:xfrm>
          <a:prstGeom prst="rect">
            <a:avLst/>
          </a:prstGeom>
        </p:spPr>
      </p:pic>
      <p:sp>
        <p:nvSpPr>
          <p:cNvPr id="20" name="Text 14"/>
          <p:cNvSpPr/>
          <p:nvPr/>
        </p:nvSpPr>
        <p:spPr>
          <a:xfrm>
            <a:off x="6217920" y="2377440"/>
            <a:ext cx="2697480" cy="365760"/>
          </a:xfrm>
          <a:prstGeom prst="rect">
            <a:avLst/>
          </a:prstGeom>
          <a:noFill/>
          <a:ln/>
        </p:spPr>
        <p:txBody>
          <a:bodyPr wrap="square" lIns="0" tIns="0" rIns="0" bIns="0" rtlCol="0" anchor="ctr"/>
          <a:lstStyle/>
          <a:p>
            <a:pPr algn="ctr" indent="0" marL="0">
              <a:buNone/>
            </a:pPr>
            <a:r>
              <a:rPr lang="en-US" sz="1600" b="1" dirty="0">
                <a:solidFill>
                  <a:srgbClr val="0F2233"/>
                </a:solidFill>
                <a:latin typeface="Cambria" pitchFamily="34" charset="0"/>
                <a:ea typeface="Cambria" pitchFamily="34" charset="-122"/>
                <a:cs typeface="Cambria" pitchFamily="34" charset="-120"/>
              </a:rPr>
              <a:t>Cache &amp; dedupe</a:t>
            </a:r>
            <a:endParaRPr lang="en-US" sz="1600" dirty="0"/>
          </a:p>
        </p:txBody>
      </p:sp>
      <p:sp>
        <p:nvSpPr>
          <p:cNvPr id="21" name="Text 15"/>
          <p:cNvSpPr/>
          <p:nvPr/>
        </p:nvSpPr>
        <p:spPr>
          <a:xfrm>
            <a:off x="6400800" y="2761488"/>
            <a:ext cx="2331720" cy="868680"/>
          </a:xfrm>
          <a:prstGeom prst="rect">
            <a:avLst/>
          </a:prstGeom>
          <a:noFill/>
          <a:ln/>
        </p:spPr>
        <p:txBody>
          <a:bodyPr wrap="square" lIns="0" tIns="0" rIns="0" bIns="0" rtlCol="0" anchor="t"/>
          <a:lstStyle/>
          <a:p>
            <a:pPr algn="ctr" indent="0" marL="0">
              <a:buNone/>
            </a:pPr>
            <a:r>
              <a:rPr lang="en-US" sz="1080" dirty="0">
                <a:solidFill>
                  <a:srgbClr val="334155"/>
                </a:solidFill>
                <a:latin typeface="Calibri" pitchFamily="34" charset="0"/>
                <a:ea typeface="Calibri" pitchFamily="34" charset="-122"/>
                <a:cs typeface="Calibri" pitchFamily="34" charset="-120"/>
              </a:rPr>
              <a:t>Prompt caching for stable context; skip leads already processed.</a:t>
            </a:r>
            <a:endParaRPr lang="en-US" sz="1080" dirty="0"/>
          </a:p>
        </p:txBody>
      </p:sp>
      <p:sp>
        <p:nvSpPr>
          <p:cNvPr id="22" name="Shape 16"/>
          <p:cNvSpPr/>
          <p:nvPr/>
        </p:nvSpPr>
        <p:spPr>
          <a:xfrm>
            <a:off x="457200" y="3886200"/>
            <a:ext cx="8229600" cy="731520"/>
          </a:xfrm>
          <a:prstGeom prst="roundRect">
            <a:avLst>
              <a:gd name="adj" fmla="val 10000"/>
            </a:avLst>
          </a:prstGeom>
          <a:solidFill>
            <a:srgbClr val="0E2A3B"/>
          </a:solidFill>
          <a:ln/>
        </p:spPr>
      </p:sp>
      <p:sp>
        <p:nvSpPr>
          <p:cNvPr id="23" name="Text 17"/>
          <p:cNvSpPr/>
          <p:nvPr/>
        </p:nvSpPr>
        <p:spPr>
          <a:xfrm>
            <a:off x="658368" y="3886200"/>
            <a:ext cx="7863840" cy="731520"/>
          </a:xfrm>
          <a:prstGeom prst="rect">
            <a:avLst/>
          </a:prstGeom>
          <a:noFill/>
          <a:ln/>
        </p:spPr>
        <p:txBody>
          <a:bodyPr wrap="square" lIns="0" tIns="0" rIns="0" bIns="0" rtlCol="0" anchor="ctr"/>
          <a:lstStyle/>
          <a:p>
            <a:pPr indent="0" marL="0">
              <a:buNone/>
            </a:pPr>
            <a:r>
              <a:rPr lang="en-US" sz="1150" b="1" dirty="0">
                <a:solidFill>
                  <a:srgbClr val="5EEAD4"/>
                </a:solidFill>
                <a:latin typeface="Calibri" pitchFamily="34" charset="0"/>
                <a:ea typeface="Calibri" pitchFamily="34" charset="-122"/>
                <a:cs typeface="Calibri" pitchFamily="34" charset="-120"/>
              </a:rPr>
              <a:t>Measure first.  </a:t>
            </a:r>
            <a:pPr indent="0" marL="0">
              <a:buNone/>
            </a:pPr>
            <a:r>
              <a:rPr lang="en-US" sz="1150" dirty="0">
                <a:solidFill>
                  <a:srgbClr val="DCEAE6"/>
                </a:solidFill>
                <a:latin typeface="Calibri" pitchFamily="34" charset="0"/>
                <a:ea typeface="Calibri" pitchFamily="34" charset="-122"/>
                <a:cs typeface="Calibri" pitchFamily="34" charset="-120"/>
              </a:rPr>
              <a:t>Your trace already shows where time and tokens concentrate — optimise the hot span, not the whole pipeline. Premature optimisation hides in agents too.</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E2A3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309360" y="-365760"/>
            <a:ext cx="3840480" cy="3840480"/>
          </a:xfrm>
          <a:prstGeom prst="rect">
            <a:avLst/>
          </a:prstGeom>
        </p:spPr>
      </p:pic>
      <p:sp>
        <p:nvSpPr>
          <p:cNvPr id="3" name="Shape 0"/>
          <p:cNvSpPr/>
          <p:nvPr/>
        </p:nvSpPr>
        <p:spPr>
          <a:xfrm>
            <a:off x="6309360" y="-365760"/>
            <a:ext cx="3840480" cy="3840480"/>
          </a:xfrm>
          <a:prstGeom prst="rect">
            <a:avLst/>
          </a:prstGeom>
          <a:solidFill>
            <a:srgbClr val="0E2A3B">
              <a:alpha val="78000"/>
            </a:srgbClr>
          </a:solidFill>
          <a:ln/>
        </p:spPr>
      </p:sp>
      <p:sp>
        <p:nvSpPr>
          <p:cNvPr id="4" name="Shape 1"/>
          <p:cNvSpPr/>
          <p:nvPr/>
        </p:nvSpPr>
        <p:spPr>
          <a:xfrm>
            <a:off x="640080" y="1371600"/>
            <a:ext cx="914400" cy="914400"/>
          </a:xfrm>
          <a:prstGeom prst="ellipse">
            <a:avLst/>
          </a:prstGeom>
          <a:solidFill>
            <a:srgbClr val="0D9488"/>
          </a:solidFill>
          <a:ln/>
        </p:spPr>
      </p:sp>
      <p:pic>
        <p:nvPicPr>
          <p:cNvPr id="5" name="Image 1" descr="preencoded.png">    </p:cNvPr>
          <p:cNvPicPr>
            <a:picLocks noChangeAspect="1"/>
          </p:cNvPicPr>
          <p:nvPr/>
        </p:nvPicPr>
        <p:blipFill>
          <a:blip r:embed="rId2"/>
          <a:stretch>
            <a:fillRect/>
          </a:stretch>
        </p:blipFill>
        <p:spPr>
          <a:xfrm>
            <a:off x="886968" y="1618488"/>
            <a:ext cx="420624" cy="420624"/>
          </a:xfrm>
          <a:prstGeom prst="rect">
            <a:avLst/>
          </a:prstGeom>
        </p:spPr>
      </p:pic>
      <p:sp>
        <p:nvSpPr>
          <p:cNvPr id="6" name="Text 2"/>
          <p:cNvSpPr/>
          <p:nvPr/>
        </p:nvSpPr>
        <p:spPr>
          <a:xfrm>
            <a:off x="685800" y="2468880"/>
            <a:ext cx="7315200" cy="365760"/>
          </a:xfrm>
          <a:prstGeom prst="rect">
            <a:avLst/>
          </a:prstGeom>
          <a:noFill/>
          <a:ln/>
        </p:spPr>
        <p:txBody>
          <a:bodyPr wrap="square" lIns="0" tIns="0" rIns="0" bIns="0" rtlCol="0" anchor="ctr"/>
          <a:lstStyle/>
          <a:p>
            <a:pPr indent="0" marL="0">
              <a:buNone/>
            </a:pPr>
            <a:r>
              <a:rPr lang="en-US" sz="1400" b="1" spc="300" kern="0" dirty="0">
                <a:solidFill>
                  <a:srgbClr val="5EEAD4"/>
                </a:solidFill>
                <a:latin typeface="Calibri" pitchFamily="34" charset="0"/>
                <a:ea typeface="Calibri" pitchFamily="34" charset="-122"/>
                <a:cs typeface="Calibri" pitchFamily="34" charset="-120"/>
              </a:rPr>
              <a:t>MODULE 4 · HOURS 5:30–7:30</a:t>
            </a:r>
            <a:endParaRPr lang="en-US" sz="1400" dirty="0"/>
          </a:p>
        </p:txBody>
      </p:sp>
      <p:sp>
        <p:nvSpPr>
          <p:cNvPr id="7" name="Text 3"/>
          <p:cNvSpPr/>
          <p:nvPr/>
        </p:nvSpPr>
        <p:spPr>
          <a:xfrm>
            <a:off x="640080" y="2788920"/>
            <a:ext cx="804672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Capstone: Lead-Generation System</a:t>
            </a:r>
            <a:endParaRPr lang="en-US" sz="3800" dirty="0"/>
          </a:p>
        </p:txBody>
      </p:sp>
      <p:sp>
        <p:nvSpPr>
          <p:cNvPr id="8" name="Text 4"/>
          <p:cNvSpPr/>
          <p:nvPr/>
        </p:nvSpPr>
        <p:spPr>
          <a:xfrm>
            <a:off x="685800" y="3794760"/>
            <a:ext cx="7863840" cy="640080"/>
          </a:xfrm>
          <a:prstGeom prst="rect">
            <a:avLst/>
          </a:prstGeom>
          <a:noFill/>
          <a:ln/>
        </p:spPr>
        <p:txBody>
          <a:bodyPr wrap="square" lIns="0" tIns="0" rIns="0" bIns="0" rtlCol="0" anchor="ctr"/>
          <a:lstStyle/>
          <a:p>
            <a:pPr indent="0" marL="0">
              <a:buNone/>
            </a:pPr>
            <a:r>
              <a:rPr lang="en-US" sz="1400" dirty="0">
                <a:solidFill>
                  <a:srgbClr val="C9D6DF"/>
                </a:solidFill>
                <a:latin typeface="Calibri" pitchFamily="34" charset="0"/>
                <a:ea typeface="Calibri" pitchFamily="34" charset="-122"/>
                <a:cs typeface="Calibri" pitchFamily="34" charset="-120"/>
              </a:rPr>
              <a:t>Everything so far, assembled: a four-agent pipeline that finds, qualifies, summarises and notifies on leads — fully traced, guarded, compliant and self-improving.</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36</a:t>
            </a:r>
            <a:endParaRPr lang="en-US" sz="850" dirty="0"/>
          </a:p>
        </p:txBody>
      </p:sp>
      <p:sp>
        <p:nvSpPr>
          <p:cNvPr id="4" name="Shape 2"/>
          <p:cNvSpPr/>
          <p:nvPr/>
        </p:nvSpPr>
        <p:spPr>
          <a:xfrm>
            <a:off x="457200" y="384048"/>
            <a:ext cx="566928" cy="566928"/>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Lead-Gen System Architecture</a:t>
            </a:r>
            <a:endParaRPr lang="en-US" sz="2600" dirty="0"/>
          </a:p>
        </p:txBody>
      </p:sp>
      <p:sp>
        <p:nvSpPr>
          <p:cNvPr id="7" name="Shape 4"/>
          <p:cNvSpPr/>
          <p:nvPr/>
        </p:nvSpPr>
        <p:spPr>
          <a:xfrm>
            <a:off x="457200" y="1691640"/>
            <a:ext cx="1874520" cy="1143000"/>
          </a:xfrm>
          <a:prstGeom prst="roundRect">
            <a:avLst>
              <a:gd name="adj" fmla="val 6400"/>
            </a:avLst>
          </a:prstGeom>
          <a:solidFill>
            <a:srgbClr val="0D9488"/>
          </a:solidFill>
          <a:ln/>
          <a:effectLst>
            <a:outerShdw sx="100000" sy="100000" kx="0" ky="0" algn="bl" rotWithShape="0" blurRad="63500" dist="25400" dir="5400000">
              <a:srgbClr val="0F2233">
                <a:alpha val="10000"/>
              </a:srgbClr>
            </a:outerShdw>
          </a:effectLst>
        </p:spPr>
      </p:sp>
      <p:sp>
        <p:nvSpPr>
          <p:cNvPr id="8" name="Text 5"/>
          <p:cNvSpPr/>
          <p:nvPr/>
        </p:nvSpPr>
        <p:spPr>
          <a:xfrm>
            <a:off x="530352" y="1810512"/>
            <a:ext cx="1728216"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 · Researcher</a:t>
            </a:r>
            <a:endParaRPr lang="en-US" sz="1200" dirty="0"/>
          </a:p>
        </p:txBody>
      </p:sp>
      <p:sp>
        <p:nvSpPr>
          <p:cNvPr id="9" name="Text 6"/>
          <p:cNvSpPr/>
          <p:nvPr/>
        </p:nvSpPr>
        <p:spPr>
          <a:xfrm>
            <a:off x="548640" y="2167128"/>
            <a:ext cx="1691640" cy="594360"/>
          </a:xfrm>
          <a:prstGeom prst="rect">
            <a:avLst/>
          </a:prstGeom>
          <a:noFill/>
          <a:ln/>
        </p:spPr>
        <p:txBody>
          <a:bodyPr wrap="square" lIns="0" tIns="0" rIns="0" bIns="0" rtlCol="0" anchor="t"/>
          <a:lstStyle/>
          <a:p>
            <a:pPr algn="ctr" indent="0" marL="0">
              <a:buNone/>
            </a:pPr>
            <a:r>
              <a:rPr lang="en-US" sz="860" dirty="0">
                <a:solidFill>
                  <a:srgbClr val="CFE6E1"/>
                </a:solidFill>
                <a:latin typeface="Calibri" pitchFamily="34" charset="0"/>
                <a:ea typeface="Calibri" pitchFamily="34" charset="-122"/>
                <a:cs typeface="Calibri" pitchFamily="34" charset="-120"/>
              </a:rPr>
              <a:t>enrich raw lead</a:t>
            </a:r>
            <a:endParaRPr lang="en-US" sz="860" dirty="0"/>
          </a:p>
          <a:p>
            <a:pPr algn="ctr" indent="0" marL="0">
              <a:buNone/>
            </a:pPr>
            <a:r>
              <a:rPr lang="en-US" sz="860" dirty="0">
                <a:solidFill>
                  <a:srgbClr val="CFE6E1"/>
                </a:solidFill>
                <a:latin typeface="Calibri" pitchFamily="34" charset="0"/>
                <a:ea typeface="Calibri" pitchFamily="34" charset="-122"/>
                <a:cs typeface="Calibri" pitchFamily="34" charset="-120"/>
              </a:rPr>
              <a:t>Haiku + lookup</a:t>
            </a:r>
            <a:endParaRPr lang="en-US" sz="860" dirty="0"/>
          </a:p>
        </p:txBody>
      </p:sp>
      <p:sp>
        <p:nvSpPr>
          <p:cNvPr id="10" name="Shape 7"/>
          <p:cNvSpPr/>
          <p:nvPr/>
        </p:nvSpPr>
        <p:spPr>
          <a:xfrm>
            <a:off x="2350008" y="2157984"/>
            <a:ext cx="210312" cy="237744"/>
          </a:xfrm>
          <a:prstGeom prst="rightArrow">
            <a:avLst/>
          </a:prstGeom>
          <a:solidFill>
            <a:srgbClr val="F59E0B"/>
          </a:solidFill>
          <a:ln/>
        </p:spPr>
      </p:sp>
      <p:sp>
        <p:nvSpPr>
          <p:cNvPr id="11" name="Shape 8"/>
          <p:cNvSpPr/>
          <p:nvPr/>
        </p:nvSpPr>
        <p:spPr>
          <a:xfrm>
            <a:off x="2578608" y="1691640"/>
            <a:ext cx="1874520" cy="1143000"/>
          </a:xfrm>
          <a:prstGeom prst="roundRect">
            <a:avLst>
              <a:gd name="adj" fmla="val 6400"/>
            </a:avLst>
          </a:prstGeom>
          <a:solidFill>
            <a:srgbClr val="14405A"/>
          </a:solidFill>
          <a:ln/>
          <a:effectLst>
            <a:outerShdw sx="100000" sy="100000" kx="0" ky="0" algn="bl" rotWithShape="0" blurRad="63500" dist="25400" dir="5400000">
              <a:srgbClr val="0F2233">
                <a:alpha val="10000"/>
              </a:srgbClr>
            </a:outerShdw>
          </a:effectLst>
        </p:spPr>
      </p:sp>
      <p:sp>
        <p:nvSpPr>
          <p:cNvPr id="12" name="Text 9"/>
          <p:cNvSpPr/>
          <p:nvPr/>
        </p:nvSpPr>
        <p:spPr>
          <a:xfrm>
            <a:off x="2651760" y="1810512"/>
            <a:ext cx="1728216"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 · Qualifier</a:t>
            </a:r>
            <a:endParaRPr lang="en-US" sz="1200" dirty="0"/>
          </a:p>
        </p:txBody>
      </p:sp>
      <p:sp>
        <p:nvSpPr>
          <p:cNvPr id="13" name="Text 10"/>
          <p:cNvSpPr/>
          <p:nvPr/>
        </p:nvSpPr>
        <p:spPr>
          <a:xfrm>
            <a:off x="2670048" y="2167128"/>
            <a:ext cx="1691640" cy="594360"/>
          </a:xfrm>
          <a:prstGeom prst="rect">
            <a:avLst/>
          </a:prstGeom>
          <a:noFill/>
          <a:ln/>
        </p:spPr>
        <p:txBody>
          <a:bodyPr wrap="square" lIns="0" tIns="0" rIns="0" bIns="0" rtlCol="0" anchor="t"/>
          <a:lstStyle/>
          <a:p>
            <a:pPr algn="ctr" indent="0" marL="0">
              <a:buNone/>
            </a:pPr>
            <a:r>
              <a:rPr lang="en-US" sz="860" dirty="0">
                <a:solidFill>
                  <a:srgbClr val="CFE6E1"/>
                </a:solidFill>
                <a:latin typeface="Calibri" pitchFamily="34" charset="0"/>
                <a:ea typeface="Calibri" pitchFamily="34" charset="-122"/>
                <a:cs typeface="Calibri" pitchFamily="34" charset="-120"/>
              </a:rPr>
              <a:t>fit score 0–100</a:t>
            </a:r>
            <a:endParaRPr lang="en-US" sz="860" dirty="0"/>
          </a:p>
          <a:p>
            <a:pPr algn="ctr" indent="0" marL="0">
              <a:buNone/>
            </a:pPr>
            <a:r>
              <a:rPr lang="en-US" sz="860" dirty="0">
                <a:solidFill>
                  <a:srgbClr val="CFE6E1"/>
                </a:solidFill>
                <a:latin typeface="Calibri" pitchFamily="34" charset="0"/>
                <a:ea typeface="Calibri" pitchFamily="34" charset="-122"/>
                <a:cs typeface="Calibri" pitchFamily="34" charset="-120"/>
              </a:rPr>
              <a:t>Sonnet</a:t>
            </a:r>
            <a:endParaRPr lang="en-US" sz="860" dirty="0"/>
          </a:p>
        </p:txBody>
      </p:sp>
      <p:sp>
        <p:nvSpPr>
          <p:cNvPr id="14" name="Shape 11"/>
          <p:cNvSpPr/>
          <p:nvPr/>
        </p:nvSpPr>
        <p:spPr>
          <a:xfrm>
            <a:off x="2578608" y="1691640"/>
            <a:ext cx="1874520" cy="1143000"/>
          </a:xfrm>
          <a:prstGeom prst="roundRect">
            <a:avLst>
              <a:gd name="adj" fmla="val 4800"/>
            </a:avLst>
          </a:prstGeom>
          <a:ln w="25400">
            <a:solidFill>
              <a:srgbClr val="F59E0B"/>
            </a:solidFill>
            <a:prstDash val="solid"/>
          </a:ln>
        </p:spPr>
      </p:sp>
      <p:sp>
        <p:nvSpPr>
          <p:cNvPr id="15" name="Shape 12"/>
          <p:cNvSpPr/>
          <p:nvPr/>
        </p:nvSpPr>
        <p:spPr>
          <a:xfrm>
            <a:off x="4471416" y="2157984"/>
            <a:ext cx="210312" cy="237744"/>
          </a:xfrm>
          <a:prstGeom prst="rightArrow">
            <a:avLst/>
          </a:prstGeom>
          <a:solidFill>
            <a:srgbClr val="F59E0B"/>
          </a:solidFill>
          <a:ln/>
        </p:spPr>
      </p:sp>
      <p:sp>
        <p:nvSpPr>
          <p:cNvPr id="16" name="Shape 13"/>
          <p:cNvSpPr/>
          <p:nvPr/>
        </p:nvSpPr>
        <p:spPr>
          <a:xfrm>
            <a:off x="4700016" y="1691640"/>
            <a:ext cx="1874520" cy="1143000"/>
          </a:xfrm>
          <a:prstGeom prst="roundRect">
            <a:avLst>
              <a:gd name="adj" fmla="val 6400"/>
            </a:avLst>
          </a:prstGeom>
          <a:solidFill>
            <a:srgbClr val="0D9488"/>
          </a:solidFill>
          <a:ln/>
          <a:effectLst>
            <a:outerShdw sx="100000" sy="100000" kx="0" ky="0" algn="bl" rotWithShape="0" blurRad="63500" dist="25400" dir="5400000">
              <a:srgbClr val="0F2233">
                <a:alpha val="10000"/>
              </a:srgbClr>
            </a:outerShdw>
          </a:effectLst>
        </p:spPr>
      </p:sp>
      <p:sp>
        <p:nvSpPr>
          <p:cNvPr id="17" name="Text 14"/>
          <p:cNvSpPr/>
          <p:nvPr/>
        </p:nvSpPr>
        <p:spPr>
          <a:xfrm>
            <a:off x="4773168" y="1810512"/>
            <a:ext cx="1728216"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 · Summariser</a:t>
            </a:r>
            <a:endParaRPr lang="en-US" sz="1200" dirty="0"/>
          </a:p>
        </p:txBody>
      </p:sp>
      <p:sp>
        <p:nvSpPr>
          <p:cNvPr id="18" name="Text 15"/>
          <p:cNvSpPr/>
          <p:nvPr/>
        </p:nvSpPr>
        <p:spPr>
          <a:xfrm>
            <a:off x="4791456" y="2167128"/>
            <a:ext cx="1691640" cy="594360"/>
          </a:xfrm>
          <a:prstGeom prst="rect">
            <a:avLst/>
          </a:prstGeom>
          <a:noFill/>
          <a:ln/>
        </p:spPr>
        <p:txBody>
          <a:bodyPr wrap="square" lIns="0" tIns="0" rIns="0" bIns="0" rtlCol="0" anchor="t"/>
          <a:lstStyle/>
          <a:p>
            <a:pPr algn="ctr" indent="0" marL="0">
              <a:buNone/>
            </a:pPr>
            <a:r>
              <a:rPr lang="en-US" sz="860" dirty="0">
                <a:solidFill>
                  <a:srgbClr val="CFE6E1"/>
                </a:solidFill>
                <a:latin typeface="Calibri" pitchFamily="34" charset="0"/>
                <a:ea typeface="Calibri" pitchFamily="34" charset="-122"/>
                <a:cs typeface="Calibri" pitchFamily="34" charset="-120"/>
              </a:rPr>
              <a:t>sales-ready brief</a:t>
            </a:r>
            <a:endParaRPr lang="en-US" sz="860" dirty="0"/>
          </a:p>
          <a:p>
            <a:pPr algn="ctr" indent="0" marL="0">
              <a:buNone/>
            </a:pPr>
            <a:r>
              <a:rPr lang="en-US" sz="860" dirty="0">
                <a:solidFill>
                  <a:srgbClr val="CFE6E1"/>
                </a:solidFill>
                <a:latin typeface="Calibri" pitchFamily="34" charset="0"/>
                <a:ea typeface="Calibri" pitchFamily="34" charset="-122"/>
                <a:cs typeface="Calibri" pitchFamily="34" charset="-120"/>
              </a:rPr>
              <a:t>Sonnet</a:t>
            </a:r>
            <a:endParaRPr lang="en-US" sz="860" dirty="0"/>
          </a:p>
        </p:txBody>
      </p:sp>
      <p:sp>
        <p:nvSpPr>
          <p:cNvPr id="19" name="Shape 16"/>
          <p:cNvSpPr/>
          <p:nvPr/>
        </p:nvSpPr>
        <p:spPr>
          <a:xfrm>
            <a:off x="6592824" y="2157984"/>
            <a:ext cx="210312" cy="237744"/>
          </a:xfrm>
          <a:prstGeom prst="rightArrow">
            <a:avLst/>
          </a:prstGeom>
          <a:solidFill>
            <a:srgbClr val="F59E0B"/>
          </a:solidFill>
          <a:ln/>
        </p:spPr>
      </p:sp>
      <p:sp>
        <p:nvSpPr>
          <p:cNvPr id="20" name="Shape 17"/>
          <p:cNvSpPr/>
          <p:nvPr/>
        </p:nvSpPr>
        <p:spPr>
          <a:xfrm>
            <a:off x="6821424" y="1691640"/>
            <a:ext cx="1874520" cy="1143000"/>
          </a:xfrm>
          <a:prstGeom prst="roundRect">
            <a:avLst>
              <a:gd name="adj" fmla="val 6400"/>
            </a:avLst>
          </a:prstGeom>
          <a:solidFill>
            <a:srgbClr val="14405A"/>
          </a:solidFill>
          <a:ln/>
          <a:effectLst>
            <a:outerShdw sx="100000" sy="100000" kx="0" ky="0" algn="bl" rotWithShape="0" blurRad="63500" dist="25400" dir="5400000">
              <a:srgbClr val="0F2233">
                <a:alpha val="10000"/>
              </a:srgbClr>
            </a:outerShdw>
          </a:effectLst>
        </p:spPr>
      </p:sp>
      <p:sp>
        <p:nvSpPr>
          <p:cNvPr id="21" name="Text 18"/>
          <p:cNvSpPr/>
          <p:nvPr/>
        </p:nvSpPr>
        <p:spPr>
          <a:xfrm>
            <a:off x="6894576" y="1810512"/>
            <a:ext cx="1728216"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 · Notifier</a:t>
            </a:r>
            <a:endParaRPr lang="en-US" sz="1200" dirty="0"/>
          </a:p>
        </p:txBody>
      </p:sp>
      <p:sp>
        <p:nvSpPr>
          <p:cNvPr id="22" name="Text 19"/>
          <p:cNvSpPr/>
          <p:nvPr/>
        </p:nvSpPr>
        <p:spPr>
          <a:xfrm>
            <a:off x="6912864" y="2167128"/>
            <a:ext cx="1691640" cy="594360"/>
          </a:xfrm>
          <a:prstGeom prst="rect">
            <a:avLst/>
          </a:prstGeom>
          <a:noFill/>
          <a:ln/>
        </p:spPr>
        <p:txBody>
          <a:bodyPr wrap="square" lIns="0" tIns="0" rIns="0" bIns="0" rtlCol="0" anchor="t"/>
          <a:lstStyle/>
          <a:p>
            <a:pPr algn="ctr" indent="0" marL="0">
              <a:buNone/>
            </a:pPr>
            <a:r>
              <a:rPr lang="en-US" sz="860" dirty="0">
                <a:solidFill>
                  <a:srgbClr val="CFE6E1"/>
                </a:solidFill>
                <a:latin typeface="Calibri" pitchFamily="34" charset="0"/>
                <a:ea typeface="Calibri" pitchFamily="34" charset="-122"/>
                <a:cs typeface="Calibri" pitchFamily="34" charset="-120"/>
              </a:rPr>
              <a:t>outreach + route</a:t>
            </a:r>
            <a:endParaRPr lang="en-US" sz="860" dirty="0"/>
          </a:p>
          <a:p>
            <a:pPr algn="ctr" indent="0" marL="0">
              <a:buNone/>
            </a:pPr>
            <a:r>
              <a:rPr lang="en-US" sz="860" dirty="0">
                <a:solidFill>
                  <a:srgbClr val="CFE6E1"/>
                </a:solidFill>
                <a:latin typeface="Calibri" pitchFamily="34" charset="0"/>
                <a:ea typeface="Calibri" pitchFamily="34" charset="-122"/>
                <a:cs typeface="Calibri" pitchFamily="34" charset="-120"/>
              </a:rPr>
              <a:t>+ opt-out check</a:t>
            </a:r>
            <a:endParaRPr lang="en-US" sz="860" dirty="0"/>
          </a:p>
        </p:txBody>
      </p:sp>
      <p:sp>
        <p:nvSpPr>
          <p:cNvPr id="23" name="Shape 20"/>
          <p:cNvSpPr/>
          <p:nvPr/>
        </p:nvSpPr>
        <p:spPr>
          <a:xfrm>
            <a:off x="457200" y="3063240"/>
            <a:ext cx="8229600" cy="502920"/>
          </a:xfrm>
          <a:prstGeom prst="roundRect">
            <a:avLst>
              <a:gd name="adj" fmla="val 14545"/>
            </a:avLst>
          </a:prstGeom>
          <a:solidFill>
            <a:srgbClr val="0E2A3B"/>
          </a:solidFill>
          <a:ln/>
        </p:spPr>
      </p:sp>
      <p:sp>
        <p:nvSpPr>
          <p:cNvPr id="24" name="Text 21"/>
          <p:cNvSpPr/>
          <p:nvPr/>
        </p:nvSpPr>
        <p:spPr>
          <a:xfrm>
            <a:off x="658368" y="3063240"/>
            <a:ext cx="7863840" cy="502920"/>
          </a:xfrm>
          <a:prstGeom prst="rect">
            <a:avLst/>
          </a:prstGeom>
          <a:noFill/>
          <a:ln/>
        </p:spPr>
        <p:txBody>
          <a:bodyPr wrap="square" lIns="0" tIns="0" rIns="0" bIns="0" rtlCol="0" anchor="ctr"/>
          <a:lstStyle/>
          <a:p>
            <a:pPr indent="0" marL="0">
              <a:buNone/>
            </a:pPr>
            <a:r>
              <a:rPr lang="en-US" sz="1050" b="1" dirty="0">
                <a:solidFill>
                  <a:srgbClr val="5EEAD4"/>
                </a:solidFill>
                <a:latin typeface="Calibri" pitchFamily="34" charset="0"/>
                <a:ea typeface="Calibri" pitchFamily="34" charset="-122"/>
                <a:cs typeface="Calibri" pitchFamily="34" charset="-120"/>
              </a:rPr>
              <a:t>OBSERVABILITY  </a:t>
            </a:r>
            <a:pPr indent="0" marL="0">
              <a:buNone/>
            </a:pPr>
            <a:r>
              <a:rPr lang="en-US" sz="1050" dirty="0">
                <a:solidFill>
                  <a:srgbClr val="DCEAE6"/>
                </a:solidFill>
                <a:latin typeface="Calibri" pitchFamily="34" charset="0"/>
                <a:ea typeface="Calibri" pitchFamily="34" charset="-122"/>
                <a:cs typeface="Calibri" pitchFamily="34" charset="-120"/>
              </a:rPr>
              <a:t>trace_id · spans · structured logs · latency/cost/quality metrics</a:t>
            </a:r>
            <a:endParaRPr lang="en-US" sz="1050" dirty="0"/>
          </a:p>
        </p:txBody>
      </p:sp>
      <p:sp>
        <p:nvSpPr>
          <p:cNvPr id="25" name="Shape 22"/>
          <p:cNvSpPr/>
          <p:nvPr/>
        </p:nvSpPr>
        <p:spPr>
          <a:xfrm>
            <a:off x="457200" y="3630168"/>
            <a:ext cx="8229600" cy="502920"/>
          </a:xfrm>
          <a:prstGeom prst="roundRect">
            <a:avLst>
              <a:gd name="adj" fmla="val 14545"/>
            </a:avLst>
          </a:prstGeom>
          <a:solidFill>
            <a:srgbClr val="13344A"/>
          </a:solidFill>
          <a:ln/>
        </p:spPr>
      </p:sp>
      <p:sp>
        <p:nvSpPr>
          <p:cNvPr id="26" name="Text 23"/>
          <p:cNvSpPr/>
          <p:nvPr/>
        </p:nvSpPr>
        <p:spPr>
          <a:xfrm>
            <a:off x="658368" y="3630168"/>
            <a:ext cx="7863840" cy="502920"/>
          </a:xfrm>
          <a:prstGeom prst="rect">
            <a:avLst/>
          </a:prstGeom>
          <a:noFill/>
          <a:ln/>
        </p:spPr>
        <p:txBody>
          <a:bodyPr wrap="square" lIns="0" tIns="0" rIns="0" bIns="0" rtlCol="0" anchor="ctr"/>
          <a:lstStyle/>
          <a:p>
            <a:pPr indent="0" marL="0">
              <a:buNone/>
            </a:pPr>
            <a:r>
              <a:rPr lang="en-US" sz="1050" b="1" dirty="0">
                <a:solidFill>
                  <a:srgbClr val="F59E0B"/>
                </a:solidFill>
                <a:latin typeface="Calibri" pitchFamily="34" charset="0"/>
                <a:ea typeface="Calibri" pitchFamily="34" charset="-122"/>
                <a:cs typeface="Calibri" pitchFamily="34" charset="-120"/>
              </a:rPr>
              <a:t>GOVERNANCE  </a:t>
            </a:r>
            <a:pPr indent="0" marL="0">
              <a:buNone/>
            </a:pPr>
            <a:r>
              <a:rPr lang="en-US" sz="1050" dirty="0">
                <a:solidFill>
                  <a:srgbClr val="DCEAE6"/>
                </a:solidFill>
                <a:latin typeface="Calibri" pitchFamily="34" charset="0"/>
                <a:ea typeface="Calibri" pitchFamily="34" charset="-122"/>
                <a:cs typeface="Calibri" pitchFamily="34" charset="-120"/>
              </a:rPr>
              <a:t>input/output guardrails · PII redaction · suppression list · audit trail</a:t>
            </a:r>
            <a:endParaRPr lang="en-US" sz="1050" dirty="0"/>
          </a:p>
        </p:txBody>
      </p:sp>
      <p:sp>
        <p:nvSpPr>
          <p:cNvPr id="27" name="Shape 24"/>
          <p:cNvSpPr/>
          <p:nvPr/>
        </p:nvSpPr>
        <p:spPr>
          <a:xfrm>
            <a:off x="457200" y="4197096"/>
            <a:ext cx="8229600" cy="457200"/>
          </a:xfrm>
          <a:prstGeom prst="roundRect">
            <a:avLst>
              <a:gd name="adj" fmla="val 16000"/>
            </a:avLst>
          </a:prstGeom>
          <a:solidFill>
            <a:srgbClr val="E7F4F1"/>
          </a:solidFill>
          <a:ln/>
        </p:spPr>
      </p:sp>
      <p:sp>
        <p:nvSpPr>
          <p:cNvPr id="28" name="Text 25"/>
          <p:cNvSpPr/>
          <p:nvPr/>
        </p:nvSpPr>
        <p:spPr>
          <a:xfrm>
            <a:off x="658368" y="4197096"/>
            <a:ext cx="7863840" cy="457200"/>
          </a:xfrm>
          <a:prstGeom prst="rect">
            <a:avLst/>
          </a:prstGeom>
          <a:noFill/>
          <a:ln/>
        </p:spPr>
        <p:txBody>
          <a:bodyPr wrap="square" lIns="0" tIns="0" rIns="0" bIns="0" rtlCol="0" anchor="ctr"/>
          <a:lstStyle/>
          <a:p>
            <a:pPr indent="0" marL="0">
              <a:buNone/>
            </a:pPr>
            <a:r>
              <a:rPr lang="en-US" sz="1050" b="1" dirty="0">
                <a:solidFill>
                  <a:srgbClr val="0D9488"/>
                </a:solidFill>
                <a:latin typeface="Calibri" pitchFamily="34" charset="0"/>
                <a:ea typeface="Calibri" pitchFamily="34" charset="-122"/>
                <a:cs typeface="Calibri" pitchFamily="34" charset="-120"/>
              </a:rPr>
              <a:t>FEEDBACK LOOP  </a:t>
            </a:r>
            <a:pPr indent="0" marL="0">
              <a:buNone/>
            </a:pPr>
            <a:r>
              <a:rPr lang="en-US" sz="1050" dirty="0">
                <a:solidFill>
                  <a:srgbClr val="334155"/>
                </a:solidFill>
                <a:latin typeface="Calibri" pitchFamily="34" charset="0"/>
                <a:ea typeface="Calibri" pitchFamily="34" charset="-122"/>
                <a:cs typeface="Calibri" pitchFamily="34" charset="-120"/>
              </a:rPr>
              <a:t>sales-rep ratings on contacted leads → re-tune the Qualifier → measure win-rate delta</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37</a:t>
            </a:r>
            <a:endParaRPr lang="en-US" sz="850" dirty="0"/>
          </a:p>
        </p:txBody>
      </p:sp>
      <p:sp>
        <p:nvSpPr>
          <p:cNvPr id="4" name="Shape 2"/>
          <p:cNvSpPr/>
          <p:nvPr/>
        </p:nvSpPr>
        <p:spPr>
          <a:xfrm>
            <a:off x="457200" y="384048"/>
            <a:ext cx="566928" cy="566928"/>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The Four Agents</a:t>
            </a:r>
            <a:endParaRPr lang="en-US" sz="2600" dirty="0"/>
          </a:p>
        </p:txBody>
      </p:sp>
      <p:sp>
        <p:nvSpPr>
          <p:cNvPr id="7" name="Shape 4"/>
          <p:cNvSpPr/>
          <p:nvPr/>
        </p:nvSpPr>
        <p:spPr>
          <a:xfrm>
            <a:off x="457200" y="1371600"/>
            <a:ext cx="4069080" cy="1481328"/>
          </a:xfrm>
          <a:prstGeom prst="roundRect">
            <a:avLst>
              <a:gd name="adj" fmla="val 4938"/>
            </a:avLst>
          </a:prstGeom>
          <a:solidFill>
            <a:srgbClr val="FFFFFF"/>
          </a:solidFill>
          <a:ln/>
          <a:effectLst>
            <a:outerShdw sx="100000" sy="100000" kx="0" ky="0" algn="bl" rotWithShape="0" blurRad="63500" dist="25400" dir="5400000">
              <a:srgbClr val="0F2233">
                <a:alpha val="10000"/>
              </a:srgbClr>
            </a:outerShdw>
          </a:effectLst>
        </p:spPr>
      </p:sp>
      <p:sp>
        <p:nvSpPr>
          <p:cNvPr id="8" name="Shape 5"/>
          <p:cNvSpPr/>
          <p:nvPr/>
        </p:nvSpPr>
        <p:spPr>
          <a:xfrm>
            <a:off x="685800" y="1609344"/>
            <a:ext cx="566928" cy="566928"/>
          </a:xfrm>
          <a:prstGeom prst="ellipse">
            <a:avLst/>
          </a:prstGeom>
          <a:solidFill>
            <a:srgbClr val="0D9488"/>
          </a:solidFill>
          <a:ln/>
        </p:spPr>
      </p:sp>
      <p:pic>
        <p:nvPicPr>
          <p:cNvPr id="9" name="Image 1" descr="preencoded.png">    </p:cNvPr>
          <p:cNvPicPr>
            <a:picLocks noChangeAspect="1"/>
          </p:cNvPicPr>
          <p:nvPr/>
        </p:nvPicPr>
        <p:blipFill>
          <a:blip r:embed="rId2"/>
          <a:stretch>
            <a:fillRect/>
          </a:stretch>
        </p:blipFill>
        <p:spPr>
          <a:xfrm>
            <a:off x="838871" y="1762415"/>
            <a:ext cx="260787" cy="260787"/>
          </a:xfrm>
          <a:prstGeom prst="rect">
            <a:avLst/>
          </a:prstGeom>
        </p:spPr>
      </p:pic>
      <p:sp>
        <p:nvSpPr>
          <p:cNvPr id="10" name="Text 6"/>
          <p:cNvSpPr/>
          <p:nvPr/>
        </p:nvSpPr>
        <p:spPr>
          <a:xfrm>
            <a:off x="1371600" y="1554480"/>
            <a:ext cx="3063240" cy="320040"/>
          </a:xfrm>
          <a:prstGeom prst="rect">
            <a:avLst/>
          </a:prstGeom>
          <a:noFill/>
          <a:ln/>
        </p:spPr>
        <p:txBody>
          <a:bodyPr wrap="square" lIns="0" tIns="0" rIns="0" bIns="0" rtlCol="0" anchor="ctr"/>
          <a:lstStyle/>
          <a:p>
            <a:pPr indent="0" marL="0">
              <a:buNone/>
            </a:pPr>
            <a:r>
              <a:rPr lang="en-US" sz="1600" b="1" dirty="0">
                <a:solidFill>
                  <a:srgbClr val="0F2233"/>
                </a:solidFill>
                <a:latin typeface="Cambria" pitchFamily="34" charset="0"/>
                <a:ea typeface="Cambria" pitchFamily="34" charset="-122"/>
                <a:cs typeface="Cambria" pitchFamily="34" charset="-120"/>
              </a:rPr>
              <a:t>Researcher</a:t>
            </a:r>
            <a:endParaRPr lang="en-US" sz="1600" dirty="0"/>
          </a:p>
        </p:txBody>
      </p:sp>
      <p:sp>
        <p:nvSpPr>
          <p:cNvPr id="11" name="Shape 7"/>
          <p:cNvSpPr/>
          <p:nvPr/>
        </p:nvSpPr>
        <p:spPr>
          <a:xfrm>
            <a:off x="1371600" y="1901952"/>
            <a:ext cx="2011680" cy="310896"/>
          </a:xfrm>
          <a:prstGeom prst="roundRect">
            <a:avLst>
              <a:gd name="adj" fmla="val 50000"/>
            </a:avLst>
          </a:prstGeom>
          <a:solidFill>
            <a:srgbClr val="0D9488"/>
          </a:solidFill>
          <a:ln/>
        </p:spPr>
      </p:sp>
      <p:sp>
        <p:nvSpPr>
          <p:cNvPr id="12" name="Text 8"/>
          <p:cNvSpPr/>
          <p:nvPr/>
        </p:nvSpPr>
        <p:spPr>
          <a:xfrm>
            <a:off x="1371600" y="1901952"/>
            <a:ext cx="201168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Haiku · web lookup</a:t>
            </a:r>
            <a:endParaRPr lang="en-US" sz="1050" dirty="0"/>
          </a:p>
        </p:txBody>
      </p:sp>
      <p:sp>
        <p:nvSpPr>
          <p:cNvPr id="13" name="Text 9"/>
          <p:cNvSpPr/>
          <p:nvPr/>
        </p:nvSpPr>
        <p:spPr>
          <a:xfrm>
            <a:off x="685800" y="2286000"/>
            <a:ext cx="3611880" cy="502920"/>
          </a:xfrm>
          <a:prstGeom prst="rect">
            <a:avLst/>
          </a:prstGeom>
          <a:noFill/>
          <a:ln/>
        </p:spPr>
        <p:txBody>
          <a:bodyPr wrap="square" lIns="0" tIns="0" rIns="0" bIns="0" rtlCol="0" anchor="t"/>
          <a:lstStyle/>
          <a:p>
            <a:pPr indent="0" marL="0">
              <a:buNone/>
            </a:pPr>
            <a:r>
              <a:rPr lang="en-US" sz="1030" dirty="0">
                <a:solidFill>
                  <a:srgbClr val="334155"/>
                </a:solidFill>
                <a:latin typeface="Calibri" pitchFamily="34" charset="0"/>
                <a:ea typeface="Calibri" pitchFamily="34" charset="-122"/>
                <a:cs typeface="Calibri" pitchFamily="34" charset="-120"/>
              </a:rPr>
              <a:t>Input: raw lead. Enriches with firmographics &amp; pain points. Treats sources as untrusted data.</a:t>
            </a:r>
            <a:endParaRPr lang="en-US" sz="1030" dirty="0"/>
          </a:p>
        </p:txBody>
      </p:sp>
      <p:sp>
        <p:nvSpPr>
          <p:cNvPr id="14" name="Shape 10"/>
          <p:cNvSpPr/>
          <p:nvPr/>
        </p:nvSpPr>
        <p:spPr>
          <a:xfrm>
            <a:off x="4690872" y="1371600"/>
            <a:ext cx="4069080" cy="1481328"/>
          </a:xfrm>
          <a:prstGeom prst="roundRect">
            <a:avLst>
              <a:gd name="adj" fmla="val 4938"/>
            </a:avLst>
          </a:prstGeom>
          <a:solidFill>
            <a:srgbClr val="FFFFFF"/>
          </a:solidFill>
          <a:ln/>
          <a:effectLst>
            <a:outerShdw sx="100000" sy="100000" kx="0" ky="0" algn="bl" rotWithShape="0" blurRad="63500" dist="25400" dir="5400000">
              <a:srgbClr val="0F2233">
                <a:alpha val="10000"/>
              </a:srgbClr>
            </a:outerShdw>
          </a:effectLst>
        </p:spPr>
      </p:sp>
      <p:sp>
        <p:nvSpPr>
          <p:cNvPr id="15" name="Shape 11"/>
          <p:cNvSpPr/>
          <p:nvPr/>
        </p:nvSpPr>
        <p:spPr>
          <a:xfrm>
            <a:off x="4919472" y="1609344"/>
            <a:ext cx="566928" cy="566928"/>
          </a:xfrm>
          <a:prstGeom prst="ellipse">
            <a:avLst/>
          </a:prstGeom>
          <a:solidFill>
            <a:srgbClr val="F59E0B"/>
          </a:solidFill>
          <a:ln/>
        </p:spPr>
      </p:sp>
      <p:pic>
        <p:nvPicPr>
          <p:cNvPr id="16" name="Image 2" descr="preencoded.png">    </p:cNvPr>
          <p:cNvPicPr>
            <a:picLocks noChangeAspect="1"/>
          </p:cNvPicPr>
          <p:nvPr/>
        </p:nvPicPr>
        <p:blipFill>
          <a:blip r:embed="rId3"/>
          <a:stretch>
            <a:fillRect/>
          </a:stretch>
        </p:blipFill>
        <p:spPr>
          <a:xfrm>
            <a:off x="5072543" y="1762415"/>
            <a:ext cx="260787" cy="260787"/>
          </a:xfrm>
          <a:prstGeom prst="rect">
            <a:avLst/>
          </a:prstGeom>
        </p:spPr>
      </p:pic>
      <p:sp>
        <p:nvSpPr>
          <p:cNvPr id="17" name="Text 12"/>
          <p:cNvSpPr/>
          <p:nvPr/>
        </p:nvSpPr>
        <p:spPr>
          <a:xfrm>
            <a:off x="5605272" y="1554480"/>
            <a:ext cx="3063240" cy="320040"/>
          </a:xfrm>
          <a:prstGeom prst="rect">
            <a:avLst/>
          </a:prstGeom>
          <a:noFill/>
          <a:ln/>
        </p:spPr>
        <p:txBody>
          <a:bodyPr wrap="square" lIns="0" tIns="0" rIns="0" bIns="0" rtlCol="0" anchor="ctr"/>
          <a:lstStyle/>
          <a:p>
            <a:pPr indent="0" marL="0">
              <a:buNone/>
            </a:pPr>
            <a:r>
              <a:rPr lang="en-US" sz="1600" b="1" dirty="0">
                <a:solidFill>
                  <a:srgbClr val="0F2233"/>
                </a:solidFill>
                <a:latin typeface="Cambria" pitchFamily="34" charset="0"/>
                <a:ea typeface="Cambria" pitchFamily="34" charset="-122"/>
                <a:cs typeface="Cambria" pitchFamily="34" charset="-120"/>
              </a:rPr>
              <a:t>Qualifier</a:t>
            </a:r>
            <a:endParaRPr lang="en-US" sz="1600" dirty="0"/>
          </a:p>
        </p:txBody>
      </p:sp>
      <p:sp>
        <p:nvSpPr>
          <p:cNvPr id="18" name="Shape 13"/>
          <p:cNvSpPr/>
          <p:nvPr/>
        </p:nvSpPr>
        <p:spPr>
          <a:xfrm>
            <a:off x="5605272" y="1901952"/>
            <a:ext cx="2011680" cy="310896"/>
          </a:xfrm>
          <a:prstGeom prst="roundRect">
            <a:avLst>
              <a:gd name="adj" fmla="val 50000"/>
            </a:avLst>
          </a:prstGeom>
          <a:solidFill>
            <a:srgbClr val="F59E0B"/>
          </a:solidFill>
          <a:ln/>
        </p:spPr>
      </p:sp>
      <p:sp>
        <p:nvSpPr>
          <p:cNvPr id="19" name="Text 14"/>
          <p:cNvSpPr/>
          <p:nvPr/>
        </p:nvSpPr>
        <p:spPr>
          <a:xfrm>
            <a:off x="5605272" y="1901952"/>
            <a:ext cx="201168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Sonnet · structured out</a:t>
            </a:r>
            <a:endParaRPr lang="en-US" sz="1050" dirty="0"/>
          </a:p>
        </p:txBody>
      </p:sp>
      <p:sp>
        <p:nvSpPr>
          <p:cNvPr id="20" name="Text 15"/>
          <p:cNvSpPr/>
          <p:nvPr/>
        </p:nvSpPr>
        <p:spPr>
          <a:xfrm>
            <a:off x="4919472" y="2286000"/>
            <a:ext cx="3611880" cy="502920"/>
          </a:xfrm>
          <a:prstGeom prst="rect">
            <a:avLst/>
          </a:prstGeom>
          <a:noFill/>
          <a:ln/>
        </p:spPr>
        <p:txBody>
          <a:bodyPr wrap="square" lIns="0" tIns="0" rIns="0" bIns="0" rtlCol="0" anchor="t"/>
          <a:lstStyle/>
          <a:p>
            <a:pPr indent="0" marL="0">
              <a:buNone/>
            </a:pPr>
            <a:r>
              <a:rPr lang="en-US" sz="1030" dirty="0">
                <a:solidFill>
                  <a:srgbClr val="334155"/>
                </a:solidFill>
                <a:latin typeface="Calibri" pitchFamily="34" charset="0"/>
                <a:ea typeface="Calibri" pitchFamily="34" charset="-122"/>
                <a:cs typeface="Calibri" pitchFamily="34" charset="-120"/>
              </a:rPr>
              <a:t>Scores fit 0–100 against an ICP with a rationale. Output guardrail validates the score schema.</a:t>
            </a:r>
            <a:endParaRPr lang="en-US" sz="1030" dirty="0"/>
          </a:p>
        </p:txBody>
      </p:sp>
      <p:sp>
        <p:nvSpPr>
          <p:cNvPr id="21" name="Shape 16"/>
          <p:cNvSpPr/>
          <p:nvPr/>
        </p:nvSpPr>
        <p:spPr>
          <a:xfrm>
            <a:off x="457200" y="3035808"/>
            <a:ext cx="4069080" cy="1481328"/>
          </a:xfrm>
          <a:prstGeom prst="roundRect">
            <a:avLst>
              <a:gd name="adj" fmla="val 4938"/>
            </a:avLst>
          </a:prstGeom>
          <a:solidFill>
            <a:srgbClr val="FFFFFF"/>
          </a:solidFill>
          <a:ln/>
          <a:effectLst>
            <a:outerShdw sx="100000" sy="100000" kx="0" ky="0" algn="bl" rotWithShape="0" blurRad="63500" dist="25400" dir="5400000">
              <a:srgbClr val="0F2233">
                <a:alpha val="10000"/>
              </a:srgbClr>
            </a:outerShdw>
          </a:effectLst>
        </p:spPr>
      </p:sp>
      <p:sp>
        <p:nvSpPr>
          <p:cNvPr id="22" name="Shape 17"/>
          <p:cNvSpPr/>
          <p:nvPr/>
        </p:nvSpPr>
        <p:spPr>
          <a:xfrm>
            <a:off x="685800" y="3273552"/>
            <a:ext cx="566928" cy="566928"/>
          </a:xfrm>
          <a:prstGeom prst="ellipse">
            <a:avLst/>
          </a:prstGeom>
          <a:solidFill>
            <a:srgbClr val="0D9488"/>
          </a:solidFill>
          <a:ln/>
        </p:spPr>
      </p:sp>
      <p:pic>
        <p:nvPicPr>
          <p:cNvPr id="23" name="Image 3" descr="preencoded.png">    </p:cNvPr>
          <p:cNvPicPr>
            <a:picLocks noChangeAspect="1"/>
          </p:cNvPicPr>
          <p:nvPr/>
        </p:nvPicPr>
        <p:blipFill>
          <a:blip r:embed="rId4"/>
          <a:stretch>
            <a:fillRect/>
          </a:stretch>
        </p:blipFill>
        <p:spPr>
          <a:xfrm>
            <a:off x="838871" y="3426623"/>
            <a:ext cx="260787" cy="260787"/>
          </a:xfrm>
          <a:prstGeom prst="rect">
            <a:avLst/>
          </a:prstGeom>
        </p:spPr>
      </p:pic>
      <p:sp>
        <p:nvSpPr>
          <p:cNvPr id="24" name="Text 18"/>
          <p:cNvSpPr/>
          <p:nvPr/>
        </p:nvSpPr>
        <p:spPr>
          <a:xfrm>
            <a:off x="1371600" y="3218688"/>
            <a:ext cx="3063240" cy="320040"/>
          </a:xfrm>
          <a:prstGeom prst="rect">
            <a:avLst/>
          </a:prstGeom>
          <a:noFill/>
          <a:ln/>
        </p:spPr>
        <p:txBody>
          <a:bodyPr wrap="square" lIns="0" tIns="0" rIns="0" bIns="0" rtlCol="0" anchor="ctr"/>
          <a:lstStyle/>
          <a:p>
            <a:pPr indent="0" marL="0">
              <a:buNone/>
            </a:pPr>
            <a:r>
              <a:rPr lang="en-US" sz="1600" b="1" dirty="0">
                <a:solidFill>
                  <a:srgbClr val="0F2233"/>
                </a:solidFill>
                <a:latin typeface="Cambria" pitchFamily="34" charset="0"/>
                <a:ea typeface="Cambria" pitchFamily="34" charset="-122"/>
                <a:cs typeface="Cambria" pitchFamily="34" charset="-120"/>
              </a:rPr>
              <a:t>Summariser</a:t>
            </a:r>
            <a:endParaRPr lang="en-US" sz="1600" dirty="0"/>
          </a:p>
        </p:txBody>
      </p:sp>
      <p:sp>
        <p:nvSpPr>
          <p:cNvPr id="25" name="Shape 19"/>
          <p:cNvSpPr/>
          <p:nvPr/>
        </p:nvSpPr>
        <p:spPr>
          <a:xfrm>
            <a:off x="1371600" y="3566160"/>
            <a:ext cx="2011680" cy="310896"/>
          </a:xfrm>
          <a:prstGeom prst="roundRect">
            <a:avLst>
              <a:gd name="adj" fmla="val 50000"/>
            </a:avLst>
          </a:prstGeom>
          <a:solidFill>
            <a:srgbClr val="0D9488"/>
          </a:solidFill>
          <a:ln/>
        </p:spPr>
      </p:sp>
      <p:sp>
        <p:nvSpPr>
          <p:cNvPr id="26" name="Text 20"/>
          <p:cNvSpPr/>
          <p:nvPr/>
        </p:nvSpPr>
        <p:spPr>
          <a:xfrm>
            <a:off x="1371600" y="3566160"/>
            <a:ext cx="201168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Sonnet · grounding check</a:t>
            </a:r>
            <a:endParaRPr lang="en-US" sz="1050" dirty="0"/>
          </a:p>
        </p:txBody>
      </p:sp>
      <p:sp>
        <p:nvSpPr>
          <p:cNvPr id="27" name="Text 21"/>
          <p:cNvSpPr/>
          <p:nvPr/>
        </p:nvSpPr>
        <p:spPr>
          <a:xfrm>
            <a:off x="685800" y="3950208"/>
            <a:ext cx="3611880" cy="502920"/>
          </a:xfrm>
          <a:prstGeom prst="rect">
            <a:avLst/>
          </a:prstGeom>
          <a:noFill/>
          <a:ln/>
        </p:spPr>
        <p:txBody>
          <a:bodyPr wrap="square" lIns="0" tIns="0" rIns="0" bIns="0" rtlCol="0" anchor="t"/>
          <a:lstStyle/>
          <a:p>
            <a:pPr indent="0" marL="0">
              <a:buNone/>
            </a:pPr>
            <a:r>
              <a:rPr lang="en-US" sz="1030" dirty="0">
                <a:solidFill>
                  <a:srgbClr val="334155"/>
                </a:solidFill>
                <a:latin typeface="Calibri" pitchFamily="34" charset="0"/>
                <a:ea typeface="Calibri" pitchFamily="34" charset="-122"/>
                <a:cs typeface="Calibri" pitchFamily="34" charset="-120"/>
              </a:rPr>
              <a:t>Writes a grounded, sales-ready brief. Guardrail checks it only uses researched facts.</a:t>
            </a:r>
            <a:endParaRPr lang="en-US" sz="1030" dirty="0"/>
          </a:p>
        </p:txBody>
      </p:sp>
      <p:sp>
        <p:nvSpPr>
          <p:cNvPr id="28" name="Shape 22"/>
          <p:cNvSpPr/>
          <p:nvPr/>
        </p:nvSpPr>
        <p:spPr>
          <a:xfrm>
            <a:off x="4690872" y="3035808"/>
            <a:ext cx="4069080" cy="1481328"/>
          </a:xfrm>
          <a:prstGeom prst="roundRect">
            <a:avLst>
              <a:gd name="adj" fmla="val 4938"/>
            </a:avLst>
          </a:prstGeom>
          <a:solidFill>
            <a:srgbClr val="FFFFFF"/>
          </a:solidFill>
          <a:ln/>
          <a:effectLst>
            <a:outerShdw sx="100000" sy="100000" kx="0" ky="0" algn="bl" rotWithShape="0" blurRad="63500" dist="25400" dir="5400000">
              <a:srgbClr val="0F2233">
                <a:alpha val="10000"/>
              </a:srgbClr>
            </a:outerShdw>
          </a:effectLst>
        </p:spPr>
      </p:sp>
      <p:sp>
        <p:nvSpPr>
          <p:cNvPr id="29" name="Shape 23"/>
          <p:cNvSpPr/>
          <p:nvPr/>
        </p:nvSpPr>
        <p:spPr>
          <a:xfrm>
            <a:off x="4919472" y="3273552"/>
            <a:ext cx="566928" cy="566928"/>
          </a:xfrm>
          <a:prstGeom prst="ellipse">
            <a:avLst/>
          </a:prstGeom>
          <a:solidFill>
            <a:srgbClr val="F59E0B"/>
          </a:solidFill>
          <a:ln/>
        </p:spPr>
      </p:sp>
      <p:pic>
        <p:nvPicPr>
          <p:cNvPr id="30" name="Image 4" descr="preencoded.png">    </p:cNvPr>
          <p:cNvPicPr>
            <a:picLocks noChangeAspect="1"/>
          </p:cNvPicPr>
          <p:nvPr/>
        </p:nvPicPr>
        <p:blipFill>
          <a:blip r:embed="rId5"/>
          <a:stretch>
            <a:fillRect/>
          </a:stretch>
        </p:blipFill>
        <p:spPr>
          <a:xfrm>
            <a:off x="5072543" y="3426623"/>
            <a:ext cx="260787" cy="260787"/>
          </a:xfrm>
          <a:prstGeom prst="rect">
            <a:avLst/>
          </a:prstGeom>
        </p:spPr>
      </p:pic>
      <p:sp>
        <p:nvSpPr>
          <p:cNvPr id="31" name="Text 24"/>
          <p:cNvSpPr/>
          <p:nvPr/>
        </p:nvSpPr>
        <p:spPr>
          <a:xfrm>
            <a:off x="5605272" y="3218688"/>
            <a:ext cx="3063240" cy="320040"/>
          </a:xfrm>
          <a:prstGeom prst="rect">
            <a:avLst/>
          </a:prstGeom>
          <a:noFill/>
          <a:ln/>
        </p:spPr>
        <p:txBody>
          <a:bodyPr wrap="square" lIns="0" tIns="0" rIns="0" bIns="0" rtlCol="0" anchor="ctr"/>
          <a:lstStyle/>
          <a:p>
            <a:pPr indent="0" marL="0">
              <a:buNone/>
            </a:pPr>
            <a:r>
              <a:rPr lang="en-US" sz="1600" b="1" dirty="0">
                <a:solidFill>
                  <a:srgbClr val="0F2233"/>
                </a:solidFill>
                <a:latin typeface="Cambria" pitchFamily="34" charset="0"/>
                <a:ea typeface="Cambria" pitchFamily="34" charset="-122"/>
                <a:cs typeface="Cambria" pitchFamily="34" charset="-120"/>
              </a:rPr>
              <a:t>Notifier</a:t>
            </a:r>
            <a:endParaRPr lang="en-US" sz="1600" dirty="0"/>
          </a:p>
        </p:txBody>
      </p:sp>
      <p:sp>
        <p:nvSpPr>
          <p:cNvPr id="32" name="Shape 25"/>
          <p:cNvSpPr/>
          <p:nvPr/>
        </p:nvSpPr>
        <p:spPr>
          <a:xfrm>
            <a:off x="5605272" y="3566160"/>
            <a:ext cx="2011680" cy="310896"/>
          </a:xfrm>
          <a:prstGeom prst="roundRect">
            <a:avLst>
              <a:gd name="adj" fmla="val 50000"/>
            </a:avLst>
          </a:prstGeom>
          <a:solidFill>
            <a:srgbClr val="F59E0B"/>
          </a:solidFill>
          <a:ln/>
        </p:spPr>
      </p:sp>
      <p:sp>
        <p:nvSpPr>
          <p:cNvPr id="33" name="Text 26"/>
          <p:cNvSpPr/>
          <p:nvPr/>
        </p:nvSpPr>
        <p:spPr>
          <a:xfrm>
            <a:off x="5605272" y="3566160"/>
            <a:ext cx="201168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Haiku · compliance gate</a:t>
            </a:r>
            <a:endParaRPr lang="en-US" sz="1050" dirty="0"/>
          </a:p>
        </p:txBody>
      </p:sp>
      <p:sp>
        <p:nvSpPr>
          <p:cNvPr id="34" name="Text 27"/>
          <p:cNvSpPr/>
          <p:nvPr/>
        </p:nvSpPr>
        <p:spPr>
          <a:xfrm>
            <a:off x="4919472" y="3950208"/>
            <a:ext cx="3611880" cy="502920"/>
          </a:xfrm>
          <a:prstGeom prst="rect">
            <a:avLst/>
          </a:prstGeom>
          <a:noFill/>
          <a:ln/>
        </p:spPr>
        <p:txBody>
          <a:bodyPr wrap="square" lIns="0" tIns="0" rIns="0" bIns="0" rtlCol="0" anchor="t"/>
          <a:lstStyle/>
          <a:p>
            <a:pPr indent="0" marL="0">
              <a:buNone/>
            </a:pPr>
            <a:r>
              <a:rPr lang="en-US" sz="1030" dirty="0">
                <a:solidFill>
                  <a:srgbClr val="334155"/>
                </a:solidFill>
                <a:latin typeface="Calibri" pitchFamily="34" charset="0"/>
                <a:ea typeface="Calibri" pitchFamily="34" charset="-122"/>
                <a:cs typeface="Calibri" pitchFamily="34" charset="-120"/>
              </a:rPr>
              <a:t>Drafts outreach + routes alert. Refuses anyone on the suppression list / without lawful basis.</a:t>
            </a:r>
            <a:endParaRPr lang="en-US" sz="103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38</a:t>
            </a:r>
            <a:endParaRPr lang="en-US" sz="850" dirty="0"/>
          </a:p>
        </p:txBody>
      </p:sp>
      <p:sp>
        <p:nvSpPr>
          <p:cNvPr id="4" name="Shape 2"/>
          <p:cNvSpPr/>
          <p:nvPr/>
        </p:nvSpPr>
        <p:spPr>
          <a:xfrm>
            <a:off x="457200" y="384048"/>
            <a:ext cx="566928" cy="566928"/>
          </a:xfrm>
          <a:prstGeom prst="ellipse">
            <a:avLst/>
          </a:prstGeom>
          <a:solidFill>
            <a:srgbClr val="F59E0B"/>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Compliance, as Enforceable Guardrails</a:t>
            </a:r>
            <a:endParaRPr lang="en-US" sz="26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8229600" cy="914400"/>
        </p:xfrm>
        <a:graphic>
          <a:graphicData uri="http://schemas.openxmlformats.org/drawingml/2006/table">
            <a:tbl>
              <a:tblPr/>
              <a:tblGrid>
                <a:gridCol w="2377440"/>
                <a:gridCol w="4023360"/>
                <a:gridCol w="182880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Requirement</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2A3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Guardrail in the system</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2A3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Where</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2A3B"/>
                    </a:solidFill>
                  </a:tcPr>
                </a:tc>
              </a:tr>
              <a:tr h="512064">
                <a:tc>
                  <a:txBody>
                    <a:bodyPr/>
                    <a:lstStyle/>
                    <a:p>
                      <a:pPr indent="0" marL="0">
                        <a:buNone/>
                      </a:pPr>
                      <a:r>
                        <a:rPr lang="en-US" sz="1060" dirty="0">
                          <a:solidFill>
                            <a:srgbClr val="334155"/>
                          </a:solidFill>
                          <a:latin typeface="Calibri" pitchFamily="34" charset="0"/>
                          <a:ea typeface="Calibri" pitchFamily="34" charset="-122"/>
                          <a:cs typeface="Calibri" pitchFamily="34" charset="-120"/>
                        </a:rPr>
                        <a:t>Lawful basis to process</a:t>
                      </a:r>
                      <a:endParaRPr lang="en-US" sz="106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60" dirty="0">
                          <a:solidFill>
                            <a:srgbClr val="334155"/>
                          </a:solidFill>
                          <a:latin typeface="Calibri" pitchFamily="34" charset="0"/>
                          <a:ea typeface="Calibri" pitchFamily="34" charset="-122"/>
                          <a:cs typeface="Calibri" pitchFamily="34" charset="-120"/>
                        </a:rPr>
                        <a:t>Reject leads without a consent_basis field</a:t>
                      </a:r>
                      <a:endParaRPr lang="en-US" sz="106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60" dirty="0">
                          <a:solidFill>
                            <a:srgbClr val="334155"/>
                          </a:solidFill>
                          <a:latin typeface="Calibri" pitchFamily="34" charset="0"/>
                          <a:ea typeface="Calibri" pitchFamily="34" charset="-122"/>
                          <a:cs typeface="Calibri" pitchFamily="34" charset="-120"/>
                        </a:rPr>
                        <a:t>Researcher (input)</a:t>
                      </a:r>
                      <a:endParaRPr lang="en-US" sz="106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12064">
                <a:tc>
                  <a:txBody>
                    <a:bodyPr/>
                    <a:lstStyle/>
                    <a:p>
                      <a:pPr indent="0" marL="0">
                        <a:buNone/>
                      </a:pPr>
                      <a:r>
                        <a:rPr lang="en-US" sz="1060" dirty="0">
                          <a:solidFill>
                            <a:srgbClr val="334155"/>
                          </a:solidFill>
                          <a:latin typeface="Calibri" pitchFamily="34" charset="0"/>
                          <a:ea typeface="Calibri" pitchFamily="34" charset="-122"/>
                          <a:cs typeface="Calibri" pitchFamily="34" charset="-120"/>
                        </a:rPr>
                        <a:t>Data minimisation</a:t>
                      </a:r>
                      <a:endParaRPr lang="en-US" sz="106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60" dirty="0">
                          <a:solidFill>
                            <a:srgbClr val="334155"/>
                          </a:solidFill>
                          <a:latin typeface="Calibri" pitchFamily="34" charset="0"/>
                          <a:ea typeface="Calibri" pitchFamily="34" charset="-122"/>
                          <a:cs typeface="Calibri" pitchFamily="34" charset="-120"/>
                        </a:rPr>
                        <a:t>Schema only allows needed fields; extras dropped</a:t>
                      </a:r>
                      <a:endParaRPr lang="en-US" sz="106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60" dirty="0">
                          <a:solidFill>
                            <a:srgbClr val="334155"/>
                          </a:solidFill>
                          <a:latin typeface="Calibri" pitchFamily="34" charset="0"/>
                          <a:ea typeface="Calibri" pitchFamily="34" charset="-122"/>
                          <a:cs typeface="Calibri" pitchFamily="34" charset="-120"/>
                        </a:rPr>
                        <a:t>All agents</a:t>
                      </a:r>
                      <a:endParaRPr lang="en-US" sz="106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12064">
                <a:tc>
                  <a:txBody>
                    <a:bodyPr/>
                    <a:lstStyle/>
                    <a:p>
                      <a:pPr indent="0" marL="0">
                        <a:buNone/>
                      </a:pPr>
                      <a:r>
                        <a:rPr lang="en-US" sz="1060" dirty="0">
                          <a:solidFill>
                            <a:srgbClr val="334155"/>
                          </a:solidFill>
                          <a:latin typeface="Calibri" pitchFamily="34" charset="0"/>
                          <a:ea typeface="Calibri" pitchFamily="34" charset="-122"/>
                          <a:cs typeface="Calibri" pitchFamily="34" charset="-120"/>
                        </a:rPr>
                        <a:t>No PII in logs</a:t>
                      </a:r>
                      <a:endParaRPr lang="en-US" sz="106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60" dirty="0">
                          <a:solidFill>
                            <a:srgbClr val="334155"/>
                          </a:solidFill>
                          <a:latin typeface="Calibri" pitchFamily="34" charset="0"/>
                          <a:ea typeface="Calibri" pitchFamily="34" charset="-122"/>
                          <a:cs typeface="Calibri" pitchFamily="34" charset="-120"/>
                        </a:rPr>
                        <a:t>Redact to typed tokens before any log/audit write</a:t>
                      </a:r>
                      <a:endParaRPr lang="en-US" sz="106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60" dirty="0">
                          <a:solidFill>
                            <a:srgbClr val="334155"/>
                          </a:solidFill>
                          <a:latin typeface="Calibri" pitchFamily="34" charset="0"/>
                          <a:ea typeface="Calibri" pitchFamily="34" charset="-122"/>
                          <a:cs typeface="Calibri" pitchFamily="34" charset="-120"/>
                        </a:rPr>
                        <a:t>Middleware</a:t>
                      </a:r>
                      <a:endParaRPr lang="en-US" sz="106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12064">
                <a:tc>
                  <a:txBody>
                    <a:bodyPr/>
                    <a:lstStyle/>
                    <a:p>
                      <a:pPr indent="0" marL="0">
                        <a:buNone/>
                      </a:pPr>
                      <a:r>
                        <a:rPr lang="en-US" sz="1060" dirty="0">
                          <a:solidFill>
                            <a:srgbClr val="334155"/>
                          </a:solidFill>
                          <a:latin typeface="Calibri" pitchFamily="34" charset="0"/>
                          <a:ea typeface="Calibri" pitchFamily="34" charset="-122"/>
                          <a:cs typeface="Calibri" pitchFamily="34" charset="-120"/>
                        </a:rPr>
                        <a:t>Honour opt-out</a:t>
                      </a:r>
                      <a:endParaRPr lang="en-US" sz="106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60" dirty="0">
                          <a:solidFill>
                            <a:srgbClr val="334155"/>
                          </a:solidFill>
                          <a:latin typeface="Calibri" pitchFamily="34" charset="0"/>
                          <a:ea typeface="Calibri" pitchFamily="34" charset="-122"/>
                          <a:cs typeface="Calibri" pitchFamily="34" charset="-120"/>
                        </a:rPr>
                        <a:t>Check suppression list before composing outreach</a:t>
                      </a:r>
                      <a:endParaRPr lang="en-US" sz="106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60" dirty="0">
                          <a:solidFill>
                            <a:srgbClr val="334155"/>
                          </a:solidFill>
                          <a:latin typeface="Calibri" pitchFamily="34" charset="0"/>
                          <a:ea typeface="Calibri" pitchFamily="34" charset="-122"/>
                          <a:cs typeface="Calibri" pitchFamily="34" charset="-120"/>
                        </a:rPr>
                        <a:t>Notifier</a:t>
                      </a:r>
                      <a:endParaRPr lang="en-US" sz="106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12064">
                <a:tc>
                  <a:txBody>
                    <a:bodyPr/>
                    <a:lstStyle/>
                    <a:p>
                      <a:pPr indent="0" marL="0">
                        <a:buNone/>
                      </a:pPr>
                      <a:r>
                        <a:rPr lang="en-US" sz="1060" dirty="0">
                          <a:solidFill>
                            <a:srgbClr val="334155"/>
                          </a:solidFill>
                          <a:latin typeface="Calibri" pitchFamily="34" charset="0"/>
                          <a:ea typeface="Calibri" pitchFamily="34" charset="-122"/>
                          <a:cs typeface="Calibri" pitchFamily="34" charset="-120"/>
                        </a:rPr>
                        <a:t>Right to erasure</a:t>
                      </a:r>
                      <a:endParaRPr lang="en-US" sz="106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60" dirty="0">
                          <a:solidFill>
                            <a:srgbClr val="334155"/>
                          </a:solidFill>
                          <a:latin typeface="Calibri" pitchFamily="34" charset="0"/>
                          <a:ea typeface="Calibri" pitchFamily="34" charset="-122"/>
                          <a:cs typeface="Calibri" pitchFamily="34" charset="-120"/>
                        </a:rPr>
                        <a:t>Delete lead + audit-flag on request</a:t>
                      </a:r>
                      <a:endParaRPr lang="en-US" sz="106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60" dirty="0">
                          <a:solidFill>
                            <a:srgbClr val="334155"/>
                          </a:solidFill>
                          <a:latin typeface="Calibri" pitchFamily="34" charset="0"/>
                          <a:ea typeface="Calibri" pitchFamily="34" charset="-122"/>
                          <a:cs typeface="Calibri" pitchFamily="34" charset="-120"/>
                        </a:rPr>
                        <a:t>Ops runbook</a:t>
                      </a:r>
                      <a:endParaRPr lang="en-US" sz="106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8" name="Text 4"/>
          <p:cNvSpPr/>
          <p:nvPr/>
        </p:nvSpPr>
        <p:spPr>
          <a:xfrm>
            <a:off x="457200" y="4572000"/>
            <a:ext cx="8229600" cy="320040"/>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Each row is a test you can write. If you can't test it, it isn't a guardrail — it's a hope.</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39</a:t>
            </a:r>
            <a:endParaRPr lang="en-US" sz="850" dirty="0"/>
          </a:p>
        </p:txBody>
      </p:sp>
      <p:sp>
        <p:nvSpPr>
          <p:cNvPr id="4" name="Shape 2"/>
          <p:cNvSpPr/>
          <p:nvPr/>
        </p:nvSpPr>
        <p:spPr>
          <a:xfrm>
            <a:off x="457200" y="384048"/>
            <a:ext cx="566928" cy="566928"/>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Closing the Loop on Lead Quality</a:t>
            </a:r>
            <a:endParaRPr lang="en-US" sz="2600" dirty="0"/>
          </a:p>
        </p:txBody>
      </p:sp>
      <p:sp>
        <p:nvSpPr>
          <p:cNvPr id="7" name="Shape 4"/>
          <p:cNvSpPr/>
          <p:nvPr/>
        </p:nvSpPr>
        <p:spPr>
          <a:xfrm>
            <a:off x="566928" y="1554480"/>
            <a:ext cx="1783080" cy="1874520"/>
          </a:xfrm>
          <a:prstGeom prst="roundRect">
            <a:avLst>
              <a:gd name="adj" fmla="val 4103"/>
            </a:avLst>
          </a:prstGeom>
          <a:solidFill>
            <a:srgbClr val="FFFFFF"/>
          </a:solidFill>
          <a:ln/>
          <a:effectLst>
            <a:outerShdw sx="100000" sy="100000" kx="0" ky="0" algn="bl" rotWithShape="0" blurRad="63500" dist="25400" dir="5400000">
              <a:srgbClr val="0F2233">
                <a:alpha val="10000"/>
              </a:srgbClr>
            </a:outerShdw>
          </a:effectLst>
        </p:spPr>
      </p:sp>
      <p:sp>
        <p:nvSpPr>
          <p:cNvPr id="8" name="Shape 5"/>
          <p:cNvSpPr/>
          <p:nvPr/>
        </p:nvSpPr>
        <p:spPr>
          <a:xfrm>
            <a:off x="1147572" y="1737360"/>
            <a:ext cx="621792" cy="621792"/>
          </a:xfrm>
          <a:prstGeom prst="ellipse">
            <a:avLst/>
          </a:prstGeom>
          <a:solidFill>
            <a:srgbClr val="0D9488"/>
          </a:solidFill>
          <a:ln/>
        </p:spPr>
      </p:sp>
      <p:pic>
        <p:nvPicPr>
          <p:cNvPr id="9" name="Image 1" descr="preencoded.png">    </p:cNvPr>
          <p:cNvPicPr>
            <a:picLocks noChangeAspect="1"/>
          </p:cNvPicPr>
          <p:nvPr/>
        </p:nvPicPr>
        <p:blipFill>
          <a:blip r:embed="rId2"/>
          <a:stretch>
            <a:fillRect/>
          </a:stretch>
        </p:blipFill>
        <p:spPr>
          <a:xfrm>
            <a:off x="1315456" y="1905244"/>
            <a:ext cx="286024" cy="286024"/>
          </a:xfrm>
          <a:prstGeom prst="rect">
            <a:avLst/>
          </a:prstGeom>
        </p:spPr>
      </p:pic>
      <p:sp>
        <p:nvSpPr>
          <p:cNvPr id="10" name="Text 6"/>
          <p:cNvSpPr/>
          <p:nvPr/>
        </p:nvSpPr>
        <p:spPr>
          <a:xfrm>
            <a:off x="566928" y="2423160"/>
            <a:ext cx="1783080" cy="320040"/>
          </a:xfrm>
          <a:prstGeom prst="rect">
            <a:avLst/>
          </a:prstGeom>
          <a:noFill/>
          <a:ln/>
        </p:spPr>
        <p:txBody>
          <a:bodyPr wrap="square" lIns="0" tIns="0" rIns="0" bIns="0" rtlCol="0" anchor="ctr"/>
          <a:lstStyle/>
          <a:p>
            <a:pPr algn="ctr" indent="0" marL="0">
              <a:buNone/>
            </a:pPr>
            <a:r>
              <a:rPr lang="en-US" sz="1350" b="1" dirty="0">
                <a:solidFill>
                  <a:srgbClr val="0F2233"/>
                </a:solidFill>
                <a:latin typeface="Calibri" pitchFamily="34" charset="0"/>
                <a:ea typeface="Calibri" pitchFamily="34" charset="-122"/>
                <a:cs typeface="Calibri" pitchFamily="34" charset="-120"/>
              </a:rPr>
              <a:t>Contact</a:t>
            </a:r>
            <a:endParaRPr lang="en-US" sz="1350" dirty="0"/>
          </a:p>
        </p:txBody>
      </p:sp>
      <p:sp>
        <p:nvSpPr>
          <p:cNvPr id="11" name="Text 7"/>
          <p:cNvSpPr/>
          <p:nvPr/>
        </p:nvSpPr>
        <p:spPr>
          <a:xfrm>
            <a:off x="658368" y="2761488"/>
            <a:ext cx="1600200" cy="594360"/>
          </a:xfrm>
          <a:prstGeom prst="rect">
            <a:avLst/>
          </a:prstGeom>
          <a:noFill/>
          <a:ln/>
        </p:spPr>
        <p:txBody>
          <a:bodyPr wrap="square" lIns="0" tIns="0" rIns="0" bIns="0" rtlCol="0" anchor="t"/>
          <a:lstStyle/>
          <a:p>
            <a:pPr algn="ctr" indent="0" marL="0">
              <a:buNone/>
            </a:pPr>
            <a:r>
              <a:rPr lang="en-US" sz="980" dirty="0">
                <a:solidFill>
                  <a:srgbClr val="334155"/>
                </a:solidFill>
                <a:latin typeface="Calibri" pitchFamily="34" charset="0"/>
                <a:ea typeface="Calibri" pitchFamily="34" charset="-122"/>
                <a:cs typeface="Calibri" pitchFamily="34" charset="-120"/>
              </a:rPr>
              <a:t>Notifier sends; outcome logged with trace_id</a:t>
            </a:r>
            <a:endParaRPr lang="en-US" sz="980" dirty="0"/>
          </a:p>
        </p:txBody>
      </p:sp>
      <p:sp>
        <p:nvSpPr>
          <p:cNvPr id="12" name="Shape 8"/>
          <p:cNvSpPr/>
          <p:nvPr/>
        </p:nvSpPr>
        <p:spPr>
          <a:xfrm>
            <a:off x="2414016" y="2331720"/>
            <a:ext cx="283464" cy="237744"/>
          </a:xfrm>
          <a:prstGeom prst="rightArrow">
            <a:avLst/>
          </a:prstGeom>
          <a:solidFill>
            <a:srgbClr val="F59E0B"/>
          </a:solidFill>
          <a:ln/>
        </p:spPr>
      </p:sp>
      <p:sp>
        <p:nvSpPr>
          <p:cNvPr id="13" name="Shape 9"/>
          <p:cNvSpPr/>
          <p:nvPr/>
        </p:nvSpPr>
        <p:spPr>
          <a:xfrm>
            <a:off x="2761488" y="1554480"/>
            <a:ext cx="1783080" cy="1874520"/>
          </a:xfrm>
          <a:prstGeom prst="roundRect">
            <a:avLst>
              <a:gd name="adj" fmla="val 4103"/>
            </a:avLst>
          </a:prstGeom>
          <a:solidFill>
            <a:srgbClr val="FFFFFF"/>
          </a:solidFill>
          <a:ln/>
          <a:effectLst>
            <a:outerShdw sx="100000" sy="100000" kx="0" ky="0" algn="bl" rotWithShape="0" blurRad="63500" dist="25400" dir="5400000">
              <a:srgbClr val="0F2233">
                <a:alpha val="10000"/>
              </a:srgbClr>
            </a:outerShdw>
          </a:effectLst>
        </p:spPr>
      </p:sp>
      <p:sp>
        <p:nvSpPr>
          <p:cNvPr id="14" name="Shape 10"/>
          <p:cNvSpPr/>
          <p:nvPr/>
        </p:nvSpPr>
        <p:spPr>
          <a:xfrm>
            <a:off x="3342132" y="1737360"/>
            <a:ext cx="621792" cy="621792"/>
          </a:xfrm>
          <a:prstGeom prst="ellipse">
            <a:avLst/>
          </a:prstGeom>
          <a:solidFill>
            <a:srgbClr val="F59E0B"/>
          </a:solidFill>
          <a:ln/>
        </p:spPr>
      </p:sp>
      <p:pic>
        <p:nvPicPr>
          <p:cNvPr id="15" name="Image 2" descr="preencoded.png">    </p:cNvPr>
          <p:cNvPicPr>
            <a:picLocks noChangeAspect="1"/>
          </p:cNvPicPr>
          <p:nvPr/>
        </p:nvPicPr>
        <p:blipFill>
          <a:blip r:embed="rId3"/>
          <a:stretch>
            <a:fillRect/>
          </a:stretch>
        </p:blipFill>
        <p:spPr>
          <a:xfrm>
            <a:off x="3510016" y="1905244"/>
            <a:ext cx="286024" cy="286024"/>
          </a:xfrm>
          <a:prstGeom prst="rect">
            <a:avLst/>
          </a:prstGeom>
        </p:spPr>
      </p:pic>
      <p:sp>
        <p:nvSpPr>
          <p:cNvPr id="16" name="Text 11"/>
          <p:cNvSpPr/>
          <p:nvPr/>
        </p:nvSpPr>
        <p:spPr>
          <a:xfrm>
            <a:off x="2761488" y="2423160"/>
            <a:ext cx="1783080" cy="320040"/>
          </a:xfrm>
          <a:prstGeom prst="rect">
            <a:avLst/>
          </a:prstGeom>
          <a:noFill/>
          <a:ln/>
        </p:spPr>
        <p:txBody>
          <a:bodyPr wrap="square" lIns="0" tIns="0" rIns="0" bIns="0" rtlCol="0" anchor="ctr"/>
          <a:lstStyle/>
          <a:p>
            <a:pPr algn="ctr" indent="0" marL="0">
              <a:buNone/>
            </a:pPr>
            <a:r>
              <a:rPr lang="en-US" sz="1350" b="1" dirty="0">
                <a:solidFill>
                  <a:srgbClr val="0F2233"/>
                </a:solidFill>
                <a:latin typeface="Calibri" pitchFamily="34" charset="0"/>
                <a:ea typeface="Calibri" pitchFamily="34" charset="-122"/>
                <a:cs typeface="Calibri" pitchFamily="34" charset="-120"/>
              </a:rPr>
              <a:t>Rate</a:t>
            </a:r>
            <a:endParaRPr lang="en-US" sz="1350" dirty="0"/>
          </a:p>
        </p:txBody>
      </p:sp>
      <p:sp>
        <p:nvSpPr>
          <p:cNvPr id="17" name="Text 12"/>
          <p:cNvSpPr/>
          <p:nvPr/>
        </p:nvSpPr>
        <p:spPr>
          <a:xfrm>
            <a:off x="2852928" y="2761488"/>
            <a:ext cx="1600200" cy="594360"/>
          </a:xfrm>
          <a:prstGeom prst="rect">
            <a:avLst/>
          </a:prstGeom>
          <a:noFill/>
          <a:ln/>
        </p:spPr>
        <p:txBody>
          <a:bodyPr wrap="square" lIns="0" tIns="0" rIns="0" bIns="0" rtlCol="0" anchor="t"/>
          <a:lstStyle/>
          <a:p>
            <a:pPr algn="ctr" indent="0" marL="0">
              <a:buNone/>
            </a:pPr>
            <a:r>
              <a:rPr lang="en-US" sz="980" dirty="0">
                <a:solidFill>
                  <a:srgbClr val="334155"/>
                </a:solidFill>
                <a:latin typeface="Calibri" pitchFamily="34" charset="0"/>
                <a:ea typeface="Calibri" pitchFamily="34" charset="-122"/>
                <a:cs typeface="Calibri" pitchFamily="34" charset="-120"/>
              </a:rPr>
              <a:t>Rep marks: good fit / bad fit / converted</a:t>
            </a:r>
            <a:endParaRPr lang="en-US" sz="980" dirty="0"/>
          </a:p>
        </p:txBody>
      </p:sp>
      <p:sp>
        <p:nvSpPr>
          <p:cNvPr id="18" name="Shape 13"/>
          <p:cNvSpPr/>
          <p:nvPr/>
        </p:nvSpPr>
        <p:spPr>
          <a:xfrm>
            <a:off x="4608576" y="2331720"/>
            <a:ext cx="283464" cy="237744"/>
          </a:xfrm>
          <a:prstGeom prst="rightArrow">
            <a:avLst/>
          </a:prstGeom>
          <a:solidFill>
            <a:srgbClr val="F59E0B"/>
          </a:solidFill>
          <a:ln/>
        </p:spPr>
      </p:sp>
      <p:sp>
        <p:nvSpPr>
          <p:cNvPr id="19" name="Shape 14"/>
          <p:cNvSpPr/>
          <p:nvPr/>
        </p:nvSpPr>
        <p:spPr>
          <a:xfrm>
            <a:off x="4956048" y="1554480"/>
            <a:ext cx="1783080" cy="1874520"/>
          </a:xfrm>
          <a:prstGeom prst="roundRect">
            <a:avLst>
              <a:gd name="adj" fmla="val 4103"/>
            </a:avLst>
          </a:prstGeom>
          <a:solidFill>
            <a:srgbClr val="FFFFFF"/>
          </a:solidFill>
          <a:ln/>
          <a:effectLst>
            <a:outerShdw sx="100000" sy="100000" kx="0" ky="0" algn="bl" rotWithShape="0" blurRad="63500" dist="25400" dir="5400000">
              <a:srgbClr val="0F2233">
                <a:alpha val="10000"/>
              </a:srgbClr>
            </a:outerShdw>
          </a:effectLst>
        </p:spPr>
      </p:sp>
      <p:sp>
        <p:nvSpPr>
          <p:cNvPr id="20" name="Shape 15"/>
          <p:cNvSpPr/>
          <p:nvPr/>
        </p:nvSpPr>
        <p:spPr>
          <a:xfrm>
            <a:off x="5536692" y="1737360"/>
            <a:ext cx="621792" cy="621792"/>
          </a:xfrm>
          <a:prstGeom prst="ellipse">
            <a:avLst/>
          </a:prstGeom>
          <a:solidFill>
            <a:srgbClr val="0D9488"/>
          </a:solidFill>
          <a:ln/>
        </p:spPr>
      </p:sp>
      <p:pic>
        <p:nvPicPr>
          <p:cNvPr id="21" name="Image 3" descr="preencoded.png">    </p:cNvPr>
          <p:cNvPicPr>
            <a:picLocks noChangeAspect="1"/>
          </p:cNvPicPr>
          <p:nvPr/>
        </p:nvPicPr>
        <p:blipFill>
          <a:blip r:embed="rId4"/>
          <a:stretch>
            <a:fillRect/>
          </a:stretch>
        </p:blipFill>
        <p:spPr>
          <a:xfrm>
            <a:off x="5704576" y="1905244"/>
            <a:ext cx="286024" cy="286024"/>
          </a:xfrm>
          <a:prstGeom prst="rect">
            <a:avLst/>
          </a:prstGeom>
        </p:spPr>
      </p:pic>
      <p:sp>
        <p:nvSpPr>
          <p:cNvPr id="22" name="Text 16"/>
          <p:cNvSpPr/>
          <p:nvPr/>
        </p:nvSpPr>
        <p:spPr>
          <a:xfrm>
            <a:off x="4956048" y="2423160"/>
            <a:ext cx="1783080" cy="320040"/>
          </a:xfrm>
          <a:prstGeom prst="rect">
            <a:avLst/>
          </a:prstGeom>
          <a:noFill/>
          <a:ln/>
        </p:spPr>
        <p:txBody>
          <a:bodyPr wrap="square" lIns="0" tIns="0" rIns="0" bIns="0" rtlCol="0" anchor="ctr"/>
          <a:lstStyle/>
          <a:p>
            <a:pPr algn="ctr" indent="0" marL="0">
              <a:buNone/>
            </a:pPr>
            <a:r>
              <a:rPr lang="en-US" sz="1350" b="1" dirty="0">
                <a:solidFill>
                  <a:srgbClr val="0F2233"/>
                </a:solidFill>
                <a:latin typeface="Calibri" pitchFamily="34" charset="0"/>
                <a:ea typeface="Calibri" pitchFamily="34" charset="-122"/>
                <a:cs typeface="Calibri" pitchFamily="34" charset="-120"/>
              </a:rPr>
              <a:t>Evaluate</a:t>
            </a:r>
            <a:endParaRPr lang="en-US" sz="1350" dirty="0"/>
          </a:p>
        </p:txBody>
      </p:sp>
      <p:sp>
        <p:nvSpPr>
          <p:cNvPr id="23" name="Text 17"/>
          <p:cNvSpPr/>
          <p:nvPr/>
        </p:nvSpPr>
        <p:spPr>
          <a:xfrm>
            <a:off x="5047488" y="2761488"/>
            <a:ext cx="1600200" cy="594360"/>
          </a:xfrm>
          <a:prstGeom prst="rect">
            <a:avLst/>
          </a:prstGeom>
          <a:noFill/>
          <a:ln/>
        </p:spPr>
        <p:txBody>
          <a:bodyPr wrap="square" lIns="0" tIns="0" rIns="0" bIns="0" rtlCol="0" anchor="t"/>
          <a:lstStyle/>
          <a:p>
            <a:pPr algn="ctr" indent="0" marL="0">
              <a:buNone/>
            </a:pPr>
            <a:r>
              <a:rPr lang="en-US" sz="980" dirty="0">
                <a:solidFill>
                  <a:srgbClr val="334155"/>
                </a:solidFill>
                <a:latin typeface="Calibri" pitchFamily="34" charset="0"/>
                <a:ea typeface="Calibri" pitchFamily="34" charset="-122"/>
                <a:cs typeface="Calibri" pitchFamily="34" charset="-120"/>
              </a:rPr>
              <a:t>Compare fit_score vs real outcome (calibration)</a:t>
            </a:r>
            <a:endParaRPr lang="en-US" sz="980" dirty="0"/>
          </a:p>
        </p:txBody>
      </p:sp>
      <p:sp>
        <p:nvSpPr>
          <p:cNvPr id="24" name="Shape 18"/>
          <p:cNvSpPr/>
          <p:nvPr/>
        </p:nvSpPr>
        <p:spPr>
          <a:xfrm>
            <a:off x="6803136" y="2331720"/>
            <a:ext cx="283464" cy="237744"/>
          </a:xfrm>
          <a:prstGeom prst="rightArrow">
            <a:avLst/>
          </a:prstGeom>
          <a:solidFill>
            <a:srgbClr val="F59E0B"/>
          </a:solidFill>
          <a:ln/>
        </p:spPr>
      </p:sp>
      <p:sp>
        <p:nvSpPr>
          <p:cNvPr id="25" name="Shape 19"/>
          <p:cNvSpPr/>
          <p:nvPr/>
        </p:nvSpPr>
        <p:spPr>
          <a:xfrm>
            <a:off x="7150608" y="1554480"/>
            <a:ext cx="1783080" cy="1874520"/>
          </a:xfrm>
          <a:prstGeom prst="roundRect">
            <a:avLst>
              <a:gd name="adj" fmla="val 4103"/>
            </a:avLst>
          </a:prstGeom>
          <a:solidFill>
            <a:srgbClr val="FFFFFF"/>
          </a:solidFill>
          <a:ln/>
          <a:effectLst>
            <a:outerShdw sx="100000" sy="100000" kx="0" ky="0" algn="bl" rotWithShape="0" blurRad="63500" dist="25400" dir="5400000">
              <a:srgbClr val="0F2233">
                <a:alpha val="10000"/>
              </a:srgbClr>
            </a:outerShdw>
          </a:effectLst>
        </p:spPr>
      </p:sp>
      <p:sp>
        <p:nvSpPr>
          <p:cNvPr id="26" name="Shape 20"/>
          <p:cNvSpPr/>
          <p:nvPr/>
        </p:nvSpPr>
        <p:spPr>
          <a:xfrm>
            <a:off x="7731252" y="1737360"/>
            <a:ext cx="621792" cy="621792"/>
          </a:xfrm>
          <a:prstGeom prst="ellipse">
            <a:avLst/>
          </a:prstGeom>
          <a:solidFill>
            <a:srgbClr val="F59E0B"/>
          </a:solidFill>
          <a:ln/>
        </p:spPr>
      </p:sp>
      <p:pic>
        <p:nvPicPr>
          <p:cNvPr id="27" name="Image 4" descr="preencoded.png">    </p:cNvPr>
          <p:cNvPicPr>
            <a:picLocks noChangeAspect="1"/>
          </p:cNvPicPr>
          <p:nvPr/>
        </p:nvPicPr>
        <p:blipFill>
          <a:blip r:embed="rId5"/>
          <a:stretch>
            <a:fillRect/>
          </a:stretch>
        </p:blipFill>
        <p:spPr>
          <a:xfrm>
            <a:off x="7899136" y="1905244"/>
            <a:ext cx="286024" cy="286024"/>
          </a:xfrm>
          <a:prstGeom prst="rect">
            <a:avLst/>
          </a:prstGeom>
        </p:spPr>
      </p:pic>
      <p:sp>
        <p:nvSpPr>
          <p:cNvPr id="28" name="Text 21"/>
          <p:cNvSpPr/>
          <p:nvPr/>
        </p:nvSpPr>
        <p:spPr>
          <a:xfrm>
            <a:off x="7150608" y="2423160"/>
            <a:ext cx="1783080" cy="320040"/>
          </a:xfrm>
          <a:prstGeom prst="rect">
            <a:avLst/>
          </a:prstGeom>
          <a:noFill/>
          <a:ln/>
        </p:spPr>
        <p:txBody>
          <a:bodyPr wrap="square" lIns="0" tIns="0" rIns="0" bIns="0" rtlCol="0" anchor="ctr"/>
          <a:lstStyle/>
          <a:p>
            <a:pPr algn="ctr" indent="0" marL="0">
              <a:buNone/>
            </a:pPr>
            <a:r>
              <a:rPr lang="en-US" sz="1350" b="1" dirty="0">
                <a:solidFill>
                  <a:srgbClr val="0F2233"/>
                </a:solidFill>
                <a:latin typeface="Calibri" pitchFamily="34" charset="0"/>
                <a:ea typeface="Calibri" pitchFamily="34" charset="-122"/>
                <a:cs typeface="Calibri" pitchFamily="34" charset="-120"/>
              </a:rPr>
              <a:t>Re-tune</a:t>
            </a:r>
            <a:endParaRPr lang="en-US" sz="1350" dirty="0"/>
          </a:p>
        </p:txBody>
      </p:sp>
      <p:sp>
        <p:nvSpPr>
          <p:cNvPr id="29" name="Text 22"/>
          <p:cNvSpPr/>
          <p:nvPr/>
        </p:nvSpPr>
        <p:spPr>
          <a:xfrm>
            <a:off x="7242048" y="2761488"/>
            <a:ext cx="1600200" cy="594360"/>
          </a:xfrm>
          <a:prstGeom prst="rect">
            <a:avLst/>
          </a:prstGeom>
          <a:noFill/>
          <a:ln/>
        </p:spPr>
        <p:txBody>
          <a:bodyPr wrap="square" lIns="0" tIns="0" rIns="0" bIns="0" rtlCol="0" anchor="t"/>
          <a:lstStyle/>
          <a:p>
            <a:pPr algn="ctr" indent="0" marL="0">
              <a:buNone/>
            </a:pPr>
            <a:r>
              <a:rPr lang="en-US" sz="980" dirty="0">
                <a:solidFill>
                  <a:srgbClr val="334155"/>
                </a:solidFill>
                <a:latin typeface="Calibri" pitchFamily="34" charset="0"/>
                <a:ea typeface="Calibri" pitchFamily="34" charset="-122"/>
                <a:cs typeface="Calibri" pitchFamily="34" charset="-120"/>
              </a:rPr>
              <a:t>Adjust ICP prompt / score weights for the Qualifier</a:t>
            </a:r>
            <a:endParaRPr lang="en-US" sz="980" dirty="0"/>
          </a:p>
        </p:txBody>
      </p:sp>
      <p:sp>
        <p:nvSpPr>
          <p:cNvPr id="30" name="Shape 23"/>
          <p:cNvSpPr/>
          <p:nvPr/>
        </p:nvSpPr>
        <p:spPr>
          <a:xfrm>
            <a:off x="1458468" y="3657600"/>
            <a:ext cx="6583680" cy="0"/>
          </a:xfrm>
          <a:prstGeom prst="line">
            <a:avLst/>
          </a:prstGeom>
          <a:noFill/>
          <a:ln w="19050">
            <a:solidFill>
              <a:srgbClr val="64748B"/>
            </a:solidFill>
            <a:prstDash val="dash"/>
            <a:tailEnd type="triangle"/>
          </a:ln>
        </p:spPr>
      </p:sp>
      <p:sp>
        <p:nvSpPr>
          <p:cNvPr id="31" name="Shape 24"/>
          <p:cNvSpPr/>
          <p:nvPr/>
        </p:nvSpPr>
        <p:spPr>
          <a:xfrm>
            <a:off x="457200" y="3886200"/>
            <a:ext cx="8229600" cy="749808"/>
          </a:xfrm>
          <a:prstGeom prst="roundRect">
            <a:avLst>
              <a:gd name="adj" fmla="val 9756"/>
            </a:avLst>
          </a:prstGeom>
          <a:solidFill>
            <a:srgbClr val="0E2A3B"/>
          </a:solidFill>
          <a:ln/>
        </p:spPr>
      </p:sp>
      <p:sp>
        <p:nvSpPr>
          <p:cNvPr id="32" name="Text 25"/>
          <p:cNvSpPr/>
          <p:nvPr/>
        </p:nvSpPr>
        <p:spPr>
          <a:xfrm>
            <a:off x="658368" y="3886200"/>
            <a:ext cx="7863840" cy="749808"/>
          </a:xfrm>
          <a:prstGeom prst="rect">
            <a:avLst/>
          </a:prstGeom>
          <a:noFill/>
          <a:ln/>
        </p:spPr>
        <p:txBody>
          <a:bodyPr wrap="square" lIns="0" tIns="0" rIns="0" bIns="0" rtlCol="0" anchor="ctr"/>
          <a:lstStyle/>
          <a:p>
            <a:pPr indent="0" marL="0">
              <a:buNone/>
            </a:pPr>
            <a:r>
              <a:rPr lang="en-US" sz="1100" b="1" dirty="0">
                <a:solidFill>
                  <a:srgbClr val="5EEAD4"/>
                </a:solidFill>
                <a:latin typeface="Calibri" pitchFamily="34" charset="0"/>
                <a:ea typeface="Calibri" pitchFamily="34" charset="-122"/>
                <a:cs typeface="Calibri" pitchFamily="34" charset="-120"/>
              </a:rPr>
              <a:t>The metric that proves it works:  </a:t>
            </a:r>
            <a:pPr indent="0" marL="0">
              <a:buNone/>
            </a:pPr>
            <a:r>
              <a:rPr lang="en-US" sz="1100" dirty="0">
                <a:solidFill>
                  <a:srgbClr val="DCEAE6"/>
                </a:solidFill>
                <a:latin typeface="Calibri" pitchFamily="34" charset="0"/>
                <a:ea typeface="Calibri" pitchFamily="34" charset="-122"/>
                <a:cs typeface="Calibri" pitchFamily="34" charset="-120"/>
              </a:rPr>
              <a:t>score-to-outcome calibration. A well-tuned Qualifier's high scores should correlate with real conversions — you'll watch that correlation improve across loop iterations.</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E2A3B"/>
        </a:solidFill>
      </p:bgPr>
    </p:bg>
    <p:spTree>
      <p:nvGrpSpPr>
        <p:cNvPr id="1" name=""/>
        <p:cNvGrpSpPr/>
        <p:nvPr/>
      </p:nvGrpSpPr>
      <p:grpSpPr>
        <a:xfrm>
          <a:off x="0" y="0"/>
          <a:ext cx="0" cy="0"/>
          <a:chOff x="0" y="0"/>
          <a:chExt cx="0" cy="0"/>
        </a:xfrm>
      </p:grpSpPr>
      <p:sp>
        <p:nvSpPr>
          <p:cNvPr id="2" name="Shape 0"/>
          <p:cNvSpPr/>
          <p:nvPr/>
        </p:nvSpPr>
        <p:spPr>
          <a:xfrm>
            <a:off x="640080" y="457200"/>
            <a:ext cx="822960" cy="822960"/>
          </a:xfrm>
          <a:prstGeom prst="ellipse">
            <a:avLst/>
          </a:prstGeom>
          <a:solidFill>
            <a:srgbClr val="F59E0B"/>
          </a:solidFill>
          <a:ln/>
        </p:spPr>
      </p:sp>
      <p:pic>
        <p:nvPicPr>
          <p:cNvPr id="3" name="Image 0" descr="preencoded.png">    </p:cNvPr>
          <p:cNvPicPr>
            <a:picLocks noChangeAspect="1"/>
          </p:cNvPicPr>
          <p:nvPr/>
        </p:nvPicPr>
        <p:blipFill>
          <a:blip r:embed="rId1"/>
          <a:stretch>
            <a:fillRect/>
          </a:stretch>
        </p:blipFill>
        <p:spPr>
          <a:xfrm>
            <a:off x="862279" y="679399"/>
            <a:ext cx="378562" cy="378562"/>
          </a:xfrm>
          <a:prstGeom prst="rect">
            <a:avLst/>
          </a:prstGeom>
        </p:spPr>
      </p:pic>
      <p:sp>
        <p:nvSpPr>
          <p:cNvPr id="4" name="Text 1"/>
          <p:cNvSpPr/>
          <p:nvPr/>
        </p:nvSpPr>
        <p:spPr>
          <a:xfrm>
            <a:off x="713232" y="1389888"/>
            <a:ext cx="5486400" cy="320040"/>
          </a:xfrm>
          <a:prstGeom prst="rect">
            <a:avLst/>
          </a:prstGeom>
          <a:noFill/>
          <a:ln/>
        </p:spPr>
        <p:txBody>
          <a:bodyPr wrap="square" lIns="0" tIns="0" rIns="0" bIns="0" rtlCol="0" anchor="ctr"/>
          <a:lstStyle/>
          <a:p>
            <a:pPr indent="0" marL="0">
              <a:buNone/>
            </a:pPr>
            <a:r>
              <a:rPr lang="en-US" sz="1300" b="1" spc="300" kern="0" dirty="0">
                <a:solidFill>
                  <a:srgbClr val="5EEAD4"/>
                </a:solidFill>
                <a:latin typeface="Calibri" pitchFamily="34" charset="0"/>
                <a:ea typeface="Calibri" pitchFamily="34" charset="-122"/>
                <a:cs typeface="Calibri" pitchFamily="34" charset="-120"/>
              </a:rPr>
              <a:t>HANDS-ON · CAPSTONE</a:t>
            </a:r>
            <a:endParaRPr lang="en-US" sz="1300" dirty="0"/>
          </a:p>
        </p:txBody>
      </p:sp>
      <p:sp>
        <p:nvSpPr>
          <p:cNvPr id="5" name="Text 2"/>
          <p:cNvSpPr/>
          <p:nvPr/>
        </p:nvSpPr>
        <p:spPr>
          <a:xfrm>
            <a:off x="658368" y="1709928"/>
            <a:ext cx="8046720" cy="54864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Colab 2 — End-to-End Lead-Gen Build</a:t>
            </a:r>
            <a:endParaRPr lang="en-US" sz="2700" dirty="0"/>
          </a:p>
        </p:txBody>
      </p:sp>
      <p:sp>
        <p:nvSpPr>
          <p:cNvPr id="6" name="Shape 3"/>
          <p:cNvSpPr/>
          <p:nvPr/>
        </p:nvSpPr>
        <p:spPr>
          <a:xfrm>
            <a:off x="640080" y="2377440"/>
            <a:ext cx="3977640" cy="713232"/>
          </a:xfrm>
          <a:prstGeom prst="roundRect">
            <a:avLst>
              <a:gd name="adj" fmla="val 10256"/>
            </a:avLst>
          </a:prstGeom>
          <a:solidFill>
            <a:srgbClr val="14405A"/>
          </a:solidFill>
          <a:ln/>
        </p:spPr>
      </p:sp>
      <p:sp>
        <p:nvSpPr>
          <p:cNvPr id="7" name="Shape 4"/>
          <p:cNvSpPr/>
          <p:nvPr/>
        </p:nvSpPr>
        <p:spPr>
          <a:xfrm>
            <a:off x="786384" y="2551176"/>
            <a:ext cx="365760" cy="365760"/>
          </a:xfrm>
          <a:prstGeom prst="ellipse">
            <a:avLst/>
          </a:prstGeom>
          <a:solidFill>
            <a:srgbClr val="F59E0B"/>
          </a:solidFill>
          <a:ln/>
        </p:spPr>
      </p:sp>
      <p:sp>
        <p:nvSpPr>
          <p:cNvPr id="8" name="Text 5"/>
          <p:cNvSpPr/>
          <p:nvPr/>
        </p:nvSpPr>
        <p:spPr>
          <a:xfrm>
            <a:off x="786384" y="2551176"/>
            <a:ext cx="365760" cy="365760"/>
          </a:xfrm>
          <a:prstGeom prst="rect">
            <a:avLst/>
          </a:prstGeom>
          <a:noFill/>
          <a:ln/>
        </p:spPr>
        <p:txBody>
          <a:bodyPr wrap="square" lIns="0" tIns="0" rIns="0" bIns="0" rtlCol="0" anchor="ctr"/>
          <a:lstStyle/>
          <a:p>
            <a:pPr algn="ctr" indent="0" marL="0">
              <a:buNone/>
            </a:pPr>
            <a:r>
              <a:rPr lang="en-US" sz="1400" b="1" dirty="0">
                <a:solidFill>
                  <a:srgbClr val="0E2A3B"/>
                </a:solidFill>
                <a:latin typeface="Calibri" pitchFamily="34" charset="0"/>
                <a:ea typeface="Calibri" pitchFamily="34" charset="-122"/>
                <a:cs typeface="Calibri" pitchFamily="34" charset="-120"/>
              </a:rPr>
              <a:t>1</a:t>
            </a:r>
            <a:endParaRPr lang="en-US" sz="1400" dirty="0"/>
          </a:p>
        </p:txBody>
      </p:sp>
      <p:sp>
        <p:nvSpPr>
          <p:cNvPr id="9" name="Text 6"/>
          <p:cNvSpPr/>
          <p:nvPr/>
        </p:nvSpPr>
        <p:spPr>
          <a:xfrm>
            <a:off x="1280160" y="2468880"/>
            <a:ext cx="324612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Toolkit</a:t>
            </a:r>
            <a:endParaRPr lang="en-US" sz="1300" dirty="0"/>
          </a:p>
        </p:txBody>
      </p:sp>
      <p:sp>
        <p:nvSpPr>
          <p:cNvPr id="10" name="Text 7"/>
          <p:cNvSpPr/>
          <p:nvPr/>
        </p:nvSpPr>
        <p:spPr>
          <a:xfrm>
            <a:off x="1280160" y="2743200"/>
            <a:ext cx="3246120" cy="310896"/>
          </a:xfrm>
          <a:prstGeom prst="rect">
            <a:avLst/>
          </a:prstGeom>
          <a:noFill/>
          <a:ln/>
        </p:spPr>
        <p:txBody>
          <a:bodyPr wrap="square" lIns="0" tIns="0" rIns="0" bIns="0" rtlCol="0" anchor="t"/>
          <a:lstStyle/>
          <a:p>
            <a:pPr indent="0" marL="0">
              <a:buNone/>
            </a:pPr>
            <a:r>
              <a:rPr lang="en-US" sz="930" dirty="0">
                <a:solidFill>
                  <a:srgbClr val="B9CCD4"/>
                </a:solidFill>
                <a:latin typeface="Calibri" pitchFamily="34" charset="0"/>
                <a:ea typeface="Calibri" pitchFamily="34" charset="-122"/>
                <a:cs typeface="Calibri" pitchFamily="34" charset="-120"/>
              </a:rPr>
              <a:t>Observability + governance modules (reused from Colab 1)</a:t>
            </a:r>
            <a:endParaRPr lang="en-US" sz="930" dirty="0"/>
          </a:p>
        </p:txBody>
      </p:sp>
      <p:sp>
        <p:nvSpPr>
          <p:cNvPr id="11" name="Shape 8"/>
          <p:cNvSpPr/>
          <p:nvPr/>
        </p:nvSpPr>
        <p:spPr>
          <a:xfrm>
            <a:off x="4782312" y="2377440"/>
            <a:ext cx="3977640" cy="713232"/>
          </a:xfrm>
          <a:prstGeom prst="roundRect">
            <a:avLst>
              <a:gd name="adj" fmla="val 10256"/>
            </a:avLst>
          </a:prstGeom>
          <a:solidFill>
            <a:srgbClr val="14405A"/>
          </a:solidFill>
          <a:ln/>
        </p:spPr>
      </p:sp>
      <p:sp>
        <p:nvSpPr>
          <p:cNvPr id="12" name="Shape 9"/>
          <p:cNvSpPr/>
          <p:nvPr/>
        </p:nvSpPr>
        <p:spPr>
          <a:xfrm>
            <a:off x="4928616" y="2551176"/>
            <a:ext cx="365760" cy="365760"/>
          </a:xfrm>
          <a:prstGeom prst="ellipse">
            <a:avLst/>
          </a:prstGeom>
          <a:solidFill>
            <a:srgbClr val="F59E0B"/>
          </a:solidFill>
          <a:ln/>
        </p:spPr>
      </p:sp>
      <p:sp>
        <p:nvSpPr>
          <p:cNvPr id="13" name="Text 10"/>
          <p:cNvSpPr/>
          <p:nvPr/>
        </p:nvSpPr>
        <p:spPr>
          <a:xfrm>
            <a:off x="4928616" y="2551176"/>
            <a:ext cx="365760" cy="365760"/>
          </a:xfrm>
          <a:prstGeom prst="rect">
            <a:avLst/>
          </a:prstGeom>
          <a:noFill/>
          <a:ln/>
        </p:spPr>
        <p:txBody>
          <a:bodyPr wrap="square" lIns="0" tIns="0" rIns="0" bIns="0" rtlCol="0" anchor="ctr"/>
          <a:lstStyle/>
          <a:p>
            <a:pPr algn="ctr" indent="0" marL="0">
              <a:buNone/>
            </a:pPr>
            <a:r>
              <a:rPr lang="en-US" sz="1400" b="1" dirty="0">
                <a:solidFill>
                  <a:srgbClr val="0E2A3B"/>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5422392" y="2468880"/>
            <a:ext cx="324612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Agents</a:t>
            </a:r>
            <a:endParaRPr lang="en-US" sz="1300" dirty="0"/>
          </a:p>
        </p:txBody>
      </p:sp>
      <p:sp>
        <p:nvSpPr>
          <p:cNvPr id="15" name="Text 12"/>
          <p:cNvSpPr/>
          <p:nvPr/>
        </p:nvSpPr>
        <p:spPr>
          <a:xfrm>
            <a:off x="5422392" y="2743200"/>
            <a:ext cx="3246120" cy="310896"/>
          </a:xfrm>
          <a:prstGeom prst="rect">
            <a:avLst/>
          </a:prstGeom>
          <a:noFill/>
          <a:ln/>
        </p:spPr>
        <p:txBody>
          <a:bodyPr wrap="square" lIns="0" tIns="0" rIns="0" bIns="0" rtlCol="0" anchor="t"/>
          <a:lstStyle/>
          <a:p>
            <a:pPr indent="0" marL="0">
              <a:buNone/>
            </a:pPr>
            <a:r>
              <a:rPr lang="en-US" sz="930" dirty="0">
                <a:solidFill>
                  <a:srgbClr val="B9CCD4"/>
                </a:solidFill>
                <a:latin typeface="Calibri" pitchFamily="34" charset="0"/>
                <a:ea typeface="Calibri" pitchFamily="34" charset="-122"/>
                <a:cs typeface="Calibri" pitchFamily="34" charset="-120"/>
              </a:rPr>
              <a:t>Build Researcher, Qualifier, Summariser, Notifier with guardrails</a:t>
            </a:r>
            <a:endParaRPr lang="en-US" sz="930" dirty="0"/>
          </a:p>
        </p:txBody>
      </p:sp>
      <p:sp>
        <p:nvSpPr>
          <p:cNvPr id="16" name="Shape 13"/>
          <p:cNvSpPr/>
          <p:nvPr/>
        </p:nvSpPr>
        <p:spPr>
          <a:xfrm>
            <a:off x="640080" y="3236976"/>
            <a:ext cx="3977640" cy="713232"/>
          </a:xfrm>
          <a:prstGeom prst="roundRect">
            <a:avLst>
              <a:gd name="adj" fmla="val 10256"/>
            </a:avLst>
          </a:prstGeom>
          <a:solidFill>
            <a:srgbClr val="14405A"/>
          </a:solidFill>
          <a:ln/>
        </p:spPr>
      </p:sp>
      <p:sp>
        <p:nvSpPr>
          <p:cNvPr id="17" name="Shape 14"/>
          <p:cNvSpPr/>
          <p:nvPr/>
        </p:nvSpPr>
        <p:spPr>
          <a:xfrm>
            <a:off x="786384" y="3410712"/>
            <a:ext cx="365760" cy="365760"/>
          </a:xfrm>
          <a:prstGeom prst="ellipse">
            <a:avLst/>
          </a:prstGeom>
          <a:solidFill>
            <a:srgbClr val="F59E0B"/>
          </a:solidFill>
          <a:ln/>
        </p:spPr>
      </p:sp>
      <p:sp>
        <p:nvSpPr>
          <p:cNvPr id="18" name="Text 15"/>
          <p:cNvSpPr/>
          <p:nvPr/>
        </p:nvSpPr>
        <p:spPr>
          <a:xfrm>
            <a:off x="786384" y="3410712"/>
            <a:ext cx="365760" cy="365760"/>
          </a:xfrm>
          <a:prstGeom prst="rect">
            <a:avLst/>
          </a:prstGeom>
          <a:noFill/>
          <a:ln/>
        </p:spPr>
        <p:txBody>
          <a:bodyPr wrap="square" lIns="0" tIns="0" rIns="0" bIns="0" rtlCol="0" anchor="ctr"/>
          <a:lstStyle/>
          <a:p>
            <a:pPr algn="ctr" indent="0" marL="0">
              <a:buNone/>
            </a:pPr>
            <a:r>
              <a:rPr lang="en-US" sz="1400" b="1" dirty="0">
                <a:solidFill>
                  <a:srgbClr val="0E2A3B"/>
                </a:solidFill>
                <a:latin typeface="Calibri" pitchFamily="34" charset="0"/>
                <a:ea typeface="Calibri" pitchFamily="34" charset="-122"/>
                <a:cs typeface="Calibri" pitchFamily="34" charset="-120"/>
              </a:rPr>
              <a:t>3</a:t>
            </a:r>
            <a:endParaRPr lang="en-US" sz="1400" dirty="0"/>
          </a:p>
        </p:txBody>
      </p:sp>
      <p:sp>
        <p:nvSpPr>
          <p:cNvPr id="19" name="Text 16"/>
          <p:cNvSpPr/>
          <p:nvPr/>
        </p:nvSpPr>
        <p:spPr>
          <a:xfrm>
            <a:off x="1280160" y="3328416"/>
            <a:ext cx="324612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Orchestrate</a:t>
            </a:r>
            <a:endParaRPr lang="en-US" sz="1300" dirty="0"/>
          </a:p>
        </p:txBody>
      </p:sp>
      <p:sp>
        <p:nvSpPr>
          <p:cNvPr id="20" name="Text 17"/>
          <p:cNvSpPr/>
          <p:nvPr/>
        </p:nvSpPr>
        <p:spPr>
          <a:xfrm>
            <a:off x="1280160" y="3602736"/>
            <a:ext cx="3246120" cy="310896"/>
          </a:xfrm>
          <a:prstGeom prst="rect">
            <a:avLst/>
          </a:prstGeom>
          <a:noFill/>
          <a:ln/>
        </p:spPr>
        <p:txBody>
          <a:bodyPr wrap="square" lIns="0" tIns="0" rIns="0" bIns="0" rtlCol="0" anchor="t"/>
          <a:lstStyle/>
          <a:p>
            <a:pPr indent="0" marL="0">
              <a:buNone/>
            </a:pPr>
            <a:r>
              <a:rPr lang="en-US" sz="930" dirty="0">
                <a:solidFill>
                  <a:srgbClr val="B9CCD4"/>
                </a:solidFill>
                <a:latin typeface="Calibri" pitchFamily="34" charset="0"/>
                <a:ea typeface="Calibri" pitchFamily="34" charset="-122"/>
                <a:cs typeface="Calibri" pitchFamily="34" charset="-120"/>
              </a:rPr>
              <a:t>Run the batch with tracing, audit &amp; error handling</a:t>
            </a:r>
            <a:endParaRPr lang="en-US" sz="930" dirty="0"/>
          </a:p>
        </p:txBody>
      </p:sp>
      <p:sp>
        <p:nvSpPr>
          <p:cNvPr id="21" name="Shape 18"/>
          <p:cNvSpPr/>
          <p:nvPr/>
        </p:nvSpPr>
        <p:spPr>
          <a:xfrm>
            <a:off x="4782312" y="3236976"/>
            <a:ext cx="3977640" cy="713232"/>
          </a:xfrm>
          <a:prstGeom prst="roundRect">
            <a:avLst>
              <a:gd name="adj" fmla="val 10256"/>
            </a:avLst>
          </a:prstGeom>
          <a:solidFill>
            <a:srgbClr val="14405A"/>
          </a:solidFill>
          <a:ln/>
        </p:spPr>
      </p:sp>
      <p:sp>
        <p:nvSpPr>
          <p:cNvPr id="22" name="Shape 19"/>
          <p:cNvSpPr/>
          <p:nvPr/>
        </p:nvSpPr>
        <p:spPr>
          <a:xfrm>
            <a:off x="4928616" y="3410712"/>
            <a:ext cx="365760" cy="365760"/>
          </a:xfrm>
          <a:prstGeom prst="ellipse">
            <a:avLst/>
          </a:prstGeom>
          <a:solidFill>
            <a:srgbClr val="F59E0B"/>
          </a:solidFill>
          <a:ln/>
        </p:spPr>
      </p:sp>
      <p:sp>
        <p:nvSpPr>
          <p:cNvPr id="23" name="Text 20"/>
          <p:cNvSpPr/>
          <p:nvPr/>
        </p:nvSpPr>
        <p:spPr>
          <a:xfrm>
            <a:off x="4928616" y="3410712"/>
            <a:ext cx="365760" cy="365760"/>
          </a:xfrm>
          <a:prstGeom prst="rect">
            <a:avLst/>
          </a:prstGeom>
          <a:noFill/>
          <a:ln/>
        </p:spPr>
        <p:txBody>
          <a:bodyPr wrap="square" lIns="0" tIns="0" rIns="0" bIns="0" rtlCol="0" anchor="ctr"/>
          <a:lstStyle/>
          <a:p>
            <a:pPr algn="ctr" indent="0" marL="0">
              <a:buNone/>
            </a:pPr>
            <a:r>
              <a:rPr lang="en-US" sz="1400" b="1" dirty="0">
                <a:solidFill>
                  <a:srgbClr val="0E2A3B"/>
                </a:solidFill>
                <a:latin typeface="Calibri" pitchFamily="34" charset="0"/>
                <a:ea typeface="Calibri" pitchFamily="34" charset="-122"/>
                <a:cs typeface="Calibri" pitchFamily="34" charset="-120"/>
              </a:rPr>
              <a:t>4</a:t>
            </a:r>
            <a:endParaRPr lang="en-US" sz="1400" dirty="0"/>
          </a:p>
        </p:txBody>
      </p:sp>
      <p:sp>
        <p:nvSpPr>
          <p:cNvPr id="24" name="Text 21"/>
          <p:cNvSpPr/>
          <p:nvPr/>
        </p:nvSpPr>
        <p:spPr>
          <a:xfrm>
            <a:off x="5422392" y="3328416"/>
            <a:ext cx="324612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Feedback</a:t>
            </a:r>
            <a:endParaRPr lang="en-US" sz="1300" dirty="0"/>
          </a:p>
        </p:txBody>
      </p:sp>
      <p:sp>
        <p:nvSpPr>
          <p:cNvPr id="25" name="Text 22"/>
          <p:cNvSpPr/>
          <p:nvPr/>
        </p:nvSpPr>
        <p:spPr>
          <a:xfrm>
            <a:off x="5422392" y="3602736"/>
            <a:ext cx="3246120" cy="310896"/>
          </a:xfrm>
          <a:prstGeom prst="rect">
            <a:avLst/>
          </a:prstGeom>
          <a:noFill/>
          <a:ln/>
        </p:spPr>
        <p:txBody>
          <a:bodyPr wrap="square" lIns="0" tIns="0" rIns="0" bIns="0" rtlCol="0" anchor="t"/>
          <a:lstStyle/>
          <a:p>
            <a:pPr indent="0" marL="0">
              <a:buNone/>
            </a:pPr>
            <a:r>
              <a:rPr lang="en-US" sz="930" dirty="0">
                <a:solidFill>
                  <a:srgbClr val="B9CCD4"/>
                </a:solidFill>
                <a:latin typeface="Calibri" pitchFamily="34" charset="0"/>
                <a:ea typeface="Calibri" pitchFamily="34" charset="-122"/>
                <a:cs typeface="Calibri" pitchFamily="34" charset="-120"/>
              </a:rPr>
              <a:t>Simulate rep ratings → re-tune Qualifier → measure delta</a:t>
            </a:r>
            <a:endParaRPr lang="en-US" sz="930" dirty="0"/>
          </a:p>
        </p:txBody>
      </p:sp>
      <p:sp>
        <p:nvSpPr>
          <p:cNvPr id="26" name="Shape 23"/>
          <p:cNvSpPr/>
          <p:nvPr/>
        </p:nvSpPr>
        <p:spPr>
          <a:xfrm>
            <a:off x="640080" y="4096512"/>
            <a:ext cx="3977640" cy="713232"/>
          </a:xfrm>
          <a:prstGeom prst="roundRect">
            <a:avLst>
              <a:gd name="adj" fmla="val 10256"/>
            </a:avLst>
          </a:prstGeom>
          <a:solidFill>
            <a:srgbClr val="14405A"/>
          </a:solidFill>
          <a:ln/>
        </p:spPr>
      </p:sp>
      <p:sp>
        <p:nvSpPr>
          <p:cNvPr id="27" name="Shape 24"/>
          <p:cNvSpPr/>
          <p:nvPr/>
        </p:nvSpPr>
        <p:spPr>
          <a:xfrm>
            <a:off x="786384" y="4270248"/>
            <a:ext cx="365760" cy="365760"/>
          </a:xfrm>
          <a:prstGeom prst="ellipse">
            <a:avLst/>
          </a:prstGeom>
          <a:solidFill>
            <a:srgbClr val="F59E0B"/>
          </a:solidFill>
          <a:ln/>
        </p:spPr>
      </p:sp>
      <p:sp>
        <p:nvSpPr>
          <p:cNvPr id="28" name="Text 25"/>
          <p:cNvSpPr/>
          <p:nvPr/>
        </p:nvSpPr>
        <p:spPr>
          <a:xfrm>
            <a:off x="786384" y="4270248"/>
            <a:ext cx="365760" cy="365760"/>
          </a:xfrm>
          <a:prstGeom prst="rect">
            <a:avLst/>
          </a:prstGeom>
          <a:noFill/>
          <a:ln/>
        </p:spPr>
        <p:txBody>
          <a:bodyPr wrap="square" lIns="0" tIns="0" rIns="0" bIns="0" rtlCol="0" anchor="ctr"/>
          <a:lstStyle/>
          <a:p>
            <a:pPr algn="ctr" indent="0" marL="0">
              <a:buNone/>
            </a:pPr>
            <a:r>
              <a:rPr lang="en-US" sz="1400" b="1" dirty="0">
                <a:solidFill>
                  <a:srgbClr val="0E2A3B"/>
                </a:solidFill>
                <a:latin typeface="Calibri" pitchFamily="34" charset="0"/>
                <a:ea typeface="Calibri" pitchFamily="34" charset="-122"/>
                <a:cs typeface="Calibri" pitchFamily="34" charset="-120"/>
              </a:rPr>
              <a:t>5</a:t>
            </a:r>
            <a:endParaRPr lang="en-US" sz="1400" dirty="0"/>
          </a:p>
        </p:txBody>
      </p:sp>
      <p:sp>
        <p:nvSpPr>
          <p:cNvPr id="29" name="Text 26"/>
          <p:cNvSpPr/>
          <p:nvPr/>
        </p:nvSpPr>
        <p:spPr>
          <a:xfrm>
            <a:off x="1280160" y="4187952"/>
            <a:ext cx="324612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Dashboard</a:t>
            </a:r>
            <a:endParaRPr lang="en-US" sz="1300" dirty="0"/>
          </a:p>
        </p:txBody>
      </p:sp>
      <p:sp>
        <p:nvSpPr>
          <p:cNvPr id="30" name="Text 27"/>
          <p:cNvSpPr/>
          <p:nvPr/>
        </p:nvSpPr>
        <p:spPr>
          <a:xfrm>
            <a:off x="1280160" y="4462272"/>
            <a:ext cx="3246120" cy="310896"/>
          </a:xfrm>
          <a:prstGeom prst="rect">
            <a:avLst/>
          </a:prstGeom>
          <a:noFill/>
          <a:ln/>
        </p:spPr>
        <p:txBody>
          <a:bodyPr wrap="square" lIns="0" tIns="0" rIns="0" bIns="0" rtlCol="0" anchor="t"/>
          <a:lstStyle/>
          <a:p>
            <a:pPr indent="0" marL="0">
              <a:buNone/>
            </a:pPr>
            <a:r>
              <a:rPr lang="en-US" sz="930" dirty="0">
                <a:solidFill>
                  <a:srgbClr val="B9CCD4"/>
                </a:solidFill>
                <a:latin typeface="Calibri" pitchFamily="34" charset="0"/>
                <a:ea typeface="Calibri" pitchFamily="34" charset="-122"/>
                <a:cs typeface="Calibri" pitchFamily="34" charset="-120"/>
              </a:rPr>
              <a:t>Aggregate latency, cost, guardrail blocks &amp; quality</a:t>
            </a:r>
            <a:endParaRPr lang="en-US" sz="930" dirty="0"/>
          </a:p>
        </p:txBody>
      </p:sp>
      <p:sp>
        <p:nvSpPr>
          <p:cNvPr id="31" name="Shape 28"/>
          <p:cNvSpPr/>
          <p:nvPr/>
        </p:nvSpPr>
        <p:spPr>
          <a:xfrm>
            <a:off x="4782312" y="4096512"/>
            <a:ext cx="3977640" cy="713232"/>
          </a:xfrm>
          <a:prstGeom prst="roundRect">
            <a:avLst>
              <a:gd name="adj" fmla="val 10256"/>
            </a:avLst>
          </a:prstGeom>
          <a:solidFill>
            <a:srgbClr val="14405A"/>
          </a:solidFill>
          <a:ln/>
        </p:spPr>
      </p:sp>
      <p:sp>
        <p:nvSpPr>
          <p:cNvPr id="32" name="Shape 29"/>
          <p:cNvSpPr/>
          <p:nvPr/>
        </p:nvSpPr>
        <p:spPr>
          <a:xfrm>
            <a:off x="4928616" y="4270248"/>
            <a:ext cx="365760" cy="365760"/>
          </a:xfrm>
          <a:prstGeom prst="ellipse">
            <a:avLst/>
          </a:prstGeom>
          <a:solidFill>
            <a:srgbClr val="F59E0B"/>
          </a:solidFill>
          <a:ln/>
        </p:spPr>
      </p:sp>
      <p:sp>
        <p:nvSpPr>
          <p:cNvPr id="33" name="Text 30"/>
          <p:cNvSpPr/>
          <p:nvPr/>
        </p:nvSpPr>
        <p:spPr>
          <a:xfrm>
            <a:off x="4928616" y="4270248"/>
            <a:ext cx="365760" cy="365760"/>
          </a:xfrm>
          <a:prstGeom prst="rect">
            <a:avLst/>
          </a:prstGeom>
          <a:noFill/>
          <a:ln/>
        </p:spPr>
        <p:txBody>
          <a:bodyPr wrap="square" lIns="0" tIns="0" rIns="0" bIns="0" rtlCol="0" anchor="ctr"/>
          <a:lstStyle/>
          <a:p>
            <a:pPr algn="ctr" indent="0" marL="0">
              <a:buNone/>
            </a:pPr>
            <a:r>
              <a:rPr lang="en-US" sz="1400" b="1" dirty="0">
                <a:solidFill>
                  <a:srgbClr val="0E2A3B"/>
                </a:solidFill>
                <a:latin typeface="Calibri" pitchFamily="34" charset="0"/>
                <a:ea typeface="Calibri" pitchFamily="34" charset="-122"/>
                <a:cs typeface="Calibri" pitchFamily="34" charset="-120"/>
              </a:rPr>
              <a:t>6</a:t>
            </a:r>
            <a:endParaRPr lang="en-US" sz="1400" dirty="0"/>
          </a:p>
        </p:txBody>
      </p:sp>
      <p:sp>
        <p:nvSpPr>
          <p:cNvPr id="34" name="Text 31"/>
          <p:cNvSpPr/>
          <p:nvPr/>
        </p:nvSpPr>
        <p:spPr>
          <a:xfrm>
            <a:off x="5422392" y="4187952"/>
            <a:ext cx="324612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Document</a:t>
            </a:r>
            <a:endParaRPr lang="en-US" sz="1300" dirty="0"/>
          </a:p>
        </p:txBody>
      </p:sp>
      <p:sp>
        <p:nvSpPr>
          <p:cNvPr id="35" name="Text 32"/>
          <p:cNvSpPr/>
          <p:nvPr/>
        </p:nvSpPr>
        <p:spPr>
          <a:xfrm>
            <a:off x="5422392" y="4462272"/>
            <a:ext cx="3246120" cy="310896"/>
          </a:xfrm>
          <a:prstGeom prst="rect">
            <a:avLst/>
          </a:prstGeom>
          <a:noFill/>
          <a:ln/>
        </p:spPr>
        <p:txBody>
          <a:bodyPr wrap="square" lIns="0" tIns="0" rIns="0" bIns="0" rtlCol="0" anchor="t"/>
          <a:lstStyle/>
          <a:p>
            <a:pPr indent="0" marL="0">
              <a:buNone/>
            </a:pPr>
            <a:r>
              <a:rPr lang="en-US" sz="930" dirty="0">
                <a:solidFill>
                  <a:srgbClr val="B9CCD4"/>
                </a:solidFill>
                <a:latin typeface="Calibri" pitchFamily="34" charset="0"/>
                <a:ea typeface="Calibri" pitchFamily="34" charset="-122"/>
                <a:cs typeface="Calibri" pitchFamily="34" charset="-120"/>
              </a:rPr>
              <a:t>Export audit trail + generate governance artifacts</a:t>
            </a:r>
            <a:endParaRPr lang="en-US" sz="930" dirty="0"/>
          </a:p>
        </p:txBody>
      </p:sp>
      <p:sp>
        <p:nvSpPr>
          <p:cNvPr id="36" name="Text 33"/>
          <p:cNvSpPr/>
          <p:nvPr/>
        </p:nvSpPr>
        <p:spPr>
          <a:xfrm>
            <a:off x="640080" y="4754880"/>
            <a:ext cx="8046720" cy="274320"/>
          </a:xfrm>
          <a:prstGeom prst="rect">
            <a:avLst/>
          </a:prstGeom>
          <a:noFill/>
          <a:ln/>
        </p:spPr>
        <p:txBody>
          <a:bodyPr wrap="square" lIns="0" tIns="0" rIns="0" bIns="0" rtlCol="0" anchor="ctr"/>
          <a:lstStyle/>
          <a:p>
            <a:pPr indent="0" marL="0">
              <a:buNone/>
            </a:pPr>
            <a:r>
              <a:rPr lang="en-US" sz="1050" i="1" dirty="0">
                <a:solidFill>
                  <a:srgbClr val="9FB6C0"/>
                </a:solidFill>
                <a:latin typeface="Calibri" pitchFamily="34" charset="0"/>
                <a:ea typeface="Calibri" pitchFamily="34" charset="-122"/>
                <a:cs typeface="Calibri" pitchFamily="34" charset="-120"/>
              </a:rPr>
              <a:t>~75 minutes · graded · extension tasks at the end of the notebook</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E2A3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309360" y="-365760"/>
            <a:ext cx="3840480" cy="3840480"/>
          </a:xfrm>
          <a:prstGeom prst="rect">
            <a:avLst/>
          </a:prstGeom>
        </p:spPr>
      </p:pic>
      <p:sp>
        <p:nvSpPr>
          <p:cNvPr id="3" name="Shape 0"/>
          <p:cNvSpPr/>
          <p:nvPr/>
        </p:nvSpPr>
        <p:spPr>
          <a:xfrm>
            <a:off x="6309360" y="-365760"/>
            <a:ext cx="3840480" cy="3840480"/>
          </a:xfrm>
          <a:prstGeom prst="rect">
            <a:avLst/>
          </a:prstGeom>
          <a:solidFill>
            <a:srgbClr val="0E2A3B">
              <a:alpha val="78000"/>
            </a:srgbClr>
          </a:solidFill>
          <a:ln/>
        </p:spPr>
      </p:sp>
      <p:sp>
        <p:nvSpPr>
          <p:cNvPr id="4" name="Shape 1"/>
          <p:cNvSpPr/>
          <p:nvPr/>
        </p:nvSpPr>
        <p:spPr>
          <a:xfrm>
            <a:off x="640080" y="1371600"/>
            <a:ext cx="914400" cy="914400"/>
          </a:xfrm>
          <a:prstGeom prst="ellipse">
            <a:avLst/>
          </a:prstGeom>
          <a:solidFill>
            <a:srgbClr val="0D9488"/>
          </a:solidFill>
          <a:ln/>
        </p:spPr>
      </p:sp>
      <p:pic>
        <p:nvPicPr>
          <p:cNvPr id="5" name="Image 1" descr="preencoded.png">    </p:cNvPr>
          <p:cNvPicPr>
            <a:picLocks noChangeAspect="1"/>
          </p:cNvPicPr>
          <p:nvPr/>
        </p:nvPicPr>
        <p:blipFill>
          <a:blip r:embed="rId2"/>
          <a:stretch>
            <a:fillRect/>
          </a:stretch>
        </p:blipFill>
        <p:spPr>
          <a:xfrm>
            <a:off x="886968" y="1618488"/>
            <a:ext cx="420624" cy="420624"/>
          </a:xfrm>
          <a:prstGeom prst="rect">
            <a:avLst/>
          </a:prstGeom>
        </p:spPr>
      </p:pic>
      <p:sp>
        <p:nvSpPr>
          <p:cNvPr id="6" name="Text 2"/>
          <p:cNvSpPr/>
          <p:nvPr/>
        </p:nvSpPr>
        <p:spPr>
          <a:xfrm>
            <a:off x="685800" y="2468880"/>
            <a:ext cx="7315200" cy="365760"/>
          </a:xfrm>
          <a:prstGeom prst="rect">
            <a:avLst/>
          </a:prstGeom>
          <a:noFill/>
          <a:ln/>
        </p:spPr>
        <p:txBody>
          <a:bodyPr wrap="square" lIns="0" tIns="0" rIns="0" bIns="0" rtlCol="0" anchor="ctr"/>
          <a:lstStyle/>
          <a:p>
            <a:pPr indent="0" marL="0">
              <a:buNone/>
            </a:pPr>
            <a:r>
              <a:rPr lang="en-US" sz="1400" b="1" spc="300" kern="0" dirty="0">
                <a:solidFill>
                  <a:srgbClr val="5EEAD4"/>
                </a:solidFill>
                <a:latin typeface="Calibri" pitchFamily="34" charset="0"/>
                <a:ea typeface="Calibri" pitchFamily="34" charset="-122"/>
                <a:cs typeface="Calibri" pitchFamily="34" charset="-120"/>
              </a:rPr>
              <a:t>MODULE 5 · HOURS 7:30–8:00</a:t>
            </a:r>
            <a:endParaRPr lang="en-US" sz="1400" dirty="0"/>
          </a:p>
        </p:txBody>
      </p:sp>
      <p:sp>
        <p:nvSpPr>
          <p:cNvPr id="7" name="Text 3"/>
          <p:cNvSpPr/>
          <p:nvPr/>
        </p:nvSpPr>
        <p:spPr>
          <a:xfrm>
            <a:off x="640080" y="2788920"/>
            <a:ext cx="804672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Documentation, Governance &amp; Wrap</a:t>
            </a:r>
            <a:endParaRPr lang="en-US" sz="3800" dirty="0"/>
          </a:p>
        </p:txBody>
      </p:sp>
      <p:sp>
        <p:nvSpPr>
          <p:cNvPr id="8" name="Text 4"/>
          <p:cNvSpPr/>
          <p:nvPr/>
        </p:nvSpPr>
        <p:spPr>
          <a:xfrm>
            <a:off x="685800" y="3794760"/>
            <a:ext cx="7863840" cy="640080"/>
          </a:xfrm>
          <a:prstGeom prst="rect">
            <a:avLst/>
          </a:prstGeom>
          <a:noFill/>
          <a:ln/>
        </p:spPr>
        <p:txBody>
          <a:bodyPr wrap="square" lIns="0" tIns="0" rIns="0" bIns="0" rtlCol="0" anchor="ctr"/>
          <a:lstStyle/>
          <a:p>
            <a:pPr indent="0" marL="0">
              <a:buNone/>
            </a:pPr>
            <a:r>
              <a:rPr lang="en-US" sz="1400" dirty="0">
                <a:solidFill>
                  <a:srgbClr val="C9D6DF"/>
                </a:solidFill>
                <a:latin typeface="Calibri" pitchFamily="34" charset="0"/>
                <a:ea typeface="Calibri" pitchFamily="34" charset="-122"/>
                <a:cs typeface="Calibri" pitchFamily="34" charset="-120"/>
              </a:rPr>
              <a:t>The artifacts that make your system operable by others: architecture, workflows and governance docs — plus a production-readiness gate.</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42</a:t>
            </a:r>
            <a:endParaRPr lang="en-US" sz="850" dirty="0"/>
          </a:p>
        </p:txBody>
      </p:sp>
      <p:sp>
        <p:nvSpPr>
          <p:cNvPr id="4" name="Shape 2"/>
          <p:cNvSpPr/>
          <p:nvPr/>
        </p:nvSpPr>
        <p:spPr>
          <a:xfrm>
            <a:off x="457200" y="384048"/>
            <a:ext cx="566928" cy="566928"/>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Three Documents Every Agent System Needs</a:t>
            </a:r>
            <a:endParaRPr lang="en-US" sz="2600" dirty="0"/>
          </a:p>
        </p:txBody>
      </p:sp>
      <p:sp>
        <p:nvSpPr>
          <p:cNvPr id="7" name="Shape 4"/>
          <p:cNvSpPr/>
          <p:nvPr/>
        </p:nvSpPr>
        <p:spPr>
          <a:xfrm>
            <a:off x="457200" y="1417320"/>
            <a:ext cx="2697480" cy="3108960"/>
          </a:xfrm>
          <a:prstGeom prst="roundRect">
            <a:avLst>
              <a:gd name="adj" fmla="val 2712"/>
            </a:avLst>
          </a:prstGeom>
          <a:solidFill>
            <a:srgbClr val="FFFFFF"/>
          </a:solidFill>
          <a:ln/>
          <a:effectLst>
            <a:outerShdw sx="100000" sy="100000" kx="0" ky="0" algn="bl" rotWithShape="0" blurRad="63500" dist="25400" dir="5400000">
              <a:srgbClr val="0F2233">
                <a:alpha val="10000"/>
              </a:srgbClr>
            </a:outerShdw>
          </a:effectLst>
        </p:spPr>
      </p:sp>
      <p:sp>
        <p:nvSpPr>
          <p:cNvPr id="8" name="Shape 5"/>
          <p:cNvSpPr/>
          <p:nvPr/>
        </p:nvSpPr>
        <p:spPr>
          <a:xfrm>
            <a:off x="1440180" y="1645920"/>
            <a:ext cx="731520" cy="731520"/>
          </a:xfrm>
          <a:prstGeom prst="ellipse">
            <a:avLst/>
          </a:prstGeom>
          <a:solidFill>
            <a:srgbClr val="0D9488"/>
          </a:solidFill>
          <a:ln/>
        </p:spPr>
      </p:sp>
      <p:pic>
        <p:nvPicPr>
          <p:cNvPr id="9" name="Image 1" descr="preencoded.png">    </p:cNvPr>
          <p:cNvPicPr>
            <a:picLocks noChangeAspect="1"/>
          </p:cNvPicPr>
          <p:nvPr/>
        </p:nvPicPr>
        <p:blipFill>
          <a:blip r:embed="rId2"/>
          <a:stretch>
            <a:fillRect/>
          </a:stretch>
        </p:blipFill>
        <p:spPr>
          <a:xfrm>
            <a:off x="1637690" y="1843430"/>
            <a:ext cx="336499" cy="336499"/>
          </a:xfrm>
          <a:prstGeom prst="rect">
            <a:avLst/>
          </a:prstGeom>
        </p:spPr>
      </p:pic>
      <p:sp>
        <p:nvSpPr>
          <p:cNvPr id="10" name="Text 6"/>
          <p:cNvSpPr/>
          <p:nvPr/>
        </p:nvSpPr>
        <p:spPr>
          <a:xfrm>
            <a:off x="457200" y="2514600"/>
            <a:ext cx="2697480" cy="457200"/>
          </a:xfrm>
          <a:prstGeom prst="rect">
            <a:avLst/>
          </a:prstGeom>
          <a:noFill/>
          <a:ln/>
        </p:spPr>
        <p:txBody>
          <a:bodyPr wrap="square" lIns="0" tIns="0" rIns="0" bIns="0" rtlCol="0" anchor="ctr"/>
          <a:lstStyle/>
          <a:p>
            <a:pPr algn="ctr" indent="0" marL="0">
              <a:buNone/>
            </a:pPr>
            <a:r>
              <a:rPr lang="en-US" sz="1700" b="1" dirty="0">
                <a:solidFill>
                  <a:srgbClr val="0F2233"/>
                </a:solidFill>
                <a:latin typeface="Cambria" pitchFamily="34" charset="0"/>
                <a:ea typeface="Cambria" pitchFamily="34" charset="-122"/>
                <a:cs typeface="Cambria" pitchFamily="34" charset="-120"/>
              </a:rPr>
              <a:t>Architecture</a:t>
            </a:r>
            <a:endParaRPr lang="en-US" sz="1700" dirty="0"/>
          </a:p>
        </p:txBody>
      </p:sp>
      <p:sp>
        <p:nvSpPr>
          <p:cNvPr id="11" name="Text 7"/>
          <p:cNvSpPr/>
          <p:nvPr/>
        </p:nvSpPr>
        <p:spPr>
          <a:xfrm>
            <a:off x="685800" y="3017520"/>
            <a:ext cx="2240280" cy="1371600"/>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Agents, data flow, models, tools, trust boundaries &amp; where PII lives. A diagram + the contracts.</a:t>
            </a:r>
            <a:endParaRPr lang="en-US" sz="1150" dirty="0"/>
          </a:p>
        </p:txBody>
      </p:sp>
      <p:sp>
        <p:nvSpPr>
          <p:cNvPr id="12" name="Shape 8"/>
          <p:cNvSpPr/>
          <p:nvPr/>
        </p:nvSpPr>
        <p:spPr>
          <a:xfrm>
            <a:off x="3337560" y="1417320"/>
            <a:ext cx="2697480" cy="3108960"/>
          </a:xfrm>
          <a:prstGeom prst="roundRect">
            <a:avLst>
              <a:gd name="adj" fmla="val 2712"/>
            </a:avLst>
          </a:prstGeom>
          <a:solidFill>
            <a:srgbClr val="FFFFFF"/>
          </a:solidFill>
          <a:ln/>
          <a:effectLst>
            <a:outerShdw sx="100000" sy="100000" kx="0" ky="0" algn="bl" rotWithShape="0" blurRad="63500" dist="25400" dir="5400000">
              <a:srgbClr val="0F2233">
                <a:alpha val="10000"/>
              </a:srgbClr>
            </a:outerShdw>
          </a:effectLst>
        </p:spPr>
      </p:sp>
      <p:sp>
        <p:nvSpPr>
          <p:cNvPr id="13" name="Shape 9"/>
          <p:cNvSpPr/>
          <p:nvPr/>
        </p:nvSpPr>
        <p:spPr>
          <a:xfrm>
            <a:off x="4320540" y="1645920"/>
            <a:ext cx="731520" cy="731520"/>
          </a:xfrm>
          <a:prstGeom prst="ellipse">
            <a:avLst/>
          </a:prstGeom>
          <a:solidFill>
            <a:srgbClr val="F59E0B"/>
          </a:solidFill>
          <a:ln/>
        </p:spPr>
      </p:sp>
      <p:pic>
        <p:nvPicPr>
          <p:cNvPr id="14" name="Image 2" descr="preencoded.png">    </p:cNvPr>
          <p:cNvPicPr>
            <a:picLocks noChangeAspect="1"/>
          </p:cNvPicPr>
          <p:nvPr/>
        </p:nvPicPr>
        <p:blipFill>
          <a:blip r:embed="rId3"/>
          <a:stretch>
            <a:fillRect/>
          </a:stretch>
        </p:blipFill>
        <p:spPr>
          <a:xfrm>
            <a:off x="4518050" y="1843430"/>
            <a:ext cx="336499" cy="336499"/>
          </a:xfrm>
          <a:prstGeom prst="rect">
            <a:avLst/>
          </a:prstGeom>
        </p:spPr>
      </p:pic>
      <p:sp>
        <p:nvSpPr>
          <p:cNvPr id="15" name="Text 10"/>
          <p:cNvSpPr/>
          <p:nvPr/>
        </p:nvSpPr>
        <p:spPr>
          <a:xfrm>
            <a:off x="3337560" y="2514600"/>
            <a:ext cx="2697480" cy="457200"/>
          </a:xfrm>
          <a:prstGeom prst="rect">
            <a:avLst/>
          </a:prstGeom>
          <a:noFill/>
          <a:ln/>
        </p:spPr>
        <p:txBody>
          <a:bodyPr wrap="square" lIns="0" tIns="0" rIns="0" bIns="0" rtlCol="0" anchor="ctr"/>
          <a:lstStyle/>
          <a:p>
            <a:pPr algn="ctr" indent="0" marL="0">
              <a:buNone/>
            </a:pPr>
            <a:r>
              <a:rPr lang="en-US" sz="1700" b="1" dirty="0">
                <a:solidFill>
                  <a:srgbClr val="0F2233"/>
                </a:solidFill>
                <a:latin typeface="Cambria" pitchFamily="34" charset="0"/>
                <a:ea typeface="Cambria" pitchFamily="34" charset="-122"/>
                <a:cs typeface="Cambria" pitchFamily="34" charset="-120"/>
              </a:rPr>
              <a:t>Workflows &amp; runbooks</a:t>
            </a:r>
            <a:endParaRPr lang="en-US" sz="1700" dirty="0"/>
          </a:p>
        </p:txBody>
      </p:sp>
      <p:sp>
        <p:nvSpPr>
          <p:cNvPr id="16" name="Text 11"/>
          <p:cNvSpPr/>
          <p:nvPr/>
        </p:nvSpPr>
        <p:spPr>
          <a:xfrm>
            <a:off x="3566160" y="3017520"/>
            <a:ext cx="2240280" cy="1371600"/>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How it runs, how to deploy, on-call steps: what to do when a guardrail fires or a stage fails.</a:t>
            </a:r>
            <a:endParaRPr lang="en-US" sz="1150" dirty="0"/>
          </a:p>
        </p:txBody>
      </p:sp>
      <p:sp>
        <p:nvSpPr>
          <p:cNvPr id="17" name="Shape 12"/>
          <p:cNvSpPr/>
          <p:nvPr/>
        </p:nvSpPr>
        <p:spPr>
          <a:xfrm>
            <a:off x="6217920" y="1417320"/>
            <a:ext cx="2697480" cy="3108960"/>
          </a:xfrm>
          <a:prstGeom prst="roundRect">
            <a:avLst>
              <a:gd name="adj" fmla="val 2712"/>
            </a:avLst>
          </a:prstGeom>
          <a:solidFill>
            <a:srgbClr val="FFFFFF"/>
          </a:solidFill>
          <a:ln/>
          <a:effectLst>
            <a:outerShdw sx="100000" sy="100000" kx="0" ky="0" algn="bl" rotWithShape="0" blurRad="63500" dist="25400" dir="5400000">
              <a:srgbClr val="0F2233">
                <a:alpha val="10000"/>
              </a:srgbClr>
            </a:outerShdw>
          </a:effectLst>
        </p:spPr>
      </p:sp>
      <p:sp>
        <p:nvSpPr>
          <p:cNvPr id="18" name="Shape 13"/>
          <p:cNvSpPr/>
          <p:nvPr/>
        </p:nvSpPr>
        <p:spPr>
          <a:xfrm>
            <a:off x="7200900" y="1645920"/>
            <a:ext cx="731520" cy="731520"/>
          </a:xfrm>
          <a:prstGeom prst="ellipse">
            <a:avLst/>
          </a:prstGeom>
          <a:solidFill>
            <a:srgbClr val="0D9488"/>
          </a:solidFill>
          <a:ln/>
        </p:spPr>
      </p:sp>
      <p:pic>
        <p:nvPicPr>
          <p:cNvPr id="19" name="Image 3" descr="preencoded.png">    </p:cNvPr>
          <p:cNvPicPr>
            <a:picLocks noChangeAspect="1"/>
          </p:cNvPicPr>
          <p:nvPr/>
        </p:nvPicPr>
        <p:blipFill>
          <a:blip r:embed="rId4"/>
          <a:stretch>
            <a:fillRect/>
          </a:stretch>
        </p:blipFill>
        <p:spPr>
          <a:xfrm>
            <a:off x="7398410" y="1843430"/>
            <a:ext cx="336499" cy="336499"/>
          </a:xfrm>
          <a:prstGeom prst="rect">
            <a:avLst/>
          </a:prstGeom>
        </p:spPr>
      </p:pic>
      <p:sp>
        <p:nvSpPr>
          <p:cNvPr id="20" name="Text 14"/>
          <p:cNvSpPr/>
          <p:nvPr/>
        </p:nvSpPr>
        <p:spPr>
          <a:xfrm>
            <a:off x="6217920" y="2514600"/>
            <a:ext cx="2697480" cy="457200"/>
          </a:xfrm>
          <a:prstGeom prst="rect">
            <a:avLst/>
          </a:prstGeom>
          <a:noFill/>
          <a:ln/>
        </p:spPr>
        <p:txBody>
          <a:bodyPr wrap="square" lIns="0" tIns="0" rIns="0" bIns="0" rtlCol="0" anchor="ctr"/>
          <a:lstStyle/>
          <a:p>
            <a:pPr algn="ctr" indent="0" marL="0">
              <a:buNone/>
            </a:pPr>
            <a:r>
              <a:rPr lang="en-US" sz="1700" b="1" dirty="0">
                <a:solidFill>
                  <a:srgbClr val="0F2233"/>
                </a:solidFill>
                <a:latin typeface="Cambria" pitchFamily="34" charset="0"/>
                <a:ea typeface="Cambria" pitchFamily="34" charset="-122"/>
                <a:cs typeface="Cambria" pitchFamily="34" charset="-120"/>
              </a:rPr>
              <a:t>Governance</a:t>
            </a:r>
            <a:endParaRPr lang="en-US" sz="1700" dirty="0"/>
          </a:p>
        </p:txBody>
      </p:sp>
      <p:sp>
        <p:nvSpPr>
          <p:cNvPr id="21" name="Text 15"/>
          <p:cNvSpPr/>
          <p:nvPr/>
        </p:nvSpPr>
        <p:spPr>
          <a:xfrm>
            <a:off x="6446520" y="3017520"/>
            <a:ext cx="2240280" cy="1371600"/>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Data-flow &amp; lawful basis, retention, guardrail register, model card, audit &amp; access policy.</a:t>
            </a:r>
            <a:endParaRPr lang="en-US" sz="1150" dirty="0"/>
          </a:p>
        </p:txBody>
      </p:sp>
      <p:sp>
        <p:nvSpPr>
          <p:cNvPr id="22" name="Text 16"/>
          <p:cNvSpPr/>
          <p:nvPr/>
        </p:nvSpPr>
        <p:spPr>
          <a:xfrm>
            <a:off x="457200" y="4617720"/>
            <a:ext cx="8229600" cy="274320"/>
          </a:xfrm>
          <a:prstGeom prst="rect">
            <a:avLst/>
          </a:prstGeom>
          <a:noFill/>
          <a:ln/>
        </p:spPr>
        <p:txBody>
          <a:bodyPr wrap="square" lIns="0" tIns="0" rIns="0" bIns="0" rtlCol="0" anchor="ctr"/>
          <a:lstStyle/>
          <a:p>
            <a:pPr algn="ctr" indent="0" marL="0">
              <a:buNone/>
            </a:pPr>
            <a:r>
              <a:rPr lang="en-US" sz="1050" i="1" dirty="0">
                <a:solidFill>
                  <a:srgbClr val="64748B"/>
                </a:solidFill>
                <a:latin typeface="Calibri" pitchFamily="34" charset="0"/>
                <a:ea typeface="Calibri" pitchFamily="34" charset="-122"/>
                <a:cs typeface="Calibri" pitchFamily="34" charset="-120"/>
              </a:rPr>
              <a:t>Generate what you can from the system itself — the audit export and trace already document much of the runtime truth.</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43</a:t>
            </a:r>
            <a:endParaRPr lang="en-US" sz="850" dirty="0"/>
          </a:p>
        </p:txBody>
      </p:sp>
      <p:sp>
        <p:nvSpPr>
          <p:cNvPr id="4" name="Shape 2"/>
          <p:cNvSpPr/>
          <p:nvPr/>
        </p:nvSpPr>
        <p:spPr>
          <a:xfrm>
            <a:off x="457200" y="384048"/>
            <a:ext cx="566928" cy="566928"/>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Production-Readiness Gate</a:t>
            </a:r>
            <a:endParaRPr lang="en-US" sz="2600" dirty="0"/>
          </a:p>
        </p:txBody>
      </p:sp>
      <p:sp>
        <p:nvSpPr>
          <p:cNvPr id="7" name="Shape 4"/>
          <p:cNvSpPr/>
          <p:nvPr/>
        </p:nvSpPr>
        <p:spPr>
          <a:xfrm>
            <a:off x="457200" y="1371600"/>
            <a:ext cx="4069080" cy="3108960"/>
          </a:xfrm>
          <a:prstGeom prst="roundRect">
            <a:avLst>
              <a:gd name="adj" fmla="val 2353"/>
            </a:avLst>
          </a:prstGeom>
          <a:solidFill>
            <a:srgbClr val="F1F5F9"/>
          </a:solidFill>
          <a:ln/>
          <a:effectLst>
            <a:outerShdw sx="100000" sy="100000" kx="0" ky="0" algn="bl" rotWithShape="0" blurRad="63500" dist="25400" dir="5400000">
              <a:srgbClr val="0F2233">
                <a:alpha val="10000"/>
              </a:srgbClr>
            </a:outerShdw>
          </a:effectLst>
        </p:spPr>
      </p:sp>
      <p:pic>
        <p:nvPicPr>
          <p:cNvPr id="8" name="Image 1" descr="preencoded.png">    </p:cNvPr>
          <p:cNvPicPr>
            <a:picLocks noChangeAspect="1"/>
          </p:cNvPicPr>
          <p:nvPr/>
        </p:nvPicPr>
        <p:blipFill>
          <a:blip r:embed="rId2"/>
          <a:stretch>
            <a:fillRect/>
          </a:stretch>
        </p:blipFill>
        <p:spPr>
          <a:xfrm>
            <a:off x="658368" y="1636776"/>
            <a:ext cx="256032" cy="256032"/>
          </a:xfrm>
          <a:prstGeom prst="rect">
            <a:avLst/>
          </a:prstGeom>
        </p:spPr>
      </p:pic>
      <p:sp>
        <p:nvSpPr>
          <p:cNvPr id="9" name="Text 5"/>
          <p:cNvSpPr/>
          <p:nvPr/>
        </p:nvSpPr>
        <p:spPr>
          <a:xfrm>
            <a:off x="1024128" y="1600200"/>
            <a:ext cx="3291840" cy="502920"/>
          </a:xfrm>
          <a:prstGeom prst="rect">
            <a:avLst/>
          </a:prstGeom>
          <a:noFill/>
          <a:ln/>
        </p:spPr>
        <p:txBody>
          <a:bodyPr wrap="square" lIns="0" tIns="0" rIns="0" bIns="0" rtlCol="0" anchor="t"/>
          <a:lstStyle/>
          <a:p>
            <a:pPr indent="0" marL="0">
              <a:buNone/>
            </a:pPr>
            <a:r>
              <a:rPr lang="en-US" sz="1150" dirty="0">
                <a:solidFill>
                  <a:srgbClr val="334155"/>
                </a:solidFill>
                <a:latin typeface="Calibri" pitchFamily="34" charset="0"/>
                <a:ea typeface="Calibri" pitchFamily="34" charset="-122"/>
                <a:cs typeface="Calibri" pitchFamily="34" charset="-120"/>
              </a:rPr>
              <a:t>Every step emits trace + structured logs</a:t>
            </a:r>
            <a:endParaRPr lang="en-US" sz="1150" dirty="0"/>
          </a:p>
        </p:txBody>
      </p:sp>
      <p:pic>
        <p:nvPicPr>
          <p:cNvPr id="10" name="Image 2" descr="preencoded.png">    </p:cNvPr>
          <p:cNvPicPr>
            <a:picLocks noChangeAspect="1"/>
          </p:cNvPicPr>
          <p:nvPr/>
        </p:nvPicPr>
        <p:blipFill>
          <a:blip r:embed="rId3"/>
          <a:stretch>
            <a:fillRect/>
          </a:stretch>
        </p:blipFill>
        <p:spPr>
          <a:xfrm>
            <a:off x="658368" y="2203704"/>
            <a:ext cx="256032" cy="256032"/>
          </a:xfrm>
          <a:prstGeom prst="rect">
            <a:avLst/>
          </a:prstGeom>
        </p:spPr>
      </p:pic>
      <p:sp>
        <p:nvSpPr>
          <p:cNvPr id="11" name="Text 6"/>
          <p:cNvSpPr/>
          <p:nvPr/>
        </p:nvSpPr>
        <p:spPr>
          <a:xfrm>
            <a:off x="1024128" y="2167128"/>
            <a:ext cx="3291840" cy="502920"/>
          </a:xfrm>
          <a:prstGeom prst="rect">
            <a:avLst/>
          </a:prstGeom>
          <a:noFill/>
          <a:ln/>
        </p:spPr>
        <p:txBody>
          <a:bodyPr wrap="square" lIns="0" tIns="0" rIns="0" bIns="0" rtlCol="0" anchor="t"/>
          <a:lstStyle/>
          <a:p>
            <a:pPr indent="0" marL="0">
              <a:buNone/>
            </a:pPr>
            <a:r>
              <a:rPr lang="en-US" sz="1150" dirty="0">
                <a:solidFill>
                  <a:srgbClr val="334155"/>
                </a:solidFill>
                <a:latin typeface="Calibri" pitchFamily="34" charset="0"/>
                <a:ea typeface="Calibri" pitchFamily="34" charset="-122"/>
                <a:cs typeface="Calibri" pitchFamily="34" charset="-120"/>
              </a:rPr>
              <a:t>Latency, cost &amp; quality dashboards live</a:t>
            </a:r>
            <a:endParaRPr lang="en-US" sz="1150" dirty="0"/>
          </a:p>
        </p:txBody>
      </p:sp>
      <p:pic>
        <p:nvPicPr>
          <p:cNvPr id="12" name="Image 3" descr="preencoded.png">    </p:cNvPr>
          <p:cNvPicPr>
            <a:picLocks noChangeAspect="1"/>
          </p:cNvPicPr>
          <p:nvPr/>
        </p:nvPicPr>
        <p:blipFill>
          <a:blip r:embed="rId4"/>
          <a:stretch>
            <a:fillRect/>
          </a:stretch>
        </p:blipFill>
        <p:spPr>
          <a:xfrm>
            <a:off x="658368" y="2770632"/>
            <a:ext cx="256032" cy="256032"/>
          </a:xfrm>
          <a:prstGeom prst="rect">
            <a:avLst/>
          </a:prstGeom>
        </p:spPr>
      </p:pic>
      <p:sp>
        <p:nvSpPr>
          <p:cNvPr id="13" name="Text 7"/>
          <p:cNvSpPr/>
          <p:nvPr/>
        </p:nvSpPr>
        <p:spPr>
          <a:xfrm>
            <a:off x="1024128" y="2734056"/>
            <a:ext cx="3291840" cy="502920"/>
          </a:xfrm>
          <a:prstGeom prst="rect">
            <a:avLst/>
          </a:prstGeom>
          <a:noFill/>
          <a:ln/>
        </p:spPr>
        <p:txBody>
          <a:bodyPr wrap="square" lIns="0" tIns="0" rIns="0" bIns="0" rtlCol="0" anchor="t"/>
          <a:lstStyle/>
          <a:p>
            <a:pPr indent="0" marL="0">
              <a:buNone/>
            </a:pPr>
            <a:r>
              <a:rPr lang="en-US" sz="1150" dirty="0">
                <a:solidFill>
                  <a:srgbClr val="334155"/>
                </a:solidFill>
                <a:latin typeface="Calibri" pitchFamily="34" charset="0"/>
                <a:ea typeface="Calibri" pitchFamily="34" charset="-122"/>
                <a:cs typeface="Calibri" pitchFamily="34" charset="-120"/>
              </a:rPr>
              <a:t>Input &amp; output guardrails on each agent</a:t>
            </a:r>
            <a:endParaRPr lang="en-US" sz="1150" dirty="0"/>
          </a:p>
        </p:txBody>
      </p:sp>
      <p:pic>
        <p:nvPicPr>
          <p:cNvPr id="14" name="Image 4" descr="preencoded.png">    </p:cNvPr>
          <p:cNvPicPr>
            <a:picLocks noChangeAspect="1"/>
          </p:cNvPicPr>
          <p:nvPr/>
        </p:nvPicPr>
        <p:blipFill>
          <a:blip r:embed="rId5"/>
          <a:stretch>
            <a:fillRect/>
          </a:stretch>
        </p:blipFill>
        <p:spPr>
          <a:xfrm>
            <a:off x="658368" y="3337560"/>
            <a:ext cx="256032" cy="256032"/>
          </a:xfrm>
          <a:prstGeom prst="rect">
            <a:avLst/>
          </a:prstGeom>
        </p:spPr>
      </p:pic>
      <p:sp>
        <p:nvSpPr>
          <p:cNvPr id="15" name="Text 8"/>
          <p:cNvSpPr/>
          <p:nvPr/>
        </p:nvSpPr>
        <p:spPr>
          <a:xfrm>
            <a:off x="1024128" y="3300984"/>
            <a:ext cx="3291840" cy="502920"/>
          </a:xfrm>
          <a:prstGeom prst="rect">
            <a:avLst/>
          </a:prstGeom>
          <a:noFill/>
          <a:ln/>
        </p:spPr>
        <p:txBody>
          <a:bodyPr wrap="square" lIns="0" tIns="0" rIns="0" bIns="0" rtlCol="0" anchor="t"/>
          <a:lstStyle/>
          <a:p>
            <a:pPr indent="0" marL="0">
              <a:buNone/>
            </a:pPr>
            <a:r>
              <a:rPr lang="en-US" sz="1150" dirty="0">
                <a:solidFill>
                  <a:srgbClr val="334155"/>
                </a:solidFill>
                <a:latin typeface="Calibri" pitchFamily="34" charset="0"/>
                <a:ea typeface="Calibri" pitchFamily="34" charset="-122"/>
                <a:cs typeface="Calibri" pitchFamily="34" charset="-120"/>
              </a:rPr>
              <a:t>PII redacted before any log/audit write</a:t>
            </a:r>
            <a:endParaRPr lang="en-US" sz="1150" dirty="0"/>
          </a:p>
        </p:txBody>
      </p:sp>
      <p:pic>
        <p:nvPicPr>
          <p:cNvPr id="16" name="Image 5" descr="preencoded.png">    </p:cNvPr>
          <p:cNvPicPr>
            <a:picLocks noChangeAspect="1"/>
          </p:cNvPicPr>
          <p:nvPr/>
        </p:nvPicPr>
        <p:blipFill>
          <a:blip r:embed="rId6"/>
          <a:stretch>
            <a:fillRect/>
          </a:stretch>
        </p:blipFill>
        <p:spPr>
          <a:xfrm>
            <a:off x="658368" y="3904488"/>
            <a:ext cx="256032" cy="256032"/>
          </a:xfrm>
          <a:prstGeom prst="rect">
            <a:avLst/>
          </a:prstGeom>
        </p:spPr>
      </p:pic>
      <p:sp>
        <p:nvSpPr>
          <p:cNvPr id="17" name="Text 9"/>
          <p:cNvSpPr/>
          <p:nvPr/>
        </p:nvSpPr>
        <p:spPr>
          <a:xfrm>
            <a:off x="1024128" y="3867912"/>
            <a:ext cx="3291840" cy="502920"/>
          </a:xfrm>
          <a:prstGeom prst="rect">
            <a:avLst/>
          </a:prstGeom>
          <a:noFill/>
          <a:ln/>
        </p:spPr>
        <p:txBody>
          <a:bodyPr wrap="square" lIns="0" tIns="0" rIns="0" bIns="0" rtlCol="0" anchor="t"/>
          <a:lstStyle/>
          <a:p>
            <a:pPr indent="0" marL="0">
              <a:buNone/>
            </a:pPr>
            <a:r>
              <a:rPr lang="en-US" sz="1150" dirty="0">
                <a:solidFill>
                  <a:srgbClr val="334155"/>
                </a:solidFill>
                <a:latin typeface="Calibri" pitchFamily="34" charset="0"/>
                <a:ea typeface="Calibri" pitchFamily="34" charset="-122"/>
                <a:cs typeface="Calibri" pitchFamily="34" charset="-120"/>
              </a:rPr>
              <a:t>Compliance checks (consent, opt-out) enforced</a:t>
            </a:r>
            <a:endParaRPr lang="en-US" sz="1150" dirty="0"/>
          </a:p>
        </p:txBody>
      </p:sp>
      <p:sp>
        <p:nvSpPr>
          <p:cNvPr id="18" name="Shape 10"/>
          <p:cNvSpPr/>
          <p:nvPr/>
        </p:nvSpPr>
        <p:spPr>
          <a:xfrm>
            <a:off x="4617720" y="1371600"/>
            <a:ext cx="4069080" cy="3108960"/>
          </a:xfrm>
          <a:prstGeom prst="roundRect">
            <a:avLst>
              <a:gd name="adj" fmla="val 2353"/>
            </a:avLst>
          </a:prstGeom>
          <a:solidFill>
            <a:srgbClr val="F1F5F9"/>
          </a:solidFill>
          <a:ln/>
          <a:effectLst>
            <a:outerShdw sx="100000" sy="100000" kx="0" ky="0" algn="bl" rotWithShape="0" blurRad="63500" dist="25400" dir="5400000">
              <a:srgbClr val="0F2233">
                <a:alpha val="10000"/>
              </a:srgbClr>
            </a:outerShdw>
          </a:effectLst>
        </p:spPr>
      </p:sp>
      <p:pic>
        <p:nvPicPr>
          <p:cNvPr id="19" name="Image 6" descr="preencoded.png">    </p:cNvPr>
          <p:cNvPicPr>
            <a:picLocks noChangeAspect="1"/>
          </p:cNvPicPr>
          <p:nvPr/>
        </p:nvPicPr>
        <p:blipFill>
          <a:blip r:embed="rId7"/>
          <a:stretch>
            <a:fillRect/>
          </a:stretch>
        </p:blipFill>
        <p:spPr>
          <a:xfrm>
            <a:off x="4818888" y="1636776"/>
            <a:ext cx="256032" cy="256032"/>
          </a:xfrm>
          <a:prstGeom prst="rect">
            <a:avLst/>
          </a:prstGeom>
        </p:spPr>
      </p:pic>
      <p:sp>
        <p:nvSpPr>
          <p:cNvPr id="20" name="Text 11"/>
          <p:cNvSpPr/>
          <p:nvPr/>
        </p:nvSpPr>
        <p:spPr>
          <a:xfrm>
            <a:off x="5184648" y="1600200"/>
            <a:ext cx="3291840" cy="502920"/>
          </a:xfrm>
          <a:prstGeom prst="rect">
            <a:avLst/>
          </a:prstGeom>
          <a:noFill/>
          <a:ln/>
        </p:spPr>
        <p:txBody>
          <a:bodyPr wrap="square" lIns="0" tIns="0" rIns="0" bIns="0" rtlCol="0" anchor="t"/>
          <a:lstStyle/>
          <a:p>
            <a:pPr indent="0" marL="0">
              <a:buNone/>
            </a:pPr>
            <a:r>
              <a:rPr lang="en-US" sz="1150" dirty="0">
                <a:solidFill>
                  <a:srgbClr val="334155"/>
                </a:solidFill>
                <a:latin typeface="Calibri" pitchFamily="34" charset="0"/>
                <a:ea typeface="Calibri" pitchFamily="34" charset="-122"/>
                <a:cs typeface="Calibri" pitchFamily="34" charset="-120"/>
              </a:rPr>
              <a:t>Immutable, hash-chained audit trail</a:t>
            </a:r>
            <a:endParaRPr lang="en-US" sz="1150" dirty="0"/>
          </a:p>
        </p:txBody>
      </p:sp>
      <p:pic>
        <p:nvPicPr>
          <p:cNvPr id="21" name="Image 7" descr="preencoded.png">    </p:cNvPr>
          <p:cNvPicPr>
            <a:picLocks noChangeAspect="1"/>
          </p:cNvPicPr>
          <p:nvPr/>
        </p:nvPicPr>
        <p:blipFill>
          <a:blip r:embed="rId8"/>
          <a:stretch>
            <a:fillRect/>
          </a:stretch>
        </p:blipFill>
        <p:spPr>
          <a:xfrm>
            <a:off x="4818888" y="2203704"/>
            <a:ext cx="256032" cy="256032"/>
          </a:xfrm>
          <a:prstGeom prst="rect">
            <a:avLst/>
          </a:prstGeom>
        </p:spPr>
      </p:pic>
      <p:sp>
        <p:nvSpPr>
          <p:cNvPr id="22" name="Text 12"/>
          <p:cNvSpPr/>
          <p:nvPr/>
        </p:nvSpPr>
        <p:spPr>
          <a:xfrm>
            <a:off x="5184648" y="2167128"/>
            <a:ext cx="3291840" cy="502920"/>
          </a:xfrm>
          <a:prstGeom prst="rect">
            <a:avLst/>
          </a:prstGeom>
          <a:noFill/>
          <a:ln/>
        </p:spPr>
        <p:txBody>
          <a:bodyPr wrap="square" lIns="0" tIns="0" rIns="0" bIns="0" rtlCol="0" anchor="t"/>
          <a:lstStyle/>
          <a:p>
            <a:pPr indent="0" marL="0">
              <a:buNone/>
            </a:pPr>
            <a:r>
              <a:rPr lang="en-US" sz="1150" dirty="0">
                <a:solidFill>
                  <a:srgbClr val="334155"/>
                </a:solidFill>
                <a:latin typeface="Calibri" pitchFamily="34" charset="0"/>
                <a:ea typeface="Calibri" pitchFamily="34" charset="-122"/>
                <a:cs typeface="Calibri" pitchFamily="34" charset="-120"/>
              </a:rPr>
              <a:t>Retries, fallbacks &amp; circuit breakers</a:t>
            </a:r>
            <a:endParaRPr lang="en-US" sz="1150" dirty="0"/>
          </a:p>
        </p:txBody>
      </p:sp>
      <p:pic>
        <p:nvPicPr>
          <p:cNvPr id="23" name="Image 8" descr="preencoded.png">    </p:cNvPr>
          <p:cNvPicPr>
            <a:picLocks noChangeAspect="1"/>
          </p:cNvPicPr>
          <p:nvPr/>
        </p:nvPicPr>
        <p:blipFill>
          <a:blip r:embed="rId9"/>
          <a:stretch>
            <a:fillRect/>
          </a:stretch>
        </p:blipFill>
        <p:spPr>
          <a:xfrm>
            <a:off x="4818888" y="2770632"/>
            <a:ext cx="256032" cy="256032"/>
          </a:xfrm>
          <a:prstGeom prst="rect">
            <a:avLst/>
          </a:prstGeom>
        </p:spPr>
      </p:pic>
      <p:sp>
        <p:nvSpPr>
          <p:cNvPr id="24" name="Text 13"/>
          <p:cNvSpPr/>
          <p:nvPr/>
        </p:nvSpPr>
        <p:spPr>
          <a:xfrm>
            <a:off x="5184648" y="2734056"/>
            <a:ext cx="3291840" cy="502920"/>
          </a:xfrm>
          <a:prstGeom prst="rect">
            <a:avLst/>
          </a:prstGeom>
          <a:noFill/>
          <a:ln/>
        </p:spPr>
        <p:txBody>
          <a:bodyPr wrap="square" lIns="0" tIns="0" rIns="0" bIns="0" rtlCol="0" anchor="t"/>
          <a:lstStyle/>
          <a:p>
            <a:pPr indent="0" marL="0">
              <a:buNone/>
            </a:pPr>
            <a:r>
              <a:rPr lang="en-US" sz="1150" dirty="0">
                <a:solidFill>
                  <a:srgbClr val="334155"/>
                </a:solidFill>
                <a:latin typeface="Calibri" pitchFamily="34" charset="0"/>
                <a:ea typeface="Calibri" pitchFamily="34" charset="-122"/>
                <a:cs typeface="Calibri" pitchFamily="34" charset="-120"/>
              </a:rPr>
              <a:t>Offline eval gate in CI; online eval live</a:t>
            </a:r>
            <a:endParaRPr lang="en-US" sz="1150" dirty="0"/>
          </a:p>
        </p:txBody>
      </p:sp>
      <p:pic>
        <p:nvPicPr>
          <p:cNvPr id="25" name="Image 9" descr="preencoded.png">    </p:cNvPr>
          <p:cNvPicPr>
            <a:picLocks noChangeAspect="1"/>
          </p:cNvPicPr>
          <p:nvPr/>
        </p:nvPicPr>
        <p:blipFill>
          <a:blip r:embed="rId10"/>
          <a:stretch>
            <a:fillRect/>
          </a:stretch>
        </p:blipFill>
        <p:spPr>
          <a:xfrm>
            <a:off x="4818888" y="3337560"/>
            <a:ext cx="256032" cy="256032"/>
          </a:xfrm>
          <a:prstGeom prst="rect">
            <a:avLst/>
          </a:prstGeom>
        </p:spPr>
      </p:pic>
      <p:sp>
        <p:nvSpPr>
          <p:cNvPr id="26" name="Text 14"/>
          <p:cNvSpPr/>
          <p:nvPr/>
        </p:nvSpPr>
        <p:spPr>
          <a:xfrm>
            <a:off x="5184648" y="3300984"/>
            <a:ext cx="3291840" cy="502920"/>
          </a:xfrm>
          <a:prstGeom prst="rect">
            <a:avLst/>
          </a:prstGeom>
          <a:noFill/>
          <a:ln/>
        </p:spPr>
        <p:txBody>
          <a:bodyPr wrap="square" lIns="0" tIns="0" rIns="0" bIns="0" rtlCol="0" anchor="t"/>
          <a:lstStyle/>
          <a:p>
            <a:pPr indent="0" marL="0">
              <a:buNone/>
            </a:pPr>
            <a:r>
              <a:rPr lang="en-US" sz="1150" dirty="0">
                <a:solidFill>
                  <a:srgbClr val="334155"/>
                </a:solidFill>
                <a:latin typeface="Calibri" pitchFamily="34" charset="0"/>
                <a:ea typeface="Calibri" pitchFamily="34" charset="-122"/>
                <a:cs typeface="Calibri" pitchFamily="34" charset="-120"/>
              </a:rPr>
              <a:t>Feedback loop wired to a real signal</a:t>
            </a:r>
            <a:endParaRPr lang="en-US" sz="1150" dirty="0"/>
          </a:p>
        </p:txBody>
      </p:sp>
      <p:pic>
        <p:nvPicPr>
          <p:cNvPr id="27" name="Image 10" descr="preencoded.png">    </p:cNvPr>
          <p:cNvPicPr>
            <a:picLocks noChangeAspect="1"/>
          </p:cNvPicPr>
          <p:nvPr/>
        </p:nvPicPr>
        <p:blipFill>
          <a:blip r:embed="rId11"/>
          <a:stretch>
            <a:fillRect/>
          </a:stretch>
        </p:blipFill>
        <p:spPr>
          <a:xfrm>
            <a:off x="4818888" y="3904488"/>
            <a:ext cx="256032" cy="256032"/>
          </a:xfrm>
          <a:prstGeom prst="rect">
            <a:avLst/>
          </a:prstGeom>
        </p:spPr>
      </p:pic>
      <p:sp>
        <p:nvSpPr>
          <p:cNvPr id="28" name="Text 15"/>
          <p:cNvSpPr/>
          <p:nvPr/>
        </p:nvSpPr>
        <p:spPr>
          <a:xfrm>
            <a:off x="5184648" y="3867912"/>
            <a:ext cx="3291840" cy="502920"/>
          </a:xfrm>
          <a:prstGeom prst="rect">
            <a:avLst/>
          </a:prstGeom>
          <a:noFill/>
          <a:ln/>
        </p:spPr>
        <p:txBody>
          <a:bodyPr wrap="square" lIns="0" tIns="0" rIns="0" bIns="0" rtlCol="0" anchor="t"/>
          <a:lstStyle/>
          <a:p>
            <a:pPr indent="0" marL="0">
              <a:buNone/>
            </a:pPr>
            <a:r>
              <a:rPr lang="en-US" sz="1150" dirty="0">
                <a:solidFill>
                  <a:srgbClr val="334155"/>
                </a:solidFill>
                <a:latin typeface="Calibri" pitchFamily="34" charset="0"/>
                <a:ea typeface="Calibri" pitchFamily="34" charset="-122"/>
                <a:cs typeface="Calibri" pitchFamily="34" charset="-120"/>
              </a:rPr>
              <a:t>Architecture, runbook &amp; governance docs done</a:t>
            </a:r>
            <a:endParaRPr lang="en-US" sz="1150" dirty="0"/>
          </a:p>
        </p:txBody>
      </p:sp>
      <p:sp>
        <p:nvSpPr>
          <p:cNvPr id="29" name="Text 16"/>
          <p:cNvSpPr/>
          <p:nvPr/>
        </p:nvSpPr>
        <p:spPr>
          <a:xfrm>
            <a:off x="457200" y="4572000"/>
            <a:ext cx="8229600" cy="274320"/>
          </a:xfrm>
          <a:prstGeom prst="rect">
            <a:avLst/>
          </a:prstGeom>
          <a:noFill/>
          <a:ln/>
        </p:spPr>
        <p:txBody>
          <a:bodyPr wrap="square" lIns="0" tIns="0" rIns="0" bIns="0" rtlCol="0" anchor="ctr"/>
          <a:lstStyle/>
          <a:p>
            <a:pPr algn="ctr" indent="0" marL="0">
              <a:buNone/>
            </a:pPr>
            <a:r>
              <a:rPr lang="en-US" sz="1050" i="1" dirty="0">
                <a:solidFill>
                  <a:srgbClr val="64748B"/>
                </a:solidFill>
                <a:latin typeface="Calibri" pitchFamily="34" charset="0"/>
                <a:ea typeface="Calibri" pitchFamily="34" charset="-122"/>
                <a:cs typeface="Calibri" pitchFamily="34" charset="-120"/>
              </a:rPr>
              <a:t>Don't go live until every box is checked — this is also your capstone self-assessment rubric.</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44</a:t>
            </a:r>
            <a:endParaRPr lang="en-US" sz="850" dirty="0"/>
          </a:p>
        </p:txBody>
      </p:sp>
      <p:sp>
        <p:nvSpPr>
          <p:cNvPr id="4" name="Shape 2"/>
          <p:cNvSpPr/>
          <p:nvPr/>
        </p:nvSpPr>
        <p:spPr>
          <a:xfrm>
            <a:off x="457200" y="384048"/>
            <a:ext cx="566928" cy="566928"/>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The Whole Day in One Picture</a:t>
            </a:r>
            <a:endParaRPr lang="en-US" sz="2600" dirty="0"/>
          </a:p>
        </p:txBody>
      </p:sp>
      <p:sp>
        <p:nvSpPr>
          <p:cNvPr id="7" name="Shape 4"/>
          <p:cNvSpPr/>
          <p:nvPr/>
        </p:nvSpPr>
        <p:spPr>
          <a:xfrm>
            <a:off x="2468880" y="2148840"/>
            <a:ext cx="4206240" cy="868680"/>
          </a:xfrm>
          <a:prstGeom prst="roundRect">
            <a:avLst>
              <a:gd name="adj" fmla="val 8421"/>
            </a:avLst>
          </a:prstGeom>
          <a:solidFill>
            <a:srgbClr val="0E2A3B"/>
          </a:solidFill>
          <a:ln/>
          <a:effectLst>
            <a:outerShdw sx="100000" sy="100000" kx="0" ky="0" algn="bl" rotWithShape="0" blurRad="63500" dist="25400" dir="5400000">
              <a:srgbClr val="0F2233">
                <a:alpha val="10000"/>
              </a:srgbClr>
            </a:outerShdw>
          </a:effectLst>
        </p:spPr>
      </p:sp>
      <p:sp>
        <p:nvSpPr>
          <p:cNvPr id="8" name="Text 5"/>
          <p:cNvSpPr/>
          <p:nvPr/>
        </p:nvSpPr>
        <p:spPr>
          <a:xfrm>
            <a:off x="2560320" y="2148840"/>
            <a:ext cx="4023360" cy="8686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Researcher → Qualifier → Summariser → Notifier</a:t>
            </a:r>
            <a:endParaRPr lang="en-US" sz="1250" dirty="0"/>
          </a:p>
        </p:txBody>
      </p:sp>
      <p:sp>
        <p:nvSpPr>
          <p:cNvPr id="9" name="Shape 6"/>
          <p:cNvSpPr/>
          <p:nvPr/>
        </p:nvSpPr>
        <p:spPr>
          <a:xfrm>
            <a:off x="457200" y="1371600"/>
            <a:ext cx="2286000" cy="1325880"/>
          </a:xfrm>
          <a:prstGeom prst="roundRect">
            <a:avLst>
              <a:gd name="adj" fmla="val 5517"/>
            </a:avLst>
          </a:prstGeom>
          <a:solidFill>
            <a:srgbClr val="FFFFFF"/>
          </a:solidFill>
          <a:ln/>
          <a:effectLst>
            <a:outerShdw sx="100000" sy="100000" kx="0" ky="0" algn="bl" rotWithShape="0" blurRad="63500" dist="25400" dir="5400000">
              <a:srgbClr val="0F2233">
                <a:alpha val="10000"/>
              </a:srgbClr>
            </a:outerShdw>
          </a:effectLst>
        </p:spPr>
      </p:sp>
      <p:sp>
        <p:nvSpPr>
          <p:cNvPr id="10" name="Shape 7"/>
          <p:cNvSpPr/>
          <p:nvPr/>
        </p:nvSpPr>
        <p:spPr>
          <a:xfrm>
            <a:off x="640080" y="1572768"/>
            <a:ext cx="502920" cy="502920"/>
          </a:xfrm>
          <a:prstGeom prst="ellipse">
            <a:avLst/>
          </a:prstGeom>
          <a:solidFill>
            <a:srgbClr val="0D9488"/>
          </a:solidFill>
          <a:ln/>
        </p:spPr>
      </p:sp>
      <p:pic>
        <p:nvPicPr>
          <p:cNvPr id="11" name="Image 1" descr="preencoded.png">    </p:cNvPr>
          <p:cNvPicPr>
            <a:picLocks noChangeAspect="1"/>
          </p:cNvPicPr>
          <p:nvPr/>
        </p:nvPicPr>
        <p:blipFill>
          <a:blip r:embed="rId2"/>
          <a:stretch>
            <a:fillRect/>
          </a:stretch>
        </p:blipFill>
        <p:spPr>
          <a:xfrm>
            <a:off x="775868" y="1708556"/>
            <a:ext cx="231343" cy="231343"/>
          </a:xfrm>
          <a:prstGeom prst="rect">
            <a:avLst/>
          </a:prstGeom>
        </p:spPr>
      </p:pic>
      <p:sp>
        <p:nvSpPr>
          <p:cNvPr id="12" name="Text 8"/>
          <p:cNvSpPr/>
          <p:nvPr/>
        </p:nvSpPr>
        <p:spPr>
          <a:xfrm>
            <a:off x="1234440" y="1572768"/>
            <a:ext cx="1417320" cy="502920"/>
          </a:xfrm>
          <a:prstGeom prst="rect">
            <a:avLst/>
          </a:prstGeom>
          <a:noFill/>
          <a:ln/>
        </p:spPr>
        <p:txBody>
          <a:bodyPr wrap="square" lIns="0" tIns="0" rIns="0" bIns="0" rtlCol="0" anchor="ctr"/>
          <a:lstStyle/>
          <a:p>
            <a:pPr indent="0" marL="0">
              <a:buNone/>
            </a:pPr>
            <a:r>
              <a:rPr lang="en-US" sz="1350" b="1" dirty="0">
                <a:solidFill>
                  <a:srgbClr val="0F2233"/>
                </a:solidFill>
                <a:latin typeface="Cambria" pitchFamily="34" charset="0"/>
                <a:ea typeface="Cambria" pitchFamily="34" charset="-122"/>
                <a:cs typeface="Cambria" pitchFamily="34" charset="-120"/>
              </a:rPr>
              <a:t>Observability</a:t>
            </a:r>
            <a:endParaRPr lang="en-US" sz="1350" dirty="0"/>
          </a:p>
        </p:txBody>
      </p:sp>
      <p:sp>
        <p:nvSpPr>
          <p:cNvPr id="13" name="Text 9"/>
          <p:cNvSpPr/>
          <p:nvPr/>
        </p:nvSpPr>
        <p:spPr>
          <a:xfrm>
            <a:off x="640080" y="2148840"/>
            <a:ext cx="1920240" cy="457200"/>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trace · log · metrics</a:t>
            </a:r>
            <a:endParaRPr lang="en-US" sz="1000" dirty="0"/>
          </a:p>
        </p:txBody>
      </p:sp>
      <p:sp>
        <p:nvSpPr>
          <p:cNvPr id="14" name="Shape 10"/>
          <p:cNvSpPr/>
          <p:nvPr/>
        </p:nvSpPr>
        <p:spPr>
          <a:xfrm>
            <a:off x="6400800" y="1371600"/>
            <a:ext cx="2286000" cy="1325880"/>
          </a:xfrm>
          <a:prstGeom prst="roundRect">
            <a:avLst>
              <a:gd name="adj" fmla="val 5517"/>
            </a:avLst>
          </a:prstGeom>
          <a:solidFill>
            <a:srgbClr val="FFFFFF"/>
          </a:solidFill>
          <a:ln/>
          <a:effectLst>
            <a:outerShdw sx="100000" sy="100000" kx="0" ky="0" algn="bl" rotWithShape="0" blurRad="63500" dist="25400" dir="5400000">
              <a:srgbClr val="0F2233">
                <a:alpha val="10000"/>
              </a:srgbClr>
            </a:outerShdw>
          </a:effectLst>
        </p:spPr>
      </p:sp>
      <p:sp>
        <p:nvSpPr>
          <p:cNvPr id="15" name="Shape 11"/>
          <p:cNvSpPr/>
          <p:nvPr/>
        </p:nvSpPr>
        <p:spPr>
          <a:xfrm>
            <a:off x="6583680" y="1572768"/>
            <a:ext cx="502920" cy="502920"/>
          </a:xfrm>
          <a:prstGeom prst="ellipse">
            <a:avLst/>
          </a:prstGeom>
          <a:solidFill>
            <a:srgbClr val="F59E0B"/>
          </a:solidFill>
          <a:ln/>
        </p:spPr>
      </p:sp>
      <p:pic>
        <p:nvPicPr>
          <p:cNvPr id="16" name="Image 2" descr="preencoded.png">    </p:cNvPr>
          <p:cNvPicPr>
            <a:picLocks noChangeAspect="1"/>
          </p:cNvPicPr>
          <p:nvPr/>
        </p:nvPicPr>
        <p:blipFill>
          <a:blip r:embed="rId3"/>
          <a:stretch>
            <a:fillRect/>
          </a:stretch>
        </p:blipFill>
        <p:spPr>
          <a:xfrm>
            <a:off x="6719468" y="1708556"/>
            <a:ext cx="231343" cy="231343"/>
          </a:xfrm>
          <a:prstGeom prst="rect">
            <a:avLst/>
          </a:prstGeom>
        </p:spPr>
      </p:pic>
      <p:sp>
        <p:nvSpPr>
          <p:cNvPr id="17" name="Text 12"/>
          <p:cNvSpPr/>
          <p:nvPr/>
        </p:nvSpPr>
        <p:spPr>
          <a:xfrm>
            <a:off x="7178040" y="1572768"/>
            <a:ext cx="1417320" cy="502920"/>
          </a:xfrm>
          <a:prstGeom prst="rect">
            <a:avLst/>
          </a:prstGeom>
          <a:noFill/>
          <a:ln/>
        </p:spPr>
        <p:txBody>
          <a:bodyPr wrap="square" lIns="0" tIns="0" rIns="0" bIns="0" rtlCol="0" anchor="ctr"/>
          <a:lstStyle/>
          <a:p>
            <a:pPr indent="0" marL="0">
              <a:buNone/>
            </a:pPr>
            <a:r>
              <a:rPr lang="en-US" sz="1350" b="1" dirty="0">
                <a:solidFill>
                  <a:srgbClr val="0F2233"/>
                </a:solidFill>
                <a:latin typeface="Cambria" pitchFamily="34" charset="0"/>
                <a:ea typeface="Cambria" pitchFamily="34" charset="-122"/>
                <a:cs typeface="Cambria" pitchFamily="34" charset="-120"/>
              </a:rPr>
              <a:t>Governance</a:t>
            </a:r>
            <a:endParaRPr lang="en-US" sz="1350" dirty="0"/>
          </a:p>
        </p:txBody>
      </p:sp>
      <p:sp>
        <p:nvSpPr>
          <p:cNvPr id="18" name="Text 13"/>
          <p:cNvSpPr/>
          <p:nvPr/>
        </p:nvSpPr>
        <p:spPr>
          <a:xfrm>
            <a:off x="6583680" y="2148840"/>
            <a:ext cx="1920240" cy="457200"/>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guardrails · PII · compliance</a:t>
            </a:r>
            <a:endParaRPr lang="en-US" sz="1000" dirty="0"/>
          </a:p>
        </p:txBody>
      </p:sp>
      <p:sp>
        <p:nvSpPr>
          <p:cNvPr id="19" name="Shape 14"/>
          <p:cNvSpPr/>
          <p:nvPr/>
        </p:nvSpPr>
        <p:spPr>
          <a:xfrm>
            <a:off x="457200" y="3291840"/>
            <a:ext cx="2286000" cy="1325880"/>
          </a:xfrm>
          <a:prstGeom prst="roundRect">
            <a:avLst>
              <a:gd name="adj" fmla="val 5517"/>
            </a:avLst>
          </a:prstGeom>
          <a:solidFill>
            <a:srgbClr val="FFFFFF"/>
          </a:solidFill>
          <a:ln/>
          <a:effectLst>
            <a:outerShdw sx="100000" sy="100000" kx="0" ky="0" algn="bl" rotWithShape="0" blurRad="63500" dist="25400" dir="5400000">
              <a:srgbClr val="0F2233">
                <a:alpha val="10000"/>
              </a:srgbClr>
            </a:outerShdw>
          </a:effectLst>
        </p:spPr>
      </p:sp>
      <p:sp>
        <p:nvSpPr>
          <p:cNvPr id="20" name="Shape 15"/>
          <p:cNvSpPr/>
          <p:nvPr/>
        </p:nvSpPr>
        <p:spPr>
          <a:xfrm>
            <a:off x="640080" y="3493008"/>
            <a:ext cx="502920" cy="502920"/>
          </a:xfrm>
          <a:prstGeom prst="ellipse">
            <a:avLst/>
          </a:prstGeom>
          <a:solidFill>
            <a:srgbClr val="0D9488"/>
          </a:solidFill>
          <a:ln/>
        </p:spPr>
      </p:sp>
      <p:pic>
        <p:nvPicPr>
          <p:cNvPr id="21" name="Image 3" descr="preencoded.png">    </p:cNvPr>
          <p:cNvPicPr>
            <a:picLocks noChangeAspect="1"/>
          </p:cNvPicPr>
          <p:nvPr/>
        </p:nvPicPr>
        <p:blipFill>
          <a:blip r:embed="rId4"/>
          <a:stretch>
            <a:fillRect/>
          </a:stretch>
        </p:blipFill>
        <p:spPr>
          <a:xfrm>
            <a:off x="775868" y="3628796"/>
            <a:ext cx="231343" cy="231343"/>
          </a:xfrm>
          <a:prstGeom prst="rect">
            <a:avLst/>
          </a:prstGeom>
        </p:spPr>
      </p:pic>
      <p:sp>
        <p:nvSpPr>
          <p:cNvPr id="22" name="Text 16"/>
          <p:cNvSpPr/>
          <p:nvPr/>
        </p:nvSpPr>
        <p:spPr>
          <a:xfrm>
            <a:off x="1234440" y="3493008"/>
            <a:ext cx="1417320" cy="502920"/>
          </a:xfrm>
          <a:prstGeom prst="rect">
            <a:avLst/>
          </a:prstGeom>
          <a:noFill/>
          <a:ln/>
        </p:spPr>
        <p:txBody>
          <a:bodyPr wrap="square" lIns="0" tIns="0" rIns="0" bIns="0" rtlCol="0" anchor="ctr"/>
          <a:lstStyle/>
          <a:p>
            <a:pPr indent="0" marL="0">
              <a:buNone/>
            </a:pPr>
            <a:r>
              <a:rPr lang="en-US" sz="1350" b="1" dirty="0">
                <a:solidFill>
                  <a:srgbClr val="0F2233"/>
                </a:solidFill>
                <a:latin typeface="Cambria" pitchFamily="34" charset="0"/>
                <a:ea typeface="Cambria" pitchFamily="34" charset="-122"/>
                <a:cs typeface="Cambria" pitchFamily="34" charset="-120"/>
              </a:rPr>
              <a:t>Auditing</a:t>
            </a:r>
            <a:endParaRPr lang="en-US" sz="1350" dirty="0"/>
          </a:p>
        </p:txBody>
      </p:sp>
      <p:sp>
        <p:nvSpPr>
          <p:cNvPr id="23" name="Text 17"/>
          <p:cNvSpPr/>
          <p:nvPr/>
        </p:nvSpPr>
        <p:spPr>
          <a:xfrm>
            <a:off x="640080" y="4069080"/>
            <a:ext cx="1920240" cy="457200"/>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immutable, hash-chained</a:t>
            </a:r>
            <a:endParaRPr lang="en-US" sz="1000" dirty="0"/>
          </a:p>
        </p:txBody>
      </p:sp>
      <p:sp>
        <p:nvSpPr>
          <p:cNvPr id="24" name="Shape 18"/>
          <p:cNvSpPr/>
          <p:nvPr/>
        </p:nvSpPr>
        <p:spPr>
          <a:xfrm>
            <a:off x="6400800" y="3291840"/>
            <a:ext cx="2286000" cy="1325880"/>
          </a:xfrm>
          <a:prstGeom prst="roundRect">
            <a:avLst>
              <a:gd name="adj" fmla="val 5517"/>
            </a:avLst>
          </a:prstGeom>
          <a:solidFill>
            <a:srgbClr val="FFFFFF"/>
          </a:solidFill>
          <a:ln/>
          <a:effectLst>
            <a:outerShdw sx="100000" sy="100000" kx="0" ky="0" algn="bl" rotWithShape="0" blurRad="63500" dist="25400" dir="5400000">
              <a:srgbClr val="0F2233">
                <a:alpha val="10000"/>
              </a:srgbClr>
            </a:outerShdw>
          </a:effectLst>
        </p:spPr>
      </p:sp>
      <p:sp>
        <p:nvSpPr>
          <p:cNvPr id="25" name="Shape 19"/>
          <p:cNvSpPr/>
          <p:nvPr/>
        </p:nvSpPr>
        <p:spPr>
          <a:xfrm>
            <a:off x="6583680" y="3493008"/>
            <a:ext cx="502920" cy="502920"/>
          </a:xfrm>
          <a:prstGeom prst="ellipse">
            <a:avLst/>
          </a:prstGeom>
          <a:solidFill>
            <a:srgbClr val="F59E0B"/>
          </a:solidFill>
          <a:ln/>
        </p:spPr>
      </p:sp>
      <p:pic>
        <p:nvPicPr>
          <p:cNvPr id="26" name="Image 4" descr="preencoded.png">    </p:cNvPr>
          <p:cNvPicPr>
            <a:picLocks noChangeAspect="1"/>
          </p:cNvPicPr>
          <p:nvPr/>
        </p:nvPicPr>
        <p:blipFill>
          <a:blip r:embed="rId5"/>
          <a:stretch>
            <a:fillRect/>
          </a:stretch>
        </p:blipFill>
        <p:spPr>
          <a:xfrm>
            <a:off x="6719468" y="3628796"/>
            <a:ext cx="231343" cy="231343"/>
          </a:xfrm>
          <a:prstGeom prst="rect">
            <a:avLst/>
          </a:prstGeom>
        </p:spPr>
      </p:pic>
      <p:sp>
        <p:nvSpPr>
          <p:cNvPr id="27" name="Text 20"/>
          <p:cNvSpPr/>
          <p:nvPr/>
        </p:nvSpPr>
        <p:spPr>
          <a:xfrm>
            <a:off x="7178040" y="3493008"/>
            <a:ext cx="1417320" cy="502920"/>
          </a:xfrm>
          <a:prstGeom prst="rect">
            <a:avLst/>
          </a:prstGeom>
          <a:noFill/>
          <a:ln/>
        </p:spPr>
        <p:txBody>
          <a:bodyPr wrap="square" lIns="0" tIns="0" rIns="0" bIns="0" rtlCol="0" anchor="ctr"/>
          <a:lstStyle/>
          <a:p>
            <a:pPr indent="0" marL="0">
              <a:buNone/>
            </a:pPr>
            <a:r>
              <a:rPr lang="en-US" sz="1350" b="1" dirty="0">
                <a:solidFill>
                  <a:srgbClr val="0F2233"/>
                </a:solidFill>
                <a:latin typeface="Cambria" pitchFamily="34" charset="0"/>
                <a:ea typeface="Cambria" pitchFamily="34" charset="-122"/>
                <a:cs typeface="Cambria" pitchFamily="34" charset="-120"/>
              </a:rPr>
              <a:t>Feedback loop</a:t>
            </a:r>
            <a:endParaRPr lang="en-US" sz="1350" dirty="0"/>
          </a:p>
        </p:txBody>
      </p:sp>
      <p:sp>
        <p:nvSpPr>
          <p:cNvPr id="28" name="Text 21"/>
          <p:cNvSpPr/>
          <p:nvPr/>
        </p:nvSpPr>
        <p:spPr>
          <a:xfrm>
            <a:off x="6583680" y="4069080"/>
            <a:ext cx="1920240" cy="457200"/>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eval → re-tune → measure</a:t>
            </a:r>
            <a:endParaRPr lang="en-US" sz="1000" dirty="0"/>
          </a:p>
        </p:txBody>
      </p:sp>
      <p:sp>
        <p:nvSpPr>
          <p:cNvPr id="29" name="Shape 22"/>
          <p:cNvSpPr/>
          <p:nvPr/>
        </p:nvSpPr>
        <p:spPr>
          <a:xfrm>
            <a:off x="2743200" y="2029968"/>
            <a:ext cx="0" cy="118872"/>
          </a:xfrm>
          <a:prstGeom prst="line">
            <a:avLst/>
          </a:prstGeom>
          <a:noFill/>
          <a:ln w="12700">
            <a:solidFill>
              <a:srgbClr val="64748B"/>
            </a:solidFill>
            <a:prstDash val="solid"/>
          </a:ln>
        </p:spPr>
      </p:sp>
      <p:sp>
        <p:nvSpPr>
          <p:cNvPr id="30" name="Text 23"/>
          <p:cNvSpPr/>
          <p:nvPr/>
        </p:nvSpPr>
        <p:spPr>
          <a:xfrm>
            <a:off x="457200" y="4681728"/>
            <a:ext cx="8229600" cy="274320"/>
          </a:xfrm>
          <a:prstGeom prst="rect">
            <a:avLst/>
          </a:prstGeom>
          <a:noFill/>
          <a:ln/>
        </p:spPr>
        <p:txBody>
          <a:bodyPr wrap="square" lIns="0" tIns="0" rIns="0" bIns="0" rtlCol="0" anchor="ctr"/>
          <a:lstStyle/>
          <a:p>
            <a:pPr algn="ctr" indent="0" marL="0">
              <a:buNone/>
            </a:pPr>
            <a:r>
              <a:rPr lang="en-US" sz="1100" b="1" i="1" dirty="0">
                <a:solidFill>
                  <a:srgbClr val="0D9488"/>
                </a:solidFill>
                <a:latin typeface="Calibri" pitchFamily="34" charset="0"/>
                <a:ea typeface="Calibri" pitchFamily="34" charset="-122"/>
                <a:cs typeface="Calibri" pitchFamily="34" charset="-120"/>
              </a:rPr>
              <a:t>A governed, observable, self-improving multi-agent system.</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20 · Production Multi-Agent Systems</a:t>
            </a:r>
            <a:endParaRPr lang="en-US" sz="850" dirty="0"/>
          </a:p>
        </p:txBody>
      </p:sp>
      <p:sp>
        <p:nvSpPr>
          <p:cNvPr id="3" name="Text 1"/>
          <p:cNvSpPr/>
          <p:nvPr/>
        </p:nvSpPr>
        <p:spPr>
          <a:xfrm>
            <a:off x="8412480" y="4828032"/>
            <a:ext cx="457200" cy="228600"/>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45</a:t>
            </a:r>
            <a:endParaRPr lang="en-US" sz="850" dirty="0"/>
          </a:p>
        </p:txBody>
      </p:sp>
      <p:sp>
        <p:nvSpPr>
          <p:cNvPr id="4" name="Shape 2"/>
          <p:cNvSpPr/>
          <p:nvPr/>
        </p:nvSpPr>
        <p:spPr>
          <a:xfrm>
            <a:off x="457200" y="384048"/>
            <a:ext cx="566928" cy="566928"/>
          </a:xfrm>
          <a:prstGeom prst="ellipse">
            <a:avLst/>
          </a:prstGeom>
          <a:solidFill>
            <a:srgbClr val="F59E0B"/>
          </a:solidFill>
          <a:ln/>
        </p:spPr>
      </p:sp>
      <p:pic>
        <p:nvPicPr>
          <p:cNvPr id="5" name="Image 0" descr="preencoded.png">    </p:cNvPr>
          <p:cNvPicPr>
            <a:picLocks noChangeAspect="1"/>
          </p:cNvPicPr>
          <p:nvPr/>
        </p:nvPicPr>
        <p:blipFill>
          <a:blip r:embed="rId1"/>
          <a:stretch>
            <a:fillRect/>
          </a:stretch>
        </p:blipFill>
        <p:spPr>
          <a:xfrm>
            <a:off x="610271" y="537119"/>
            <a:ext cx="260787" cy="260787"/>
          </a:xfrm>
          <a:prstGeom prst="rect">
            <a:avLst/>
          </a:prstGeom>
        </p:spPr>
      </p:pic>
      <p:sp>
        <p:nvSpPr>
          <p:cNvPr id="6" name="Text 3"/>
          <p:cNvSpPr/>
          <p:nvPr/>
        </p:nvSpPr>
        <p:spPr>
          <a:xfrm>
            <a:off x="1170432" y="365760"/>
            <a:ext cx="7498080" cy="603504"/>
          </a:xfrm>
          <a:prstGeom prst="rect">
            <a:avLst/>
          </a:prstGeom>
          <a:noFill/>
          <a:ln/>
        </p:spPr>
        <p:txBody>
          <a:bodyPr wrap="square" lIns="0" tIns="0" rIns="0" bIns="0" rtlCol="0" anchor="ctr"/>
          <a:lstStyle/>
          <a:p>
            <a:pPr indent="0" marL="0">
              <a:buNone/>
            </a:pPr>
            <a:r>
              <a:rPr lang="en-US" sz="2600" b="1" dirty="0">
                <a:solidFill>
                  <a:srgbClr val="0F2233"/>
                </a:solidFill>
                <a:latin typeface="Cambria" pitchFamily="34" charset="0"/>
                <a:ea typeface="Cambria" pitchFamily="34" charset="-122"/>
                <a:cs typeface="Cambria" pitchFamily="34" charset="-120"/>
              </a:rPr>
              <a:t>Assessment &amp; Extension</a:t>
            </a:r>
            <a:endParaRPr lang="en-US" sz="2600" dirty="0"/>
          </a:p>
        </p:txBody>
      </p:sp>
      <p:sp>
        <p:nvSpPr>
          <p:cNvPr id="7" name="Shape 4"/>
          <p:cNvSpPr/>
          <p:nvPr/>
        </p:nvSpPr>
        <p:spPr>
          <a:xfrm>
            <a:off x="457200" y="1371600"/>
            <a:ext cx="4069080" cy="3246120"/>
          </a:xfrm>
          <a:prstGeom prst="roundRect">
            <a:avLst>
              <a:gd name="adj" fmla="val 2254"/>
            </a:avLst>
          </a:prstGeom>
          <a:solidFill>
            <a:srgbClr val="E7F4F1"/>
          </a:solidFill>
          <a:ln/>
          <a:effectLst>
            <a:outerShdw sx="100000" sy="100000" kx="0" ky="0" algn="bl" rotWithShape="0" blurRad="63500" dist="25400" dir="5400000">
              <a:srgbClr val="0F2233">
                <a:alpha val="10000"/>
              </a:srgbClr>
            </a:outerShdw>
          </a:effectLst>
        </p:spPr>
      </p:sp>
      <p:sp>
        <p:nvSpPr>
          <p:cNvPr id="8" name="Shape 5"/>
          <p:cNvSpPr/>
          <p:nvPr/>
        </p:nvSpPr>
        <p:spPr>
          <a:xfrm>
            <a:off x="658368" y="1554480"/>
            <a:ext cx="566928" cy="566928"/>
          </a:xfrm>
          <a:prstGeom prst="ellipse">
            <a:avLst/>
          </a:prstGeom>
          <a:solidFill>
            <a:srgbClr val="0D9488"/>
          </a:solidFill>
          <a:ln/>
        </p:spPr>
      </p:sp>
      <p:pic>
        <p:nvPicPr>
          <p:cNvPr id="9" name="Image 1" descr="preencoded.png">    </p:cNvPr>
          <p:cNvPicPr>
            <a:picLocks noChangeAspect="1"/>
          </p:cNvPicPr>
          <p:nvPr/>
        </p:nvPicPr>
        <p:blipFill>
          <a:blip r:embed="rId2"/>
          <a:stretch>
            <a:fillRect/>
          </a:stretch>
        </p:blipFill>
        <p:spPr>
          <a:xfrm>
            <a:off x="811439" y="1707551"/>
            <a:ext cx="260787" cy="260787"/>
          </a:xfrm>
          <a:prstGeom prst="rect">
            <a:avLst/>
          </a:prstGeom>
        </p:spPr>
      </p:pic>
      <p:sp>
        <p:nvSpPr>
          <p:cNvPr id="10" name="Text 6"/>
          <p:cNvSpPr/>
          <p:nvPr/>
        </p:nvSpPr>
        <p:spPr>
          <a:xfrm>
            <a:off x="1325880" y="1572768"/>
            <a:ext cx="3108960" cy="502920"/>
          </a:xfrm>
          <a:prstGeom prst="rect">
            <a:avLst/>
          </a:prstGeom>
          <a:noFill/>
          <a:ln/>
        </p:spPr>
        <p:txBody>
          <a:bodyPr wrap="square" lIns="0" tIns="0" rIns="0" bIns="0" rtlCol="0" anchor="ctr"/>
          <a:lstStyle/>
          <a:p>
            <a:pPr indent="0" marL="0">
              <a:buNone/>
            </a:pPr>
            <a:r>
              <a:rPr lang="en-US" sz="1600" b="1" dirty="0">
                <a:solidFill>
                  <a:srgbClr val="0F2233"/>
                </a:solidFill>
                <a:latin typeface="Cambria" pitchFamily="34" charset="0"/>
                <a:ea typeface="Cambria" pitchFamily="34" charset="-122"/>
                <a:cs typeface="Cambria" pitchFamily="34" charset="-120"/>
              </a:rPr>
              <a:t>Knowledge check</a:t>
            </a:r>
            <a:endParaRPr lang="en-US" sz="1600" dirty="0"/>
          </a:p>
        </p:txBody>
      </p:sp>
      <p:sp>
        <p:nvSpPr>
          <p:cNvPr id="11" name="Text 7"/>
          <p:cNvSpPr/>
          <p:nvPr/>
        </p:nvSpPr>
        <p:spPr>
          <a:xfrm>
            <a:off x="658368" y="2240280"/>
            <a:ext cx="3657600" cy="2286000"/>
          </a:xfrm>
          <a:prstGeom prst="rect">
            <a:avLst/>
          </a:prstGeom>
          <a:noFill/>
          <a:ln/>
        </p:spPr>
        <p:txBody>
          <a:bodyPr wrap="square" lIns="0" tIns="0" rIns="0" bIns="0" rtlCol="0" anchor="t"/>
          <a:lstStyle/>
          <a:p>
            <a:pPr marL="177800" indent="-177800">
              <a:spcAft>
                <a:spcPts val="1100"/>
              </a:spcAft>
              <a:buSzPct val="100000"/>
              <a:buChar char="•"/>
            </a:pPr>
            <a:r>
              <a:rPr lang="en-US" sz="1200" dirty="0">
                <a:solidFill>
                  <a:srgbClr val="334155"/>
                </a:solidFill>
                <a:latin typeface="Calibri" pitchFamily="34" charset="0"/>
                <a:ea typeface="Calibri" pitchFamily="34" charset="-122"/>
                <a:cs typeface="Calibri" pitchFamily="34" charset="-120"/>
              </a:rPr>
              <a:t>20 multiple-choice questions</a:t>
            </a:r>
            <a:endParaRPr lang="en-US" sz="1200" dirty="0"/>
          </a:p>
          <a:p>
            <a:pPr marL="177800" indent="-177800">
              <a:spcAft>
                <a:spcPts val="1100"/>
              </a:spcAft>
              <a:buSzPct val="100000"/>
              <a:buChar char="•"/>
            </a:pPr>
            <a:r>
              <a:rPr lang="en-US" sz="1200" dirty="0">
                <a:solidFill>
                  <a:srgbClr val="334155"/>
                </a:solidFill>
                <a:latin typeface="Calibri" pitchFamily="34" charset="0"/>
                <a:ea typeface="Calibri" pitchFamily="34" charset="-122"/>
                <a:cs typeface="Calibri" pitchFamily="34" charset="-120"/>
              </a:rPr>
              <a:t>Covers all five modules</a:t>
            </a:r>
            <a:endParaRPr lang="en-US" sz="1200" dirty="0"/>
          </a:p>
          <a:p>
            <a:pPr marL="177800" indent="-177800">
              <a:spcAft>
                <a:spcPts val="1100"/>
              </a:spcAft>
              <a:buSzPct val="100000"/>
              <a:buChar char="•"/>
            </a:pPr>
            <a:r>
              <a:rPr lang="en-US" sz="1200" dirty="0">
                <a:solidFill>
                  <a:srgbClr val="334155"/>
                </a:solidFill>
                <a:latin typeface="Calibri" pitchFamily="34" charset="0"/>
                <a:ea typeface="Calibri" pitchFamily="34" charset="-122"/>
                <a:cs typeface="Calibri" pitchFamily="34" charset="-120"/>
              </a:rPr>
              <a:t>Answer key + explanations provided</a:t>
            </a:r>
            <a:endParaRPr lang="en-US" sz="1200" dirty="0"/>
          </a:p>
          <a:p>
            <a:pPr marL="177800" indent="-177800">
              <a:spcAft>
                <a:spcPts val="1100"/>
              </a:spcAft>
              <a:buSzPct val="100000"/>
              <a:buChar char="•"/>
            </a:pPr>
            <a:r>
              <a:rPr lang="en-US" sz="1200" dirty="0">
                <a:solidFill>
                  <a:srgbClr val="334155"/>
                </a:solidFill>
                <a:latin typeface="Calibri" pitchFamily="34" charset="0"/>
                <a:ea typeface="Calibri" pitchFamily="34" charset="-122"/>
                <a:cs typeface="Calibri" pitchFamily="34" charset="-120"/>
              </a:rPr>
              <a:t>Use as exit ticket or take-home</a:t>
            </a:r>
            <a:endParaRPr lang="en-US" sz="1200" dirty="0"/>
          </a:p>
        </p:txBody>
      </p:sp>
      <p:sp>
        <p:nvSpPr>
          <p:cNvPr id="12" name="Shape 8"/>
          <p:cNvSpPr/>
          <p:nvPr/>
        </p:nvSpPr>
        <p:spPr>
          <a:xfrm>
            <a:off x="4617720" y="1371600"/>
            <a:ext cx="4069080" cy="3246120"/>
          </a:xfrm>
          <a:prstGeom prst="roundRect">
            <a:avLst>
              <a:gd name="adj" fmla="val 2254"/>
            </a:avLst>
          </a:prstGeom>
          <a:solidFill>
            <a:srgbClr val="FDF1D6"/>
          </a:solidFill>
          <a:ln/>
          <a:effectLst>
            <a:outerShdw sx="100000" sy="100000" kx="0" ky="0" algn="bl" rotWithShape="0" blurRad="63500" dist="25400" dir="5400000">
              <a:srgbClr val="0F2233">
                <a:alpha val="10000"/>
              </a:srgbClr>
            </a:outerShdw>
          </a:effectLst>
        </p:spPr>
      </p:sp>
      <p:sp>
        <p:nvSpPr>
          <p:cNvPr id="13" name="Shape 9"/>
          <p:cNvSpPr/>
          <p:nvPr/>
        </p:nvSpPr>
        <p:spPr>
          <a:xfrm>
            <a:off x="4818888" y="1554480"/>
            <a:ext cx="566928" cy="566928"/>
          </a:xfrm>
          <a:prstGeom prst="ellipse">
            <a:avLst/>
          </a:prstGeom>
          <a:solidFill>
            <a:srgbClr val="F59E0B"/>
          </a:solidFill>
          <a:ln/>
        </p:spPr>
      </p:sp>
      <p:pic>
        <p:nvPicPr>
          <p:cNvPr id="14" name="Image 2" descr="preencoded.png">    </p:cNvPr>
          <p:cNvPicPr>
            <a:picLocks noChangeAspect="1"/>
          </p:cNvPicPr>
          <p:nvPr/>
        </p:nvPicPr>
        <p:blipFill>
          <a:blip r:embed="rId3"/>
          <a:stretch>
            <a:fillRect/>
          </a:stretch>
        </p:blipFill>
        <p:spPr>
          <a:xfrm>
            <a:off x="4971959" y="1707551"/>
            <a:ext cx="260787" cy="260787"/>
          </a:xfrm>
          <a:prstGeom prst="rect">
            <a:avLst/>
          </a:prstGeom>
        </p:spPr>
      </p:pic>
      <p:sp>
        <p:nvSpPr>
          <p:cNvPr id="15" name="Text 10"/>
          <p:cNvSpPr/>
          <p:nvPr/>
        </p:nvSpPr>
        <p:spPr>
          <a:xfrm>
            <a:off x="5486400" y="1572768"/>
            <a:ext cx="3108960" cy="502920"/>
          </a:xfrm>
          <a:prstGeom prst="rect">
            <a:avLst/>
          </a:prstGeom>
          <a:noFill/>
          <a:ln/>
        </p:spPr>
        <p:txBody>
          <a:bodyPr wrap="square" lIns="0" tIns="0" rIns="0" bIns="0" rtlCol="0" anchor="ctr"/>
          <a:lstStyle/>
          <a:p>
            <a:pPr indent="0" marL="0">
              <a:buNone/>
            </a:pPr>
            <a:r>
              <a:rPr lang="en-US" sz="1600" b="1" dirty="0">
                <a:solidFill>
                  <a:srgbClr val="0F2233"/>
                </a:solidFill>
                <a:latin typeface="Cambria" pitchFamily="34" charset="0"/>
                <a:ea typeface="Cambria" pitchFamily="34" charset="-122"/>
                <a:cs typeface="Cambria" pitchFamily="34" charset="-120"/>
              </a:rPr>
              <a:t>Extension tasks</a:t>
            </a:r>
            <a:endParaRPr lang="en-US" sz="1600" dirty="0"/>
          </a:p>
        </p:txBody>
      </p:sp>
      <p:sp>
        <p:nvSpPr>
          <p:cNvPr id="16" name="Text 11"/>
          <p:cNvSpPr/>
          <p:nvPr/>
        </p:nvSpPr>
        <p:spPr>
          <a:xfrm>
            <a:off x="4818888" y="2240280"/>
            <a:ext cx="3657600" cy="228600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334155"/>
                </a:solidFill>
                <a:latin typeface="Calibri" pitchFamily="34" charset="0"/>
                <a:ea typeface="Calibri" pitchFamily="34" charset="-122"/>
                <a:cs typeface="Calibri" pitchFamily="34" charset="-120"/>
              </a:rPr>
              <a:t>Add an OpenTelemetry exporter</a:t>
            </a:r>
            <a:endParaRPr lang="en-US" sz="1200" dirty="0"/>
          </a:p>
          <a:p>
            <a:pPr marL="177800" indent="-177800">
              <a:spcAft>
                <a:spcPts val="800"/>
              </a:spcAft>
              <a:buSzPct val="100000"/>
              <a:buChar char="•"/>
            </a:pPr>
            <a:r>
              <a:rPr lang="en-US" sz="1200" dirty="0">
                <a:solidFill>
                  <a:srgbClr val="334155"/>
                </a:solidFill>
                <a:latin typeface="Calibri" pitchFamily="34" charset="0"/>
                <a:ea typeface="Calibri" pitchFamily="34" charset="-122"/>
                <a:cs typeface="Calibri" pitchFamily="34" charset="-120"/>
              </a:rPr>
              <a:t>Real LLM-as-judge + human label set</a:t>
            </a:r>
            <a:endParaRPr lang="en-US" sz="1200" dirty="0"/>
          </a:p>
          <a:p>
            <a:pPr marL="177800" indent="-177800">
              <a:spcAft>
                <a:spcPts val="800"/>
              </a:spcAft>
              <a:buSzPct val="100000"/>
              <a:buChar char="•"/>
            </a:pPr>
            <a:r>
              <a:rPr lang="en-US" sz="1200" dirty="0">
                <a:solidFill>
                  <a:srgbClr val="334155"/>
                </a:solidFill>
                <a:latin typeface="Calibri" pitchFamily="34" charset="0"/>
                <a:ea typeface="Calibri" pitchFamily="34" charset="-122"/>
                <a:cs typeface="Calibri" pitchFamily="34" charset="-120"/>
              </a:rPr>
              <a:t>Parallelise the batch + cost ceiling</a:t>
            </a:r>
            <a:endParaRPr lang="en-US" sz="1200" dirty="0"/>
          </a:p>
          <a:p>
            <a:pPr marL="177800" indent="-177800">
              <a:spcAft>
                <a:spcPts val="800"/>
              </a:spcAft>
              <a:buSzPct val="100000"/>
              <a:buChar char="•"/>
            </a:pPr>
            <a:r>
              <a:rPr lang="en-US" sz="1200" dirty="0">
                <a:solidFill>
                  <a:srgbClr val="334155"/>
                </a:solidFill>
                <a:latin typeface="Calibri" pitchFamily="34" charset="0"/>
                <a:ea typeface="Calibri" pitchFamily="34" charset="-122"/>
                <a:cs typeface="Calibri" pitchFamily="34" charset="-120"/>
              </a:rPr>
              <a:t>Add a 5th agent (e.g. enrichment via CRM)</a:t>
            </a:r>
            <a:endParaRPr lang="en-US" sz="1200" dirty="0"/>
          </a:p>
          <a:p>
            <a:pPr marL="177800" indent="-177800">
              <a:spcAft>
                <a:spcPts val="800"/>
              </a:spcAft>
              <a:buSzPct val="100000"/>
              <a:buChar char="•"/>
            </a:pPr>
            <a:r>
              <a:rPr lang="en-US" sz="1200" dirty="0">
                <a:solidFill>
                  <a:srgbClr val="334155"/>
                </a:solidFill>
                <a:latin typeface="Calibri" pitchFamily="34" charset="0"/>
                <a:ea typeface="Calibri" pitchFamily="34" charset="-122"/>
                <a:cs typeface="Calibri" pitchFamily="34" charset="-120"/>
              </a:rPr>
              <a:t>Ship the audit trail to a WORM store</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E2A3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035040" y="731520"/>
            <a:ext cx="3657600" cy="3657600"/>
          </a:xfrm>
          <a:prstGeom prst="rect">
            <a:avLst/>
          </a:prstGeom>
        </p:spPr>
      </p:pic>
      <p:sp>
        <p:nvSpPr>
          <p:cNvPr id="3" name="Shape 0"/>
          <p:cNvSpPr/>
          <p:nvPr/>
        </p:nvSpPr>
        <p:spPr>
          <a:xfrm>
            <a:off x="6035040" y="731520"/>
            <a:ext cx="3657600" cy="3657600"/>
          </a:xfrm>
          <a:prstGeom prst="rect">
            <a:avLst/>
          </a:prstGeom>
          <a:solidFill>
            <a:srgbClr val="0E2A3B">
              <a:alpha val="70000"/>
            </a:srgbClr>
          </a:solidFill>
          <a:ln/>
        </p:spPr>
      </p:sp>
      <p:sp>
        <p:nvSpPr>
          <p:cNvPr id="4" name="Shape 1"/>
          <p:cNvSpPr/>
          <p:nvPr/>
        </p:nvSpPr>
        <p:spPr>
          <a:xfrm>
            <a:off x="658368" y="640080"/>
            <a:ext cx="777240" cy="777240"/>
          </a:xfrm>
          <a:prstGeom prst="ellipse">
            <a:avLst/>
          </a:prstGeom>
          <a:solidFill>
            <a:srgbClr val="0D9488"/>
          </a:solidFill>
          <a:ln/>
        </p:spPr>
      </p:sp>
      <p:pic>
        <p:nvPicPr>
          <p:cNvPr id="5" name="Image 1" descr="preencoded.png">    </p:cNvPr>
          <p:cNvPicPr>
            <a:picLocks noChangeAspect="1"/>
          </p:cNvPicPr>
          <p:nvPr/>
        </p:nvPicPr>
        <p:blipFill>
          <a:blip r:embed="rId2"/>
          <a:stretch>
            <a:fillRect/>
          </a:stretch>
        </p:blipFill>
        <p:spPr>
          <a:xfrm>
            <a:off x="868223" y="849935"/>
            <a:ext cx="357530" cy="357530"/>
          </a:xfrm>
          <a:prstGeom prst="rect">
            <a:avLst/>
          </a:prstGeom>
        </p:spPr>
      </p:pic>
      <p:sp>
        <p:nvSpPr>
          <p:cNvPr id="6" name="Text 2"/>
          <p:cNvSpPr/>
          <p:nvPr/>
        </p:nvSpPr>
        <p:spPr>
          <a:xfrm>
            <a:off x="685800" y="1554480"/>
            <a:ext cx="7315200" cy="457200"/>
          </a:xfrm>
          <a:prstGeom prst="rect">
            <a:avLst/>
          </a:prstGeom>
          <a:noFill/>
          <a:ln/>
        </p:spPr>
        <p:txBody>
          <a:bodyPr wrap="square" lIns="0" tIns="0" rIns="0" bIns="0" rtlCol="0" anchor="ctr"/>
          <a:lstStyle/>
          <a:p>
            <a:pPr indent="0" marL="0">
              <a:buNone/>
            </a:pPr>
            <a:r>
              <a:rPr lang="en-US" sz="1400" dirty="0">
                <a:solidFill>
                  <a:srgbClr val="5EEAD4"/>
                </a:solidFill>
                <a:latin typeface="Calibri" pitchFamily="34" charset="0"/>
                <a:ea typeface="Calibri" pitchFamily="34" charset="-122"/>
                <a:cs typeface="Calibri" pitchFamily="34" charset="-120"/>
              </a:rPr>
              <a:t>You shipped a production-grade agent system.</a:t>
            </a:r>
            <a:endParaRPr lang="en-US" sz="1400" dirty="0"/>
          </a:p>
        </p:txBody>
      </p:sp>
      <p:sp>
        <p:nvSpPr>
          <p:cNvPr id="7" name="Text 3"/>
          <p:cNvSpPr/>
          <p:nvPr/>
        </p:nvSpPr>
        <p:spPr>
          <a:xfrm>
            <a:off x="640080" y="1965960"/>
            <a:ext cx="786384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From Prototype to Production</a:t>
            </a:r>
            <a:endParaRPr lang="en-US" sz="3400" dirty="0"/>
          </a:p>
        </p:txBody>
      </p:sp>
      <p:sp>
        <p:nvSpPr>
          <p:cNvPr id="8" name="Text 4"/>
          <p:cNvSpPr/>
          <p:nvPr/>
        </p:nvSpPr>
        <p:spPr>
          <a:xfrm>
            <a:off x="685800" y="2926080"/>
            <a:ext cx="5212080" cy="1554480"/>
          </a:xfrm>
          <a:prstGeom prst="rect">
            <a:avLst/>
          </a:prstGeom>
          <a:noFill/>
          <a:ln/>
        </p:spPr>
        <p:txBody>
          <a:bodyPr wrap="square" lIns="0" tIns="0" rIns="0" bIns="0" rtlCol="0" anchor="t"/>
          <a:lstStyle/>
          <a:p>
            <a:pPr indent="0" marL="0">
              <a:spcAft>
                <a:spcPts val="600"/>
              </a:spcAft>
              <a:buNone/>
            </a:pPr>
            <a:r>
              <a:rPr lang="en-US" sz="1200" b="1" dirty="0">
                <a:solidFill>
                  <a:srgbClr val="5EEAD4"/>
                </a:solidFill>
                <a:latin typeface="Calibri" pitchFamily="34" charset="0"/>
                <a:ea typeface="Calibri" pitchFamily="34" charset="-122"/>
                <a:cs typeface="Calibri" pitchFamily="34" charset="-120"/>
              </a:rPr>
              <a:t>Take it further</a:t>
            </a:r>
            <a:endParaRPr lang="en-US" sz="1200" dirty="0"/>
          </a:p>
          <a:p>
            <a:pPr indent="0" marL="0">
              <a:spcAft>
                <a:spcPts val="600"/>
              </a:spcAft>
              <a:buNone/>
            </a:pPr>
            <a:r>
              <a:rPr lang="en-US" sz="1200" dirty="0">
                <a:solidFill>
                  <a:srgbClr val="DCEAE6"/>
                </a:solidFill>
                <a:latin typeface="Calibri" pitchFamily="34" charset="0"/>
                <a:ea typeface="Calibri" pitchFamily="34" charset="-122"/>
                <a:cs typeface="Calibri" pitchFamily="34" charset="-120"/>
              </a:rPr>
              <a:t>• OpenTelemetry &amp; a tracing backend (Jaeger / Langfuse / Honeycomb)</a:t>
            </a:r>
            <a:endParaRPr lang="en-US" sz="1200" dirty="0"/>
          </a:p>
          <a:p>
            <a:pPr indent="0" marL="0">
              <a:spcAft>
                <a:spcPts val="600"/>
              </a:spcAft>
              <a:buNone/>
            </a:pPr>
            <a:r>
              <a:rPr lang="en-US" sz="1200" dirty="0">
                <a:solidFill>
                  <a:srgbClr val="DCEAE6"/>
                </a:solidFill>
                <a:latin typeface="Calibri" pitchFamily="34" charset="0"/>
                <a:ea typeface="Calibri" pitchFamily="34" charset="-122"/>
                <a:cs typeface="Calibri" pitchFamily="34" charset="-120"/>
              </a:rPr>
              <a:t>• Anthropic docs: tool use, structured outputs, safety best practices</a:t>
            </a:r>
            <a:endParaRPr lang="en-US" sz="1200" dirty="0"/>
          </a:p>
          <a:p>
            <a:pPr indent="0" marL="0">
              <a:spcAft>
                <a:spcPts val="600"/>
              </a:spcAft>
              <a:buNone/>
            </a:pPr>
            <a:r>
              <a:rPr lang="en-US" sz="1200" dirty="0">
                <a:solidFill>
                  <a:srgbClr val="DCEAE6"/>
                </a:solidFill>
                <a:latin typeface="Calibri" pitchFamily="34" charset="0"/>
                <a:ea typeface="Calibri" pitchFamily="34" charset="-122"/>
                <a:cs typeface="Calibri" pitchFamily="34" charset="-120"/>
              </a:rPr>
              <a:t>• Your org's data-protection &amp; acceptable-use policies</a:t>
            </a:r>
            <a:endParaRPr lang="en-US" sz="1200" dirty="0"/>
          </a:p>
          <a:p>
            <a:pPr indent="0" marL="0">
              <a:spcAft>
                <a:spcPts val="600"/>
              </a:spcAft>
              <a:buNone/>
            </a:pPr>
            <a:r>
              <a:rPr lang="en-US" sz="1200" dirty="0">
                <a:solidFill>
                  <a:srgbClr val="DCEAE6"/>
                </a:solidFill>
                <a:latin typeface="Calibri" pitchFamily="34" charset="0"/>
                <a:ea typeface="Calibri" pitchFamily="34" charset="-122"/>
                <a:cs typeface="Calibri" pitchFamily="34" charset="-120"/>
              </a:rPr>
              <a:t>• Eval frameworks &amp; LLM-as-judge calibration literature</a:t>
            </a:r>
            <a:endParaRPr lang="en-US" sz="1200" dirty="0"/>
          </a:p>
        </p:txBody>
      </p:sp>
      <p:sp>
        <p:nvSpPr>
          <p:cNvPr id="9" name="Text 5"/>
          <p:cNvSpPr/>
          <p:nvPr/>
        </p:nvSpPr>
        <p:spPr>
          <a:xfrm>
            <a:off x="685800" y="4617720"/>
            <a:ext cx="7863840" cy="320040"/>
          </a:xfrm>
          <a:prstGeom prst="rect">
            <a:avLst/>
          </a:prstGeom>
          <a:noFill/>
          <a:ln/>
        </p:spPr>
        <p:txBody>
          <a:bodyPr wrap="square" lIns="0" tIns="0" rIns="0" bIns="0" rtlCol="0" anchor="ctr"/>
          <a:lstStyle/>
          <a:p>
            <a:pPr indent="0" marL="0">
              <a:buNone/>
            </a:pPr>
            <a:r>
              <a:rPr lang="en-US" sz="1050" i="1" dirty="0">
                <a:solidFill>
                  <a:srgbClr val="9FB6C0"/>
                </a:solidFill>
                <a:latin typeface="Calibri" pitchFamily="34" charset="0"/>
                <a:ea typeface="Calibri" pitchFamily="34" charset="-122"/>
                <a:cs typeface="Calibri" pitchFamily="34" charset="-120"/>
              </a:rPr>
              <a:t>Day 20 · Complete the quiz and submit Colab 2 with at least two extension tasks.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20 — Production Multi-Agent Systems: Observability &amp; Governance</dc:title>
  <dc:subject>PptxGenJS Presentation</dc:subject>
  <dc:creator>AI Engineering Program</dc:creator>
  <cp:lastModifiedBy>AI Engineering Program</cp:lastModifiedBy>
  <cp:revision>1</cp:revision>
  <dcterms:created xsi:type="dcterms:W3CDTF">2026-06-23T07:58:17Z</dcterms:created>
  <dcterms:modified xsi:type="dcterms:W3CDTF">2026-06-23T07:58:17Z</dcterms:modified>
</cp:coreProperties>
</file>
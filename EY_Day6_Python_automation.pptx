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-457200"/>
            <a:ext cx="3200400" cy="64008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· Python Automation · AzureML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192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JSON/YAML · Pydantic · Logging · REST · Flask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6-Hour Intensive  ·  For EY Consultants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470916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Technology Consulting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· 8 modules · 2 Colab exercises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4114800" cy="74980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4114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097280"/>
            <a:ext cx="365760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188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Data Pipelines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15361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0:00–0:45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114800" cy="74980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97280"/>
            <a:ext cx="4114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1097280"/>
            <a:ext cx="365760" cy="7498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1188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Automation: Scripts &amp; Scheduling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66360" y="15361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0:45–1:30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965960"/>
            <a:ext cx="4114800" cy="74980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965960"/>
            <a:ext cx="411480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1965960"/>
            <a:ext cx="365760" cy="7498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2057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AzureML Pipeline Creation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24048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1:30–2:15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965960"/>
            <a:ext cx="4114800" cy="74980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965960"/>
            <a:ext cx="41148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1965960"/>
            <a:ext cx="365760" cy="7498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057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YAML &amp; Config Files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66360" y="240487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2:15–3:00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2834640"/>
            <a:ext cx="4114800" cy="74980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2834640"/>
            <a:ext cx="411480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2834640"/>
            <a:ext cx="365760" cy="74980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29260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for Validation &amp; Serialisation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77240" y="32735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3:00–3:45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2834640"/>
            <a:ext cx="4114800" cy="74980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834640"/>
            <a:ext cx="4114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0" name="Shape 38"/>
          <p:cNvSpPr/>
          <p:nvPr/>
        </p:nvSpPr>
        <p:spPr>
          <a:xfrm>
            <a:off x="4709160" y="2834640"/>
            <a:ext cx="365760" cy="74980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29260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Error Handling &amp; Project Structure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66360" y="32735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3:45–4:30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3703320"/>
            <a:ext cx="4114800" cy="74980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3703320"/>
            <a:ext cx="411480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3703320"/>
            <a:ext cx="365760" cy="74980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3794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Principles &amp; Microservices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77240" y="41422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4:30–5:15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3703320"/>
            <a:ext cx="4114800" cy="74980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703320"/>
            <a:ext cx="4114800" cy="54864"/>
          </a:xfrm>
          <a:prstGeom prst="rect">
            <a:avLst/>
          </a:prstGeom>
          <a:solidFill>
            <a:srgbClr val="D4C200"/>
          </a:solidFill>
          <a:ln/>
        </p:spPr>
      </p:sp>
      <p:sp>
        <p:nvSpPr>
          <p:cNvPr id="52" name="Shape 50"/>
          <p:cNvSpPr/>
          <p:nvPr/>
        </p:nvSpPr>
        <p:spPr>
          <a:xfrm>
            <a:off x="4709160" y="3703320"/>
            <a:ext cx="365760" cy="749808"/>
          </a:xfrm>
          <a:prstGeom prst="rect">
            <a:avLst/>
          </a:prstGeom>
          <a:solidFill>
            <a:srgbClr val="D4C200"/>
          </a:solidFill>
          <a:ln/>
        </p:spPr>
      </p:sp>
      <p:sp>
        <p:nvSpPr>
          <p:cNvPr id="53" name="Text 51"/>
          <p:cNvSpPr/>
          <p:nvPr/>
        </p:nvSpPr>
        <p:spPr>
          <a:xfrm>
            <a:off x="47548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66360" y="3794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Basics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166360" y="41422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5:15–6:00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Concepts, patterns &amp; hands-on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2011680" cy="640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pipeline?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3749040"/>
            <a:ext cx="2011680" cy="640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2011680" cy="640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Streaming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12280" y="3749040"/>
            <a:ext cx="2011680" cy="640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tools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Pipeline?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Intro to Data Pipelines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1097280"/>
            <a:ext cx="8503920" cy="9601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097280"/>
            <a:ext cx="8503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pipeline is a series of data processing steps that move and transform data from one or more sources to a destination, in a reliable, repeatable, and automated way.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331720"/>
            <a:ext cx="1417320" cy="6858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0040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737360" y="2633472"/>
            <a:ext cx="201168" cy="914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7" name="Shape 14"/>
          <p:cNvSpPr/>
          <p:nvPr/>
        </p:nvSpPr>
        <p:spPr>
          <a:xfrm>
            <a:off x="1938528" y="2331720"/>
            <a:ext cx="1417320" cy="685800"/>
          </a:xfrm>
          <a:prstGeom prst="rect">
            <a:avLst/>
          </a:prstGeom>
          <a:solidFill>
            <a:srgbClr val="06D6A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938528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355848" y="2633472"/>
            <a:ext cx="201168" cy="914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0" name="Shape 17"/>
          <p:cNvSpPr/>
          <p:nvPr/>
        </p:nvSpPr>
        <p:spPr>
          <a:xfrm>
            <a:off x="3557016" y="2331720"/>
            <a:ext cx="1417320" cy="68580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557016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974336" y="2633472"/>
            <a:ext cx="201168" cy="914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3" name="Shape 20"/>
          <p:cNvSpPr/>
          <p:nvPr/>
        </p:nvSpPr>
        <p:spPr>
          <a:xfrm>
            <a:off x="5175504" y="2331720"/>
            <a:ext cx="1417320" cy="685800"/>
          </a:xfrm>
          <a:prstGeom prst="rect">
            <a:avLst/>
          </a:prstGeom>
          <a:solidFill>
            <a:srgbClr val="7B2FB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175504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592824" y="2633472"/>
            <a:ext cx="201168" cy="914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6" name="Shape 23"/>
          <p:cNvSpPr/>
          <p:nvPr/>
        </p:nvSpPr>
        <p:spPr>
          <a:xfrm>
            <a:off x="6793992" y="2331720"/>
            <a:ext cx="1417320" cy="685800"/>
          </a:xfrm>
          <a:prstGeom prst="rect">
            <a:avLst/>
          </a:prstGeom>
          <a:solidFill>
            <a:srgbClr val="FFE60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793992" y="23317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20040" y="3246120"/>
            <a:ext cx="2743200" cy="13716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0040" y="324612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after failure; idempotent steps ensure no duplicate data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64408" y="3246120"/>
            <a:ext cx="2743200" cy="13716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264408" y="3246120"/>
            <a:ext cx="27432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4" name="Text 31"/>
          <p:cNvSpPr/>
          <p:nvPr/>
        </p:nvSpPr>
        <p:spPr>
          <a:xfrm>
            <a:off x="3401568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401568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metrics and alerts let teams know when something breaks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208776" y="3246120"/>
            <a:ext cx="2743200" cy="13716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08776" y="324612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5"/>
          <p:cNvSpPr/>
          <p:nvPr/>
        </p:nvSpPr>
        <p:spPr>
          <a:xfrm>
            <a:off x="6345936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345936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growing data volumes without architecture overhaul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vs ELT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Intro to Data Pipelines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114800" cy="36118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4114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1664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Transform → Load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029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before landing in warehouse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structured, on-premise systems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SSIS, Informatica, Talend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38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raw data retained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when destination storage is expensive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114800" cy="36118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411480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2344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92040" y="1664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Load → Transform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029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first; transform inside warehouse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for cloud data warehouses (BigQuery, Synapse, Snowflake)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035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Modern: dbt, Spark SQL, Databricks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538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raw history available for re-processing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041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in modern data stacks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Streaming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Intro to Data Pipelines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114800" cy="2834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41148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Batch Processing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→ Hours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Factory, Spark, dbt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529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reports, payroll, large ML training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114800" cy="28346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41148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188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Streaming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→ Seconds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816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Azure Event Hubs, Spark Streaming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529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live dashboards, IoT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60520"/>
            <a:ext cx="859536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062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practice most modern architectures use Lambda (batch + speed layers) or Kappa (stream-first) patterns — rarely one or the other.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Intro to Data Pipelines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272491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51790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17190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DAG-based Python orchestration. Industry standard.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55264" y="109728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55264" y="1097280"/>
            <a:ext cx="2724912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7" name="Text 15"/>
          <p:cNvSpPr/>
          <p:nvPr/>
        </p:nvSpPr>
        <p:spPr>
          <a:xfrm>
            <a:off x="3392424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92424" y="151790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92424" y="17190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GUI-driven, serverless pipelines. Great ADF-AzureML integration.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6208" y="109728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6208" y="1097280"/>
            <a:ext cx="272491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120700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73368" y="151790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/ Cloud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73368" y="17190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Pythonic flows with dynamic task mapping.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42316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423160"/>
            <a:ext cx="2724912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53288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284378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30449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transforms with lineage, tests and docs.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55264" y="242316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55264" y="2423160"/>
            <a:ext cx="2724912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2" name="Text 30"/>
          <p:cNvSpPr/>
          <p:nvPr/>
        </p:nvSpPr>
        <p:spPr>
          <a:xfrm>
            <a:off x="3392424" y="253288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Synapse Pipelines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92424" y="284378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PaaS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92424" y="30449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ADF-compatible orchestration embedded in Synapse Analytics.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36208" y="242316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2423160"/>
            <a:ext cx="2724912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6373368" y="2532888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73368" y="2843784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73368" y="304495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Asset-centric orchestration with rich observability.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0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Automation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&amp; Scheduling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argparse · schedule · subprocess · cron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Production-Ready Scripts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Python Automation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1097280"/>
            <a:ext cx="4160520" cy="365760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09728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118872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python3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"""data_sync.py – Pull data &amp; write parquet."""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argparse, logging, sys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parse_args():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argparse.ArgumentParser(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description="Sync source → parquet")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p.add_argument("--src", required=True)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p.add_argument("--out", default="./data")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p.add_argument("--dry-run",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action="store_true")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p.parse_args()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 = parse_args()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logging.basicConfig(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level=logging.INFO,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format="%(asctime)s %(levelname)s %(message)s")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 = logging.getLogger(__name__)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log.info("Starting sync from %s", args.src)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args.dry_run: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log.warning("DRY RUN – no writes")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sys.exit(0)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pd.read_csv(args.src)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Path(args.out)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out.mkdir(parents=True, exist_ok=True)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df.to_parquet(out / "result.parquet")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log.info("Done. %d rows written.", len(df))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main()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1097280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097280"/>
            <a:ext cx="42062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 args — never hard-code paths in scripts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1993392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993392"/>
            <a:ext cx="42062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2084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not print()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46320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Levels, timestamps and log files come for free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63440" y="2889504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2889504"/>
            <a:ext cx="42062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2980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--dry-run flag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46320" y="3255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QA mode; validates logic without side-effects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63440" y="3785616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3785616"/>
            <a:ext cx="42062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8" name="Text 25"/>
          <p:cNvSpPr/>
          <p:nvPr/>
        </p:nvSpPr>
        <p:spPr>
          <a:xfrm>
            <a:off x="4846320" y="38770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46320" y="4151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sys.exit(1) lets schedulers detect failures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Scheduling: cron, APScheduler &amp; Azure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— Python 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160520" cy="201168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cron syntax reference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┌───── minute (0-59)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│ ┌─── hour (0-23)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│ │ ┌─ day of month (1-31)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│ │ │ ┌ month (1-12)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│ │ │ │ ┌ day of week (0-6)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2 * * *  python sync.py --src /data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*/15 * * * *  python check_api.py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9 * * 1-5  python send_report.py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4160520" cy="150876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4612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37560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apscheduler.schedulers.blocking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 BlockingScheduler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 = BlockingScheduler()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@sched.scheduled_job(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"cron", hour=2, minute=0)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nightly_sync():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run_pipeline()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sched.start()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4206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cron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444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Zero deps, battle-tested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 retry, no observability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993392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993392"/>
            <a:ext cx="4206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3408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Pure Python, in-process, flexible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542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Single process; restart loses jobs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889504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889504"/>
            <a:ext cx="4206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980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Logic Apps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2369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Serverless, GUI, managed retries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438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Cost, Azure lock-in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785616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785616"/>
            <a:ext cx="4206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Trigger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Integrated with AzureML / Synapse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3342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Requires Azure setup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A0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AzureML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Components · Pipelines · Jobs · MLflow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AzureML Core Concepts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— AzureML Pipeline Creation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109728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1097280"/>
            <a:ext cx="2724912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887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Workspace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1572768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resource containing all ML assets — experiments, models, datasets, computes.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55264" y="109728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55264" y="1097280"/>
            <a:ext cx="272491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3392424" y="11887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Compute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92424" y="1572768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Cluster (scalable VMs), Compute Instance (dev notebook), Serverless.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36208" y="109728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36208" y="1097280"/>
            <a:ext cx="2724912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8"/>
          <p:cNvSpPr/>
          <p:nvPr/>
        </p:nvSpPr>
        <p:spPr>
          <a:xfrm>
            <a:off x="6373368" y="11887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Environment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73368" y="1572768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Docker/conda definition pinning Python packages for reproducible runs.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242316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2423160"/>
            <a:ext cx="2724912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5146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Component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11480" y="2898648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versioned step defined by YAML + Python script with typed I/O.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55264" y="242316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55264" y="2423160"/>
            <a:ext cx="2724912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9" name="Text 26"/>
          <p:cNvSpPr/>
          <p:nvPr/>
        </p:nvSpPr>
        <p:spPr>
          <a:xfrm>
            <a:off x="3392424" y="25146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Pipeline Job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392424" y="2898648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of components executed as a single tracked experiment run.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236208" y="2423160"/>
            <a:ext cx="272491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36208" y="2423160"/>
            <a:ext cx="2724912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3" name="Text 30"/>
          <p:cNvSpPr/>
          <p:nvPr/>
        </p:nvSpPr>
        <p:spPr>
          <a:xfrm>
            <a:off x="6373368" y="251460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MLflow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373368" y="2898648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Auto-logged metrics, params, artefacts; model registry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Pipeline in SDK v2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— AzureML Pipeline Creation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160520" cy="37033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3977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azure.ai.ml import MLClient, Input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azure.ai.ml.dsl import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azure.ai.ml.entities import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AmlCompute, Environment)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DefaultAzureCredential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= MLClient(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DefaultAzureCredential(),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subscription_id="&lt;sub&gt;",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resource_group="&lt;rg&gt;",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workspace_name="&lt;ws&gt;")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component from 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  = ml.components.get("prep_data",  "1")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= ml.components.get("train_model","1")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@pipeline(compute="cpu-cluster",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default_datastore="workspaceblobstore")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ml_pipeline(raw_data: Input):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prep_step  = prep(data=raw_data)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train_step = train(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data=prep_step.outputs.processed,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learning_rate=0.01,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epochs=20)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{"model": train_step.outputs.model}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= ml_pipeline(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raw_data=Input(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path="azureml:my_dataset:1"))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ml.jobs.create_or_update(job)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print("Pipeline submitted:", job.name)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420624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v2 (recommended)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Python API replacing the older v1 RunConfig paradigm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993392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993392"/>
            <a:ext cx="420624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reuse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359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component used across projects with version pinning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9504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89504"/>
            <a:ext cx="420624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80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I/O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255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Inputs/outputs validated at submission time, not at runtime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785616"/>
            <a:ext cx="420624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785616"/>
            <a:ext cx="420624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autolog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151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mlflow.sklearn.autolog() inside train.py — nothing else needed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9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YAML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Config Files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Parsing · Schema patterns · Environment configs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vs YAML: Side-by-Side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— JSON, YAML &amp; Config Files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114800" cy="23317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4114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39319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"database":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"host": "prod-db.ey.com",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"port": 5432,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"analytics"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"pipeline":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"batch_size": 1000,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"retries": 3,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"timeout_sec": 300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"features": ["revenue","churn","nps"]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4114800" cy="132588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566160"/>
            <a:ext cx="41148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576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open("config.json") as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cfg = json.load(f)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= cfg["database"]["host"]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 back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cfg["pipeline"]["batch_size"] = 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open("config.json","w") as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json.dump(cfg, f, indent=2)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097280"/>
            <a:ext cx="4160520" cy="23317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09728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188720"/>
            <a:ext cx="3977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host: prod-db.ey.com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5432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analytics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batch_size: 1000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retries: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timeout_sec: 300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revenue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churn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3566160"/>
            <a:ext cx="4160520" cy="132588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356616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65760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open("config.yaml") as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cfg = yaml.safe_load(f)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cfg["pipeline"]["batch_size"] = 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open("config.yaml","w") as f: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yaml.dump(cfg, f,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default_flow_style=False)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Environment-Aware Config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— JSON, YAML &amp; Config Files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5029200" cy="274320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config_manager.py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pathlib import Path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get_config() -&gt; dict: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 = os.getenv("APP_ENV", "dev")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= yaml.safe_load(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Path("config/base.yaml").read_text())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override_path = Path(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f"config/{env}.yaml")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override_path.exists():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override = yaml.safe_load(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override_path.read_text())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Deep merge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 = deep_merge(base, override)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deep_merge(base, override):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override.items():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isinstance(v, dict) and k in base: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deep_merge(base[k], v)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base[k] = 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097280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097280"/>
            <a:ext cx="33832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base.yaml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defaults for all environments — never contains secrets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1993392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993392"/>
            <a:ext cx="33832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dev.yaml / prod.yaml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3591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Environment-specific overrides; committed without secrets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889504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2889504"/>
            <a:ext cx="3383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+ python-dotenv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2552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injected at runtime, never in version control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3785616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3785616"/>
            <a:ext cx="338328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877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41513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secrets pulled at runtime via SDK or env reference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8595360" cy="640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69080"/>
            <a:ext cx="85953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14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Rule of thumb: if you'd be embarrassed seeing it in a GitHub diff, it belongs in Key Vault or .env — never in a config file.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1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Serialisation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Models · Validators · Settings · FastAPI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— Models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— Pydantic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5029200" cy="37033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(BaseModel, Field,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field_validator, model_validator)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Optional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enum import Enum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Status(str, Enum):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active  = "active"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churned = "churned"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CustomerRecord(BaseModel):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customer_id : str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revenue     : float = Field(gt=0,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description="Annual revenue £")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     : str   = Field(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pattern=r"^[A-Z]{2}$")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     : Status = Status.active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joined_at   : datetime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tags        : list[str] =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    : Optional[dict] = None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@field_validator("customer_id")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id_must_be_uppercase(cls, v):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v.isupper():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ValueError("Must be UPPER")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@model_validator(mode="after")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churned_needs_reason(self):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(self.status == Status.churned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and not self.metadata):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"Churned record needs metadata")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 = CustomerRecord(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customer_id="CUST001",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revenue=125000,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region="GB",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joined_at="2023-01-15T09:00:00")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print(rec.model_dump_json(indent=2))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097280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097280"/>
            <a:ext cx="33832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coercion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"125000" (string) is silently cast to float — safe and expected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1993392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993392"/>
            <a:ext cx="33832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constraints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3591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gt, ge, lt, le, min_length, max_length, pattern enforce data contracts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889504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2889504"/>
            <a:ext cx="3383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2552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 enum values accepted; great for categorical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3785616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3785616"/>
            <a:ext cx="33832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877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model_dump()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41513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Serialises to dict; model_dump_json() for JSON strings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Settings — Type-Safe Config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— Pydantic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5029200" cy="32461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4846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pydantic_settings import BaseSettings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SecretStr, AnyHttpUrl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Settings(BaseSettings):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app_name   : str = "EY Pipeline"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      : bool =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db_host    : str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db_port    : int = 5432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db_password: SecretStr  # never logged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api_base   : AnyHttpUrl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 : int = Field(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default=1000, ge=1, le=100_000)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model_config = SettingsConfigDict(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env_file=".env",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env_file_encoding="utf-8",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case_sensitive=False)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get_settings() -&gt; Settings: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Settings()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file: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DB_HOST=prod-db.ey.com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DB_PASSWORD=s3cr3t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API_BASE=https://api.ey.com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097280"/>
            <a:ext cx="3383280" cy="32461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097280"/>
            <a:ext cx="33832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207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BaseSettings?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1572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Auto-reads .env and environment variables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validation prevents "port is a string" bugs at startup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0" y="25786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SecretStr prevents passwords appearing in logs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0" y="3081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lru_cache ensures Settings loaded once — no repeated disk reads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3584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identically in local, CI/CD and Azure containers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553712"/>
            <a:ext cx="8595360" cy="502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553712"/>
            <a:ext cx="85953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5371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pydantic-settings  — separate package from pydantic v2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00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A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Error Handling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Project Structure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structlog · exceptions · layout · testing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— Logging &amp; Error Handling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5029200" cy="333756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5029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logging, sys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structlog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stdlib baseline config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format="%(message)s",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stream=sys.stdout,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level=logging.INFO)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structlog.configure(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processors=[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structlog.stdlib.add_log_level,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structlog.stdlib.add_logger_name,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structlog.processors.TimeStamper(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fmt="iso"),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structlog.processors.StackInfoRenderer(),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structlog.dev.ConsoleRenderer()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prod: JSONRenderer()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wrapper_class=structlog.BoundLogger,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context_class=dict,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logger_factory=structlog.PrintLoggerFactory()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= structlog.get_logger(__name__)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process_batch(batch_id: str, size: int):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log.info("batch.start",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batch_id=batch_id, size=size)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run_etl(batch_id)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log.info("batch.complete",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batch_id=batch_id,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rows_written=result.rows)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log.error("batch.failed",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batch_id=batch_id,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error=str(e), exc_info=True)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1097280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097280"/>
            <a:ext cx="3383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tracing during development; disabled in prod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1993392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993392"/>
            <a:ext cx="33832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3591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operational messages — job start/end, row counts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889504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2889504"/>
            <a:ext cx="33832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2552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issues — retrying API, empty partitions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3785616"/>
            <a:ext cx="3383280" cy="777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3785616"/>
            <a:ext cx="3383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877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41513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requiring investigation; always include exc_info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Project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— Logging &amp; Error Handling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3886200" cy="37033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3886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3703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my_pipeline/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my_pipeline/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__init__.py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config.py       # Settings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models.py       # Pydantic schemas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pipeline.py     # Orchestration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steps/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ingest.py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transform.py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load.py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utils/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├── logging.py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└── azure.py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unit/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integration/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             # AzureML YAMLs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base.yaml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dev.yaml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prod.yaml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.env.example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pyproject.toml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1097280"/>
            <a:ext cx="452628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097280"/>
            <a:ext cx="4526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188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 layout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26280" y="1389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accidental imports of local modules; importable as a package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43400" y="1810512"/>
            <a:ext cx="452628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1810512"/>
            <a:ext cx="4526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901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26280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deps, linting rules, pytest config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2523744"/>
            <a:ext cx="452628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2523744"/>
            <a:ext cx="4526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61518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 separation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26280" y="2816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separate from code — swap environments without code changes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236976"/>
            <a:ext cx="452628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3236976"/>
            <a:ext cx="4526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32841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mirror src/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26280" y="3529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test functions in isolation; integration tests use real infra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3950208"/>
            <a:ext cx="4526280" cy="5943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43400" y="3950208"/>
            <a:ext cx="45262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404164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26280" y="42428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committed to git; actual .env in .gitignore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Colab Exercise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Schedule a Python Pipeline with Validation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Modules 1–5  ·  Estimated time: 35 minutes  ·  Extension: +20 mins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8458200" cy="2743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75564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55648"/>
            <a:ext cx="84124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1755648"/>
            <a:ext cx="411480" cy="5303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75564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8013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Ingest: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180136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requests to pull a public JSON API (e.g. Open Meteo weather). Parse with json.loads and persist as Parquet.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50008"/>
            <a:ext cx="84124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350008"/>
            <a:ext cx="411480" cy="5303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5000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3957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Pydantic: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239572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WeatherRecord BaseModel with Field constraints. Validate each row; collect ValidationError records separately.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94436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44368"/>
            <a:ext cx="84124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2944368"/>
            <a:ext cx="411480" cy="5303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94436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29900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via YAML: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299008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Externalise API URL, output path and batch size into config/dev.yaml. Load with get_config().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53872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538728"/>
            <a:ext cx="841248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3538728"/>
            <a:ext cx="411480" cy="5303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53872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35844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script: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358444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pipeline in a main() and schedule it every 1 minute using APScheduler for local testing.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13308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133088"/>
            <a:ext cx="84124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" y="4133088"/>
            <a:ext cx="411480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13308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41788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— AzureML Component: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94560" y="417880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ingest step as an AzureML component YAML. Submit a single-step pipeline job to a personal compute instance.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1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Principles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Microservices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HTTP semantics · REST constraints · Service patterns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Constraints &amp; HTTP Semantics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— REST &amp; Microservices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4114800" cy="201168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822960"/>
                <a:gridCol w="731520"/>
              </a:tblGrid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0D0D"/>
                          </a:solidFill>
                        </a:rPr>
                        <a:t>Method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0D0D"/>
                          </a:solidFill>
                        </a:rPr>
                        <a:t>Semantic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0D0D"/>
                          </a:solidFill>
                        </a:rPr>
                        <a:t>Idempotent?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0D0D"/>
                          </a:solidFill>
                        </a:rPr>
                        <a:t>Body?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4D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GET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Retrieve resource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✖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POST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Create resource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✖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PUT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Replace resource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PATCH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Partial update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✖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DELETE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Remove resource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✔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✖</a:t>
                      </a:r>
                      <a:endParaRPr lang="en-US" sz="9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0" y="10972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Status Codes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0" y="1463040"/>
            <a:ext cx="1371600" cy="2286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1463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1719072"/>
            <a:ext cx="1371600" cy="2286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 Created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35040" y="1719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created (POST)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0" y="1975104"/>
            <a:ext cx="1371600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0" y="19751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 No Content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35040" y="19751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no body (DELETE)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0" y="2231136"/>
            <a:ext cx="1371600" cy="2286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22311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Bad Request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35040" y="22311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— return error detail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0" y="2487168"/>
            <a:ext cx="1371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0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Unauthorized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35040" y="24871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auth token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0" y="2743200"/>
            <a:ext cx="1371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Not Found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035040" y="27432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doesn't exist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0" y="2999232"/>
            <a:ext cx="1371600" cy="228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0" y="2999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Unprocessable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035040" y="29992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failed (FastAPI default)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0" y="3255264"/>
            <a:ext cx="1371600" cy="228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0" y="32552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Internal Error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035040" y="32552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server exception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274320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REST Constraints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274320" y="3977640"/>
            <a:ext cx="1600200" cy="4572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27432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011680" y="3977640"/>
            <a:ext cx="1600200" cy="4572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01168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749040" y="3977640"/>
            <a:ext cx="1600200" cy="4572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374904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Cacheable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486400" y="3977640"/>
            <a:ext cx="1600200" cy="4572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48640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Interface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223760" y="3977640"/>
            <a:ext cx="1600200" cy="45720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7223760" y="39776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vs Monolith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— REST &amp; Microservices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3337560"/>
                <a:gridCol w="333756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</a:rPr>
                        <a:t>Aspect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</a:rPr>
                        <a:t>Monolith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0D0D"/>
                          </a:solidFill>
                        </a:rPr>
                        <a:t>Microservices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D6A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Deployment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Single deployable unit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Independent per service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Scaling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Scale entire app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Scale bottleneck service only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Tech Stack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One language/framework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Polyglot — use best tool per job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Simpler integration tests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Contract tests + mocking needed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Data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Shared DB (easy joins)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DB per service (eventual consistency)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Failure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One bug can crash all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Failure isolation; circuit breakers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Best For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Early-stage, small teams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0"/>
                          </a:solidFill>
                        </a:rPr>
                        <a:t>Scale, large orgs, independent teams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42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4617720"/>
            <a:ext cx="8503920" cy="502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4617720"/>
            <a:ext cx="8503920" cy="54864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4617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EY engagements: start monolith, extract microservices when team/scale demands it. Don't pre-optimise.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0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C2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C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Routes · Blueprints · Request/Response · Error handling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Application Factory Pattern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— Flask Basics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160520" cy="37033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3977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src/app/__init__.py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.config import get_settings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.routes import api_bp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.extensions import db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create_app(config=None) -&gt; Flask: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= Flask(__name__)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settings = get_settings()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app.config.from_mapping(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SECRET_KEY=settings.secret_key,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SQLALCHEMY_DATABASE_URI=settings.db_url,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DEBUG=settings.debug)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config: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app.config.update(config)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db.init_app(app)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app.register_blueprint(api_bp,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url_prefix="/api/v1")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@app.errorhandler(404)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not_found(e):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"Not found"}, 404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@app.errorhandler(422)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validation_error(e):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str(e)}, 422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@app.errorhandler(500)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server_error(e):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app.logger.error("Unhandled", exc_info=e)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"Internal error"}, 500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app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= create_app()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app.run(host="0.0.0.0", port=8080)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206240" cy="237744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42062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1887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src/app/routes.py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Blueprint, request, jsonify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ValidationError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CustomerRecord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.service import CustomerService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api_bp = Blueprint("api", __name__)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 = CustomerService()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@api_bp.route("/customers", methods=["POST"])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create_customer():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payload = CustomerRecord(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**request.get_json())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ValidationError as 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jsonify(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{"errors": e.errors()}), 422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svc.create(payload)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jsonify(result.dict()), 201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@api_bp.route(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"/customers/&lt;cid&gt;", methods=["GET"])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get_customer(cid: str):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 = svc.get(cid)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rec: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jsonify(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{"error": "Not found"}), 404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jsonify(rec.dict()), 200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657600"/>
            <a:ext cx="4206240" cy="402336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657600"/>
            <a:ext cx="4206240" cy="54864"/>
          </a:xfrm>
          <a:prstGeom prst="rect">
            <a:avLst/>
          </a:prstGeom>
          <a:solidFill>
            <a:srgbClr val="D4C2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685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Factory: create_app() pattern enables different configs for test/dev/prod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4114800"/>
            <a:ext cx="4206240" cy="402336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4114800"/>
            <a:ext cx="4206240" cy="54864"/>
          </a:xfrm>
          <a:prstGeom prst="rect">
            <a:avLst/>
          </a:prstGeom>
          <a:solidFill>
            <a:srgbClr val="D4C2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4142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Blueprints: Organise routes by domain; each blueprint is independently testable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4572000"/>
            <a:ext cx="4206240" cy="402336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4572000"/>
            <a:ext cx="4206240" cy="54864"/>
          </a:xfrm>
          <a:prstGeom prst="rect">
            <a:avLst/>
          </a:prstGeom>
          <a:solidFill>
            <a:srgbClr val="D4C2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599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in Flask: Validate request bodies with the same models used in pipelines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Deployment &amp; Production Tips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— Flask Basics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8046720" cy="228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160520" cy="21031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9728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188720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pyproject.toml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src/ src/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Gunicorn: production WSGI server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["gunicorn",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"--workers", "4",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"--bind", "0.0.0.0:8080",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"--access-logfile", "-",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"--error-logfile", "-",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"src.app:create_app()"]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4160520" cy="146304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37560"/>
            <a:ext cx="41605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42900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tests/test_routes.py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src.app import create_app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client():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 = create_app({"TESTING":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"SQLALCHEMY_DATABASE_URI":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"sqlite:///:memory:"})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app.test_client() as 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test_create_customer(client):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client.post("/api/v1/customers",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json={"customer_id":"C001","revenue":5000})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r.status_code == 201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208483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2084832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flask run in prod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155448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Gunicorn (Linux) or Waitress (Windows) — dev server is single-threaded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76288" y="1097280"/>
            <a:ext cx="208483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76288" y="1097280"/>
            <a:ext cx="2084832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6986016" y="12070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workers rule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86016" y="155448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× CPU cores + 1) workers is the standard Gunicorn starting point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377440"/>
            <a:ext cx="208483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377440"/>
            <a:ext cx="2084832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4871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73168" y="283464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path to deploying Flask on Azure: push Docker image, configure env vars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76288" y="2377440"/>
            <a:ext cx="2084832" cy="1143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76288" y="2377440"/>
            <a:ext cx="2084832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6986016" y="24871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86016" y="2834640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GET /health returning 200 for load balancer and K8s probes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Colab Exercise 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REST Microservice with Flask &amp; Pydantic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Modules 5–8  ·  Estimated time: 40 minutes  ·  Extension: +25 mins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8458200" cy="2743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75564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55648"/>
            <a:ext cx="84124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1755648"/>
            <a:ext cx="411480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75564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8013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Factory: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180136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Flask app using create_app(). Add a Blueprint with at least 3 routes: POST /predictions, GET /predictions/&lt;id&gt;, GET /health.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50008"/>
            <a:ext cx="84124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350008"/>
            <a:ext cx="411480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5000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3957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Request Models: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239572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PredictionRequest and PredictionResponse models. Validate all incoming JSON; return 422 with error details on bad input.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94436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44368"/>
            <a:ext cx="84124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2944368"/>
            <a:ext cx="411480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94436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29900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299008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structlog. Log every request (method, path, status, duration). Add correlation_id to all log lines.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53872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538728"/>
            <a:ext cx="8412480" cy="54864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3538728"/>
            <a:ext cx="411480" cy="5303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53872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35844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68880" y="358444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errorhandler for 404, 422, 500. Write a pytest test client fixture and test at least 2 endpoints including an invalid payload test.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133088"/>
            <a:ext cx="8412480" cy="530352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133088"/>
            <a:ext cx="84124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" y="4133088"/>
            <a:ext cx="411480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13308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4178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— Deploy to Azure: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468880" y="417880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 the app and deploy to Azure Container Apps using the Azure CLI. Call your endpoint from a notebook via requests and validate the response with Pydantic.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 |  Data Engineering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901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0" y="4901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0" y="0"/>
            <a:ext cx="36576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365760" y="274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8686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Data pipeline fundamentals: ETL, batch, streaming, orchestration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Production Python scripts with argparse, logging and scheduling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AzureML SDK v2: components, pipeline jobs, MLflow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Config management: JSON/YAML with environment-aware patterns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Pydantic v2 for runtime validation and settings 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Structured logging, error handling and project layout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611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REST constraints, HTTP semantics and microservice design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0690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Flask: app factory, Blueprints, Pydantic integration, deployment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both Colab exercises · Explore FastAPI as a Flask alternative · Review the EY DataOps Playbook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Bootcamp</dc:title>
  <dc:subject>6-Hour Training Deck</dc:subject>
  <dc:creator>EY Technology Consulting</dc:creator>
  <cp:lastModifiedBy>EY Technology Consulting</cp:lastModifiedBy>
  <cp:revision>1</cp:revision>
  <dcterms:created xsi:type="dcterms:W3CDTF">2026-06-02T16:56:57Z</dcterms:created>
  <dcterms:modified xsi:type="dcterms:W3CDTF">2026-06-02T16:56:57Z</dcterms:modified>
</cp:coreProperties>
</file>